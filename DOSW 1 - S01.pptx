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318" r:id="rId24"/>
  </p:sldIdLst>
  <p:sldSz cx="18288000" cy="10287000"/>
  <p:notesSz cx="6858000" cy="9144000"/>
  <p:embeddedFontLst>
    <p:embeddedFont>
      <p:font typeface="HK Modular" panose="020B0604020202020204" charset="0"/>
      <p:regular r:id="rId25"/>
    </p:embeddedFont>
    <p:embeddedFont>
      <p:font typeface="Open Sans" panose="020B0606030504020204" pitchFamily="34" charset="0"/>
      <p:regular r:id="rId26"/>
    </p:embeddedFont>
    <p:embeddedFont>
      <p:font typeface="Poppins" panose="020B0502040204020203" pitchFamily="2" charset="0"/>
      <p:regular r:id="rId27"/>
    </p:embeddedFont>
    <p:embeddedFont>
      <p:font typeface="RQND Pro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4" d="100"/>
          <a:sy n="104" d="100"/>
        </p:scale>
        <p:origin x="510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8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8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61482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521675">
            <a:off x="-2145225" y="6960043"/>
            <a:ext cx="10032200" cy="3229319"/>
          </a:xfrm>
          <a:custGeom>
            <a:avLst/>
            <a:gdLst/>
            <a:ahLst/>
            <a:cxnLst/>
            <a:rect l="l" t="t" r="r" b="b"/>
            <a:pathLst>
              <a:path w="10032200" h="3229319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 rot="2521675">
            <a:off x="11525853" y="-142301"/>
            <a:ext cx="10032200" cy="3229319"/>
          </a:xfrm>
          <a:custGeom>
            <a:avLst/>
            <a:gdLst/>
            <a:ahLst/>
            <a:cxnLst/>
            <a:rect l="l" t="t" r="r" b="b"/>
            <a:pathLst>
              <a:path w="10032200" h="3229319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/>
          <p:cNvSpPr/>
          <p:nvPr/>
        </p:nvSpPr>
        <p:spPr>
          <a:xfrm rot="2521675">
            <a:off x="-3649571" y="6744248"/>
            <a:ext cx="10032200" cy="3229319"/>
          </a:xfrm>
          <a:custGeom>
            <a:avLst/>
            <a:gdLst/>
            <a:ahLst/>
            <a:cxnLst/>
            <a:rect l="l" t="t" r="r" b="b"/>
            <a:pathLst>
              <a:path w="10032200" h="3229319">
                <a:moveTo>
                  <a:pt x="0" y="0"/>
                </a:moveTo>
                <a:lnTo>
                  <a:pt x="10032200" y="0"/>
                </a:lnTo>
                <a:lnTo>
                  <a:pt x="10032200" y="3229319"/>
                </a:lnTo>
                <a:lnTo>
                  <a:pt x="0" y="3229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0816837" y="3447492"/>
            <a:ext cx="1080836" cy="1080836"/>
          </a:xfrm>
          <a:custGeom>
            <a:avLst/>
            <a:gdLst/>
            <a:ahLst/>
            <a:cxnLst/>
            <a:rect l="l" t="t" r="r" b="b"/>
            <a:pathLst>
              <a:path w="1080836" h="1080836">
                <a:moveTo>
                  <a:pt x="0" y="0"/>
                </a:moveTo>
                <a:lnTo>
                  <a:pt x="1080835" y="0"/>
                </a:lnTo>
                <a:lnTo>
                  <a:pt x="1080835" y="1080835"/>
                </a:lnTo>
                <a:lnTo>
                  <a:pt x="0" y="10808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635387" y="3343864"/>
            <a:ext cx="9180241" cy="5015044"/>
          </a:xfrm>
          <a:custGeom>
            <a:avLst/>
            <a:gdLst/>
            <a:ahLst/>
            <a:cxnLst/>
            <a:rect l="l" t="t" r="r" b="b"/>
            <a:pathLst>
              <a:path w="9180241" h="5015044">
                <a:moveTo>
                  <a:pt x="0" y="0"/>
                </a:moveTo>
                <a:lnTo>
                  <a:pt x="9180241" y="0"/>
                </a:lnTo>
                <a:lnTo>
                  <a:pt x="9180241" y="5015043"/>
                </a:lnTo>
                <a:lnTo>
                  <a:pt x="0" y="50150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58" b="-258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1028700" y="604307"/>
            <a:ext cx="14274218" cy="162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6"/>
              </a:lnSpc>
              <a:spcBef>
                <a:spcPct val="0"/>
              </a:spcBef>
            </a:pPr>
            <a:r>
              <a:rPr lang="en-US" sz="4704">
                <a:solidFill>
                  <a:srgbClr val="F800C0"/>
                </a:solidFill>
                <a:latin typeface="HK Modular"/>
                <a:ea typeface="HK Modular"/>
                <a:cs typeface="HK Modular"/>
                <a:sym typeface="HK Modular"/>
              </a:rPr>
              <a:t>PROYECTO GIT SECCIONES PRINCIPALES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816837" y="5747937"/>
            <a:ext cx="1080836" cy="1080836"/>
          </a:xfrm>
          <a:custGeom>
            <a:avLst/>
            <a:gdLst/>
            <a:ahLst/>
            <a:cxnLst/>
            <a:rect l="l" t="t" r="r" b="b"/>
            <a:pathLst>
              <a:path w="1080836" h="1080836">
                <a:moveTo>
                  <a:pt x="0" y="0"/>
                </a:moveTo>
                <a:lnTo>
                  <a:pt x="1080835" y="0"/>
                </a:lnTo>
                <a:lnTo>
                  <a:pt x="1080835" y="1080835"/>
                </a:lnTo>
                <a:lnTo>
                  <a:pt x="0" y="10808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13"/>
          <p:cNvSpPr/>
          <p:nvPr/>
        </p:nvSpPr>
        <p:spPr>
          <a:xfrm>
            <a:off x="10816837" y="8019230"/>
            <a:ext cx="1080836" cy="1080836"/>
          </a:xfrm>
          <a:custGeom>
            <a:avLst/>
            <a:gdLst/>
            <a:ahLst/>
            <a:cxnLst/>
            <a:rect l="l" t="t" r="r" b="b"/>
            <a:pathLst>
              <a:path w="1080836" h="1080836">
                <a:moveTo>
                  <a:pt x="0" y="0"/>
                </a:moveTo>
                <a:lnTo>
                  <a:pt x="1080835" y="0"/>
                </a:lnTo>
                <a:lnTo>
                  <a:pt x="1080835" y="1080836"/>
                </a:lnTo>
                <a:lnTo>
                  <a:pt x="0" y="10808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TextBox 14"/>
          <p:cNvSpPr txBox="1"/>
          <p:nvPr/>
        </p:nvSpPr>
        <p:spPr>
          <a:xfrm>
            <a:off x="12077228" y="8245898"/>
            <a:ext cx="6210772" cy="589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donde se almacena los metadatos y la base de datos de objetos para el proyecto, es la parte mas importante de git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77228" y="3674159"/>
            <a:ext cx="5908658" cy="118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copia de una version del proyecto, estos archivos se sacan de la base de datos comprimida en el directorio de git y se colocan en disco para que los puedan usar o modificar.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77228" y="5813285"/>
            <a:ext cx="5908658" cy="886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archivo generalmente contenido en el directorio de git que almacena la informacion acerca de lo que va en la proxima confirmacion, a veces se le denomina indice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031557" y="-17853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4"/>
                </a:lnTo>
                <a:lnTo>
                  <a:pt x="0" y="30351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728019" y="-1153953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4299002" y="2201018"/>
            <a:ext cx="9908730" cy="75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sz="4365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COMANDOS GIT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2280" y="3960203"/>
            <a:ext cx="279742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INIT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0662" y="4710820"/>
            <a:ext cx="6945388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CLONE COPIED_URL_LINK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0662" y="5457825"/>
            <a:ext cx="279742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STATUS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7865" y="6204830"/>
            <a:ext cx="7259522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ADD . Y GIT ADD FILE_NAME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7865" y="6941119"/>
            <a:ext cx="7780271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COMMIT -M “COMMIT_MESSAGE”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6529" y="7677408"/>
            <a:ext cx="279742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PUSH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5861" y="8414888"/>
            <a:ext cx="7201808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CHECKOUT BRANCH_NAME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2280" y="9201150"/>
            <a:ext cx="7201808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CHECKOUT -B BRANCH_NAME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89771" y="3846657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 nuevo repositorio Git o reinicia uno existente, añade una carpeta oculta .git  en el directorio donde almacena los metadatos, hsitorial de versiones y registros del proyecto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89771" y="4652906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Copia un repositorio existente, incluyendo registros y versiones, desde servidores remotos como GitHub o GitLab a tu máquina local.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89771" y="5476875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detalles sobre archivos modificados, archivos no rastreados y archivos preparados y listos para ser enviados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89771" y="6301609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Añade tus cambios al area de preparacion, indica a git que el repositorio debe actualizar estos cambios una vez el usuario ejecute el comando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89771" y="7070969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Guarda los cambios que has realizado en el repositorio local, una vez jecutado crea una instancia del repositorio en ese momento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9771" y="7838553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Sincroniza tu repostiorio remoto con el repositorio local, una vez ejecutado el repositorio remoto reflejara todos los cambios que hayas confirmado localmente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989771" y="9287032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una nueva rama llamada “branch_name” desde la rama donde estes parado y cambia a la rama creada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89771" y="8544738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Cambia desde la rama donde estes parado a la rama branch_name</a:t>
            </a:r>
          </a:p>
        </p:txBody>
      </p:sp>
      <p:sp>
        <p:nvSpPr>
          <p:cNvPr id="27" name="Freeform 27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728019" y="-1153953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4299002" y="2201018"/>
            <a:ext cx="9908730" cy="75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sz="4365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COMANDOS GIT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0678" y="3897140"/>
            <a:ext cx="279742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PULL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8257" y="7965576"/>
            <a:ext cx="279742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BRANCH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4491" y="9455747"/>
            <a:ext cx="6734219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BRANCH -D NOMBRE_RAMA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8257" y="8708743"/>
            <a:ext cx="6100712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BRANCH NOMBRE_RAMA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505" y="4710856"/>
            <a:ext cx="623646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MERGE &lt;NOMBRE_RAMA&gt;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88257" y="5692843"/>
            <a:ext cx="279742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REBASE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8257" y="6506523"/>
            <a:ext cx="2043248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LOG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4491" y="7329728"/>
            <a:ext cx="7015497" cy="37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16"/>
              </a:lnSpc>
              <a:spcBef>
                <a:spcPct val="0"/>
              </a:spcBef>
            </a:pPr>
            <a:r>
              <a:rPr lang="en-US" sz="215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LOG --ONELINE Y GIT LOG --STAT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14249" y="3651461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Recupera y fusiona los cambios del repositorio remoto con los del repositorio local, combina git fetch y git merge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14249" y="8172390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la lista de todas las ramas del repositorio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14249" y="8793703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una nueva rama llamada “nombre_rama”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14249" y="9474797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 la rama llamada “nombre_rama”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14249" y="4575977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realizar una fusion e integracion de los cambios de la rama nombre_rama a la rama en la que estes parado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14249" y="5505486"/>
            <a:ext cx="9390153" cy="79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otra forma de integrar cambios entre ramas, pero funciona de forma distinta a git merge. Fusionar conserva el historial completo tanto de la rama principal como de la rama de características. Rebase, por otro lado, sobrescribe el historial de confirmaciones para hacerlo lineal y limpio.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14249" y="6500791"/>
            <a:ext cx="9390153" cy="52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todo el historial de confirmaciones de tu rama actual. Incluye cuatro campos clave: confirmación, autor, fecha y mensaje de confirmación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14249" y="7228165"/>
            <a:ext cx="9390153" cy="79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 bandera --oneline causa en el git log que se muestre en pantalla: un commit por linea, los primeros 7 caracteres del SHA, mensaje del commit, la bandera --stat causa que muestre los archivos que se modificaron en cada confirmacion, numero de lineas añadidas o eliminadas y una linea resumen</a:t>
            </a:r>
          </a:p>
        </p:txBody>
      </p:sp>
      <p:sp>
        <p:nvSpPr>
          <p:cNvPr id="27" name="Freeform 27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728019" y="-1153953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4299002" y="2201018"/>
            <a:ext cx="9908730" cy="75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sz="4365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COMANDOS GIT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5694" y="3878090"/>
            <a:ext cx="279742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DIFF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1612" y="4710820"/>
            <a:ext cx="6945388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DIFF COMMIT 1 COMMIT 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612" y="5539671"/>
            <a:ext cx="6653091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DIFF BRANCH1..BRANCH2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1612" y="6443233"/>
            <a:ext cx="2797423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STASH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8793" y="7560216"/>
            <a:ext cx="3476181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STASH POP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1431394" y="8560700"/>
            <a:ext cx="13608454" cy="39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CONFIG --GLOBAL USER.NAME “YOUR NAME”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1728019" y="9429907"/>
            <a:ext cx="13608454" cy="392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  <a:spcBef>
                <a:spcPct val="0"/>
              </a:spcBef>
            </a:pPr>
            <a:r>
              <a:rPr lang="en-US" sz="2267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CONFIG --GLOBAL USER.EMAIL “EMAIL”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35022" y="3820176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la diferencia entre tu directorio de trabajo actual y el area de preparacion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35022" y="4729870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la diferencia entre el commit 1 y el commit 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35022" y="5558721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Compara las diferencias entre branch1 y branch 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35022" y="6406339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guardar temporalmente los cambios almacenados al directorio actual y restablece tu directorio de trabajo al ultimo estado comprometido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35022" y="7466862"/>
            <a:ext cx="9033358" cy="85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 has guardado algunos cambios en el pasado y quieres incluirlos en tu directorio de trabajo, esto aplicará los últimos cambios almacenados al directorio actual y los eliminará de la lista de cambios almacenados.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7854" y="8596022"/>
            <a:ext cx="7479756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Establece el nombre de usuario git para todos los repositorios de tu sistema en “your name”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67854" y="9411231"/>
            <a:ext cx="7479756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Establece la direccion de correo electronico apra todos los repositorios de tu sistema</a:t>
            </a:r>
          </a:p>
        </p:txBody>
      </p:sp>
      <p:sp>
        <p:nvSpPr>
          <p:cNvPr id="25" name="Freeform 25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258356" y="3331756"/>
            <a:ext cx="15194133" cy="5621902"/>
            <a:chOff x="0" y="0"/>
            <a:chExt cx="4001747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728019" y="-1153953"/>
            <a:ext cx="4077393" cy="4114800"/>
          </a:xfrm>
          <a:custGeom>
            <a:avLst/>
            <a:gdLst/>
            <a:ahLst/>
            <a:cxnLst/>
            <a:rect l="l" t="t" r="r" b="b"/>
            <a:pathLst>
              <a:path w="4077393" h="4114800">
                <a:moveTo>
                  <a:pt x="0" y="0"/>
                </a:moveTo>
                <a:lnTo>
                  <a:pt x="4077393" y="0"/>
                </a:lnTo>
                <a:lnTo>
                  <a:pt x="40773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4299002" y="2201018"/>
            <a:ext cx="9908730" cy="75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sz="4365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COMANDOS GIT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53" y="6414425"/>
            <a:ext cx="7865482" cy="87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RESET --(SOFT,MIXED,HARD) HEAD~1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0678" y="5289875"/>
            <a:ext cx="3548002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CLEAN -N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1647" y="4314270"/>
            <a:ext cx="2661672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CLEAN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7314" y="3501833"/>
            <a:ext cx="4172512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CONFIG -LIST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7234" y="7799750"/>
            <a:ext cx="7166519" cy="87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REMOTE ADD &lt;REPO_NAME&gt; &lt;REMOTE_URL&gt;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89771" y="8028537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una conexion entre tu repositorio git local y el repositori git remoto, permitiendote introducir y extraer cambios entre ellos, origen es por defecto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89771" y="8809468"/>
            <a:ext cx="9033358" cy="113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 permite revisar los cambios en el repositorio remoto antes de fusionarlos en el local. Descarga los cambios y actualízalos en ramas de seguimiento remotas. Para los que no estén familiarizados, las ramas de seguimiento remoto son copias de ramas de repositorios remotos.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1647" y="8965367"/>
            <a:ext cx="2661672" cy="432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1"/>
              </a:lnSpc>
              <a:spcBef>
                <a:spcPct val="0"/>
              </a:spcBef>
            </a:pPr>
            <a:r>
              <a:rPr lang="en-US" sz="2465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GIT FETCH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89771" y="6104607"/>
            <a:ext cx="9033358" cy="1710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deshacer cambios restableciendo el HEAD Actual a un estado anterior especifico, para mover el HEAD a un commit anterior tiene tres variantes: suave que retorcede a una confirmacion anterior pero con los cambios actuales, mixta que retrocede a una confirmacion anterior y elimina los cambios de la confirmacion actual y hard que apunta a una confirmacion anterior y elimina las actualizaciones de la confirmacion actual y del area de preparacion.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89771" y="3586794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los ajustes git de todos los niveles: a nivel de sistema, a nivel global y a nivel local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89771" y="4465141"/>
            <a:ext cx="9033358" cy="28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 los archivos no rastreados del directorio de trabajo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89771" y="5240001"/>
            <a:ext cx="9033358" cy="567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165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Muesta una lista de archivos y directorios no rastreados que se eliminarían sin borrarlos realmente. Esto te permite revisar los cambios antes de ejecutarlos.</a:t>
            </a:r>
          </a:p>
        </p:txBody>
      </p:sp>
      <p:sp>
        <p:nvSpPr>
          <p:cNvPr id="23" name="Freeform 23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981933" y="2058446"/>
            <a:ext cx="12324133" cy="121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RECOMENDACIONES</a:t>
            </a:r>
          </a:p>
        </p:txBody>
      </p:sp>
      <p:grpSp>
        <p:nvGrpSpPr>
          <p:cNvPr id="7" name="Group 7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85722" y="3900353"/>
            <a:ext cx="12317738" cy="80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Mantener el Flujo de Trabajo Limpio y estructurado y colaborativo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  <a:endParaRPr lang="en-US" sz="22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094498" y="4953810"/>
            <a:ext cx="12317738" cy="120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Realizar un seguimiento eficaz de los cambios a lo largo del tiempo, para posteriormente comprender que se modifico en cada uno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  <a:endParaRPr lang="en-US" sz="22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104955" y="6295934"/>
            <a:ext cx="12317738" cy="120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Mensajes claros que describan que se realizo, asi es mas sencillo saber que incluye cada cambio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  <a:endParaRPr lang="en-US" sz="22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988328" y="7438287"/>
            <a:ext cx="12317738" cy="120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cualquier nueva funcion o correccion, crea una rama trabaja en ella y fusionala, puede crear ramas desde el repositorio en github y actualizar en local.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  <a:endParaRPr lang="en-US" sz="22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104955" y="8780665"/>
            <a:ext cx="12317738" cy="1209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Utiliza .gitgnore que contiene archivos y directorios relacionados con el proyecto que no es necesario rastrear</a:t>
            </a:r>
          </a:p>
          <a:p>
            <a:pPr algn="ctr">
              <a:lnSpc>
                <a:spcPts val="3185"/>
              </a:lnSpc>
              <a:spcBef>
                <a:spcPct val="0"/>
              </a:spcBef>
            </a:pPr>
            <a:endParaRPr lang="en-US" sz="2275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r="-6818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30241" y="4917532"/>
            <a:ext cx="12765801" cy="85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 ESTRUCTURAS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30241" y="6102318"/>
            <a:ext cx="12737783" cy="35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Importantes estructuras de datos que se utilizan para almacenar una serie de elementos y procesarlos</a:t>
            </a:r>
          </a:p>
        </p:txBody>
      </p:sp>
      <p:sp>
        <p:nvSpPr>
          <p:cNvPr id="8" name="Freeform 8"/>
          <p:cNvSpPr/>
          <p:nvPr/>
        </p:nvSpPr>
        <p:spPr>
          <a:xfrm>
            <a:off x="6664576" y="-396995"/>
            <a:ext cx="5177582" cy="5177582"/>
          </a:xfrm>
          <a:custGeom>
            <a:avLst/>
            <a:gdLst/>
            <a:ahLst/>
            <a:cxnLst/>
            <a:rect l="l" t="t" r="r" b="b"/>
            <a:pathLst>
              <a:path w="5177582" h="5177582">
                <a:moveTo>
                  <a:pt x="0" y="0"/>
                </a:moveTo>
                <a:lnTo>
                  <a:pt x="5177582" y="0"/>
                </a:lnTo>
                <a:lnTo>
                  <a:pt x="5177582" y="5177582"/>
                </a:lnTo>
                <a:lnTo>
                  <a:pt x="0" y="5177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50659" y="-7812873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348815" y="2096546"/>
            <a:ext cx="9830019" cy="81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1"/>
              </a:lnSpc>
              <a:spcBef>
                <a:spcPct val="0"/>
              </a:spcBef>
            </a:pPr>
            <a:r>
              <a:rPr lang="en-US" sz="4715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ARRAY VS ARRAY LIST </a:t>
            </a:r>
          </a:p>
        </p:txBody>
      </p:sp>
      <p:sp>
        <p:nvSpPr>
          <p:cNvPr id="13" name="Freeform 13"/>
          <p:cNvSpPr/>
          <p:nvPr/>
        </p:nvSpPr>
        <p:spPr>
          <a:xfrm>
            <a:off x="4149948" y="7670305"/>
            <a:ext cx="3452105" cy="2193958"/>
          </a:xfrm>
          <a:custGeom>
            <a:avLst/>
            <a:gdLst/>
            <a:ahLst/>
            <a:cxnLst/>
            <a:rect l="l" t="t" r="r" b="b"/>
            <a:pathLst>
              <a:path w="3452105" h="2193958">
                <a:moveTo>
                  <a:pt x="0" y="0"/>
                </a:moveTo>
                <a:lnTo>
                  <a:pt x="3452105" y="0"/>
                </a:lnTo>
                <a:lnTo>
                  <a:pt x="3452105" y="2193958"/>
                </a:lnTo>
                <a:lnTo>
                  <a:pt x="0" y="219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12003609" y="7458203"/>
            <a:ext cx="3062211" cy="2464264"/>
          </a:xfrm>
          <a:custGeom>
            <a:avLst/>
            <a:gdLst/>
            <a:ahLst/>
            <a:cxnLst/>
            <a:rect l="l" t="t" r="r" b="b"/>
            <a:pathLst>
              <a:path w="3062211" h="2464264">
                <a:moveTo>
                  <a:pt x="0" y="0"/>
                </a:moveTo>
                <a:lnTo>
                  <a:pt x="3062211" y="0"/>
                </a:lnTo>
                <a:lnTo>
                  <a:pt x="3062211" y="2464265"/>
                </a:lnTo>
                <a:lnTo>
                  <a:pt x="0" y="2464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2852805" y="3318673"/>
            <a:ext cx="5643495" cy="4070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Tamaño Fijo que debe especificarse y no puede modificarse posteriormente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Solo puede contener tipos primitivos (int, double, boolean, etc)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Tiene acceso a elementos muy rapido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soporta genericos, puede ser menos seguro ya que es mas facil introducir errores de tipo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Acceso mediante [] y longitud con .length</a:t>
            </a:r>
          </a:p>
          <a:p>
            <a:pPr marL="453396" lvl="1" indent="-226698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Puede ser unidimensional o multidimensional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73851" y="3328198"/>
            <a:ext cx="5923295" cy="413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9372" lvl="1" indent="-194686" algn="l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Tamaño dinamico, se expande o se contrae automaticamente segun los elementos que contenga</a:t>
            </a:r>
          </a:p>
          <a:p>
            <a:pPr marL="389372" lvl="1" indent="-194686" algn="l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Solo puede almacenar objetos, para usar los tipos primitivos Java los convierte mediante autoboxing (int a Integer)</a:t>
            </a:r>
          </a:p>
          <a:p>
            <a:pPr marL="389372" lvl="1" indent="-194686" algn="l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mas lento a comparacion en especial cuando necesita redimensionarse</a:t>
            </a:r>
          </a:p>
          <a:p>
            <a:pPr marL="389372" lvl="1" indent="-194686" algn="l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Soporta genericos mejorando la seguridad de tipos y evitando errores en tiempo de ejecucion</a:t>
            </a:r>
          </a:p>
          <a:p>
            <a:pPr marL="389372" lvl="1" indent="-194686" algn="l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add(), remove(), size(), indexOf(), contains()</a:t>
            </a:r>
          </a:p>
          <a:p>
            <a:pPr marL="389372" lvl="1" indent="-194686" algn="l">
              <a:lnSpc>
                <a:spcPts val="2524"/>
              </a:lnSpc>
              <a:buFont typeface="Arial"/>
              <a:buChar char="•"/>
            </a:pPr>
            <a:r>
              <a:rPr lang="en-US" sz="180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solo unidimensional</a:t>
            </a:r>
          </a:p>
          <a:p>
            <a:pPr algn="l">
              <a:lnSpc>
                <a:spcPts val="2524"/>
              </a:lnSpc>
            </a:pPr>
            <a:endParaRPr lang="en-US" sz="1803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259904" y="1993582"/>
            <a:ext cx="10007840" cy="77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48"/>
              </a:lnSpc>
              <a:spcBef>
                <a:spcPct val="0"/>
              </a:spcBef>
            </a:pPr>
            <a:r>
              <a:rPr lang="en-US" sz="4534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HASHMAP VS HASHTABLE</a:t>
            </a:r>
          </a:p>
        </p:txBody>
      </p:sp>
      <p:sp>
        <p:nvSpPr>
          <p:cNvPr id="13" name="Freeform 13"/>
          <p:cNvSpPr/>
          <p:nvPr/>
        </p:nvSpPr>
        <p:spPr>
          <a:xfrm>
            <a:off x="6659982" y="7284654"/>
            <a:ext cx="4968037" cy="2471619"/>
          </a:xfrm>
          <a:custGeom>
            <a:avLst/>
            <a:gdLst/>
            <a:ahLst/>
            <a:cxnLst/>
            <a:rect l="l" t="t" r="r" b="b"/>
            <a:pathLst>
              <a:path w="4968037" h="2471619">
                <a:moveTo>
                  <a:pt x="0" y="0"/>
                </a:moveTo>
                <a:lnTo>
                  <a:pt x="4968036" y="0"/>
                </a:lnTo>
                <a:lnTo>
                  <a:pt x="4968036" y="2471619"/>
                </a:lnTo>
                <a:lnTo>
                  <a:pt x="0" y="2471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TextBox 14"/>
          <p:cNvSpPr txBox="1"/>
          <p:nvPr/>
        </p:nvSpPr>
        <p:spPr>
          <a:xfrm>
            <a:off x="1838833" y="3366511"/>
            <a:ext cx="7057517" cy="3868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9134" lvl="1" indent="-214567" algn="l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HashMap en Java es una implementación de la interfaz Map que almacena pares clave–valor.</a:t>
            </a:r>
          </a:p>
          <a:p>
            <a:pPr marL="429134" lvl="1" indent="-214567" algn="l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Usa internamente la implementacion de hash table</a:t>
            </a:r>
          </a:p>
          <a:p>
            <a:pPr marL="429134" lvl="1" indent="-214567" algn="l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 claves son únicas, pero los valores pueden repetirse.</a:t>
            </a:r>
          </a:p>
          <a:p>
            <a:pPr marL="429134" lvl="1" indent="-214567" algn="l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Internamente usa una tabla hash para ubicar rápidamente los elementos.</a:t>
            </a:r>
          </a:p>
          <a:p>
            <a:pPr marL="429134" lvl="1" indent="-214567" algn="l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no sincronizado → más rápido en entornos de un solo hilo.</a:t>
            </a:r>
          </a:p>
          <a:p>
            <a:pPr marL="429134" lvl="1" indent="-214567" algn="l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una clave null y varios valores null.</a:t>
            </a:r>
          </a:p>
          <a:p>
            <a:pPr algn="l">
              <a:lnSpc>
                <a:spcPts val="2782"/>
              </a:lnSpc>
            </a:pPr>
            <a:endParaRPr lang="en-US" sz="198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53969" y="3457145"/>
            <a:ext cx="6522592" cy="3827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4519" lvl="1" indent="-212260" algn="l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Hashtable también almacena pares clave–valor y usa una tabla hash internamente.</a:t>
            </a:r>
          </a:p>
          <a:p>
            <a:pPr marL="424519" lvl="1" indent="-212260" algn="l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Las claves son únicas, valores pueden repetirse.</a:t>
            </a:r>
          </a:p>
          <a:p>
            <a:pPr marL="424519" lvl="1" indent="-212260" algn="l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sincronizado → seguro para multihilo, pero más lento.</a:t>
            </a:r>
          </a:p>
          <a:p>
            <a:pPr marL="424519" lvl="1" indent="-212260" algn="l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permite claves null ni valores null.</a:t>
            </a:r>
          </a:p>
          <a:p>
            <a:pPr marL="424519" lvl="1" indent="-212260" algn="l">
              <a:lnSpc>
                <a:spcPts val="2752"/>
              </a:lnSpc>
              <a:buFont typeface="Arial"/>
              <a:buChar char="•"/>
            </a:pPr>
            <a:r>
              <a:rPr lang="en-US" sz="196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clase legacy (heredada de Java 1.0), anterior al HashMap. Hoy en día casi siempre se prefiere HashMap o ConcurrentHashMap.</a:t>
            </a:r>
          </a:p>
          <a:p>
            <a:pPr algn="l">
              <a:lnSpc>
                <a:spcPts val="2752"/>
              </a:lnSpc>
            </a:pPr>
            <a:endParaRPr lang="en-US" sz="196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752"/>
              </a:lnSpc>
            </a:pPr>
            <a:endParaRPr lang="en-US" sz="196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755603" y="1953297"/>
            <a:ext cx="8776794" cy="717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4"/>
              </a:lnSpc>
              <a:spcBef>
                <a:spcPct val="0"/>
              </a:spcBef>
            </a:pPr>
            <a:r>
              <a:rPr lang="en-US" sz="4210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HASHSET VS TREESET</a:t>
            </a:r>
          </a:p>
        </p:txBody>
      </p:sp>
      <p:sp>
        <p:nvSpPr>
          <p:cNvPr id="13" name="Freeform 13"/>
          <p:cNvSpPr/>
          <p:nvPr/>
        </p:nvSpPr>
        <p:spPr>
          <a:xfrm>
            <a:off x="2393245" y="7580699"/>
            <a:ext cx="6518312" cy="1677601"/>
          </a:xfrm>
          <a:custGeom>
            <a:avLst/>
            <a:gdLst/>
            <a:ahLst/>
            <a:cxnLst/>
            <a:rect l="l" t="t" r="r" b="b"/>
            <a:pathLst>
              <a:path w="6518312" h="1677601">
                <a:moveTo>
                  <a:pt x="0" y="0"/>
                </a:moveTo>
                <a:lnTo>
                  <a:pt x="6518312" y="0"/>
                </a:lnTo>
                <a:lnTo>
                  <a:pt x="6518312" y="1677601"/>
                </a:lnTo>
                <a:lnTo>
                  <a:pt x="0" y="1677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9841587" y="7580699"/>
            <a:ext cx="6847229" cy="1681775"/>
          </a:xfrm>
          <a:custGeom>
            <a:avLst/>
            <a:gdLst/>
            <a:ahLst/>
            <a:cxnLst/>
            <a:rect l="l" t="t" r="r" b="b"/>
            <a:pathLst>
              <a:path w="6847229" h="1681775">
                <a:moveTo>
                  <a:pt x="0" y="0"/>
                </a:moveTo>
                <a:lnTo>
                  <a:pt x="6847229" y="0"/>
                </a:lnTo>
                <a:lnTo>
                  <a:pt x="6847229" y="1681775"/>
                </a:lnTo>
                <a:lnTo>
                  <a:pt x="0" y="1681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2439058" y="3655190"/>
            <a:ext cx="6426685" cy="339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3757" lvl="1" indent="-206879" algn="l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colección en Java que almacena elementos únicos (sin duplicados).</a:t>
            </a:r>
          </a:p>
          <a:p>
            <a:pPr marL="413757" lvl="1" indent="-206879" algn="l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Internamente usa una tabla hash para guardar los datos.</a:t>
            </a:r>
          </a:p>
          <a:p>
            <a:pPr marL="413757" lvl="1" indent="-206879" algn="l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mantiene ningún orden en cómo se guardan o muestran los elementos.</a:t>
            </a:r>
          </a:p>
          <a:p>
            <a:pPr marL="413757" lvl="1" indent="-206879" algn="l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un solo elemento null.</a:t>
            </a:r>
          </a:p>
          <a:p>
            <a:pPr marL="413757" lvl="1" indent="-206879" algn="l">
              <a:lnSpc>
                <a:spcPts val="2683"/>
              </a:lnSpc>
              <a:buFont typeface="Arial"/>
              <a:buChar char="•"/>
            </a:pPr>
            <a:r>
              <a:rPr lang="en-US" sz="191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muy rápido para buscar, agregar o eliminar elementos (en promedio O(1)).</a:t>
            </a:r>
          </a:p>
          <a:p>
            <a:pPr algn="l">
              <a:lnSpc>
                <a:spcPts val="2683"/>
              </a:lnSpc>
            </a:pPr>
            <a:endParaRPr lang="en-US" sz="191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74815" y="3664715"/>
            <a:ext cx="5890085" cy="330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0051" lvl="1" indent="-195026" algn="l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También es una colección que almacena elementos únicos.</a:t>
            </a:r>
          </a:p>
          <a:p>
            <a:pPr marL="390051" lvl="1" indent="-195026" algn="l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Internamente usa un árbol rojo-negro (estructura de árbol balanceado).</a:t>
            </a:r>
          </a:p>
          <a:p>
            <a:pPr marL="390051" lvl="1" indent="-195026" algn="l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Mantiene los elementos ordenados automáticamente (por orden natural o usando un Comparator).</a:t>
            </a:r>
          </a:p>
          <a:p>
            <a:pPr marL="390051" lvl="1" indent="-195026" algn="l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permite null en Java moderno.</a:t>
            </a:r>
          </a:p>
          <a:p>
            <a:pPr marL="390051" lvl="1" indent="-195026" algn="l">
              <a:lnSpc>
                <a:spcPts val="2529"/>
              </a:lnSpc>
              <a:buFont typeface="Arial"/>
              <a:buChar char="•"/>
            </a:pPr>
            <a:r>
              <a:rPr lang="en-US" sz="180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más lento que HashSet (O(log n)) porque mantiene el orden mientras agrega/busca/elimina.</a:t>
            </a:r>
          </a:p>
          <a:p>
            <a:pPr algn="l">
              <a:lnSpc>
                <a:spcPts val="1580"/>
              </a:lnSpc>
            </a:pPr>
            <a:endParaRPr lang="en-US" sz="1806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1902700" y="3480209"/>
            <a:ext cx="15194133" cy="5621902"/>
            <a:chOff x="0" y="0"/>
            <a:chExt cx="4001747" cy="14806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-8569184" y="2951838"/>
            <a:ext cx="15194133" cy="5621902"/>
            <a:chOff x="0" y="0"/>
            <a:chExt cx="4001747" cy="148066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001747" cy="1480665"/>
            </a:xfrm>
            <a:custGeom>
              <a:avLst/>
              <a:gdLst/>
              <a:ahLst/>
              <a:cxnLst/>
              <a:rect l="l" t="t" r="r" b="b"/>
              <a:pathLst>
                <a:path w="4001747" h="1480665">
                  <a:moveTo>
                    <a:pt x="0" y="0"/>
                  </a:moveTo>
                  <a:lnTo>
                    <a:pt x="4001747" y="0"/>
                  </a:lnTo>
                  <a:lnTo>
                    <a:pt x="4001747" y="1480665"/>
                  </a:lnTo>
                  <a:lnTo>
                    <a:pt x="0" y="148066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001747" cy="1518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838833" y="7160571"/>
            <a:ext cx="4722776" cy="596079"/>
          </a:xfrm>
          <a:custGeom>
            <a:avLst/>
            <a:gdLst/>
            <a:ahLst/>
            <a:cxnLst/>
            <a:rect l="l" t="t" r="r" b="b"/>
            <a:pathLst>
              <a:path w="4722776" h="596079">
                <a:moveTo>
                  <a:pt x="0" y="0"/>
                </a:moveTo>
                <a:lnTo>
                  <a:pt x="4722776" y="0"/>
                </a:lnTo>
                <a:lnTo>
                  <a:pt x="4722776" y="596078"/>
                </a:lnTo>
                <a:lnTo>
                  <a:pt x="0" y="596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13"/>
          <p:cNvSpPr/>
          <p:nvPr/>
        </p:nvSpPr>
        <p:spPr>
          <a:xfrm>
            <a:off x="7319898" y="7600512"/>
            <a:ext cx="4197370" cy="837480"/>
          </a:xfrm>
          <a:custGeom>
            <a:avLst/>
            <a:gdLst/>
            <a:ahLst/>
            <a:cxnLst/>
            <a:rect l="l" t="t" r="r" b="b"/>
            <a:pathLst>
              <a:path w="4197370" h="837480">
                <a:moveTo>
                  <a:pt x="0" y="0"/>
                </a:moveTo>
                <a:lnTo>
                  <a:pt x="4197371" y="0"/>
                </a:lnTo>
                <a:lnTo>
                  <a:pt x="4197371" y="837480"/>
                </a:lnTo>
                <a:lnTo>
                  <a:pt x="0" y="8374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12013295" y="6579366"/>
            <a:ext cx="5455484" cy="743930"/>
          </a:xfrm>
          <a:custGeom>
            <a:avLst/>
            <a:gdLst/>
            <a:ahLst/>
            <a:cxnLst/>
            <a:rect l="l" t="t" r="r" b="b"/>
            <a:pathLst>
              <a:path w="5455484" h="743930">
                <a:moveTo>
                  <a:pt x="0" y="0"/>
                </a:moveTo>
                <a:lnTo>
                  <a:pt x="5455484" y="0"/>
                </a:lnTo>
                <a:lnTo>
                  <a:pt x="5455484" y="743930"/>
                </a:lnTo>
                <a:lnTo>
                  <a:pt x="0" y="7439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2145069" y="2712528"/>
            <a:ext cx="15234490" cy="518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STRING VS STRING BUILDER VS STRING BUFFER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0515" y="4693043"/>
            <a:ext cx="4900632" cy="2323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814" lvl="1" indent="-177907" algn="l">
              <a:lnSpc>
                <a:spcPts val="2307"/>
              </a:lnSpc>
              <a:buFont typeface="Arial"/>
              <a:buChar char="•"/>
            </a:pPr>
            <a:r>
              <a:rPr lang="en-US" sz="1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inmutable → una vez creado, su valor no se puede cambiar.</a:t>
            </a:r>
          </a:p>
          <a:p>
            <a:pPr marL="355814" lvl="1" indent="-177907" algn="l">
              <a:lnSpc>
                <a:spcPts val="2307"/>
              </a:lnSpc>
              <a:buFont typeface="Arial"/>
              <a:buChar char="•"/>
            </a:pPr>
            <a:r>
              <a:rPr lang="en-US" sz="1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Cada vez que modificas un String, en realidad se crea un nuevo objeto en memoria.</a:t>
            </a:r>
          </a:p>
          <a:p>
            <a:pPr marL="355814" lvl="1" indent="-177907" algn="l">
              <a:lnSpc>
                <a:spcPts val="2307"/>
              </a:lnSpc>
              <a:buFont typeface="Arial"/>
              <a:buChar char="•"/>
            </a:pPr>
            <a:r>
              <a:rPr lang="en-US" sz="1648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Más seguro para uso en múltiples hilos porque no cambia, pero menos eficiente si hay muchas concatenaciones.</a:t>
            </a:r>
          </a:p>
          <a:p>
            <a:pPr algn="l">
              <a:lnSpc>
                <a:spcPts val="2307"/>
              </a:lnSpc>
            </a:pPr>
            <a:endParaRPr lang="en-US" sz="1648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434240" y="4395507"/>
            <a:ext cx="3357573" cy="2927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50" lvl="1" indent="-172725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mutable → puedes cambiar el contenido sin crear nuevos objetos.</a:t>
            </a:r>
          </a:p>
          <a:p>
            <a:pPr marL="345450" lvl="1" indent="-172725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está sincronizado → más rápido, pero no es thread-safe (no usar en múltiples hilos sin control).</a:t>
            </a:r>
          </a:p>
          <a:p>
            <a:pPr marL="345450" lvl="1" indent="-172725" algn="l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Ideal cuando necesitas modificar cadenas muchas veces en un solo hilo.</a:t>
            </a:r>
          </a:p>
          <a:p>
            <a:pPr algn="l">
              <a:lnSpc>
                <a:spcPts val="1120"/>
              </a:lnSpc>
            </a:pPr>
            <a:endParaRPr lang="en-US" sz="1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013295" y="4395507"/>
            <a:ext cx="4121933" cy="2052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9" lvl="1" indent="-183519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igual que StringBuilder pero sincronizado → es thread-safe.</a:t>
            </a:r>
          </a:p>
          <a:p>
            <a:pPr marL="367039" lvl="1" indent="-183519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Más lento que StringBuilder debido al costo de sincronización.</a:t>
            </a:r>
          </a:p>
          <a:p>
            <a:pPr marL="367039" lvl="1" indent="-183519" algn="l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usa cuando varios hilos necesitan modificar la misma cadena.</a:t>
            </a:r>
          </a:p>
          <a:p>
            <a:pPr algn="l">
              <a:lnSpc>
                <a:spcPts val="2380"/>
              </a:lnSpc>
            </a:pPr>
            <a:endParaRPr lang="en-US" sz="17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18" r="-6818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70467" y="4666984"/>
            <a:ext cx="12765801" cy="857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2"/>
              </a:lnSpc>
              <a:spcBef>
                <a:spcPct val="0"/>
              </a:spcBef>
            </a:pPr>
            <a:r>
              <a:rPr lang="en-US" sz="5008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PROGRAMACION FUNCIONAL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0265" y="6102318"/>
            <a:ext cx="16516708" cy="1842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paradigma de programación que trata la computación como la evaluación de funciones matemáticas y evita cambios de estado y datos mutables. Se centra en aplicar y componer funciones para transformar datos, en lugar de modificar el estado del programa. </a:t>
            </a: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6393566" y="-406606"/>
            <a:ext cx="5550106" cy="5550106"/>
          </a:xfrm>
          <a:custGeom>
            <a:avLst/>
            <a:gdLst/>
            <a:ahLst/>
            <a:cxnLst/>
            <a:rect l="l" t="t" r="r" b="b"/>
            <a:pathLst>
              <a:path w="5550106" h="5550106">
                <a:moveTo>
                  <a:pt x="0" y="0"/>
                </a:moveTo>
                <a:lnTo>
                  <a:pt x="5550106" y="0"/>
                </a:lnTo>
                <a:lnTo>
                  <a:pt x="5550106" y="5550106"/>
                </a:lnTo>
                <a:lnTo>
                  <a:pt x="0" y="5550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31711" y="2331544"/>
            <a:ext cx="13825903" cy="73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CONCEPTOS CLAVE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82002" y="4095390"/>
            <a:ext cx="4774694" cy="48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802">
                <a:solidFill>
                  <a:srgbClr val="F800C0"/>
                </a:solidFill>
                <a:latin typeface="HK Modular"/>
                <a:ea typeface="HK Modular"/>
                <a:cs typeface="HK Modular"/>
                <a:sym typeface="HK Modular"/>
              </a:rPr>
              <a:t>FUNCIONES PURAS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23434" y="4095390"/>
            <a:ext cx="4659865" cy="4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1"/>
              </a:lnSpc>
              <a:spcBef>
                <a:spcPct val="0"/>
              </a:spcBef>
            </a:pPr>
            <a:r>
              <a:rPr lang="en-US" sz="2808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INMUTABLIDAD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17223" y="4104915"/>
            <a:ext cx="5243573" cy="76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  <a:spcBef>
                <a:spcPct val="0"/>
              </a:spcBef>
            </a:pPr>
            <a:r>
              <a:rPr lang="en-US" sz="2160">
                <a:solidFill>
                  <a:srgbClr val="F800C0"/>
                </a:solidFill>
                <a:latin typeface="HK Modular"/>
                <a:ea typeface="HK Modular"/>
                <a:cs typeface="HK Modular"/>
                <a:sym typeface="HK Modular"/>
              </a:rPr>
              <a:t>FUNCIONES DE ORDEN SUPERIOR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722" y="5086350"/>
            <a:ext cx="5243573" cy="137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Funciones que, dado el mismo input, siempre devuelven el mismo output y no tienen efectos secundarios (no modifican variables externas).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22876" y="5030771"/>
            <a:ext cx="5243573" cy="137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datos no se pueden modificar después de ser creados, lo que ayuda a evitar errores y facilita el razonamiento sobre el código.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17223" y="5086350"/>
            <a:ext cx="5243573" cy="1049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Funciones que pueden tomar otras funciones como argumentos o devolver funciones como resultado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30948" y="7447812"/>
            <a:ext cx="4774694" cy="98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802">
                <a:solidFill>
                  <a:srgbClr val="F800C0"/>
                </a:solidFill>
                <a:latin typeface="HK Modular"/>
                <a:ea typeface="HK Modular"/>
                <a:cs typeface="HK Modular"/>
                <a:sym typeface="HK Modular"/>
              </a:rPr>
              <a:t>COMPOSICION DE FUNCIONES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37374" y="7344464"/>
            <a:ext cx="4659865" cy="98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1"/>
              </a:lnSpc>
              <a:spcBef>
                <a:spcPct val="0"/>
              </a:spcBef>
            </a:pPr>
            <a:r>
              <a:rPr lang="en-US" sz="2808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ENFOQUE DECLARATIVO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10202" y="8540439"/>
            <a:ext cx="5243573" cy="137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Combinar varias funciones para crear una nueva función más compleja, pasando el resultado de una función como entrada a la siguiente.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37374" y="8540439"/>
            <a:ext cx="5243573" cy="1378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 describe qué se quiere lograr, no cómo se debe lograr, evitando detalles de implementación y estructuras de control como bucles</a:t>
            </a:r>
          </a:p>
        </p:txBody>
      </p:sp>
      <p:sp>
        <p:nvSpPr>
          <p:cNvPr id="23" name="Freeform 23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31711" y="2331544"/>
            <a:ext cx="13825903" cy="73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VENTAJAS</a:t>
            </a:r>
          </a:p>
        </p:txBody>
      </p:sp>
      <p:sp>
        <p:nvSpPr>
          <p:cNvPr id="13" name="Freeform 13"/>
          <p:cNvSpPr/>
          <p:nvPr/>
        </p:nvSpPr>
        <p:spPr>
          <a:xfrm>
            <a:off x="5921347" y="4219030"/>
            <a:ext cx="2051546" cy="1595077"/>
          </a:xfrm>
          <a:custGeom>
            <a:avLst/>
            <a:gdLst/>
            <a:ahLst/>
            <a:cxnLst/>
            <a:rect l="l" t="t" r="r" b="b"/>
            <a:pathLst>
              <a:path w="2051546" h="1595077">
                <a:moveTo>
                  <a:pt x="0" y="0"/>
                </a:moveTo>
                <a:lnTo>
                  <a:pt x="2051546" y="0"/>
                </a:lnTo>
                <a:lnTo>
                  <a:pt x="2051546" y="1595077"/>
                </a:lnTo>
                <a:lnTo>
                  <a:pt x="0" y="15950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6313435" y="7504962"/>
            <a:ext cx="1267370" cy="1267370"/>
          </a:xfrm>
          <a:custGeom>
            <a:avLst/>
            <a:gdLst/>
            <a:ahLst/>
            <a:cxnLst/>
            <a:rect l="l" t="t" r="r" b="b"/>
            <a:pathLst>
              <a:path w="1267370" h="1267370">
                <a:moveTo>
                  <a:pt x="0" y="0"/>
                </a:moveTo>
                <a:lnTo>
                  <a:pt x="1267371" y="0"/>
                </a:lnTo>
                <a:lnTo>
                  <a:pt x="1267371" y="1267370"/>
                </a:lnTo>
                <a:lnTo>
                  <a:pt x="0" y="12673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Freeform 15"/>
          <p:cNvSpPr/>
          <p:nvPr/>
        </p:nvSpPr>
        <p:spPr>
          <a:xfrm>
            <a:off x="15154255" y="3931493"/>
            <a:ext cx="2105045" cy="2170149"/>
          </a:xfrm>
          <a:custGeom>
            <a:avLst/>
            <a:gdLst/>
            <a:ahLst/>
            <a:cxnLst/>
            <a:rect l="l" t="t" r="r" b="b"/>
            <a:pathLst>
              <a:path w="2105045" h="2170149">
                <a:moveTo>
                  <a:pt x="0" y="0"/>
                </a:moveTo>
                <a:lnTo>
                  <a:pt x="2105045" y="0"/>
                </a:lnTo>
                <a:lnTo>
                  <a:pt x="2105045" y="2170150"/>
                </a:lnTo>
                <a:lnTo>
                  <a:pt x="0" y="21701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6" name="Freeform 16"/>
          <p:cNvSpPr/>
          <p:nvPr/>
        </p:nvSpPr>
        <p:spPr>
          <a:xfrm>
            <a:off x="15490876" y="7149170"/>
            <a:ext cx="1578216" cy="1978954"/>
          </a:xfrm>
          <a:custGeom>
            <a:avLst/>
            <a:gdLst/>
            <a:ahLst/>
            <a:cxnLst/>
            <a:rect l="l" t="t" r="r" b="b"/>
            <a:pathLst>
              <a:path w="1578216" h="1978954">
                <a:moveTo>
                  <a:pt x="0" y="0"/>
                </a:moveTo>
                <a:lnTo>
                  <a:pt x="1578216" y="0"/>
                </a:lnTo>
                <a:lnTo>
                  <a:pt x="1578216" y="1978954"/>
                </a:lnTo>
                <a:lnTo>
                  <a:pt x="0" y="19789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TextBox 17"/>
          <p:cNvSpPr txBox="1"/>
          <p:nvPr/>
        </p:nvSpPr>
        <p:spPr>
          <a:xfrm>
            <a:off x="1146654" y="4624027"/>
            <a:ext cx="4774694" cy="98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802">
                <a:solidFill>
                  <a:srgbClr val="F800C0"/>
                </a:solidFill>
                <a:latin typeface="HK Modular"/>
                <a:ea typeface="HK Modular"/>
                <a:cs typeface="HK Modular"/>
                <a:sym typeface="HK Modular"/>
              </a:rPr>
              <a:t>CODIGO MAS LIMPIO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28403" y="4622195"/>
            <a:ext cx="4659865" cy="983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1"/>
              </a:lnSpc>
              <a:spcBef>
                <a:spcPct val="0"/>
              </a:spcBef>
            </a:pPr>
            <a:r>
              <a:rPr lang="en-US" sz="2808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MAYOR FACILIDAD PARA PRUEBAS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6778" y="7674521"/>
            <a:ext cx="5243573" cy="76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  <a:spcBef>
                <a:spcPct val="0"/>
              </a:spcBef>
            </a:pPr>
            <a:r>
              <a:rPr lang="en-US" sz="2160">
                <a:solidFill>
                  <a:srgbClr val="F800C0"/>
                </a:solidFill>
                <a:latin typeface="HK Modular"/>
                <a:ea typeface="HK Modular"/>
                <a:cs typeface="HK Modular"/>
                <a:sym typeface="HK Modular"/>
              </a:rPr>
              <a:t>MAYOR PARALELISMO Y CONCURRENCIA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6654" y="7453026"/>
            <a:ext cx="4774694" cy="981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spcBef>
                <a:spcPct val="0"/>
              </a:spcBef>
            </a:pPr>
            <a:r>
              <a:rPr lang="en-US" sz="2802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MAYOR MANTENIBILIDAD</a:t>
            </a:r>
          </a:p>
        </p:txBody>
      </p:sp>
      <p:sp>
        <p:nvSpPr>
          <p:cNvPr id="21" name="Freeform 21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531711" y="2331544"/>
            <a:ext cx="13825903" cy="73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EJEMPLO</a:t>
            </a:r>
          </a:p>
        </p:txBody>
      </p:sp>
      <p:sp>
        <p:nvSpPr>
          <p:cNvPr id="13" name="Freeform 13"/>
          <p:cNvSpPr/>
          <p:nvPr/>
        </p:nvSpPr>
        <p:spPr>
          <a:xfrm>
            <a:off x="9912692" y="3887278"/>
            <a:ext cx="6444922" cy="551372"/>
          </a:xfrm>
          <a:custGeom>
            <a:avLst/>
            <a:gdLst/>
            <a:ahLst/>
            <a:cxnLst/>
            <a:rect l="l" t="t" r="r" b="b"/>
            <a:pathLst>
              <a:path w="6444922" h="551372">
                <a:moveTo>
                  <a:pt x="0" y="0"/>
                </a:moveTo>
                <a:lnTo>
                  <a:pt x="6444922" y="0"/>
                </a:lnTo>
                <a:lnTo>
                  <a:pt x="6444922" y="551372"/>
                </a:lnTo>
                <a:lnTo>
                  <a:pt x="0" y="551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10108560" y="5143500"/>
            <a:ext cx="6249055" cy="2859123"/>
          </a:xfrm>
          <a:custGeom>
            <a:avLst/>
            <a:gdLst/>
            <a:ahLst/>
            <a:cxnLst/>
            <a:rect l="l" t="t" r="r" b="b"/>
            <a:pathLst>
              <a:path w="6249055" h="2859123">
                <a:moveTo>
                  <a:pt x="0" y="0"/>
                </a:moveTo>
                <a:lnTo>
                  <a:pt x="6249054" y="0"/>
                </a:lnTo>
                <a:lnTo>
                  <a:pt x="6249054" y="2859123"/>
                </a:lnTo>
                <a:lnTo>
                  <a:pt x="0" y="2859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Freeform 15"/>
          <p:cNvSpPr/>
          <p:nvPr/>
        </p:nvSpPr>
        <p:spPr>
          <a:xfrm>
            <a:off x="9339501" y="8711442"/>
            <a:ext cx="7134589" cy="546858"/>
          </a:xfrm>
          <a:custGeom>
            <a:avLst/>
            <a:gdLst/>
            <a:ahLst/>
            <a:cxnLst/>
            <a:rect l="l" t="t" r="r" b="b"/>
            <a:pathLst>
              <a:path w="7134589" h="546858">
                <a:moveTo>
                  <a:pt x="0" y="0"/>
                </a:moveTo>
                <a:lnTo>
                  <a:pt x="7134589" y="0"/>
                </a:lnTo>
                <a:lnTo>
                  <a:pt x="7134589" y="546858"/>
                </a:lnTo>
                <a:lnTo>
                  <a:pt x="0" y="546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6" name="TextBox 16"/>
          <p:cNvSpPr txBox="1"/>
          <p:nvPr/>
        </p:nvSpPr>
        <p:spPr>
          <a:xfrm>
            <a:off x="1644177" y="4032773"/>
            <a:ext cx="4762812" cy="35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7"/>
              </a:lnSpc>
              <a:spcBef>
                <a:spcPct val="0"/>
              </a:spcBef>
            </a:pPr>
            <a:r>
              <a:rPr lang="en-US" sz="21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NUMEROS MAYORES A 10 EN LA LISTA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7636" y="5952543"/>
            <a:ext cx="4015896" cy="35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7"/>
              </a:lnSpc>
              <a:spcBef>
                <a:spcPct val="0"/>
              </a:spcBef>
            </a:pPr>
            <a:r>
              <a:rPr lang="en-US" sz="21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CICLOS Y CONDICIONALES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7386" y="8476512"/>
            <a:ext cx="5448297" cy="356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7"/>
              </a:lnSpc>
              <a:spcBef>
                <a:spcPct val="0"/>
              </a:spcBef>
            </a:pPr>
            <a:r>
              <a:rPr lang="en-US" sz="21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UN ENFOQUE FUNCIONAL Y LAMBDAS</a:t>
            </a:r>
          </a:p>
        </p:txBody>
      </p:sp>
      <p:sp>
        <p:nvSpPr>
          <p:cNvPr id="19" name="Freeform 19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4026335" y="-7851549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426549" y="2251598"/>
            <a:ext cx="13825903" cy="73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EXPRESION LAMBDA</a:t>
            </a:r>
          </a:p>
        </p:txBody>
      </p:sp>
      <p:sp>
        <p:nvSpPr>
          <p:cNvPr id="13" name="Freeform 13"/>
          <p:cNvSpPr/>
          <p:nvPr/>
        </p:nvSpPr>
        <p:spPr>
          <a:xfrm>
            <a:off x="3141532" y="4507726"/>
            <a:ext cx="4391649" cy="1271548"/>
          </a:xfrm>
          <a:custGeom>
            <a:avLst/>
            <a:gdLst/>
            <a:ahLst/>
            <a:cxnLst/>
            <a:rect l="l" t="t" r="r" b="b"/>
            <a:pathLst>
              <a:path w="4391649" h="1271548">
                <a:moveTo>
                  <a:pt x="0" y="0"/>
                </a:moveTo>
                <a:lnTo>
                  <a:pt x="4391649" y="0"/>
                </a:lnTo>
                <a:lnTo>
                  <a:pt x="4391649" y="1271548"/>
                </a:lnTo>
                <a:lnTo>
                  <a:pt x="0" y="1271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11037374" y="4507726"/>
            <a:ext cx="6389319" cy="3350637"/>
          </a:xfrm>
          <a:custGeom>
            <a:avLst/>
            <a:gdLst/>
            <a:ahLst/>
            <a:cxnLst/>
            <a:rect l="l" t="t" r="r" b="b"/>
            <a:pathLst>
              <a:path w="6389319" h="3350637">
                <a:moveTo>
                  <a:pt x="0" y="0"/>
                </a:moveTo>
                <a:lnTo>
                  <a:pt x="6389319" y="0"/>
                </a:lnTo>
                <a:lnTo>
                  <a:pt x="6389319" y="3350637"/>
                </a:lnTo>
                <a:lnTo>
                  <a:pt x="0" y="3350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2734955" y="3607214"/>
            <a:ext cx="4993323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Esta caracterizada por la siguiente sintaxis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267990"/>
            <a:ext cx="9468535" cy="189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17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expresión lambda representa el método abstracto de una interfaz funcional, una interfaz funcional es aquella que solo tiene un método abstracto, puede tener cualquier cantidad de métodos default o estáticos, pero solamente puede tener un método abstracto. Este método puede ser representado por una expresión lambda.</a:t>
            </a:r>
          </a:p>
        </p:txBody>
      </p:sp>
      <p:sp>
        <p:nvSpPr>
          <p:cNvPr id="17" name="Freeform 17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4026335" y="-7851549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426549" y="2251598"/>
            <a:ext cx="13825903" cy="73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EXPRESION LAMBDA</a:t>
            </a:r>
          </a:p>
        </p:txBody>
      </p:sp>
      <p:sp>
        <p:nvSpPr>
          <p:cNvPr id="13" name="Freeform 13"/>
          <p:cNvSpPr/>
          <p:nvPr/>
        </p:nvSpPr>
        <p:spPr>
          <a:xfrm>
            <a:off x="751156" y="5536439"/>
            <a:ext cx="5410866" cy="3349583"/>
          </a:xfrm>
          <a:custGeom>
            <a:avLst/>
            <a:gdLst/>
            <a:ahLst/>
            <a:cxnLst/>
            <a:rect l="l" t="t" r="r" b="b"/>
            <a:pathLst>
              <a:path w="5410866" h="3349583">
                <a:moveTo>
                  <a:pt x="0" y="0"/>
                </a:moveTo>
                <a:lnTo>
                  <a:pt x="5410866" y="0"/>
                </a:lnTo>
                <a:lnTo>
                  <a:pt x="5410866" y="3349583"/>
                </a:lnTo>
                <a:lnTo>
                  <a:pt x="0" y="33495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9671342" y="7678268"/>
            <a:ext cx="5033731" cy="1580032"/>
          </a:xfrm>
          <a:custGeom>
            <a:avLst/>
            <a:gdLst/>
            <a:ahLst/>
            <a:cxnLst/>
            <a:rect l="l" t="t" r="r" b="b"/>
            <a:pathLst>
              <a:path w="5033731" h="1580032">
                <a:moveTo>
                  <a:pt x="0" y="0"/>
                </a:moveTo>
                <a:lnTo>
                  <a:pt x="5033731" y="0"/>
                </a:lnTo>
                <a:lnTo>
                  <a:pt x="5033731" y="1580032"/>
                </a:lnTo>
                <a:lnTo>
                  <a:pt x="0" y="1580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15"/>
          <p:cNvSpPr txBox="1"/>
          <p:nvPr/>
        </p:nvSpPr>
        <p:spPr>
          <a:xfrm>
            <a:off x="751156" y="3893879"/>
            <a:ext cx="5306273" cy="852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spcBef>
                <a:spcPct val="0"/>
              </a:spcBef>
            </a:pPr>
            <a:r>
              <a:rPr lang="en-US" sz="24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OPERACIONES DE CREACION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86364" y="3893879"/>
            <a:ext cx="5306273" cy="852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spcBef>
                <a:spcPct val="0"/>
              </a:spcBef>
            </a:pPr>
            <a:r>
              <a:rPr lang="en-US" sz="24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OPERACIONES INTERMEDIAS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40706" y="3893879"/>
            <a:ext cx="5306273" cy="852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spcBef>
                <a:spcPct val="0"/>
              </a:spcBef>
            </a:pPr>
            <a:r>
              <a:rPr lang="en-US" sz="24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OPERACIONES TERMINALES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95019" y="4979161"/>
            <a:ext cx="3618548" cy="30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sz="17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Son la que inician el flujo de datos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19163" y="5241164"/>
            <a:ext cx="3418211" cy="220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0980" lvl="1" indent="-170490" algn="l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Transforman o filtran el flujo.</a:t>
            </a:r>
          </a:p>
          <a:p>
            <a:pPr marL="340980" lvl="1" indent="-170490" algn="l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Son lazy (perezosas): no se ejecutan hasta que llega una operación terminal.</a:t>
            </a:r>
          </a:p>
          <a:p>
            <a:pPr marL="340980" lvl="1" indent="-170490" algn="l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Devuelven otro Stream.</a:t>
            </a:r>
          </a:p>
          <a:p>
            <a:pPr marL="340980" lvl="1" indent="-170490" algn="l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Puedes encadenar multiples operaciones intermedias</a:t>
            </a:r>
          </a:p>
          <a:p>
            <a:pPr algn="l">
              <a:lnSpc>
                <a:spcPts val="2211"/>
              </a:lnSpc>
            </a:pPr>
            <a:endParaRPr lang="en-US" sz="157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3584737" y="5105400"/>
            <a:ext cx="3418211" cy="24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0980" lvl="1" indent="-170490" algn="l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Cierran el stream.</a:t>
            </a:r>
          </a:p>
          <a:p>
            <a:pPr marL="340980" lvl="1" indent="-170490" algn="l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Devuelven un resultado no-stream (colección, valor, nada).</a:t>
            </a:r>
          </a:p>
          <a:p>
            <a:pPr marL="340980" lvl="1" indent="-170490" algn="l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vez que usas una operación terminal, no puedes reutilizar el mismo stream.</a:t>
            </a:r>
          </a:p>
          <a:p>
            <a:pPr marL="340980" lvl="1" indent="-170490" algn="l">
              <a:lnSpc>
                <a:spcPts val="2211"/>
              </a:lnSpc>
              <a:buFont typeface="Arial"/>
              <a:buChar char="•"/>
            </a:pPr>
            <a:r>
              <a:rPr lang="en-US" sz="157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Solo puedes usar una terminal para cerrar</a:t>
            </a:r>
          </a:p>
          <a:p>
            <a:pPr algn="l">
              <a:lnSpc>
                <a:spcPts val="2211"/>
              </a:lnSpc>
            </a:pPr>
            <a:endParaRPr lang="en-US" sz="157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4026335" y="-7851549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60960" y="2153124"/>
            <a:ext cx="13825903" cy="73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EXPRESION LAMBDA CON STREAM</a:t>
            </a:r>
          </a:p>
        </p:txBody>
      </p:sp>
      <p:sp>
        <p:nvSpPr>
          <p:cNvPr id="13" name="Freeform 13"/>
          <p:cNvSpPr/>
          <p:nvPr/>
        </p:nvSpPr>
        <p:spPr>
          <a:xfrm>
            <a:off x="11281861" y="4130511"/>
            <a:ext cx="5434335" cy="722651"/>
          </a:xfrm>
          <a:custGeom>
            <a:avLst/>
            <a:gdLst/>
            <a:ahLst/>
            <a:cxnLst/>
            <a:rect l="l" t="t" r="r" b="b"/>
            <a:pathLst>
              <a:path w="5434335" h="722651">
                <a:moveTo>
                  <a:pt x="0" y="0"/>
                </a:moveTo>
                <a:lnTo>
                  <a:pt x="5434335" y="0"/>
                </a:lnTo>
                <a:lnTo>
                  <a:pt x="5434335" y="722651"/>
                </a:lnTo>
                <a:lnTo>
                  <a:pt x="0" y="722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11808380" y="5797681"/>
            <a:ext cx="4650006" cy="1472363"/>
          </a:xfrm>
          <a:custGeom>
            <a:avLst/>
            <a:gdLst/>
            <a:ahLst/>
            <a:cxnLst/>
            <a:rect l="l" t="t" r="r" b="b"/>
            <a:pathLst>
              <a:path w="4650006" h="1472363">
                <a:moveTo>
                  <a:pt x="0" y="0"/>
                </a:moveTo>
                <a:lnTo>
                  <a:pt x="4650006" y="0"/>
                </a:lnTo>
                <a:lnTo>
                  <a:pt x="4650006" y="1472363"/>
                </a:lnTo>
                <a:lnTo>
                  <a:pt x="0" y="14723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Freeform 15"/>
          <p:cNvSpPr/>
          <p:nvPr/>
        </p:nvSpPr>
        <p:spPr>
          <a:xfrm>
            <a:off x="2362787" y="4030848"/>
            <a:ext cx="4525709" cy="1392526"/>
          </a:xfrm>
          <a:custGeom>
            <a:avLst/>
            <a:gdLst/>
            <a:ahLst/>
            <a:cxnLst/>
            <a:rect l="l" t="t" r="r" b="b"/>
            <a:pathLst>
              <a:path w="4525709" h="1392526">
                <a:moveTo>
                  <a:pt x="0" y="0"/>
                </a:moveTo>
                <a:lnTo>
                  <a:pt x="4525709" y="0"/>
                </a:lnTo>
                <a:lnTo>
                  <a:pt x="4525709" y="1392526"/>
                </a:lnTo>
                <a:lnTo>
                  <a:pt x="0" y="1392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6" name="Freeform 16"/>
          <p:cNvSpPr/>
          <p:nvPr/>
        </p:nvSpPr>
        <p:spPr>
          <a:xfrm>
            <a:off x="11854359" y="8190761"/>
            <a:ext cx="4715087" cy="1523652"/>
          </a:xfrm>
          <a:custGeom>
            <a:avLst/>
            <a:gdLst/>
            <a:ahLst/>
            <a:cxnLst/>
            <a:rect l="l" t="t" r="r" b="b"/>
            <a:pathLst>
              <a:path w="4715087" h="1523652">
                <a:moveTo>
                  <a:pt x="0" y="0"/>
                </a:moveTo>
                <a:lnTo>
                  <a:pt x="4715086" y="0"/>
                </a:lnTo>
                <a:lnTo>
                  <a:pt x="4715086" y="1523652"/>
                </a:lnTo>
                <a:lnTo>
                  <a:pt x="0" y="1523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Freeform 17"/>
          <p:cNvSpPr/>
          <p:nvPr/>
        </p:nvSpPr>
        <p:spPr>
          <a:xfrm>
            <a:off x="1352179" y="6952142"/>
            <a:ext cx="6629217" cy="692207"/>
          </a:xfrm>
          <a:custGeom>
            <a:avLst/>
            <a:gdLst/>
            <a:ahLst/>
            <a:cxnLst/>
            <a:rect l="l" t="t" r="r" b="b"/>
            <a:pathLst>
              <a:path w="6629217" h="692207">
                <a:moveTo>
                  <a:pt x="0" y="0"/>
                </a:moveTo>
                <a:lnTo>
                  <a:pt x="6629218" y="0"/>
                </a:lnTo>
                <a:lnTo>
                  <a:pt x="6629218" y="692208"/>
                </a:lnTo>
                <a:lnTo>
                  <a:pt x="0" y="6922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Freeform 18"/>
          <p:cNvSpPr/>
          <p:nvPr/>
        </p:nvSpPr>
        <p:spPr>
          <a:xfrm>
            <a:off x="1600993" y="8787246"/>
            <a:ext cx="5642503" cy="1024153"/>
          </a:xfrm>
          <a:custGeom>
            <a:avLst/>
            <a:gdLst/>
            <a:ahLst/>
            <a:cxnLst/>
            <a:rect l="l" t="t" r="r" b="b"/>
            <a:pathLst>
              <a:path w="5642503" h="1024153">
                <a:moveTo>
                  <a:pt x="0" y="0"/>
                </a:moveTo>
                <a:lnTo>
                  <a:pt x="5642503" y="0"/>
                </a:lnTo>
                <a:lnTo>
                  <a:pt x="5642503" y="1024153"/>
                </a:lnTo>
                <a:lnTo>
                  <a:pt x="0" y="10241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9" name="TextBox 19"/>
          <p:cNvSpPr txBox="1"/>
          <p:nvPr/>
        </p:nvSpPr>
        <p:spPr>
          <a:xfrm>
            <a:off x="10326809" y="3531724"/>
            <a:ext cx="71056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ForEach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84844" y="5280500"/>
            <a:ext cx="394494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66190" y="3531724"/>
            <a:ext cx="4120674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Recorre todos los elementos de una coleccion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76372" y="5280500"/>
            <a:ext cx="4939824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Transforma cada elemento de la coleccion en otro valor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2817" y="3531724"/>
            <a:ext cx="446722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Filter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09395" y="3531724"/>
            <a:ext cx="3432493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Filtra los elementos segun la condicion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74195" y="7501475"/>
            <a:ext cx="615791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reduce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88780" y="7501475"/>
            <a:ext cx="4515009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Combina todos los elementos en un solo resultado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32651" y="5968985"/>
            <a:ext cx="56705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collect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362787" y="5968985"/>
            <a:ext cx="54473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una operacion terminal de un stream, sirve para recoger los elementos procesados y guardarlos en una coleccion o estructura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00993" y="8047886"/>
            <a:ext cx="430371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peek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60960" y="8025248"/>
            <a:ext cx="5447325" cy="523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sirve para ver o espiar lo que esta pasando en cada paso de la tuberia del stream sin modificar los datos</a:t>
            </a:r>
          </a:p>
        </p:txBody>
      </p:sp>
      <p:sp>
        <p:nvSpPr>
          <p:cNvPr id="31" name="Freeform 31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4026335" y="-7851549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60960" y="2105499"/>
            <a:ext cx="13825903" cy="73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33"/>
              </a:lnSpc>
              <a:spcBef>
                <a:spcPct val="0"/>
              </a:spcBef>
            </a:pPr>
            <a:r>
              <a:rPr lang="en-US" sz="4237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EXPRESION LAMBDA CON STREAM</a:t>
            </a:r>
          </a:p>
        </p:txBody>
      </p:sp>
      <p:sp>
        <p:nvSpPr>
          <p:cNvPr id="13" name="Freeform 13"/>
          <p:cNvSpPr/>
          <p:nvPr/>
        </p:nvSpPr>
        <p:spPr>
          <a:xfrm>
            <a:off x="2863995" y="3955855"/>
            <a:ext cx="3782062" cy="1684258"/>
          </a:xfrm>
          <a:custGeom>
            <a:avLst/>
            <a:gdLst/>
            <a:ahLst/>
            <a:cxnLst/>
            <a:rect l="l" t="t" r="r" b="b"/>
            <a:pathLst>
              <a:path w="3782062" h="1684258">
                <a:moveTo>
                  <a:pt x="0" y="0"/>
                </a:moveTo>
                <a:lnTo>
                  <a:pt x="3782063" y="0"/>
                </a:lnTo>
                <a:lnTo>
                  <a:pt x="3782063" y="1684259"/>
                </a:lnTo>
                <a:lnTo>
                  <a:pt x="0" y="16842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2601898" y="6398602"/>
            <a:ext cx="4306258" cy="1131448"/>
          </a:xfrm>
          <a:custGeom>
            <a:avLst/>
            <a:gdLst/>
            <a:ahLst/>
            <a:cxnLst/>
            <a:rect l="l" t="t" r="r" b="b"/>
            <a:pathLst>
              <a:path w="4306258" h="1131448">
                <a:moveTo>
                  <a:pt x="0" y="0"/>
                </a:moveTo>
                <a:lnTo>
                  <a:pt x="4306257" y="0"/>
                </a:lnTo>
                <a:lnTo>
                  <a:pt x="4306257" y="1131448"/>
                </a:lnTo>
                <a:lnTo>
                  <a:pt x="0" y="1131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Freeform 15"/>
          <p:cNvSpPr/>
          <p:nvPr/>
        </p:nvSpPr>
        <p:spPr>
          <a:xfrm>
            <a:off x="2548139" y="8627814"/>
            <a:ext cx="4155005" cy="1260972"/>
          </a:xfrm>
          <a:custGeom>
            <a:avLst/>
            <a:gdLst/>
            <a:ahLst/>
            <a:cxnLst/>
            <a:rect l="l" t="t" r="r" b="b"/>
            <a:pathLst>
              <a:path w="4155005" h="1260972">
                <a:moveTo>
                  <a:pt x="0" y="0"/>
                </a:moveTo>
                <a:lnTo>
                  <a:pt x="4155005" y="0"/>
                </a:lnTo>
                <a:lnTo>
                  <a:pt x="4155005" y="1260972"/>
                </a:lnTo>
                <a:lnTo>
                  <a:pt x="0" y="1260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6" name="Freeform 16"/>
          <p:cNvSpPr/>
          <p:nvPr/>
        </p:nvSpPr>
        <p:spPr>
          <a:xfrm>
            <a:off x="10682091" y="5781322"/>
            <a:ext cx="5093465" cy="1505081"/>
          </a:xfrm>
          <a:custGeom>
            <a:avLst/>
            <a:gdLst/>
            <a:ahLst/>
            <a:cxnLst/>
            <a:rect l="l" t="t" r="r" b="b"/>
            <a:pathLst>
              <a:path w="5093465" h="1505081">
                <a:moveTo>
                  <a:pt x="0" y="0"/>
                </a:moveTo>
                <a:lnTo>
                  <a:pt x="5093465" y="0"/>
                </a:lnTo>
                <a:lnTo>
                  <a:pt x="5093465" y="1505080"/>
                </a:lnTo>
                <a:lnTo>
                  <a:pt x="0" y="1505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Freeform 17"/>
          <p:cNvSpPr/>
          <p:nvPr/>
        </p:nvSpPr>
        <p:spPr>
          <a:xfrm>
            <a:off x="8360587" y="3955855"/>
            <a:ext cx="4287249" cy="1148693"/>
          </a:xfrm>
          <a:custGeom>
            <a:avLst/>
            <a:gdLst/>
            <a:ahLst/>
            <a:cxnLst/>
            <a:rect l="l" t="t" r="r" b="b"/>
            <a:pathLst>
              <a:path w="4287249" h="1148693">
                <a:moveTo>
                  <a:pt x="0" y="0"/>
                </a:moveTo>
                <a:lnTo>
                  <a:pt x="4287249" y="0"/>
                </a:lnTo>
                <a:lnTo>
                  <a:pt x="4287249" y="1148694"/>
                </a:lnTo>
                <a:lnTo>
                  <a:pt x="0" y="11486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Freeform 18"/>
          <p:cNvSpPr/>
          <p:nvPr/>
        </p:nvSpPr>
        <p:spPr>
          <a:xfrm>
            <a:off x="13228823" y="3994615"/>
            <a:ext cx="3884768" cy="1109934"/>
          </a:xfrm>
          <a:custGeom>
            <a:avLst/>
            <a:gdLst/>
            <a:ahLst/>
            <a:cxnLst/>
            <a:rect l="l" t="t" r="r" b="b"/>
            <a:pathLst>
              <a:path w="3884768" h="1109934">
                <a:moveTo>
                  <a:pt x="0" y="0"/>
                </a:moveTo>
                <a:lnTo>
                  <a:pt x="3884769" y="0"/>
                </a:lnTo>
                <a:lnTo>
                  <a:pt x="3884769" y="1109934"/>
                </a:lnTo>
                <a:lnTo>
                  <a:pt x="0" y="11099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9" name="Freeform 19"/>
          <p:cNvSpPr/>
          <p:nvPr/>
        </p:nvSpPr>
        <p:spPr>
          <a:xfrm>
            <a:off x="11404338" y="8006299"/>
            <a:ext cx="3260569" cy="622016"/>
          </a:xfrm>
          <a:custGeom>
            <a:avLst/>
            <a:gdLst/>
            <a:ahLst/>
            <a:cxnLst/>
            <a:rect l="l" t="t" r="r" b="b"/>
            <a:pathLst>
              <a:path w="3260569" h="622016">
                <a:moveTo>
                  <a:pt x="0" y="0"/>
                </a:moveTo>
                <a:lnTo>
                  <a:pt x="3260570" y="0"/>
                </a:lnTo>
                <a:lnTo>
                  <a:pt x="3260570" y="622017"/>
                </a:lnTo>
                <a:lnTo>
                  <a:pt x="0" y="622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0" name="Freeform 20"/>
          <p:cNvSpPr/>
          <p:nvPr/>
        </p:nvSpPr>
        <p:spPr>
          <a:xfrm>
            <a:off x="11201217" y="8799766"/>
            <a:ext cx="3666812" cy="564887"/>
          </a:xfrm>
          <a:custGeom>
            <a:avLst/>
            <a:gdLst/>
            <a:ahLst/>
            <a:cxnLst/>
            <a:rect l="l" t="t" r="r" b="b"/>
            <a:pathLst>
              <a:path w="3666812" h="564887">
                <a:moveTo>
                  <a:pt x="0" y="0"/>
                </a:moveTo>
                <a:lnTo>
                  <a:pt x="3666812" y="0"/>
                </a:lnTo>
                <a:lnTo>
                  <a:pt x="3666812" y="564887"/>
                </a:lnTo>
                <a:lnTo>
                  <a:pt x="0" y="5648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1" name="Freeform 21"/>
          <p:cNvSpPr/>
          <p:nvPr/>
        </p:nvSpPr>
        <p:spPr>
          <a:xfrm>
            <a:off x="11119721" y="9545628"/>
            <a:ext cx="3829805" cy="536792"/>
          </a:xfrm>
          <a:custGeom>
            <a:avLst/>
            <a:gdLst/>
            <a:ahLst/>
            <a:cxnLst/>
            <a:rect l="l" t="t" r="r" b="b"/>
            <a:pathLst>
              <a:path w="3829805" h="536792">
                <a:moveTo>
                  <a:pt x="0" y="0"/>
                </a:moveTo>
                <a:lnTo>
                  <a:pt x="3829804" y="0"/>
                </a:lnTo>
                <a:lnTo>
                  <a:pt x="3829804" y="536792"/>
                </a:lnTo>
                <a:lnTo>
                  <a:pt x="0" y="5367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22" name="TextBox 22"/>
          <p:cNvSpPr txBox="1"/>
          <p:nvPr/>
        </p:nvSpPr>
        <p:spPr>
          <a:xfrm>
            <a:off x="9043315" y="3531724"/>
            <a:ext cx="3277553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min(Comparator) / max(Comparator)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04212" y="5280500"/>
            <a:ext cx="355759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skip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72382" y="3531724"/>
            <a:ext cx="3585051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Devuelve el elemento minimo o maximo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72382" y="5280500"/>
            <a:ext cx="2747804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Salta los primeros n elementos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28920" y="3531724"/>
            <a:ext cx="574516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sorted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56460" y="3531724"/>
            <a:ext cx="2138362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Ordena el flujo de datos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53137" y="7501475"/>
            <a:ext cx="302323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any Match/ all Match/ none Match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47897" y="7501475"/>
            <a:ext cx="4869339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validan si algun/todos/ninguno cumplen una condicion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93043" y="5968985"/>
            <a:ext cx="646271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distinct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31364" y="5968985"/>
            <a:ext cx="544732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Elimina duplicados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21551" y="8047886"/>
            <a:ext cx="38925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60960" y="8025248"/>
            <a:ext cx="5447325" cy="25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Toma solo los primeros n elementos</a:t>
            </a:r>
          </a:p>
        </p:txBody>
      </p:sp>
      <p:sp>
        <p:nvSpPr>
          <p:cNvPr id="34" name="Freeform 34"/>
          <p:cNvSpPr/>
          <p:nvPr/>
        </p:nvSpPr>
        <p:spPr>
          <a:xfrm>
            <a:off x="7472190" y="-406606"/>
            <a:ext cx="3035163" cy="3035163"/>
          </a:xfrm>
          <a:custGeom>
            <a:avLst/>
            <a:gdLst/>
            <a:ahLst/>
            <a:cxnLst/>
            <a:rect l="l" t="t" r="r" b="b"/>
            <a:pathLst>
              <a:path w="3035163" h="3035163">
                <a:moveTo>
                  <a:pt x="0" y="0"/>
                </a:moveTo>
                <a:lnTo>
                  <a:pt x="3035163" y="0"/>
                </a:lnTo>
                <a:lnTo>
                  <a:pt x="3035163" y="3035163"/>
                </a:lnTo>
                <a:lnTo>
                  <a:pt x="0" y="30351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940201" y="-7697568"/>
            <a:ext cx="10626331" cy="19778728"/>
            <a:chOff x="0" y="0"/>
            <a:chExt cx="2798705" cy="52092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98705" cy="5209212"/>
            </a:xfrm>
            <a:custGeom>
              <a:avLst/>
              <a:gdLst/>
              <a:ahLst/>
              <a:cxnLst/>
              <a:rect l="l" t="t" r="r" b="b"/>
              <a:pathLst>
                <a:path w="2798705" h="5209212">
                  <a:moveTo>
                    <a:pt x="0" y="0"/>
                  </a:moveTo>
                  <a:lnTo>
                    <a:pt x="2798705" y="0"/>
                  </a:lnTo>
                  <a:lnTo>
                    <a:pt x="2798705" y="5209212"/>
                  </a:lnTo>
                  <a:lnTo>
                    <a:pt x="0" y="5209212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52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98705" cy="5247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-874366" y="8434822"/>
            <a:ext cx="10731144" cy="4199330"/>
            <a:chOff x="0" y="0"/>
            <a:chExt cx="3083604" cy="1206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39501" y="-2648321"/>
            <a:ext cx="10731144" cy="4199330"/>
            <a:chOff x="0" y="0"/>
            <a:chExt cx="3083604" cy="12066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3604" cy="1206681"/>
            </a:xfrm>
            <a:custGeom>
              <a:avLst/>
              <a:gdLst/>
              <a:ahLst/>
              <a:cxnLst/>
              <a:rect l="l" t="t" r="r" b="b"/>
              <a:pathLst>
                <a:path w="3083604" h="1206681">
                  <a:moveTo>
                    <a:pt x="20922" y="0"/>
                  </a:moveTo>
                  <a:lnTo>
                    <a:pt x="3062682" y="0"/>
                  </a:lnTo>
                  <a:cubicBezTo>
                    <a:pt x="3068231" y="0"/>
                    <a:pt x="3073553" y="2204"/>
                    <a:pt x="3077476" y="6128"/>
                  </a:cubicBezTo>
                  <a:cubicBezTo>
                    <a:pt x="3081400" y="10051"/>
                    <a:pt x="3083604" y="15373"/>
                    <a:pt x="3083604" y="20922"/>
                  </a:cubicBezTo>
                  <a:lnTo>
                    <a:pt x="3083604" y="1185759"/>
                  </a:lnTo>
                  <a:cubicBezTo>
                    <a:pt x="3083604" y="1191308"/>
                    <a:pt x="3081400" y="1196630"/>
                    <a:pt x="3077476" y="1200553"/>
                  </a:cubicBezTo>
                  <a:cubicBezTo>
                    <a:pt x="3073553" y="1204477"/>
                    <a:pt x="3068231" y="1206681"/>
                    <a:pt x="3062682" y="1206681"/>
                  </a:cubicBezTo>
                  <a:lnTo>
                    <a:pt x="20922" y="1206681"/>
                  </a:lnTo>
                  <a:cubicBezTo>
                    <a:pt x="15373" y="1206681"/>
                    <a:pt x="10051" y="1204477"/>
                    <a:pt x="6128" y="1200553"/>
                  </a:cubicBezTo>
                  <a:cubicBezTo>
                    <a:pt x="2204" y="1196630"/>
                    <a:pt x="0" y="1191308"/>
                    <a:pt x="0" y="1185759"/>
                  </a:cubicBezTo>
                  <a:lnTo>
                    <a:pt x="0" y="20922"/>
                  </a:lnTo>
                  <a:cubicBezTo>
                    <a:pt x="0" y="15373"/>
                    <a:pt x="2204" y="10051"/>
                    <a:pt x="6128" y="6128"/>
                  </a:cubicBezTo>
                  <a:cubicBezTo>
                    <a:pt x="10051" y="2204"/>
                    <a:pt x="15373" y="0"/>
                    <a:pt x="2092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FF00E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083604" cy="1244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620597" y="8501085"/>
            <a:ext cx="612033" cy="609807"/>
          </a:xfrm>
          <a:custGeom>
            <a:avLst/>
            <a:gdLst/>
            <a:ahLst/>
            <a:cxnLst/>
            <a:rect l="l" t="t" r="r" b="b"/>
            <a:pathLst>
              <a:path w="612033" h="609807">
                <a:moveTo>
                  <a:pt x="0" y="0"/>
                </a:moveTo>
                <a:lnTo>
                  <a:pt x="612033" y="0"/>
                </a:lnTo>
                <a:lnTo>
                  <a:pt x="612033" y="609808"/>
                </a:lnTo>
                <a:lnTo>
                  <a:pt x="0" y="609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TextBox 13"/>
          <p:cNvSpPr txBox="1"/>
          <p:nvPr/>
        </p:nvSpPr>
        <p:spPr>
          <a:xfrm>
            <a:off x="904668" y="2058446"/>
            <a:ext cx="16869666" cy="121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PROXIMA SESION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79372" y="758414"/>
            <a:ext cx="10520257" cy="121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73"/>
              </a:lnSpc>
              <a:spcBef>
                <a:spcPct val="0"/>
              </a:spcBef>
            </a:pPr>
            <a:r>
              <a:rPr lang="en-US" sz="7123">
                <a:solidFill>
                  <a:srgbClr val="FE9B26"/>
                </a:solidFill>
                <a:latin typeface="HK Modular"/>
                <a:ea typeface="HK Modular"/>
                <a:cs typeface="HK Modular"/>
                <a:sym typeface="HK Modular"/>
              </a:rPr>
              <a:t>NOS VEMOS LA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94038" y="5712458"/>
            <a:ext cx="10890927" cy="223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la siguiente clase: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Traigan los comandos de Git con su funcion - Pueden traerlos impresos o escritos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Realicen el taller de programacion funcional - Fecha limite el dia Martes 4 de Agosto 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Traigan computador para la sesion teorica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8717" y="3828799"/>
            <a:ext cx="9358713" cy="1389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2"/>
              </a:lnSpc>
              <a:spcBef>
                <a:spcPct val="0"/>
              </a:spcBef>
            </a:pPr>
            <a:r>
              <a:rPr lang="en-US" sz="3952">
                <a:solidFill>
                  <a:srgbClr val="F800C0"/>
                </a:solidFill>
                <a:latin typeface="HK Modular"/>
                <a:ea typeface="HK Modular"/>
                <a:cs typeface="HK Modular"/>
                <a:sym typeface="HK Modular"/>
              </a:rPr>
              <a:t>FASE 2 ONBOARDING - PRUEBA TECNICA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26614" y="8443935"/>
            <a:ext cx="5634109" cy="424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2"/>
              </a:lnSpc>
              <a:spcBef>
                <a:spcPct val="0"/>
              </a:spcBef>
            </a:pPr>
            <a:r>
              <a:rPr lang="en-US" sz="243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ANDRES.CANTOR-U@ESCUELAING.EDU.CO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5BAC97FAEABB4E9C157EE386378C88" ma:contentTypeVersion="3" ma:contentTypeDescription="Crear nuevo documento." ma:contentTypeScope="" ma:versionID="a485e506546b9dc49e4f01043526fcc8">
  <xsd:schema xmlns:xsd="http://www.w3.org/2001/XMLSchema" xmlns:xs="http://www.w3.org/2001/XMLSchema" xmlns:p="http://schemas.microsoft.com/office/2006/metadata/properties" xmlns:ns2="a4ca1935-4d02-4ee2-b565-35cc2fa3819b" targetNamespace="http://schemas.microsoft.com/office/2006/metadata/properties" ma:root="true" ma:fieldsID="869b673358c31917cf7b18db7e5787e9" ns2:_="">
    <xsd:import namespace="a4ca1935-4d02-4ee2-b565-35cc2fa381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ca1935-4d02-4ee2-b565-35cc2fa381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848A2B-2BEA-4A87-958A-AE3FE9068A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FE097F-0CF1-470F-B8F4-58409867122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3352492-3804-4E7E-92C2-DFC63654D1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ca1935-4d02-4ee2-b565-35cc2fa381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2154</Words>
  <Application>Microsoft Office PowerPoint</Application>
  <PresentationFormat>Personalizado</PresentationFormat>
  <Paragraphs>192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Open Sans</vt:lpstr>
      <vt:lpstr>Arial</vt:lpstr>
      <vt:lpstr>Poppins</vt:lpstr>
      <vt:lpstr>Calibri</vt:lpstr>
      <vt:lpstr>HK Modular</vt:lpstr>
      <vt:lpstr>RQND Pro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DOSW 1 - S01</dc:title>
  <cp:lastModifiedBy>Sebastián Granados</cp:lastModifiedBy>
  <cp:revision>2</cp:revision>
  <dcterms:created xsi:type="dcterms:W3CDTF">2006-08-16T00:00:00Z</dcterms:created>
  <dcterms:modified xsi:type="dcterms:W3CDTF">2026-08-31T00:06:14Z</dcterms:modified>
  <dc:identifier>DAG-zUrcGZ0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0x0101002B5BAC97FAEABB4E9C157EE386378C88</vt:lpwstr>
  </property>
</Properties>
</file>