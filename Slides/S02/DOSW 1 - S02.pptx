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9" r:id="rId5"/>
    <p:sldId id="260" r:id="rId6"/>
    <p:sldId id="261" r:id="rId7"/>
    <p:sldId id="262" r:id="rId8"/>
    <p:sldId id="263" r:id="rId9"/>
    <p:sldId id="264" r:id="rId10"/>
    <p:sldId id="265"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Lst>
  <p:sldSz cx="18288000" cy="10287000"/>
  <p:notesSz cx="6858000" cy="9144000"/>
  <p:embeddedFontLst>
    <p:embeddedFont>
      <p:font typeface="HK Modular" panose="020B0604020202020204" charset="0"/>
      <p:regular r:id="rId46"/>
    </p:embeddedFont>
    <p:embeddedFont>
      <p:font typeface="Poppins" panose="00000500000000000000" pitchFamily="2"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04" d="100"/>
          <a:sy n="104" d="100"/>
        </p:scale>
        <p:origin x="474"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2.fnt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1.fntdata"/><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9.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0.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9.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15.svg"/><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17.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17.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5.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2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3.png"/><Relationship Id="rId7" Type="http://schemas.openxmlformats.org/officeDocument/2006/relationships/image" Target="../media/image19.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3.png"/><Relationship Id="rId7" Type="http://schemas.openxmlformats.org/officeDocument/2006/relationships/image" Target="../media/image1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17.sv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17.sv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5.sv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57150"/>
              <a:ext cx="2798705" cy="526636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57150"/>
              <a:ext cx="3083604" cy="126383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57150"/>
              <a:ext cx="3083604" cy="126383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3381222" y="2407704"/>
            <a:ext cx="12467298" cy="1101873"/>
          </a:xfrm>
          <a:prstGeom prst="rect">
            <a:avLst/>
          </a:prstGeom>
        </p:spPr>
        <p:txBody>
          <a:bodyPr lIns="0" tIns="0" rIns="0" bIns="0" rtlCol="0" anchor="t">
            <a:spAutoFit/>
          </a:bodyPr>
          <a:lstStyle/>
          <a:p>
            <a:pPr algn="ctr">
              <a:lnSpc>
                <a:spcPts val="8941"/>
              </a:lnSpc>
              <a:spcBef>
                <a:spcPct val="0"/>
              </a:spcBef>
            </a:pPr>
            <a:r>
              <a:rPr lang="en-US" sz="6387">
                <a:gradFill>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a:latin typeface="HK Modular"/>
                <a:ea typeface="HK Modular"/>
                <a:cs typeface="HK Modular"/>
                <a:sym typeface="HK Modular"/>
              </a:rPr>
              <a:t>BITACORA</a:t>
            </a:r>
          </a:p>
        </p:txBody>
      </p:sp>
      <p:sp>
        <p:nvSpPr>
          <p:cNvPr id="13" name="Freeform 13"/>
          <p:cNvSpPr/>
          <p:nvPr/>
        </p:nvSpPr>
        <p:spPr>
          <a:xfrm>
            <a:off x="11131931" y="4044629"/>
            <a:ext cx="5059313" cy="4869589"/>
          </a:xfrm>
          <a:custGeom>
            <a:avLst/>
            <a:gdLst/>
            <a:ahLst/>
            <a:cxnLst/>
            <a:rect l="l" t="t" r="r" b="b"/>
            <a:pathLst>
              <a:path w="5059313" h="4869589">
                <a:moveTo>
                  <a:pt x="0" y="0"/>
                </a:moveTo>
                <a:lnTo>
                  <a:pt x="5059313" y="0"/>
                </a:lnTo>
                <a:lnTo>
                  <a:pt x="5059313" y="4869589"/>
                </a:lnTo>
                <a:lnTo>
                  <a:pt x="0" y="48695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4" name="TextBox 14"/>
          <p:cNvSpPr txBox="1"/>
          <p:nvPr/>
        </p:nvSpPr>
        <p:spPr>
          <a:xfrm>
            <a:off x="1784351" y="4137639"/>
            <a:ext cx="7830520" cy="4155230"/>
          </a:xfrm>
          <a:prstGeom prst="rect">
            <a:avLst/>
          </a:prstGeom>
        </p:spPr>
        <p:txBody>
          <a:bodyPr lIns="0" tIns="0" rIns="0" bIns="0" rtlCol="0" anchor="t">
            <a:spAutoFit/>
          </a:bodyPr>
          <a:lstStyle/>
          <a:p>
            <a:pPr marL="564559" lvl="1" indent="-282280" algn="l">
              <a:lnSpc>
                <a:spcPts val="3660"/>
              </a:lnSpc>
              <a:buFont typeface="Arial"/>
              <a:buChar char="•"/>
            </a:pPr>
            <a:r>
              <a:rPr lang="en-US" sz="2614">
                <a:solidFill>
                  <a:srgbClr val="FFFFFF"/>
                </a:solidFill>
                <a:latin typeface="Poppins"/>
                <a:ea typeface="Poppins"/>
                <a:cs typeface="Poppins"/>
                <a:sym typeface="Poppins"/>
              </a:rPr>
              <a:t>Semana a semana  Se ira construyendo con los temas que veamos en clase</a:t>
            </a:r>
          </a:p>
          <a:p>
            <a:pPr marL="564559" lvl="1" indent="-282280" algn="l">
              <a:lnSpc>
                <a:spcPts val="3660"/>
              </a:lnSpc>
              <a:buFont typeface="Arial"/>
              <a:buChar char="•"/>
            </a:pPr>
            <a:r>
              <a:rPr lang="en-US" sz="2614">
                <a:solidFill>
                  <a:srgbClr val="FFFFFF"/>
                </a:solidFill>
                <a:latin typeface="Poppins"/>
                <a:ea typeface="Poppins"/>
                <a:cs typeface="Poppins"/>
                <a:sym typeface="Poppins"/>
              </a:rPr>
              <a:t>Incluso los ejercicios que se realicen completamente en clase deben quedar codificados en la bitácora.</a:t>
            </a:r>
          </a:p>
          <a:p>
            <a:pPr marL="564559" lvl="1" indent="-282280" algn="l">
              <a:lnSpc>
                <a:spcPts val="3660"/>
              </a:lnSpc>
              <a:buFont typeface="Arial"/>
              <a:buChar char="•"/>
            </a:pPr>
            <a:r>
              <a:rPr lang="en-US" sz="2614">
                <a:solidFill>
                  <a:srgbClr val="FFFFFF"/>
                </a:solidFill>
                <a:latin typeface="Poppins"/>
                <a:ea typeface="Poppins"/>
                <a:cs typeface="Poppins"/>
                <a:sym typeface="Poppins"/>
              </a:rPr>
              <a:t>En algunos casos, se dejarán ejercicios sencillos para completar en casa, como parte natural del proceso de práctica.</a:t>
            </a:r>
          </a:p>
          <a:p>
            <a:pPr marL="564559" lvl="1" indent="-282280" algn="l">
              <a:lnSpc>
                <a:spcPts val="3660"/>
              </a:lnSpc>
              <a:buFont typeface="Arial"/>
              <a:buChar char="•"/>
            </a:pPr>
            <a:r>
              <a:rPr lang="en-US" sz="2614">
                <a:solidFill>
                  <a:srgbClr val="FFFFFF"/>
                </a:solidFill>
                <a:latin typeface="Poppins"/>
                <a:ea typeface="Poppins"/>
                <a:cs typeface="Poppins"/>
                <a:sym typeface="Poppins"/>
              </a:rPr>
              <a:t>Su Bitacora sera un repositorio en GitHub</a:t>
            </a:r>
          </a:p>
        </p:txBody>
      </p:sp>
      <p:sp>
        <p:nvSpPr>
          <p:cNvPr id="15" name="Freeform 15"/>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0104757" y="4061040"/>
            <a:ext cx="7154543" cy="2164919"/>
          </a:xfrm>
          <a:custGeom>
            <a:avLst/>
            <a:gdLst/>
            <a:ahLst/>
            <a:cxnLst/>
            <a:rect l="l" t="t" r="r" b="b"/>
            <a:pathLst>
              <a:path w="7154543" h="2164919">
                <a:moveTo>
                  <a:pt x="0" y="0"/>
                </a:moveTo>
                <a:lnTo>
                  <a:pt x="7154543" y="0"/>
                </a:lnTo>
                <a:lnTo>
                  <a:pt x="7154543" y="2164920"/>
                </a:lnTo>
                <a:lnTo>
                  <a:pt x="0" y="2164920"/>
                </a:lnTo>
                <a:lnTo>
                  <a:pt x="0" y="0"/>
                </a:lnTo>
                <a:close/>
              </a:path>
            </a:pathLst>
          </a:custGeom>
          <a:blipFill>
            <a:blip r:embed="rId4"/>
            <a:stretch>
              <a:fillRect/>
            </a:stretch>
          </a:blipFill>
        </p:spPr>
        <p:txBody>
          <a:bodyPr/>
          <a:lstStyle/>
          <a:p>
            <a:endParaRPr lang="es-CO"/>
          </a:p>
        </p:txBody>
      </p:sp>
      <p:sp>
        <p:nvSpPr>
          <p:cNvPr id="8" name="Freeform 8"/>
          <p:cNvSpPr/>
          <p:nvPr/>
        </p:nvSpPr>
        <p:spPr>
          <a:xfrm>
            <a:off x="10104757" y="6729731"/>
            <a:ext cx="7154543" cy="1550462"/>
          </a:xfrm>
          <a:custGeom>
            <a:avLst/>
            <a:gdLst/>
            <a:ahLst/>
            <a:cxnLst/>
            <a:rect l="l" t="t" r="r" b="b"/>
            <a:pathLst>
              <a:path w="7154543" h="1550462">
                <a:moveTo>
                  <a:pt x="0" y="0"/>
                </a:moveTo>
                <a:lnTo>
                  <a:pt x="7154543" y="0"/>
                </a:lnTo>
                <a:lnTo>
                  <a:pt x="7154543" y="1550462"/>
                </a:lnTo>
                <a:lnTo>
                  <a:pt x="0" y="1550462"/>
                </a:lnTo>
                <a:lnTo>
                  <a:pt x="0" y="0"/>
                </a:lnTo>
                <a:close/>
              </a:path>
            </a:pathLst>
          </a:custGeom>
          <a:blipFill>
            <a:blip r:embed="rId5"/>
            <a:stretch>
              <a:fillRect/>
            </a:stretch>
          </a:blipFill>
        </p:spPr>
        <p:txBody>
          <a:bodyPr/>
          <a:lstStyle/>
          <a:p>
            <a:endParaRPr lang="es-CO"/>
          </a:p>
        </p:txBody>
      </p:sp>
      <p:sp>
        <p:nvSpPr>
          <p:cNvPr id="9" name="TextBox 9"/>
          <p:cNvSpPr txBox="1"/>
          <p:nvPr/>
        </p:nvSpPr>
        <p:spPr>
          <a:xfrm>
            <a:off x="3781153" y="2096546"/>
            <a:ext cx="10944428" cy="857781"/>
          </a:xfrm>
          <a:prstGeom prst="rect">
            <a:avLst/>
          </a:prstGeom>
        </p:spPr>
        <p:txBody>
          <a:bodyPr lIns="0" tIns="0" rIns="0" bIns="0" rtlCol="0" anchor="t">
            <a:spAutoFit/>
          </a:bodyPr>
          <a:lstStyle/>
          <a:p>
            <a:pPr algn="ctr">
              <a:lnSpc>
                <a:spcPts val="7012"/>
              </a:lnSpc>
              <a:spcBef>
                <a:spcPct val="0"/>
              </a:spcBef>
            </a:pPr>
            <a:r>
              <a:rPr lang="en-US" sz="5008">
                <a:solidFill>
                  <a:srgbClr val="FF914D"/>
                </a:solidFill>
                <a:latin typeface="HK Modular"/>
                <a:ea typeface="HK Modular"/>
                <a:cs typeface="HK Modular"/>
                <a:sym typeface="HK Modular"/>
              </a:rPr>
              <a:t>EJERCICIOS DE REPASO</a:t>
            </a:r>
          </a:p>
        </p:txBody>
      </p:sp>
      <p:sp>
        <p:nvSpPr>
          <p:cNvPr id="10" name="TextBox 10"/>
          <p:cNvSpPr txBox="1"/>
          <p:nvPr/>
        </p:nvSpPr>
        <p:spPr>
          <a:xfrm>
            <a:off x="1390914" y="3271934"/>
            <a:ext cx="6948934" cy="374397"/>
          </a:xfrm>
          <a:prstGeom prst="rect">
            <a:avLst/>
          </a:prstGeom>
        </p:spPr>
        <p:txBody>
          <a:bodyPr lIns="0" tIns="0" rIns="0" bIns="0" rtlCol="0" anchor="t">
            <a:spAutoFit/>
          </a:bodyPr>
          <a:lstStyle/>
          <a:p>
            <a:pPr algn="l">
              <a:lnSpc>
                <a:spcPts val="2988"/>
              </a:lnSpc>
            </a:pPr>
            <a:r>
              <a:rPr lang="en-US" sz="2134">
                <a:solidFill>
                  <a:srgbClr val="FFFFFF"/>
                </a:solidFill>
                <a:latin typeface="Poppins"/>
                <a:ea typeface="Poppins"/>
                <a:cs typeface="Poppins"/>
                <a:sym typeface="Poppins"/>
              </a:rPr>
              <a:t>EJERCICIO # 1: </a:t>
            </a:r>
          </a:p>
        </p:txBody>
      </p:sp>
      <p:sp>
        <p:nvSpPr>
          <p:cNvPr id="11" name="TextBox 11"/>
          <p:cNvSpPr txBox="1"/>
          <p:nvPr/>
        </p:nvSpPr>
        <p:spPr>
          <a:xfrm>
            <a:off x="1390914" y="4639611"/>
            <a:ext cx="6948934" cy="3346197"/>
          </a:xfrm>
          <a:prstGeom prst="rect">
            <a:avLst/>
          </a:prstGeom>
        </p:spPr>
        <p:txBody>
          <a:bodyPr lIns="0" tIns="0" rIns="0" bIns="0" rtlCol="0" anchor="t">
            <a:spAutoFit/>
          </a:bodyPr>
          <a:lstStyle/>
          <a:p>
            <a:pPr algn="l">
              <a:lnSpc>
                <a:spcPts val="2988"/>
              </a:lnSpc>
            </a:pPr>
            <a:r>
              <a:rPr lang="en-US" sz="2134">
                <a:solidFill>
                  <a:srgbClr val="FFFFFF"/>
                </a:solidFill>
                <a:latin typeface="Poppins"/>
                <a:ea typeface="Poppins"/>
                <a:cs typeface="Poppins"/>
                <a:sym typeface="Poppins"/>
              </a:rPr>
              <a:t>Dada una lista de numeros enteros, necesitamos obtener una nueva lista solo con los numeros pares mayores a diez</a:t>
            </a:r>
          </a:p>
          <a:p>
            <a:pPr algn="l">
              <a:lnSpc>
                <a:spcPts val="2988"/>
              </a:lnSpc>
            </a:pPr>
            <a:endParaRPr lang="en-US" sz="2134">
              <a:solidFill>
                <a:srgbClr val="FFFFFF"/>
              </a:solidFill>
              <a:latin typeface="Poppins"/>
              <a:ea typeface="Poppins"/>
              <a:cs typeface="Poppins"/>
              <a:sym typeface="Poppins"/>
            </a:endParaRPr>
          </a:p>
          <a:p>
            <a:pPr algn="l">
              <a:lnSpc>
                <a:spcPts val="2988"/>
              </a:lnSpc>
            </a:pPr>
            <a:r>
              <a:rPr lang="en-US" sz="2134">
                <a:solidFill>
                  <a:srgbClr val="FFFFFF"/>
                </a:solidFill>
                <a:latin typeface="Poppins"/>
                <a:ea typeface="Poppins"/>
                <a:cs typeface="Poppins"/>
                <a:sym typeface="Poppins"/>
              </a:rPr>
              <a:t>Datos de Entrada:</a:t>
            </a:r>
          </a:p>
          <a:p>
            <a:pPr algn="l">
              <a:lnSpc>
                <a:spcPts val="2988"/>
              </a:lnSpc>
            </a:pPr>
            <a:r>
              <a:rPr lang="en-US" sz="2134">
                <a:solidFill>
                  <a:srgbClr val="FFFFFF"/>
                </a:solidFill>
                <a:latin typeface="Poppins"/>
                <a:ea typeface="Poppins"/>
                <a:cs typeface="Poppins"/>
                <a:sym typeface="Poppins"/>
              </a:rPr>
              <a:t>List&lt;Integer&gt; numbers = List.of(3,8,10,12,15,18,20)</a:t>
            </a:r>
          </a:p>
          <a:p>
            <a:pPr algn="l">
              <a:lnSpc>
                <a:spcPts val="2988"/>
              </a:lnSpc>
            </a:pPr>
            <a:r>
              <a:rPr lang="en-US" sz="2134">
                <a:solidFill>
                  <a:srgbClr val="FFFFFF"/>
                </a:solidFill>
                <a:latin typeface="Poppins"/>
                <a:ea typeface="Poppins"/>
                <a:cs typeface="Poppins"/>
                <a:sym typeface="Poppins"/>
              </a:rPr>
              <a:t>Resultado: </a:t>
            </a:r>
          </a:p>
          <a:p>
            <a:pPr algn="l">
              <a:lnSpc>
                <a:spcPts val="2988"/>
              </a:lnSpc>
            </a:pPr>
            <a:r>
              <a:rPr lang="en-US" sz="2134">
                <a:solidFill>
                  <a:srgbClr val="FFFFFF"/>
                </a:solidFill>
                <a:latin typeface="Poppins"/>
                <a:ea typeface="Poppins"/>
                <a:cs typeface="Poppins"/>
                <a:sym typeface="Poppins"/>
              </a:rPr>
              <a:t>List&lt;Integer&gt;</a:t>
            </a:r>
          </a:p>
          <a:p>
            <a:pPr algn="l">
              <a:lnSpc>
                <a:spcPts val="2988"/>
              </a:lnSpc>
            </a:pPr>
            <a:endParaRPr lang="en-US" sz="2134">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9777314" y="3487707"/>
            <a:ext cx="5139180" cy="2964714"/>
          </a:xfrm>
          <a:custGeom>
            <a:avLst/>
            <a:gdLst/>
            <a:ahLst/>
            <a:cxnLst/>
            <a:rect l="l" t="t" r="r" b="b"/>
            <a:pathLst>
              <a:path w="5139180" h="2964714">
                <a:moveTo>
                  <a:pt x="0" y="0"/>
                </a:moveTo>
                <a:lnTo>
                  <a:pt x="5139180" y="0"/>
                </a:lnTo>
                <a:lnTo>
                  <a:pt x="5139180" y="2964714"/>
                </a:lnTo>
                <a:lnTo>
                  <a:pt x="0" y="2964714"/>
                </a:lnTo>
                <a:lnTo>
                  <a:pt x="0" y="0"/>
                </a:lnTo>
                <a:close/>
              </a:path>
            </a:pathLst>
          </a:custGeom>
          <a:blipFill>
            <a:blip r:embed="rId4"/>
            <a:stretch>
              <a:fillRect t="-165" b="-165"/>
            </a:stretch>
          </a:blipFill>
        </p:spPr>
        <p:txBody>
          <a:bodyPr/>
          <a:lstStyle/>
          <a:p>
            <a:endParaRPr lang="es-CO"/>
          </a:p>
        </p:txBody>
      </p:sp>
      <p:sp>
        <p:nvSpPr>
          <p:cNvPr id="8" name="Freeform 8"/>
          <p:cNvSpPr/>
          <p:nvPr/>
        </p:nvSpPr>
        <p:spPr>
          <a:xfrm>
            <a:off x="9706928" y="6825947"/>
            <a:ext cx="5209565" cy="2524881"/>
          </a:xfrm>
          <a:custGeom>
            <a:avLst/>
            <a:gdLst/>
            <a:ahLst/>
            <a:cxnLst/>
            <a:rect l="l" t="t" r="r" b="b"/>
            <a:pathLst>
              <a:path w="5209565" h="2524881">
                <a:moveTo>
                  <a:pt x="0" y="0"/>
                </a:moveTo>
                <a:lnTo>
                  <a:pt x="5209566" y="0"/>
                </a:lnTo>
                <a:lnTo>
                  <a:pt x="5209566" y="2524881"/>
                </a:lnTo>
                <a:lnTo>
                  <a:pt x="0" y="2524881"/>
                </a:lnTo>
                <a:lnTo>
                  <a:pt x="0" y="0"/>
                </a:lnTo>
                <a:close/>
              </a:path>
            </a:pathLst>
          </a:custGeom>
          <a:blipFill>
            <a:blip r:embed="rId5"/>
            <a:stretch>
              <a:fillRect/>
            </a:stretch>
          </a:blipFill>
        </p:spPr>
        <p:txBody>
          <a:bodyPr/>
          <a:lstStyle/>
          <a:p>
            <a:endParaRPr lang="es-CO"/>
          </a:p>
        </p:txBody>
      </p:sp>
      <p:sp>
        <p:nvSpPr>
          <p:cNvPr id="9" name="TextBox 9"/>
          <p:cNvSpPr txBox="1"/>
          <p:nvPr/>
        </p:nvSpPr>
        <p:spPr>
          <a:xfrm>
            <a:off x="3781153" y="2096546"/>
            <a:ext cx="10944428" cy="857781"/>
          </a:xfrm>
          <a:prstGeom prst="rect">
            <a:avLst/>
          </a:prstGeom>
        </p:spPr>
        <p:txBody>
          <a:bodyPr lIns="0" tIns="0" rIns="0" bIns="0" rtlCol="0" anchor="t">
            <a:spAutoFit/>
          </a:bodyPr>
          <a:lstStyle/>
          <a:p>
            <a:pPr algn="ctr">
              <a:lnSpc>
                <a:spcPts val="7012"/>
              </a:lnSpc>
              <a:spcBef>
                <a:spcPct val="0"/>
              </a:spcBef>
            </a:pPr>
            <a:r>
              <a:rPr lang="en-US" sz="5008">
                <a:solidFill>
                  <a:srgbClr val="FF914D"/>
                </a:solidFill>
                <a:latin typeface="HK Modular"/>
                <a:ea typeface="HK Modular"/>
                <a:cs typeface="HK Modular"/>
                <a:sym typeface="HK Modular"/>
              </a:rPr>
              <a:t>EJERCICIOS DE REPASO</a:t>
            </a:r>
          </a:p>
        </p:txBody>
      </p:sp>
      <p:sp>
        <p:nvSpPr>
          <p:cNvPr id="10" name="TextBox 10"/>
          <p:cNvSpPr txBox="1"/>
          <p:nvPr/>
        </p:nvSpPr>
        <p:spPr>
          <a:xfrm>
            <a:off x="1390914" y="3271934"/>
            <a:ext cx="6948934" cy="374397"/>
          </a:xfrm>
          <a:prstGeom prst="rect">
            <a:avLst/>
          </a:prstGeom>
        </p:spPr>
        <p:txBody>
          <a:bodyPr lIns="0" tIns="0" rIns="0" bIns="0" rtlCol="0" anchor="t">
            <a:spAutoFit/>
          </a:bodyPr>
          <a:lstStyle/>
          <a:p>
            <a:pPr algn="l">
              <a:lnSpc>
                <a:spcPts val="2988"/>
              </a:lnSpc>
            </a:pPr>
            <a:r>
              <a:rPr lang="en-US" sz="2134">
                <a:solidFill>
                  <a:srgbClr val="FFFFFF"/>
                </a:solidFill>
                <a:latin typeface="Poppins"/>
                <a:ea typeface="Poppins"/>
                <a:cs typeface="Poppins"/>
                <a:sym typeface="Poppins"/>
              </a:rPr>
              <a:t>EJERCICIO # 2: </a:t>
            </a:r>
          </a:p>
        </p:txBody>
      </p:sp>
      <p:sp>
        <p:nvSpPr>
          <p:cNvPr id="11" name="TextBox 11"/>
          <p:cNvSpPr txBox="1"/>
          <p:nvPr/>
        </p:nvSpPr>
        <p:spPr>
          <a:xfrm>
            <a:off x="1390914" y="4132105"/>
            <a:ext cx="6948934" cy="4460622"/>
          </a:xfrm>
          <a:prstGeom prst="rect">
            <a:avLst/>
          </a:prstGeom>
        </p:spPr>
        <p:txBody>
          <a:bodyPr lIns="0" tIns="0" rIns="0" bIns="0" rtlCol="0" anchor="t">
            <a:spAutoFit/>
          </a:bodyPr>
          <a:lstStyle/>
          <a:p>
            <a:pPr algn="l">
              <a:lnSpc>
                <a:spcPts val="2988"/>
              </a:lnSpc>
            </a:pPr>
            <a:r>
              <a:rPr lang="en-US" sz="2134">
                <a:solidFill>
                  <a:srgbClr val="FFFFFF"/>
                </a:solidFill>
                <a:latin typeface="Poppins"/>
                <a:ea typeface="Poppins"/>
                <a:cs typeface="Poppins"/>
                <a:sym typeface="Poppins"/>
              </a:rPr>
              <a:t>Dada una lista de palabras, se requiere:</a:t>
            </a:r>
          </a:p>
          <a:p>
            <a:pPr marL="460941" lvl="1" indent="-230470" algn="l">
              <a:lnSpc>
                <a:spcPts val="2988"/>
              </a:lnSpc>
              <a:buFont typeface="Arial"/>
              <a:buChar char="•"/>
            </a:pPr>
            <a:r>
              <a:rPr lang="en-US" sz="2134">
                <a:solidFill>
                  <a:srgbClr val="FFFFFF"/>
                </a:solidFill>
                <a:latin typeface="Poppins"/>
                <a:ea typeface="Poppins"/>
                <a:cs typeface="Poppins"/>
                <a:sym typeface="Poppins"/>
              </a:rPr>
              <a:t>Filtrar las palabras que tengan mas de 4 caracteres</a:t>
            </a:r>
          </a:p>
          <a:p>
            <a:pPr marL="460941" lvl="1" indent="-230470" algn="l">
              <a:lnSpc>
                <a:spcPts val="2988"/>
              </a:lnSpc>
              <a:buFont typeface="Arial"/>
              <a:buChar char="•"/>
            </a:pPr>
            <a:r>
              <a:rPr lang="en-US" sz="2134">
                <a:solidFill>
                  <a:srgbClr val="FFFFFF"/>
                </a:solidFill>
                <a:latin typeface="Poppins"/>
                <a:ea typeface="Poppins"/>
                <a:cs typeface="Poppins"/>
                <a:sym typeface="Poppins"/>
              </a:rPr>
              <a:t>Convertirlas en Mayusculas</a:t>
            </a:r>
          </a:p>
          <a:p>
            <a:pPr marL="460941" lvl="1" indent="-230470" algn="l">
              <a:lnSpc>
                <a:spcPts val="2988"/>
              </a:lnSpc>
              <a:buFont typeface="Arial"/>
              <a:buChar char="•"/>
            </a:pPr>
            <a:r>
              <a:rPr lang="en-US" sz="2134">
                <a:solidFill>
                  <a:srgbClr val="FFFFFF"/>
                </a:solidFill>
                <a:latin typeface="Poppins"/>
                <a:ea typeface="Poppins"/>
                <a:cs typeface="Poppins"/>
                <a:sym typeface="Poppins"/>
              </a:rPr>
              <a:t>Ordenarlas alfabeticamente</a:t>
            </a:r>
          </a:p>
          <a:p>
            <a:pPr marL="460941" lvl="1" indent="-230470" algn="l">
              <a:lnSpc>
                <a:spcPts val="2988"/>
              </a:lnSpc>
              <a:buFont typeface="Arial"/>
              <a:buChar char="•"/>
            </a:pPr>
            <a:r>
              <a:rPr lang="en-US" sz="2134">
                <a:solidFill>
                  <a:srgbClr val="FFFFFF"/>
                </a:solidFill>
                <a:latin typeface="Poppins"/>
                <a:ea typeface="Poppins"/>
                <a:cs typeface="Poppins"/>
                <a:sym typeface="Poppins"/>
              </a:rPr>
              <a:t>Obtener la cantidad total de palabras resultantes </a:t>
            </a:r>
          </a:p>
          <a:p>
            <a:pPr algn="l">
              <a:lnSpc>
                <a:spcPts val="2988"/>
              </a:lnSpc>
            </a:pPr>
            <a:endParaRPr lang="en-US" sz="2134">
              <a:solidFill>
                <a:srgbClr val="FFFFFF"/>
              </a:solidFill>
              <a:latin typeface="Poppins"/>
              <a:ea typeface="Poppins"/>
              <a:cs typeface="Poppins"/>
              <a:sym typeface="Poppins"/>
            </a:endParaRPr>
          </a:p>
          <a:p>
            <a:pPr algn="l">
              <a:lnSpc>
                <a:spcPts val="2988"/>
              </a:lnSpc>
            </a:pPr>
            <a:r>
              <a:rPr lang="en-US" sz="2134">
                <a:solidFill>
                  <a:srgbClr val="FFFFFF"/>
                </a:solidFill>
                <a:latin typeface="Poppins"/>
                <a:ea typeface="Poppins"/>
                <a:cs typeface="Poppins"/>
                <a:sym typeface="Poppins"/>
              </a:rPr>
              <a:t>Datos de Entrada: </a:t>
            </a:r>
          </a:p>
          <a:p>
            <a:pPr algn="l">
              <a:lnSpc>
                <a:spcPts val="2988"/>
              </a:lnSpc>
            </a:pPr>
            <a:r>
              <a:rPr lang="en-US" sz="2134">
                <a:solidFill>
                  <a:srgbClr val="FFFFFF"/>
                </a:solidFill>
                <a:latin typeface="Poppins"/>
                <a:ea typeface="Poppins"/>
                <a:cs typeface="Poppins"/>
                <a:sym typeface="Poppins"/>
              </a:rPr>
              <a:t>List&lt;String&gt; words = List.of(“java”,”stream”,”api”,”functional”,”code”,”git”)</a:t>
            </a:r>
          </a:p>
          <a:p>
            <a:pPr algn="l">
              <a:lnSpc>
                <a:spcPts val="2988"/>
              </a:lnSpc>
            </a:pPr>
            <a:endParaRPr lang="en-US" sz="2134">
              <a:solidFill>
                <a:srgbClr val="FFFFFF"/>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0367361" y="3622360"/>
            <a:ext cx="6322608" cy="2990694"/>
          </a:xfrm>
          <a:custGeom>
            <a:avLst/>
            <a:gdLst/>
            <a:ahLst/>
            <a:cxnLst/>
            <a:rect l="l" t="t" r="r" b="b"/>
            <a:pathLst>
              <a:path w="6322608" h="2990694">
                <a:moveTo>
                  <a:pt x="0" y="0"/>
                </a:moveTo>
                <a:lnTo>
                  <a:pt x="6322608" y="0"/>
                </a:lnTo>
                <a:lnTo>
                  <a:pt x="6322608" y="2990694"/>
                </a:lnTo>
                <a:lnTo>
                  <a:pt x="0" y="2990694"/>
                </a:lnTo>
                <a:lnTo>
                  <a:pt x="0" y="0"/>
                </a:lnTo>
                <a:close/>
              </a:path>
            </a:pathLst>
          </a:custGeom>
          <a:blipFill>
            <a:blip r:embed="rId4"/>
            <a:stretch>
              <a:fillRect/>
            </a:stretch>
          </a:blipFill>
        </p:spPr>
        <p:txBody>
          <a:bodyPr/>
          <a:lstStyle/>
          <a:p>
            <a:endParaRPr lang="es-CO"/>
          </a:p>
        </p:txBody>
      </p:sp>
      <p:sp>
        <p:nvSpPr>
          <p:cNvPr id="8" name="Freeform 8"/>
          <p:cNvSpPr/>
          <p:nvPr/>
        </p:nvSpPr>
        <p:spPr>
          <a:xfrm>
            <a:off x="10367361" y="7281086"/>
            <a:ext cx="6322608" cy="2294354"/>
          </a:xfrm>
          <a:custGeom>
            <a:avLst/>
            <a:gdLst/>
            <a:ahLst/>
            <a:cxnLst/>
            <a:rect l="l" t="t" r="r" b="b"/>
            <a:pathLst>
              <a:path w="6322608" h="2294354">
                <a:moveTo>
                  <a:pt x="0" y="0"/>
                </a:moveTo>
                <a:lnTo>
                  <a:pt x="6322608" y="0"/>
                </a:lnTo>
                <a:lnTo>
                  <a:pt x="6322608" y="2294354"/>
                </a:lnTo>
                <a:lnTo>
                  <a:pt x="0" y="2294354"/>
                </a:lnTo>
                <a:lnTo>
                  <a:pt x="0" y="0"/>
                </a:lnTo>
                <a:close/>
              </a:path>
            </a:pathLst>
          </a:custGeom>
          <a:blipFill>
            <a:blip r:embed="rId5"/>
            <a:stretch>
              <a:fillRect/>
            </a:stretch>
          </a:blipFill>
        </p:spPr>
        <p:txBody>
          <a:bodyPr/>
          <a:lstStyle/>
          <a:p>
            <a:endParaRPr lang="es-CO"/>
          </a:p>
        </p:txBody>
      </p:sp>
      <p:sp>
        <p:nvSpPr>
          <p:cNvPr id="9" name="TextBox 9"/>
          <p:cNvSpPr txBox="1"/>
          <p:nvPr/>
        </p:nvSpPr>
        <p:spPr>
          <a:xfrm>
            <a:off x="3781153" y="2096546"/>
            <a:ext cx="10944428" cy="857781"/>
          </a:xfrm>
          <a:prstGeom prst="rect">
            <a:avLst/>
          </a:prstGeom>
        </p:spPr>
        <p:txBody>
          <a:bodyPr lIns="0" tIns="0" rIns="0" bIns="0" rtlCol="0" anchor="t">
            <a:spAutoFit/>
          </a:bodyPr>
          <a:lstStyle/>
          <a:p>
            <a:pPr algn="ctr">
              <a:lnSpc>
                <a:spcPts val="7012"/>
              </a:lnSpc>
              <a:spcBef>
                <a:spcPct val="0"/>
              </a:spcBef>
            </a:pPr>
            <a:r>
              <a:rPr lang="en-US" sz="5008">
                <a:solidFill>
                  <a:srgbClr val="FF914D"/>
                </a:solidFill>
                <a:latin typeface="HK Modular"/>
                <a:ea typeface="HK Modular"/>
                <a:cs typeface="HK Modular"/>
                <a:sym typeface="HK Modular"/>
              </a:rPr>
              <a:t>EJERCICIOS DE REPASO</a:t>
            </a:r>
          </a:p>
        </p:txBody>
      </p:sp>
      <p:sp>
        <p:nvSpPr>
          <p:cNvPr id="10" name="TextBox 10"/>
          <p:cNvSpPr txBox="1"/>
          <p:nvPr/>
        </p:nvSpPr>
        <p:spPr>
          <a:xfrm>
            <a:off x="1390914" y="3609771"/>
            <a:ext cx="6948934" cy="374397"/>
          </a:xfrm>
          <a:prstGeom prst="rect">
            <a:avLst/>
          </a:prstGeom>
        </p:spPr>
        <p:txBody>
          <a:bodyPr lIns="0" tIns="0" rIns="0" bIns="0" rtlCol="0" anchor="t">
            <a:spAutoFit/>
          </a:bodyPr>
          <a:lstStyle/>
          <a:p>
            <a:pPr algn="l">
              <a:lnSpc>
                <a:spcPts val="2988"/>
              </a:lnSpc>
            </a:pPr>
            <a:r>
              <a:rPr lang="en-US" sz="2134">
                <a:solidFill>
                  <a:srgbClr val="FFFFFF"/>
                </a:solidFill>
                <a:latin typeface="Poppins"/>
                <a:ea typeface="Poppins"/>
                <a:cs typeface="Poppins"/>
                <a:sym typeface="Poppins"/>
              </a:rPr>
              <a:t>EJERCICIO # 3: </a:t>
            </a:r>
          </a:p>
        </p:txBody>
      </p:sp>
      <p:sp>
        <p:nvSpPr>
          <p:cNvPr id="11" name="TextBox 11"/>
          <p:cNvSpPr txBox="1"/>
          <p:nvPr/>
        </p:nvSpPr>
        <p:spPr>
          <a:xfrm>
            <a:off x="1390914" y="4639611"/>
            <a:ext cx="6948934" cy="4832097"/>
          </a:xfrm>
          <a:prstGeom prst="rect">
            <a:avLst/>
          </a:prstGeom>
        </p:spPr>
        <p:txBody>
          <a:bodyPr lIns="0" tIns="0" rIns="0" bIns="0" rtlCol="0" anchor="t">
            <a:spAutoFit/>
          </a:bodyPr>
          <a:lstStyle/>
          <a:p>
            <a:pPr algn="l">
              <a:lnSpc>
                <a:spcPts val="2988"/>
              </a:lnSpc>
            </a:pPr>
            <a:r>
              <a:rPr lang="en-US" sz="2134">
                <a:solidFill>
                  <a:srgbClr val="FFFFFF"/>
                </a:solidFill>
                <a:latin typeface="Poppins"/>
                <a:ea typeface="Poppins"/>
                <a:cs typeface="Poppins"/>
                <a:sym typeface="Poppins"/>
              </a:rPr>
              <a:t>Dada una lista de usuarios con los atributos:</a:t>
            </a:r>
          </a:p>
          <a:p>
            <a:pPr marL="460941" lvl="1" indent="-230470" algn="l">
              <a:lnSpc>
                <a:spcPts val="2988"/>
              </a:lnSpc>
              <a:buFont typeface="Arial"/>
              <a:buChar char="•"/>
            </a:pPr>
            <a:r>
              <a:rPr lang="en-US" sz="2134">
                <a:solidFill>
                  <a:srgbClr val="FFFFFF"/>
                </a:solidFill>
                <a:latin typeface="Poppins"/>
                <a:ea typeface="Poppins"/>
                <a:cs typeface="Poppins"/>
                <a:sym typeface="Poppins"/>
              </a:rPr>
              <a:t>id</a:t>
            </a:r>
          </a:p>
          <a:p>
            <a:pPr marL="460941" lvl="1" indent="-230470" algn="l">
              <a:lnSpc>
                <a:spcPts val="2988"/>
              </a:lnSpc>
              <a:buFont typeface="Arial"/>
              <a:buChar char="•"/>
            </a:pPr>
            <a:r>
              <a:rPr lang="en-US" sz="2134">
                <a:solidFill>
                  <a:srgbClr val="FFFFFF"/>
                </a:solidFill>
                <a:latin typeface="Poppins"/>
                <a:ea typeface="Poppins"/>
                <a:cs typeface="Poppins"/>
                <a:sym typeface="Poppins"/>
              </a:rPr>
              <a:t>name</a:t>
            </a:r>
          </a:p>
          <a:p>
            <a:pPr marL="460941" lvl="1" indent="-230470" algn="l">
              <a:lnSpc>
                <a:spcPts val="2988"/>
              </a:lnSpc>
              <a:buFont typeface="Arial"/>
              <a:buChar char="•"/>
            </a:pPr>
            <a:r>
              <a:rPr lang="en-US" sz="2134">
                <a:solidFill>
                  <a:srgbClr val="FFFFFF"/>
                </a:solidFill>
                <a:latin typeface="Poppins"/>
                <a:ea typeface="Poppins"/>
                <a:cs typeface="Poppins"/>
                <a:sym typeface="Poppins"/>
              </a:rPr>
              <a:t>age</a:t>
            </a:r>
          </a:p>
          <a:p>
            <a:pPr marL="460941" lvl="1" indent="-230470" algn="l">
              <a:lnSpc>
                <a:spcPts val="2988"/>
              </a:lnSpc>
              <a:buFont typeface="Arial"/>
              <a:buChar char="•"/>
            </a:pPr>
            <a:r>
              <a:rPr lang="en-US" sz="2134">
                <a:solidFill>
                  <a:srgbClr val="FFFFFF"/>
                </a:solidFill>
                <a:latin typeface="Poppins"/>
                <a:ea typeface="Poppins"/>
                <a:cs typeface="Poppins"/>
                <a:sym typeface="Poppins"/>
              </a:rPr>
              <a:t>active</a:t>
            </a:r>
          </a:p>
          <a:p>
            <a:pPr algn="l">
              <a:lnSpc>
                <a:spcPts val="2988"/>
              </a:lnSpc>
            </a:pPr>
            <a:endParaRPr lang="en-US" sz="2134">
              <a:solidFill>
                <a:srgbClr val="FFFFFF"/>
              </a:solidFill>
              <a:latin typeface="Poppins"/>
              <a:ea typeface="Poppins"/>
              <a:cs typeface="Poppins"/>
              <a:sym typeface="Poppins"/>
            </a:endParaRPr>
          </a:p>
          <a:p>
            <a:pPr algn="l">
              <a:lnSpc>
                <a:spcPts val="2988"/>
              </a:lnSpc>
            </a:pPr>
            <a:r>
              <a:rPr lang="en-US" sz="2134">
                <a:solidFill>
                  <a:srgbClr val="FFFFFF"/>
                </a:solidFill>
                <a:latin typeface="Poppins"/>
                <a:ea typeface="Poppins"/>
                <a:cs typeface="Poppins"/>
                <a:sym typeface="Poppins"/>
              </a:rPr>
              <a:t>Filtra unicamente los usuarios activos</a:t>
            </a:r>
          </a:p>
          <a:p>
            <a:pPr algn="l">
              <a:lnSpc>
                <a:spcPts val="2988"/>
              </a:lnSpc>
            </a:pPr>
            <a:r>
              <a:rPr lang="en-US" sz="2134">
                <a:solidFill>
                  <a:srgbClr val="FFFFFF"/>
                </a:solidFill>
                <a:latin typeface="Poppins"/>
                <a:ea typeface="Poppins"/>
                <a:cs typeface="Poppins"/>
                <a:sym typeface="Poppins"/>
              </a:rPr>
              <a:t>Obten una lista con los nombres en mayuscula</a:t>
            </a:r>
          </a:p>
          <a:p>
            <a:pPr algn="l">
              <a:lnSpc>
                <a:spcPts val="2988"/>
              </a:lnSpc>
            </a:pPr>
            <a:r>
              <a:rPr lang="en-US" sz="2134">
                <a:solidFill>
                  <a:srgbClr val="FFFFFF"/>
                </a:solidFill>
                <a:latin typeface="Poppins"/>
                <a:ea typeface="Poppins"/>
                <a:cs typeface="Poppins"/>
                <a:sym typeface="Poppins"/>
              </a:rPr>
              <a:t>Ordena alfabeticamente el resultado</a:t>
            </a:r>
          </a:p>
          <a:p>
            <a:pPr algn="l">
              <a:lnSpc>
                <a:spcPts val="2988"/>
              </a:lnSpc>
            </a:pPr>
            <a:endParaRPr lang="en-US" sz="2134">
              <a:solidFill>
                <a:srgbClr val="FFFFFF"/>
              </a:solidFill>
              <a:latin typeface="Poppins"/>
              <a:ea typeface="Poppins"/>
              <a:cs typeface="Poppins"/>
              <a:sym typeface="Poppins"/>
            </a:endParaRPr>
          </a:p>
          <a:p>
            <a:pPr algn="l">
              <a:lnSpc>
                <a:spcPts val="2988"/>
              </a:lnSpc>
            </a:pPr>
            <a:r>
              <a:rPr lang="en-US" sz="2134">
                <a:solidFill>
                  <a:srgbClr val="FFFFFF"/>
                </a:solidFill>
                <a:latin typeface="Poppins"/>
                <a:ea typeface="Poppins"/>
                <a:cs typeface="Poppins"/>
                <a:sym typeface="Poppins"/>
              </a:rPr>
              <a:t>Datos de Entrada:  users = List&lt;Users&gt;</a:t>
            </a:r>
          </a:p>
          <a:p>
            <a:pPr algn="l">
              <a:lnSpc>
                <a:spcPts val="2988"/>
              </a:lnSpc>
            </a:pPr>
            <a:r>
              <a:rPr lang="en-US" sz="2134">
                <a:solidFill>
                  <a:srgbClr val="FFFFFF"/>
                </a:solidFill>
                <a:latin typeface="Poppins"/>
                <a:ea typeface="Poppins"/>
                <a:cs typeface="Poppins"/>
                <a:sym typeface="Poppins"/>
              </a:rPr>
              <a:t>Resultado: List&lt;String&gt;</a:t>
            </a:r>
          </a:p>
          <a:p>
            <a:pPr algn="l">
              <a:lnSpc>
                <a:spcPts val="2988"/>
              </a:lnSpc>
            </a:pPr>
            <a:endParaRPr lang="en-US" sz="2134">
              <a:solidFill>
                <a:srgbClr val="FFFFFF"/>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57150"/>
              <a:ext cx="2798705" cy="526636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289017" y="2306714"/>
            <a:ext cx="15308245" cy="857781"/>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EJERCICIOS DE REPASO</a:t>
            </a:r>
          </a:p>
        </p:txBody>
      </p:sp>
      <p:sp>
        <p:nvSpPr>
          <p:cNvPr id="7" name="Freeform 7"/>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8" name="Freeform 8"/>
          <p:cNvSpPr/>
          <p:nvPr/>
        </p:nvSpPr>
        <p:spPr>
          <a:xfrm>
            <a:off x="6394792" y="4981817"/>
            <a:ext cx="5989053" cy="4752183"/>
          </a:xfrm>
          <a:custGeom>
            <a:avLst/>
            <a:gdLst/>
            <a:ahLst/>
            <a:cxnLst/>
            <a:rect l="l" t="t" r="r" b="b"/>
            <a:pathLst>
              <a:path w="5989053" h="4752183">
                <a:moveTo>
                  <a:pt x="0" y="0"/>
                </a:moveTo>
                <a:lnTo>
                  <a:pt x="5989053" y="0"/>
                </a:lnTo>
                <a:lnTo>
                  <a:pt x="5989053" y="4752183"/>
                </a:lnTo>
                <a:lnTo>
                  <a:pt x="0" y="4752183"/>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390914" y="3456796"/>
            <a:ext cx="6948934" cy="374397"/>
          </a:xfrm>
          <a:prstGeom prst="rect">
            <a:avLst/>
          </a:prstGeom>
        </p:spPr>
        <p:txBody>
          <a:bodyPr lIns="0" tIns="0" rIns="0" bIns="0" rtlCol="0" anchor="t">
            <a:spAutoFit/>
          </a:bodyPr>
          <a:lstStyle/>
          <a:p>
            <a:pPr algn="l">
              <a:lnSpc>
                <a:spcPts val="2988"/>
              </a:lnSpc>
            </a:pPr>
            <a:r>
              <a:rPr lang="en-US" sz="2134">
                <a:solidFill>
                  <a:srgbClr val="FFFFFF"/>
                </a:solidFill>
                <a:latin typeface="Poppins"/>
                <a:ea typeface="Poppins"/>
                <a:cs typeface="Poppins"/>
                <a:sym typeface="Poppins"/>
              </a:rPr>
              <a:t>EJERCICIO # 4: </a:t>
            </a:r>
          </a:p>
        </p:txBody>
      </p:sp>
      <p:sp>
        <p:nvSpPr>
          <p:cNvPr id="10" name="TextBox 10"/>
          <p:cNvSpPr txBox="1"/>
          <p:nvPr/>
        </p:nvSpPr>
        <p:spPr>
          <a:xfrm>
            <a:off x="1390914" y="4130325"/>
            <a:ext cx="16270471" cy="1117473"/>
          </a:xfrm>
          <a:prstGeom prst="rect">
            <a:avLst/>
          </a:prstGeom>
        </p:spPr>
        <p:txBody>
          <a:bodyPr lIns="0" tIns="0" rIns="0" bIns="0" rtlCol="0" anchor="t">
            <a:spAutoFit/>
          </a:bodyPr>
          <a:lstStyle/>
          <a:p>
            <a:pPr algn="l">
              <a:lnSpc>
                <a:spcPts val="2981"/>
              </a:lnSpc>
              <a:spcBef>
                <a:spcPct val="0"/>
              </a:spcBef>
            </a:pPr>
            <a:r>
              <a:rPr lang="en-US" sz="2129">
                <a:solidFill>
                  <a:srgbClr val="FFFFFF"/>
                </a:solidFill>
                <a:latin typeface="Poppins"/>
                <a:ea typeface="Poppins"/>
                <a:cs typeface="Poppins"/>
                <a:sym typeface="Poppins"/>
              </a:rPr>
              <a:t>Dado un listado de Usuarios y utilizando los mismo atributos anteriores, filtrar las personas mayores de edad y obtener sus nombres.</a:t>
            </a:r>
          </a:p>
          <a:p>
            <a:pPr algn="l">
              <a:lnSpc>
                <a:spcPts val="2981"/>
              </a:lnSpc>
            </a:pPr>
            <a:endParaRPr lang="en-US" sz="2129">
              <a:solidFill>
                <a:srgbClr val="FFFFFF"/>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57150"/>
              <a:ext cx="2798705" cy="526636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951055" y="2299883"/>
            <a:ext cx="15308245" cy="857781"/>
          </a:xfrm>
          <a:prstGeom prst="rect">
            <a:avLst/>
          </a:prstGeom>
        </p:spPr>
        <p:txBody>
          <a:bodyPr lIns="0" tIns="0" rIns="0" bIns="0" rtlCol="0" anchor="t">
            <a:spAutoFit/>
          </a:bodyPr>
          <a:lstStyle/>
          <a:p>
            <a:pPr algn="ctr">
              <a:lnSpc>
                <a:spcPts val="7012"/>
              </a:lnSpc>
              <a:spcBef>
                <a:spcPct val="0"/>
              </a:spcBef>
            </a:pPr>
            <a:r>
              <a:rPr lang="en-US" sz="5008">
                <a:solidFill>
                  <a:srgbClr val="E78939"/>
                </a:solidFill>
                <a:latin typeface="HK Modular"/>
                <a:ea typeface="HK Modular"/>
                <a:cs typeface="HK Modular"/>
                <a:sym typeface="HK Modular"/>
              </a:rPr>
              <a:t>EJERCICIOS DE REPASO</a:t>
            </a:r>
          </a:p>
        </p:txBody>
      </p:sp>
      <p:sp>
        <p:nvSpPr>
          <p:cNvPr id="7" name="Freeform 7"/>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8" name="Freeform 8"/>
          <p:cNvSpPr/>
          <p:nvPr/>
        </p:nvSpPr>
        <p:spPr>
          <a:xfrm>
            <a:off x="10466494" y="3421248"/>
            <a:ext cx="6607338" cy="2480571"/>
          </a:xfrm>
          <a:custGeom>
            <a:avLst/>
            <a:gdLst/>
            <a:ahLst/>
            <a:cxnLst/>
            <a:rect l="l" t="t" r="r" b="b"/>
            <a:pathLst>
              <a:path w="6607338" h="2480571">
                <a:moveTo>
                  <a:pt x="0" y="0"/>
                </a:moveTo>
                <a:lnTo>
                  <a:pt x="6607338" y="0"/>
                </a:lnTo>
                <a:lnTo>
                  <a:pt x="6607338" y="2480571"/>
                </a:lnTo>
                <a:lnTo>
                  <a:pt x="0" y="2480571"/>
                </a:lnTo>
                <a:lnTo>
                  <a:pt x="0" y="0"/>
                </a:lnTo>
                <a:close/>
              </a:path>
            </a:pathLst>
          </a:custGeom>
          <a:blipFill>
            <a:blip r:embed="rId4"/>
            <a:stretch>
              <a:fillRect/>
            </a:stretch>
          </a:blipFill>
        </p:spPr>
        <p:txBody>
          <a:bodyPr/>
          <a:lstStyle/>
          <a:p>
            <a:endParaRPr lang="es-CO"/>
          </a:p>
        </p:txBody>
      </p:sp>
      <p:sp>
        <p:nvSpPr>
          <p:cNvPr id="9" name="Freeform 9"/>
          <p:cNvSpPr/>
          <p:nvPr/>
        </p:nvSpPr>
        <p:spPr>
          <a:xfrm>
            <a:off x="9880035" y="6519180"/>
            <a:ext cx="7780255" cy="1971563"/>
          </a:xfrm>
          <a:custGeom>
            <a:avLst/>
            <a:gdLst/>
            <a:ahLst/>
            <a:cxnLst/>
            <a:rect l="l" t="t" r="r" b="b"/>
            <a:pathLst>
              <a:path w="7780255" h="1971563">
                <a:moveTo>
                  <a:pt x="0" y="0"/>
                </a:moveTo>
                <a:lnTo>
                  <a:pt x="7780255" y="0"/>
                </a:lnTo>
                <a:lnTo>
                  <a:pt x="7780255" y="1971563"/>
                </a:lnTo>
                <a:lnTo>
                  <a:pt x="0" y="1971563"/>
                </a:lnTo>
                <a:lnTo>
                  <a:pt x="0" y="0"/>
                </a:lnTo>
                <a:close/>
              </a:path>
            </a:pathLst>
          </a:custGeom>
          <a:blipFill>
            <a:blip r:embed="rId5"/>
            <a:stretch>
              <a:fillRect/>
            </a:stretch>
          </a:blipFill>
        </p:spPr>
        <p:txBody>
          <a:bodyPr/>
          <a:lstStyle/>
          <a:p>
            <a:endParaRPr lang="es-CO"/>
          </a:p>
        </p:txBody>
      </p:sp>
      <p:sp>
        <p:nvSpPr>
          <p:cNvPr id="10" name="TextBox 10"/>
          <p:cNvSpPr txBox="1"/>
          <p:nvPr/>
        </p:nvSpPr>
        <p:spPr>
          <a:xfrm>
            <a:off x="1337990" y="3364098"/>
            <a:ext cx="6948934" cy="374397"/>
          </a:xfrm>
          <a:prstGeom prst="rect">
            <a:avLst/>
          </a:prstGeom>
        </p:spPr>
        <p:txBody>
          <a:bodyPr lIns="0" tIns="0" rIns="0" bIns="0" rtlCol="0" anchor="t">
            <a:spAutoFit/>
          </a:bodyPr>
          <a:lstStyle/>
          <a:p>
            <a:pPr algn="l">
              <a:lnSpc>
                <a:spcPts val="2988"/>
              </a:lnSpc>
            </a:pPr>
            <a:r>
              <a:rPr lang="en-US" sz="2134">
                <a:solidFill>
                  <a:srgbClr val="FFFFFF"/>
                </a:solidFill>
                <a:latin typeface="Poppins"/>
                <a:ea typeface="Poppins"/>
                <a:cs typeface="Poppins"/>
                <a:sym typeface="Poppins"/>
              </a:rPr>
              <a:t>EJERCICIO # 5: </a:t>
            </a:r>
          </a:p>
        </p:txBody>
      </p:sp>
      <p:sp>
        <p:nvSpPr>
          <p:cNvPr id="11" name="TextBox 11"/>
          <p:cNvSpPr txBox="1"/>
          <p:nvPr/>
        </p:nvSpPr>
        <p:spPr>
          <a:xfrm>
            <a:off x="1337990" y="3826569"/>
            <a:ext cx="7915377" cy="4817913"/>
          </a:xfrm>
          <a:prstGeom prst="rect">
            <a:avLst/>
          </a:prstGeom>
        </p:spPr>
        <p:txBody>
          <a:bodyPr lIns="0" tIns="0" rIns="0" bIns="0" rtlCol="0" anchor="t">
            <a:spAutoFit/>
          </a:bodyPr>
          <a:lstStyle/>
          <a:p>
            <a:pPr algn="l">
              <a:lnSpc>
                <a:spcPts val="2758"/>
              </a:lnSpc>
            </a:pPr>
            <a:r>
              <a:rPr lang="en-US" sz="1970">
                <a:solidFill>
                  <a:srgbClr val="FFFFFF"/>
                </a:solidFill>
                <a:latin typeface="Poppins"/>
                <a:ea typeface="Poppins"/>
                <a:cs typeface="Poppins"/>
                <a:sym typeface="Poppins"/>
              </a:rPr>
              <a:t>Dada una lista de transacciones bancarias representadas por objetos:</a:t>
            </a:r>
          </a:p>
          <a:p>
            <a:pPr algn="l">
              <a:lnSpc>
                <a:spcPts val="2758"/>
              </a:lnSpc>
            </a:pPr>
            <a:r>
              <a:rPr lang="en-US" sz="1970">
                <a:solidFill>
                  <a:srgbClr val="FFFFFF"/>
                </a:solidFill>
                <a:latin typeface="Poppins"/>
                <a:ea typeface="Poppins"/>
                <a:cs typeface="Poppins"/>
                <a:sym typeface="Poppins"/>
              </a:rPr>
              <a:t>class Transaction {</a:t>
            </a:r>
          </a:p>
          <a:p>
            <a:pPr algn="l">
              <a:lnSpc>
                <a:spcPts val="2758"/>
              </a:lnSpc>
            </a:pPr>
            <a:r>
              <a:rPr lang="en-US" sz="1970">
                <a:solidFill>
                  <a:srgbClr val="FFFFFF"/>
                </a:solidFill>
                <a:latin typeface="Poppins"/>
                <a:ea typeface="Poppins"/>
                <a:cs typeface="Poppins"/>
                <a:sym typeface="Poppins"/>
              </a:rPr>
              <a:t>   String id;</a:t>
            </a:r>
          </a:p>
          <a:p>
            <a:pPr algn="l">
              <a:lnSpc>
                <a:spcPts val="2758"/>
              </a:lnSpc>
            </a:pPr>
            <a:r>
              <a:rPr lang="en-US" sz="1970">
                <a:solidFill>
                  <a:srgbClr val="FFFFFF"/>
                </a:solidFill>
                <a:latin typeface="Poppins"/>
                <a:ea typeface="Poppins"/>
                <a:cs typeface="Poppins"/>
                <a:sym typeface="Poppins"/>
              </a:rPr>
              <a:t>   double amount;</a:t>
            </a:r>
          </a:p>
          <a:p>
            <a:pPr algn="l">
              <a:lnSpc>
                <a:spcPts val="2758"/>
              </a:lnSpc>
            </a:pPr>
            <a:r>
              <a:rPr lang="en-US" sz="1970">
                <a:solidFill>
                  <a:srgbClr val="FFFFFF"/>
                </a:solidFill>
                <a:latin typeface="Poppins"/>
                <a:ea typeface="Poppins"/>
                <a:cs typeface="Poppins"/>
                <a:sym typeface="Poppins"/>
              </a:rPr>
              <a:t>   boolean approved;</a:t>
            </a:r>
          </a:p>
          <a:p>
            <a:pPr algn="l">
              <a:lnSpc>
                <a:spcPts val="2758"/>
              </a:lnSpc>
            </a:pPr>
            <a:r>
              <a:rPr lang="en-US" sz="1970">
                <a:solidFill>
                  <a:srgbClr val="FFFFFF"/>
                </a:solidFill>
                <a:latin typeface="Poppins"/>
                <a:ea typeface="Poppins"/>
                <a:cs typeface="Poppins"/>
                <a:sym typeface="Poppins"/>
              </a:rPr>
              <a:t>}</a:t>
            </a:r>
          </a:p>
          <a:p>
            <a:pPr algn="l">
              <a:lnSpc>
                <a:spcPts val="2758"/>
              </a:lnSpc>
            </a:pPr>
            <a:r>
              <a:rPr lang="en-US" sz="1970">
                <a:solidFill>
                  <a:srgbClr val="FFFFFF"/>
                </a:solidFill>
                <a:latin typeface="Poppins"/>
                <a:ea typeface="Poppins"/>
                <a:cs typeface="Poppins"/>
                <a:sym typeface="Poppins"/>
              </a:rPr>
              <a:t>Se requiere procesar la lista usando Streams para:</a:t>
            </a:r>
          </a:p>
          <a:p>
            <a:pPr marL="425395" lvl="1" indent="-212698" algn="l">
              <a:lnSpc>
                <a:spcPts val="2758"/>
              </a:lnSpc>
              <a:buFont typeface="Arial"/>
              <a:buChar char="•"/>
            </a:pPr>
            <a:r>
              <a:rPr lang="en-US" sz="1970">
                <a:solidFill>
                  <a:srgbClr val="FFFFFF"/>
                </a:solidFill>
                <a:latin typeface="Poppins"/>
                <a:ea typeface="Poppins"/>
                <a:cs typeface="Poppins"/>
                <a:sym typeface="Poppins"/>
              </a:rPr>
              <a:t>Usar peek para ver cada transacción procesada (Utilizar System.out.println para ver la transaccion)</a:t>
            </a:r>
          </a:p>
          <a:p>
            <a:pPr marL="425395" lvl="1" indent="-212698" algn="l">
              <a:lnSpc>
                <a:spcPts val="2758"/>
              </a:lnSpc>
              <a:buFont typeface="Arial"/>
              <a:buChar char="•"/>
            </a:pPr>
            <a:r>
              <a:rPr lang="en-US" sz="1970">
                <a:solidFill>
                  <a:srgbClr val="FFFFFF"/>
                </a:solidFill>
                <a:latin typeface="Poppins"/>
                <a:ea typeface="Poppins"/>
                <a:cs typeface="Poppins"/>
                <a:sym typeface="Poppins"/>
              </a:rPr>
              <a:t>Verificar si existe al menos una transacción no aprobada</a:t>
            </a:r>
          </a:p>
          <a:p>
            <a:pPr marL="425395" lvl="1" indent="-212698" algn="l">
              <a:lnSpc>
                <a:spcPts val="2758"/>
              </a:lnSpc>
              <a:buFont typeface="Arial"/>
              <a:buChar char="•"/>
            </a:pPr>
            <a:r>
              <a:rPr lang="en-US" sz="1970">
                <a:solidFill>
                  <a:srgbClr val="FFFFFF"/>
                </a:solidFill>
                <a:latin typeface="Poppins"/>
                <a:ea typeface="Poppins"/>
                <a:cs typeface="Poppins"/>
                <a:sym typeface="Poppins"/>
              </a:rPr>
              <a:t>Retornar true o false indicando si el lote de transacciones es válido.</a:t>
            </a:r>
          </a:p>
          <a:p>
            <a:pPr algn="l">
              <a:lnSpc>
                <a:spcPts val="2758"/>
              </a:lnSpc>
            </a:pPr>
            <a:endParaRPr lang="en-US" sz="1970">
              <a:solidFill>
                <a:srgbClr val="FFFFF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57150"/>
              <a:ext cx="2798705" cy="526636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57150"/>
              <a:ext cx="3083604" cy="126383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57150"/>
              <a:ext cx="3083604" cy="126383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3381222" y="2407704"/>
            <a:ext cx="12467298" cy="1101873"/>
          </a:xfrm>
          <a:prstGeom prst="rect">
            <a:avLst/>
          </a:prstGeom>
        </p:spPr>
        <p:txBody>
          <a:bodyPr lIns="0" tIns="0" rIns="0" bIns="0" rtlCol="0" anchor="t">
            <a:spAutoFit/>
          </a:bodyPr>
          <a:lstStyle/>
          <a:p>
            <a:pPr algn="ctr">
              <a:lnSpc>
                <a:spcPts val="8941"/>
              </a:lnSpc>
              <a:spcBef>
                <a:spcPct val="0"/>
              </a:spcBef>
            </a:pPr>
            <a:r>
              <a:rPr lang="en-US" sz="6387">
                <a:gradFill>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a:latin typeface="HK Modular"/>
                <a:ea typeface="HK Modular"/>
                <a:cs typeface="HK Modular"/>
                <a:sym typeface="HK Modular"/>
              </a:rPr>
              <a:t>TAREA - #1</a:t>
            </a:r>
          </a:p>
        </p:txBody>
      </p:sp>
      <p:sp>
        <p:nvSpPr>
          <p:cNvPr id="13" name="Freeform 13"/>
          <p:cNvSpPr/>
          <p:nvPr/>
        </p:nvSpPr>
        <p:spPr>
          <a:xfrm>
            <a:off x="11131931" y="4044629"/>
            <a:ext cx="5059313" cy="4869589"/>
          </a:xfrm>
          <a:custGeom>
            <a:avLst/>
            <a:gdLst/>
            <a:ahLst/>
            <a:cxnLst/>
            <a:rect l="l" t="t" r="r" b="b"/>
            <a:pathLst>
              <a:path w="5059313" h="4869589">
                <a:moveTo>
                  <a:pt x="0" y="0"/>
                </a:moveTo>
                <a:lnTo>
                  <a:pt x="5059313" y="0"/>
                </a:lnTo>
                <a:lnTo>
                  <a:pt x="5059313" y="4869589"/>
                </a:lnTo>
                <a:lnTo>
                  <a:pt x="0" y="48695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14" name="TextBox 14"/>
          <p:cNvSpPr txBox="1"/>
          <p:nvPr/>
        </p:nvSpPr>
        <p:spPr>
          <a:xfrm>
            <a:off x="1784351" y="4137639"/>
            <a:ext cx="7830520" cy="2770239"/>
          </a:xfrm>
          <a:prstGeom prst="rect">
            <a:avLst/>
          </a:prstGeom>
        </p:spPr>
        <p:txBody>
          <a:bodyPr lIns="0" tIns="0" rIns="0" bIns="0" rtlCol="0" anchor="t">
            <a:spAutoFit/>
          </a:bodyPr>
          <a:lstStyle/>
          <a:p>
            <a:pPr marL="564559" lvl="1" indent="-282280" algn="l">
              <a:lnSpc>
                <a:spcPts val="3660"/>
              </a:lnSpc>
              <a:buFont typeface="Arial"/>
              <a:buChar char="•"/>
            </a:pPr>
            <a:r>
              <a:rPr lang="en-US" sz="2614">
                <a:solidFill>
                  <a:srgbClr val="FFFFFF"/>
                </a:solidFill>
                <a:latin typeface="Poppins"/>
                <a:ea typeface="Poppins"/>
                <a:cs typeface="Poppins"/>
                <a:sym typeface="Poppins"/>
              </a:rPr>
              <a:t>Adjunten los 5 ejercicios anteriores en su bitacora</a:t>
            </a:r>
          </a:p>
          <a:p>
            <a:pPr marL="564559" lvl="1" indent="-282280" algn="l">
              <a:lnSpc>
                <a:spcPts val="3660"/>
              </a:lnSpc>
              <a:buFont typeface="Arial"/>
              <a:buChar char="•"/>
            </a:pPr>
            <a:r>
              <a:rPr lang="en-US" sz="2614">
                <a:solidFill>
                  <a:srgbClr val="FFFFFF"/>
                </a:solidFill>
                <a:latin typeface="Poppins"/>
                <a:ea typeface="Poppins"/>
                <a:cs typeface="Poppins"/>
                <a:sym typeface="Poppins"/>
              </a:rPr>
              <a:t>Desarrollen el taller #2 de programacion funcional en su bitacora</a:t>
            </a:r>
          </a:p>
          <a:p>
            <a:pPr algn="l">
              <a:lnSpc>
                <a:spcPts val="3660"/>
              </a:lnSpc>
            </a:pPr>
            <a:r>
              <a:rPr lang="en-US" sz="2614">
                <a:solidFill>
                  <a:srgbClr val="FFFFFF"/>
                </a:solidFill>
                <a:latin typeface="Poppins"/>
                <a:ea typeface="Poppins"/>
                <a:cs typeface="Poppins"/>
                <a:sym typeface="Poppins"/>
              </a:rPr>
              <a:t>NOTA: Ahi encontraran la estructura de paquetes para la misma</a:t>
            </a:r>
          </a:p>
        </p:txBody>
      </p:sp>
      <p:sp>
        <p:nvSpPr>
          <p:cNvPr id="15" name="Freeform 15"/>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726096" y="7897680"/>
            <a:ext cx="1586363" cy="1358323"/>
          </a:xfrm>
          <a:custGeom>
            <a:avLst/>
            <a:gdLst/>
            <a:ahLst/>
            <a:cxnLst/>
            <a:rect l="l" t="t" r="r" b="b"/>
            <a:pathLst>
              <a:path w="1586363" h="1358323">
                <a:moveTo>
                  <a:pt x="0" y="0"/>
                </a:moveTo>
                <a:lnTo>
                  <a:pt x="1586363" y="0"/>
                </a:lnTo>
                <a:lnTo>
                  <a:pt x="1586363" y="1358324"/>
                </a:lnTo>
                <a:lnTo>
                  <a:pt x="0" y="13583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TextBox 8"/>
          <p:cNvSpPr txBox="1"/>
          <p:nvPr/>
        </p:nvSpPr>
        <p:spPr>
          <a:xfrm>
            <a:off x="2655360" y="2306714"/>
            <a:ext cx="12977281" cy="857781"/>
          </a:xfrm>
          <a:prstGeom prst="rect">
            <a:avLst/>
          </a:prstGeom>
        </p:spPr>
        <p:txBody>
          <a:bodyPr lIns="0" tIns="0" rIns="0" bIns="0" rtlCol="0" anchor="t">
            <a:spAutoFit/>
          </a:bodyPr>
          <a:lstStyle/>
          <a:p>
            <a:pPr algn="ctr">
              <a:lnSpc>
                <a:spcPts val="7012"/>
              </a:lnSpc>
              <a:spcBef>
                <a:spcPct val="0"/>
              </a:spcBef>
            </a:pPr>
            <a:r>
              <a:rPr lang="en-US" sz="5008">
                <a:solidFill>
                  <a:srgbClr val="FF914D"/>
                </a:solidFill>
                <a:latin typeface="HK Modular"/>
                <a:ea typeface="HK Modular"/>
                <a:cs typeface="HK Modular"/>
                <a:sym typeface="HK Modular"/>
              </a:rPr>
              <a:t>S: SINGLE RESPONSIBILITY</a:t>
            </a:r>
          </a:p>
        </p:txBody>
      </p:sp>
      <p:sp>
        <p:nvSpPr>
          <p:cNvPr id="9" name="TextBox 9"/>
          <p:cNvSpPr txBox="1"/>
          <p:nvPr/>
        </p:nvSpPr>
        <p:spPr>
          <a:xfrm>
            <a:off x="2850208" y="3576172"/>
            <a:ext cx="1258758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Establece que una clase, componente o servicio debe ser responsable de una sola cosa (desacople)</a:t>
            </a:r>
          </a:p>
        </p:txBody>
      </p:sp>
      <p:sp>
        <p:nvSpPr>
          <p:cNvPr id="10" name="TextBox 10"/>
          <p:cNvSpPr txBox="1"/>
          <p:nvPr/>
        </p:nvSpPr>
        <p:spPr>
          <a:xfrm>
            <a:off x="2339685" y="5076825"/>
            <a:ext cx="13827363"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Si una clase realiza multiples responsabilidades, sera mas dificil de mantener y modificar sin afectar otras partes del sistema</a:t>
            </a:r>
          </a:p>
        </p:txBody>
      </p:sp>
      <p:sp>
        <p:nvSpPr>
          <p:cNvPr id="11" name="TextBox 11"/>
          <p:cNvSpPr txBox="1"/>
          <p:nvPr/>
        </p:nvSpPr>
        <p:spPr>
          <a:xfrm>
            <a:off x="3185606" y="7942925"/>
            <a:ext cx="13827363"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Reune las cosas que cambian por las mismas razones y separa aquellas que cambian por razones diferentes</a:t>
            </a:r>
          </a:p>
        </p:txBody>
      </p:sp>
      <p:sp>
        <p:nvSpPr>
          <p:cNvPr id="12" name="TextBox 12"/>
          <p:cNvSpPr txBox="1"/>
          <p:nvPr/>
        </p:nvSpPr>
        <p:spPr>
          <a:xfrm>
            <a:off x="5115512" y="7171774"/>
            <a:ext cx="8056975" cy="599701"/>
          </a:xfrm>
          <a:prstGeom prst="rect">
            <a:avLst/>
          </a:prstGeom>
        </p:spPr>
        <p:txBody>
          <a:bodyPr lIns="0" tIns="0" rIns="0" bIns="0" rtlCol="0" anchor="t">
            <a:spAutoFit/>
          </a:bodyPr>
          <a:lstStyle/>
          <a:p>
            <a:pPr algn="ctr">
              <a:lnSpc>
                <a:spcPts val="4927"/>
              </a:lnSpc>
              <a:spcBef>
                <a:spcPct val="0"/>
              </a:spcBef>
            </a:pPr>
            <a:r>
              <a:rPr lang="en-US" sz="3519">
                <a:solidFill>
                  <a:srgbClr val="F800C0"/>
                </a:solidFill>
                <a:latin typeface="HK Modular"/>
                <a:ea typeface="HK Modular"/>
                <a:cs typeface="HK Modular"/>
                <a:sym typeface="HK Modular"/>
              </a:rPr>
              <a:t>CONSEJO DE APLICACION</a:t>
            </a:r>
          </a:p>
        </p:txBody>
      </p:sp>
      <p:sp>
        <p:nvSpPr>
          <p:cNvPr id="13" name="TextBox 13"/>
          <p:cNvSpPr txBox="1"/>
          <p:nvPr/>
        </p:nvSpPr>
        <p:spPr>
          <a:xfrm>
            <a:off x="3185606" y="9029410"/>
            <a:ext cx="13827363"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Utiliza el encapsulamento para proteger los datos internos de un objeto.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2655360" y="2306714"/>
            <a:ext cx="12977281" cy="857781"/>
          </a:xfrm>
          <a:prstGeom prst="rect">
            <a:avLst/>
          </a:prstGeom>
        </p:spPr>
        <p:txBody>
          <a:bodyPr lIns="0" tIns="0" rIns="0" bIns="0" rtlCol="0" anchor="t">
            <a:spAutoFit/>
          </a:bodyPr>
          <a:lstStyle/>
          <a:p>
            <a:pPr algn="ctr">
              <a:lnSpc>
                <a:spcPts val="7012"/>
              </a:lnSpc>
              <a:spcBef>
                <a:spcPct val="0"/>
              </a:spcBef>
            </a:pPr>
            <a:r>
              <a:rPr lang="en-US" sz="5008">
                <a:solidFill>
                  <a:srgbClr val="FF914D"/>
                </a:solidFill>
                <a:latin typeface="HK Modular"/>
                <a:ea typeface="HK Modular"/>
                <a:cs typeface="HK Modular"/>
                <a:sym typeface="HK Modular"/>
              </a:rPr>
              <a:t>S: SINGLE RESPONSIBILITY</a:t>
            </a:r>
          </a:p>
        </p:txBody>
      </p:sp>
      <p:sp>
        <p:nvSpPr>
          <p:cNvPr id="8" name="TextBox 8"/>
          <p:cNvSpPr txBox="1"/>
          <p:nvPr/>
        </p:nvSpPr>
        <p:spPr>
          <a:xfrm>
            <a:off x="5224879" y="3579971"/>
            <a:ext cx="8056975" cy="599701"/>
          </a:xfrm>
          <a:prstGeom prst="rect">
            <a:avLst/>
          </a:prstGeom>
        </p:spPr>
        <p:txBody>
          <a:bodyPr lIns="0" tIns="0" rIns="0" bIns="0" rtlCol="0" anchor="t">
            <a:spAutoFit/>
          </a:bodyPr>
          <a:lstStyle/>
          <a:p>
            <a:pPr algn="ctr">
              <a:lnSpc>
                <a:spcPts val="4927"/>
              </a:lnSpc>
              <a:spcBef>
                <a:spcPct val="0"/>
              </a:spcBef>
            </a:pPr>
            <a:r>
              <a:rPr lang="en-US" sz="3519">
                <a:solidFill>
                  <a:srgbClr val="F800C0"/>
                </a:solidFill>
                <a:latin typeface="HK Modular"/>
                <a:ea typeface="HK Modular"/>
                <a:cs typeface="HK Modular"/>
                <a:sym typeface="HK Modular"/>
              </a:rPr>
              <a:t>ENCAPSULAMIENTO</a:t>
            </a:r>
          </a:p>
        </p:txBody>
      </p:sp>
      <p:sp>
        <p:nvSpPr>
          <p:cNvPr id="9" name="TextBox 9"/>
          <p:cNvSpPr txBox="1"/>
          <p:nvPr/>
        </p:nvSpPr>
        <p:spPr>
          <a:xfrm>
            <a:off x="5466472" y="4472743"/>
            <a:ext cx="7355056" cy="18294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Consiste en ocultar los detalles internos de una clase y permitir el acceso a su información únicamente a través de operaciones definidas para ese objeto</a:t>
            </a:r>
          </a:p>
        </p:txBody>
      </p:sp>
      <p:sp>
        <p:nvSpPr>
          <p:cNvPr id="10" name="TextBox 10"/>
          <p:cNvSpPr txBox="1"/>
          <p:nvPr/>
        </p:nvSpPr>
        <p:spPr>
          <a:xfrm>
            <a:off x="1617421" y="8026550"/>
            <a:ext cx="4378016" cy="877729"/>
          </a:xfrm>
          <a:prstGeom prst="rect">
            <a:avLst/>
          </a:prstGeom>
        </p:spPr>
        <p:txBody>
          <a:bodyPr lIns="0" tIns="0" rIns="0" bIns="0" rtlCol="0" anchor="t">
            <a:spAutoFit/>
          </a:bodyPr>
          <a:lstStyle/>
          <a:p>
            <a:pPr algn="ctr">
              <a:lnSpc>
                <a:spcPts val="3539"/>
              </a:lnSpc>
              <a:spcBef>
                <a:spcPct val="0"/>
              </a:spcBef>
            </a:pPr>
            <a:r>
              <a:rPr lang="en-US" sz="2528">
                <a:solidFill>
                  <a:srgbClr val="F800C0"/>
                </a:solidFill>
                <a:latin typeface="HK Modular"/>
                <a:ea typeface="HK Modular"/>
                <a:cs typeface="HK Modular"/>
                <a:sym typeface="HK Modular"/>
              </a:rPr>
              <a:t>NIVELES DE ENCAPSULAMIENTO</a:t>
            </a:r>
          </a:p>
        </p:txBody>
      </p:sp>
      <p:sp>
        <p:nvSpPr>
          <p:cNvPr id="11" name="TextBox 11"/>
          <p:cNvSpPr txBox="1"/>
          <p:nvPr/>
        </p:nvSpPr>
        <p:spPr>
          <a:xfrm>
            <a:off x="7687912" y="6963494"/>
            <a:ext cx="4378016" cy="430567"/>
          </a:xfrm>
          <a:prstGeom prst="rect">
            <a:avLst/>
          </a:prstGeom>
        </p:spPr>
        <p:txBody>
          <a:bodyPr lIns="0" tIns="0" rIns="0" bIns="0" rtlCol="0" anchor="t">
            <a:spAutoFit/>
          </a:bodyPr>
          <a:lstStyle/>
          <a:p>
            <a:pPr algn="ctr">
              <a:lnSpc>
                <a:spcPts val="3539"/>
              </a:lnSpc>
              <a:spcBef>
                <a:spcPct val="0"/>
              </a:spcBef>
            </a:pPr>
            <a:r>
              <a:rPr lang="en-US" sz="2528">
                <a:solidFill>
                  <a:srgbClr val="F800C0"/>
                </a:solidFill>
                <a:latin typeface="HK Modular"/>
                <a:ea typeface="HK Modular"/>
                <a:cs typeface="HK Modular"/>
                <a:sym typeface="HK Modular"/>
              </a:rPr>
              <a:t>PUBLIC</a:t>
            </a:r>
          </a:p>
        </p:txBody>
      </p:sp>
      <p:sp>
        <p:nvSpPr>
          <p:cNvPr id="12" name="TextBox 12"/>
          <p:cNvSpPr txBox="1"/>
          <p:nvPr/>
        </p:nvSpPr>
        <p:spPr>
          <a:xfrm>
            <a:off x="7687912" y="7947221"/>
            <a:ext cx="4378016" cy="430567"/>
          </a:xfrm>
          <a:prstGeom prst="rect">
            <a:avLst/>
          </a:prstGeom>
        </p:spPr>
        <p:txBody>
          <a:bodyPr lIns="0" tIns="0" rIns="0" bIns="0" rtlCol="0" anchor="t">
            <a:spAutoFit/>
          </a:bodyPr>
          <a:lstStyle/>
          <a:p>
            <a:pPr algn="ctr">
              <a:lnSpc>
                <a:spcPts val="3539"/>
              </a:lnSpc>
              <a:spcBef>
                <a:spcPct val="0"/>
              </a:spcBef>
            </a:pPr>
            <a:r>
              <a:rPr lang="en-US" sz="2528">
                <a:solidFill>
                  <a:srgbClr val="F800C0"/>
                </a:solidFill>
                <a:latin typeface="HK Modular"/>
                <a:ea typeface="HK Modular"/>
                <a:cs typeface="HK Modular"/>
                <a:sym typeface="HK Modular"/>
              </a:rPr>
              <a:t>PRIVATE</a:t>
            </a:r>
          </a:p>
        </p:txBody>
      </p:sp>
      <p:sp>
        <p:nvSpPr>
          <p:cNvPr id="13" name="TextBox 13"/>
          <p:cNvSpPr txBox="1"/>
          <p:nvPr/>
        </p:nvSpPr>
        <p:spPr>
          <a:xfrm>
            <a:off x="7687912" y="9172462"/>
            <a:ext cx="4378016" cy="430567"/>
          </a:xfrm>
          <a:prstGeom prst="rect">
            <a:avLst/>
          </a:prstGeom>
        </p:spPr>
        <p:txBody>
          <a:bodyPr lIns="0" tIns="0" rIns="0" bIns="0" rtlCol="0" anchor="t">
            <a:spAutoFit/>
          </a:bodyPr>
          <a:lstStyle/>
          <a:p>
            <a:pPr algn="ctr">
              <a:lnSpc>
                <a:spcPts val="3539"/>
              </a:lnSpc>
              <a:spcBef>
                <a:spcPct val="0"/>
              </a:spcBef>
            </a:pPr>
            <a:r>
              <a:rPr lang="en-US" sz="2528">
                <a:solidFill>
                  <a:srgbClr val="F800C0"/>
                </a:solidFill>
                <a:latin typeface="HK Modular"/>
                <a:ea typeface="HK Modular"/>
                <a:cs typeface="HK Modular"/>
                <a:sym typeface="HK Modular"/>
              </a:rPr>
              <a:t>PROTECTED</a:t>
            </a:r>
          </a:p>
        </p:txBody>
      </p:sp>
      <p:sp>
        <p:nvSpPr>
          <p:cNvPr id="14" name="Freeform 14"/>
          <p:cNvSpPr/>
          <p:nvPr/>
        </p:nvSpPr>
        <p:spPr>
          <a:xfrm rot="8953216">
            <a:off x="3629927" y="6727915"/>
            <a:ext cx="1819785" cy="566408"/>
          </a:xfrm>
          <a:custGeom>
            <a:avLst/>
            <a:gdLst/>
            <a:ahLst/>
            <a:cxnLst/>
            <a:rect l="l" t="t" r="r" b="b"/>
            <a:pathLst>
              <a:path w="1819785" h="566408">
                <a:moveTo>
                  <a:pt x="0" y="0"/>
                </a:moveTo>
                <a:lnTo>
                  <a:pt x="1819785" y="0"/>
                </a:lnTo>
                <a:lnTo>
                  <a:pt x="1819785" y="566408"/>
                </a:lnTo>
                <a:lnTo>
                  <a:pt x="0" y="5664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5" name="Freeform 15"/>
          <p:cNvSpPr/>
          <p:nvPr/>
        </p:nvSpPr>
        <p:spPr>
          <a:xfrm>
            <a:off x="6427656" y="7414038"/>
            <a:ext cx="2039032" cy="1320273"/>
          </a:xfrm>
          <a:custGeom>
            <a:avLst/>
            <a:gdLst/>
            <a:ahLst/>
            <a:cxnLst/>
            <a:rect l="l" t="t" r="r" b="b"/>
            <a:pathLst>
              <a:path w="2039032" h="1320273">
                <a:moveTo>
                  <a:pt x="0" y="0"/>
                </a:moveTo>
                <a:lnTo>
                  <a:pt x="2039032" y="0"/>
                </a:lnTo>
                <a:lnTo>
                  <a:pt x="2039032" y="1320274"/>
                </a:lnTo>
                <a:lnTo>
                  <a:pt x="0" y="13202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6" name="TextBox 16"/>
          <p:cNvSpPr txBox="1"/>
          <p:nvPr/>
        </p:nvSpPr>
        <p:spPr>
          <a:xfrm>
            <a:off x="12200273" y="6886257"/>
            <a:ext cx="3599239"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Acceso para todos</a:t>
            </a:r>
          </a:p>
        </p:txBody>
      </p:sp>
      <p:sp>
        <p:nvSpPr>
          <p:cNvPr id="17" name="TextBox 17"/>
          <p:cNvSpPr txBox="1"/>
          <p:nvPr/>
        </p:nvSpPr>
        <p:spPr>
          <a:xfrm>
            <a:off x="12334178" y="9029587"/>
            <a:ext cx="3599239"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Accesible solo a la propia clase</a:t>
            </a:r>
          </a:p>
        </p:txBody>
      </p:sp>
      <p:sp>
        <p:nvSpPr>
          <p:cNvPr id="18" name="TextBox 18"/>
          <p:cNvSpPr txBox="1"/>
          <p:nvPr/>
        </p:nvSpPr>
        <p:spPr>
          <a:xfrm>
            <a:off x="11318076" y="7819276"/>
            <a:ext cx="5631443"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Uso para la clase y sus subclases no es de acceso publico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2181227" y="5330661"/>
            <a:ext cx="6108333" cy="2617857"/>
          </a:xfrm>
          <a:custGeom>
            <a:avLst/>
            <a:gdLst/>
            <a:ahLst/>
            <a:cxnLst/>
            <a:rect l="l" t="t" r="r" b="b"/>
            <a:pathLst>
              <a:path w="6108333" h="2617857">
                <a:moveTo>
                  <a:pt x="0" y="0"/>
                </a:moveTo>
                <a:lnTo>
                  <a:pt x="6108332" y="0"/>
                </a:lnTo>
                <a:lnTo>
                  <a:pt x="6108332" y="2617857"/>
                </a:lnTo>
                <a:lnTo>
                  <a:pt x="0" y="2617857"/>
                </a:lnTo>
                <a:lnTo>
                  <a:pt x="0" y="0"/>
                </a:lnTo>
                <a:close/>
              </a:path>
            </a:pathLst>
          </a:custGeom>
          <a:blipFill>
            <a:blip r:embed="rId4"/>
            <a:stretch>
              <a:fillRect/>
            </a:stretch>
          </a:blipFill>
        </p:spPr>
        <p:txBody>
          <a:bodyPr/>
          <a:lstStyle/>
          <a:p>
            <a:endParaRPr lang="es-CO"/>
          </a:p>
        </p:txBody>
      </p:sp>
      <p:sp>
        <p:nvSpPr>
          <p:cNvPr id="8" name="Freeform 8"/>
          <p:cNvSpPr/>
          <p:nvPr/>
        </p:nvSpPr>
        <p:spPr>
          <a:xfrm>
            <a:off x="13605037" y="8367350"/>
            <a:ext cx="1540769" cy="1319284"/>
          </a:xfrm>
          <a:custGeom>
            <a:avLst/>
            <a:gdLst/>
            <a:ahLst/>
            <a:cxnLst/>
            <a:rect l="l" t="t" r="r" b="b"/>
            <a:pathLst>
              <a:path w="1540769" h="1319284">
                <a:moveTo>
                  <a:pt x="0" y="0"/>
                </a:moveTo>
                <a:lnTo>
                  <a:pt x="1540769" y="0"/>
                </a:lnTo>
                <a:lnTo>
                  <a:pt x="1540769" y="1319284"/>
                </a:lnTo>
                <a:lnTo>
                  <a:pt x="0" y="13192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9" name="Freeform 9"/>
          <p:cNvSpPr/>
          <p:nvPr/>
        </p:nvSpPr>
        <p:spPr>
          <a:xfrm>
            <a:off x="11687699" y="5143500"/>
            <a:ext cx="5375444" cy="2934247"/>
          </a:xfrm>
          <a:custGeom>
            <a:avLst/>
            <a:gdLst/>
            <a:ahLst/>
            <a:cxnLst/>
            <a:rect l="l" t="t" r="r" b="b"/>
            <a:pathLst>
              <a:path w="5375444" h="2934247">
                <a:moveTo>
                  <a:pt x="0" y="0"/>
                </a:moveTo>
                <a:lnTo>
                  <a:pt x="5375444" y="0"/>
                </a:lnTo>
                <a:lnTo>
                  <a:pt x="5375444" y="2934247"/>
                </a:lnTo>
                <a:lnTo>
                  <a:pt x="0" y="2934247"/>
                </a:lnTo>
                <a:lnTo>
                  <a:pt x="0" y="0"/>
                </a:lnTo>
                <a:close/>
              </a:path>
            </a:pathLst>
          </a:custGeom>
          <a:blipFill>
            <a:blip r:embed="rId6"/>
            <a:stretch>
              <a:fillRect/>
            </a:stretch>
          </a:blipFill>
        </p:spPr>
        <p:txBody>
          <a:bodyPr/>
          <a:lstStyle/>
          <a:p>
            <a:endParaRPr lang="es-CO"/>
          </a:p>
        </p:txBody>
      </p:sp>
      <p:sp>
        <p:nvSpPr>
          <p:cNvPr id="10" name="Freeform 10"/>
          <p:cNvSpPr/>
          <p:nvPr/>
        </p:nvSpPr>
        <p:spPr>
          <a:xfrm>
            <a:off x="4473309" y="8264908"/>
            <a:ext cx="1524168" cy="1524168"/>
          </a:xfrm>
          <a:custGeom>
            <a:avLst/>
            <a:gdLst/>
            <a:ahLst/>
            <a:cxnLst/>
            <a:rect l="l" t="t" r="r" b="b"/>
            <a:pathLst>
              <a:path w="1524168" h="1524168">
                <a:moveTo>
                  <a:pt x="0" y="0"/>
                </a:moveTo>
                <a:lnTo>
                  <a:pt x="1524168" y="0"/>
                </a:lnTo>
                <a:lnTo>
                  <a:pt x="1524168" y="1524168"/>
                </a:lnTo>
                <a:lnTo>
                  <a:pt x="0" y="152416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CO"/>
          </a:p>
        </p:txBody>
      </p:sp>
      <p:sp>
        <p:nvSpPr>
          <p:cNvPr id="11" name="TextBox 11"/>
          <p:cNvSpPr txBox="1"/>
          <p:nvPr/>
        </p:nvSpPr>
        <p:spPr>
          <a:xfrm>
            <a:off x="1683290" y="4176737"/>
            <a:ext cx="710420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¿Por que este codigo viola el principio?</a:t>
            </a:r>
          </a:p>
        </p:txBody>
      </p:sp>
      <p:sp>
        <p:nvSpPr>
          <p:cNvPr id="12" name="TextBox 12"/>
          <p:cNvSpPr txBox="1"/>
          <p:nvPr/>
        </p:nvSpPr>
        <p:spPr>
          <a:xfrm>
            <a:off x="10657435" y="4176737"/>
            <a:ext cx="710420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¿Como podria mejorar?</a:t>
            </a:r>
          </a:p>
        </p:txBody>
      </p:sp>
      <p:sp>
        <p:nvSpPr>
          <p:cNvPr id="13" name="TextBox 13"/>
          <p:cNvSpPr txBox="1"/>
          <p:nvPr/>
        </p:nvSpPr>
        <p:spPr>
          <a:xfrm>
            <a:off x="2655360" y="2306714"/>
            <a:ext cx="12977281" cy="857781"/>
          </a:xfrm>
          <a:prstGeom prst="rect">
            <a:avLst/>
          </a:prstGeom>
        </p:spPr>
        <p:txBody>
          <a:bodyPr lIns="0" tIns="0" rIns="0" bIns="0" rtlCol="0" anchor="t">
            <a:spAutoFit/>
          </a:bodyPr>
          <a:lstStyle/>
          <a:p>
            <a:pPr algn="ctr">
              <a:lnSpc>
                <a:spcPts val="7012"/>
              </a:lnSpc>
              <a:spcBef>
                <a:spcPct val="0"/>
              </a:spcBef>
            </a:pPr>
            <a:r>
              <a:rPr lang="en-US" sz="5008">
                <a:solidFill>
                  <a:srgbClr val="FF914D"/>
                </a:solidFill>
                <a:latin typeface="HK Modular"/>
                <a:ea typeface="HK Modular"/>
                <a:cs typeface="HK Modular"/>
                <a:sym typeface="HK Modular"/>
              </a:rPr>
              <a:t>S: SINGLE RESPONSIBILITY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045063" y="2321035"/>
            <a:ext cx="11723240" cy="1533000"/>
          </a:xfrm>
          <a:prstGeom prst="rect">
            <a:avLst/>
          </a:prstGeom>
        </p:spPr>
        <p:txBody>
          <a:bodyPr lIns="0" tIns="0" rIns="0" bIns="0" rtlCol="0" anchor="t">
            <a:spAutoFit/>
          </a:bodyPr>
          <a:lstStyle/>
          <a:p>
            <a:pPr algn="ctr">
              <a:lnSpc>
                <a:spcPts val="6101"/>
              </a:lnSpc>
              <a:spcBef>
                <a:spcPct val="0"/>
              </a:spcBef>
            </a:pPr>
            <a:r>
              <a:rPr lang="en-US" sz="4358">
                <a:solidFill>
                  <a:srgbClr val="FF914D"/>
                </a:solidFill>
                <a:latin typeface="HK Modular"/>
                <a:ea typeface="HK Modular"/>
                <a:cs typeface="HK Modular"/>
                <a:sym typeface="HK Modular"/>
              </a:rPr>
              <a:t>SINGLE RESPONSIBILITY FALLA SI...</a:t>
            </a:r>
          </a:p>
        </p:txBody>
      </p:sp>
      <p:sp>
        <p:nvSpPr>
          <p:cNvPr id="8" name="Freeform 8"/>
          <p:cNvSpPr/>
          <p:nvPr/>
        </p:nvSpPr>
        <p:spPr>
          <a:xfrm>
            <a:off x="3362879" y="4303218"/>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3467109" y="4523591"/>
            <a:ext cx="12391210"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En una clase estan involucradas dos capas de arquitectura</a:t>
            </a:r>
          </a:p>
        </p:txBody>
      </p:sp>
      <p:sp>
        <p:nvSpPr>
          <p:cNvPr id="10" name="Freeform 10"/>
          <p:cNvSpPr/>
          <p:nvPr/>
        </p:nvSpPr>
        <p:spPr>
          <a:xfrm>
            <a:off x="3362879" y="5513019"/>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TextBox 11"/>
          <p:cNvSpPr txBox="1"/>
          <p:nvPr/>
        </p:nvSpPr>
        <p:spPr>
          <a:xfrm>
            <a:off x="4767019" y="5648176"/>
            <a:ext cx="12391210"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Si contiene demasiados metodos publicos</a:t>
            </a:r>
          </a:p>
        </p:txBody>
      </p:sp>
      <p:sp>
        <p:nvSpPr>
          <p:cNvPr id="12" name="Freeform 12"/>
          <p:cNvSpPr/>
          <p:nvPr/>
        </p:nvSpPr>
        <p:spPr>
          <a:xfrm>
            <a:off x="3362879" y="6725925"/>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3" name="TextBox 13"/>
          <p:cNvSpPr txBox="1"/>
          <p:nvPr/>
        </p:nvSpPr>
        <p:spPr>
          <a:xfrm>
            <a:off x="4767019" y="6946298"/>
            <a:ext cx="12391210"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Es dificil de Probar (pruebas unitarias y granularidad)</a:t>
            </a:r>
          </a:p>
        </p:txBody>
      </p:sp>
      <p:sp>
        <p:nvSpPr>
          <p:cNvPr id="14" name="Freeform 14"/>
          <p:cNvSpPr/>
          <p:nvPr/>
        </p:nvSpPr>
        <p:spPr>
          <a:xfrm>
            <a:off x="3362879" y="7938831"/>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5" name="TextBox 15"/>
          <p:cNvSpPr txBox="1"/>
          <p:nvPr/>
        </p:nvSpPr>
        <p:spPr>
          <a:xfrm>
            <a:off x="4767019" y="8159203"/>
            <a:ext cx="12391210"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Una nueva funcionalidad la afecta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263845" y="7899977"/>
            <a:ext cx="1586363" cy="1358323"/>
          </a:xfrm>
          <a:custGeom>
            <a:avLst/>
            <a:gdLst/>
            <a:ahLst/>
            <a:cxnLst/>
            <a:rect l="l" t="t" r="r" b="b"/>
            <a:pathLst>
              <a:path w="1586363" h="1358323">
                <a:moveTo>
                  <a:pt x="0" y="0"/>
                </a:moveTo>
                <a:lnTo>
                  <a:pt x="1586363" y="0"/>
                </a:lnTo>
                <a:lnTo>
                  <a:pt x="1586363" y="1358323"/>
                </a:lnTo>
                <a:lnTo>
                  <a:pt x="0" y="13583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TextBox 8"/>
          <p:cNvSpPr txBox="1"/>
          <p:nvPr/>
        </p:nvSpPr>
        <p:spPr>
          <a:xfrm>
            <a:off x="3312459" y="2306714"/>
            <a:ext cx="11663082" cy="853854"/>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O: OPEN/CLOSED</a:t>
            </a:r>
          </a:p>
        </p:txBody>
      </p:sp>
      <p:sp>
        <p:nvSpPr>
          <p:cNvPr id="9" name="TextBox 9"/>
          <p:cNvSpPr txBox="1"/>
          <p:nvPr/>
        </p:nvSpPr>
        <p:spPr>
          <a:xfrm>
            <a:off x="2850208" y="3576172"/>
            <a:ext cx="12587585"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Establece que las entidades de software (clases, modulos y funciones) deberian estar abiertos para su extension pero cerrados para su modificacion</a:t>
            </a:r>
          </a:p>
        </p:txBody>
      </p:sp>
      <p:sp>
        <p:nvSpPr>
          <p:cNvPr id="10" name="TextBox 10"/>
          <p:cNvSpPr txBox="1"/>
          <p:nvPr/>
        </p:nvSpPr>
        <p:spPr>
          <a:xfrm>
            <a:off x="2339685" y="5367508"/>
            <a:ext cx="13827363"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Deberiamos agregar nuevas funciones sin tocar el codigo existente, evitando el riesgo de crear errores potenciales</a:t>
            </a:r>
          </a:p>
        </p:txBody>
      </p:sp>
      <p:sp>
        <p:nvSpPr>
          <p:cNvPr id="11" name="TextBox 11"/>
          <p:cNvSpPr txBox="1"/>
          <p:nvPr/>
        </p:nvSpPr>
        <p:spPr>
          <a:xfrm>
            <a:off x="3185606" y="8181050"/>
            <a:ext cx="13827363"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Se suele resolver utilizando POLIMORFISMO al no obligar a la clase principal a saber como realizar la operacion, se le delega a los objetos que lo utiliza</a:t>
            </a:r>
          </a:p>
        </p:txBody>
      </p:sp>
      <p:sp>
        <p:nvSpPr>
          <p:cNvPr id="12" name="TextBox 12"/>
          <p:cNvSpPr txBox="1"/>
          <p:nvPr/>
        </p:nvSpPr>
        <p:spPr>
          <a:xfrm>
            <a:off x="5115512" y="7171774"/>
            <a:ext cx="8056975" cy="599701"/>
          </a:xfrm>
          <a:prstGeom prst="rect">
            <a:avLst/>
          </a:prstGeom>
        </p:spPr>
        <p:txBody>
          <a:bodyPr lIns="0" tIns="0" rIns="0" bIns="0" rtlCol="0" anchor="t">
            <a:spAutoFit/>
          </a:bodyPr>
          <a:lstStyle/>
          <a:p>
            <a:pPr algn="ctr">
              <a:lnSpc>
                <a:spcPts val="4927"/>
              </a:lnSpc>
              <a:spcBef>
                <a:spcPct val="0"/>
              </a:spcBef>
            </a:pPr>
            <a:r>
              <a:rPr lang="en-US" sz="3519">
                <a:solidFill>
                  <a:srgbClr val="FFA260"/>
                </a:solidFill>
                <a:latin typeface="HK Modular"/>
                <a:ea typeface="HK Modular"/>
                <a:cs typeface="HK Modular"/>
                <a:sym typeface="HK Modular"/>
              </a:rPr>
              <a:t>CONSEJO DE APLICACION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742684"/>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0113955" y="3376377"/>
            <a:ext cx="2354484" cy="1524528"/>
          </a:xfrm>
          <a:custGeom>
            <a:avLst/>
            <a:gdLst/>
            <a:ahLst/>
            <a:cxnLst/>
            <a:rect l="l" t="t" r="r" b="b"/>
            <a:pathLst>
              <a:path w="2354484" h="1524528">
                <a:moveTo>
                  <a:pt x="0" y="0"/>
                </a:moveTo>
                <a:lnTo>
                  <a:pt x="2354484" y="0"/>
                </a:lnTo>
                <a:lnTo>
                  <a:pt x="2354484" y="1524528"/>
                </a:lnTo>
                <a:lnTo>
                  <a:pt x="0" y="15245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p:cNvSpPr/>
          <p:nvPr/>
        </p:nvSpPr>
        <p:spPr>
          <a:xfrm>
            <a:off x="1028700" y="6380664"/>
            <a:ext cx="3605734" cy="3440428"/>
          </a:xfrm>
          <a:custGeom>
            <a:avLst/>
            <a:gdLst/>
            <a:ahLst/>
            <a:cxnLst/>
            <a:rect l="l" t="t" r="r" b="b"/>
            <a:pathLst>
              <a:path w="3605734" h="3440428">
                <a:moveTo>
                  <a:pt x="0" y="0"/>
                </a:moveTo>
                <a:lnTo>
                  <a:pt x="3605734" y="0"/>
                </a:lnTo>
                <a:lnTo>
                  <a:pt x="3605734" y="3440428"/>
                </a:lnTo>
                <a:lnTo>
                  <a:pt x="0" y="3440428"/>
                </a:lnTo>
                <a:lnTo>
                  <a:pt x="0" y="0"/>
                </a:lnTo>
                <a:close/>
              </a:path>
            </a:pathLst>
          </a:custGeom>
          <a:blipFill>
            <a:blip r:embed="rId5"/>
            <a:stretch>
              <a:fillRect/>
            </a:stretch>
          </a:blipFill>
        </p:spPr>
        <p:txBody>
          <a:bodyPr/>
          <a:lstStyle/>
          <a:p>
            <a:endParaRPr lang="es-CO"/>
          </a:p>
        </p:txBody>
      </p:sp>
      <p:sp>
        <p:nvSpPr>
          <p:cNvPr id="9" name="Freeform 9"/>
          <p:cNvSpPr/>
          <p:nvPr/>
        </p:nvSpPr>
        <p:spPr>
          <a:xfrm>
            <a:off x="6175659" y="6380664"/>
            <a:ext cx="3280707" cy="3516788"/>
          </a:xfrm>
          <a:custGeom>
            <a:avLst/>
            <a:gdLst/>
            <a:ahLst/>
            <a:cxnLst/>
            <a:rect l="l" t="t" r="r" b="b"/>
            <a:pathLst>
              <a:path w="3280707" h="3516788">
                <a:moveTo>
                  <a:pt x="0" y="0"/>
                </a:moveTo>
                <a:lnTo>
                  <a:pt x="3280707" y="0"/>
                </a:lnTo>
                <a:lnTo>
                  <a:pt x="3280707" y="3516788"/>
                </a:lnTo>
                <a:lnTo>
                  <a:pt x="0" y="3516788"/>
                </a:lnTo>
                <a:lnTo>
                  <a:pt x="0" y="0"/>
                </a:lnTo>
                <a:close/>
              </a:path>
            </a:pathLst>
          </a:custGeom>
          <a:blipFill>
            <a:blip r:embed="rId6"/>
            <a:stretch>
              <a:fillRect/>
            </a:stretch>
          </a:blipFill>
        </p:spPr>
        <p:txBody>
          <a:bodyPr/>
          <a:lstStyle/>
          <a:p>
            <a:endParaRPr lang="es-CO"/>
          </a:p>
        </p:txBody>
      </p:sp>
      <p:sp>
        <p:nvSpPr>
          <p:cNvPr id="10" name="TextBox 10"/>
          <p:cNvSpPr txBox="1"/>
          <p:nvPr/>
        </p:nvSpPr>
        <p:spPr>
          <a:xfrm>
            <a:off x="3253873" y="3488940"/>
            <a:ext cx="4213916" cy="1251777"/>
          </a:xfrm>
          <a:prstGeom prst="rect">
            <a:avLst/>
          </a:prstGeom>
        </p:spPr>
        <p:txBody>
          <a:bodyPr lIns="0" tIns="0" rIns="0" bIns="0" rtlCol="0" anchor="t">
            <a:spAutoFit/>
          </a:bodyPr>
          <a:lstStyle/>
          <a:p>
            <a:pPr algn="ctr">
              <a:lnSpc>
                <a:spcPts val="2486"/>
              </a:lnSpc>
              <a:spcBef>
                <a:spcPct val="0"/>
              </a:spcBef>
            </a:pPr>
            <a:r>
              <a:rPr lang="en-US" sz="1776">
                <a:solidFill>
                  <a:srgbClr val="FFFFFF"/>
                </a:solidFill>
                <a:latin typeface="Poppins"/>
                <a:ea typeface="Poppins"/>
                <a:cs typeface="Poppins"/>
                <a:sym typeface="Poppins"/>
              </a:rPr>
              <a:t>Capacidad de los objetos de una clase en ofrecer respuestas distintas e independientes en funcion de sus parametros durante su ejecucion</a:t>
            </a:r>
          </a:p>
        </p:txBody>
      </p:sp>
      <p:sp>
        <p:nvSpPr>
          <p:cNvPr id="11" name="TextBox 11"/>
          <p:cNvSpPr txBox="1"/>
          <p:nvPr/>
        </p:nvSpPr>
        <p:spPr>
          <a:xfrm>
            <a:off x="1332343" y="2717152"/>
            <a:ext cx="8056975" cy="599701"/>
          </a:xfrm>
          <a:prstGeom prst="rect">
            <a:avLst/>
          </a:prstGeom>
        </p:spPr>
        <p:txBody>
          <a:bodyPr lIns="0" tIns="0" rIns="0" bIns="0" rtlCol="0" anchor="t">
            <a:spAutoFit/>
          </a:bodyPr>
          <a:lstStyle/>
          <a:p>
            <a:pPr algn="ctr">
              <a:lnSpc>
                <a:spcPts val="4927"/>
              </a:lnSpc>
              <a:spcBef>
                <a:spcPct val="0"/>
              </a:spcBef>
            </a:pPr>
            <a:r>
              <a:rPr lang="en-US" sz="3519">
                <a:solidFill>
                  <a:srgbClr val="FFA260"/>
                </a:solidFill>
                <a:latin typeface="HK Modular"/>
                <a:ea typeface="HK Modular"/>
                <a:cs typeface="HK Modular"/>
                <a:sym typeface="HK Modular"/>
              </a:rPr>
              <a:t>POLIMORFISMO</a:t>
            </a:r>
          </a:p>
        </p:txBody>
      </p:sp>
      <p:sp>
        <p:nvSpPr>
          <p:cNvPr id="12" name="TextBox 12"/>
          <p:cNvSpPr txBox="1"/>
          <p:nvPr/>
        </p:nvSpPr>
        <p:spPr>
          <a:xfrm>
            <a:off x="1511309" y="5612364"/>
            <a:ext cx="2618095" cy="589450"/>
          </a:xfrm>
          <a:prstGeom prst="rect">
            <a:avLst/>
          </a:prstGeom>
        </p:spPr>
        <p:txBody>
          <a:bodyPr lIns="0" tIns="0" rIns="0" bIns="0" rtlCol="0" anchor="t">
            <a:spAutoFit/>
          </a:bodyPr>
          <a:lstStyle/>
          <a:p>
            <a:pPr algn="ctr">
              <a:lnSpc>
                <a:spcPts val="2324"/>
              </a:lnSpc>
              <a:spcBef>
                <a:spcPct val="0"/>
              </a:spcBef>
            </a:pPr>
            <a:r>
              <a:rPr lang="en-US" sz="1660">
                <a:solidFill>
                  <a:srgbClr val="FFFFFF"/>
                </a:solidFill>
                <a:latin typeface="Poppins"/>
                <a:ea typeface="Poppins"/>
                <a:cs typeface="Poppins"/>
                <a:sym typeface="Poppins"/>
              </a:rPr>
              <a:t>Un mismo metodo con firmas distintas</a:t>
            </a:r>
          </a:p>
        </p:txBody>
      </p:sp>
      <p:sp>
        <p:nvSpPr>
          <p:cNvPr id="13" name="TextBox 13"/>
          <p:cNvSpPr txBox="1"/>
          <p:nvPr/>
        </p:nvSpPr>
        <p:spPr>
          <a:xfrm>
            <a:off x="6690963" y="5691929"/>
            <a:ext cx="2453037" cy="612535"/>
          </a:xfrm>
          <a:prstGeom prst="rect">
            <a:avLst/>
          </a:prstGeom>
        </p:spPr>
        <p:txBody>
          <a:bodyPr lIns="0" tIns="0" rIns="0" bIns="0" rtlCol="0" anchor="t">
            <a:spAutoFit/>
          </a:bodyPr>
          <a:lstStyle/>
          <a:p>
            <a:pPr algn="ctr">
              <a:lnSpc>
                <a:spcPts val="2423"/>
              </a:lnSpc>
              <a:spcBef>
                <a:spcPct val="0"/>
              </a:spcBef>
            </a:pPr>
            <a:r>
              <a:rPr lang="en-US" sz="1731">
                <a:solidFill>
                  <a:srgbClr val="FFFFFF"/>
                </a:solidFill>
                <a:latin typeface="Poppins"/>
                <a:ea typeface="Poppins"/>
                <a:cs typeface="Poppins"/>
                <a:sym typeface="Poppins"/>
              </a:rPr>
              <a:t>Un mismo metodo sobreescrito</a:t>
            </a:r>
          </a:p>
        </p:txBody>
      </p:sp>
      <p:sp>
        <p:nvSpPr>
          <p:cNvPr id="14" name="TextBox 14"/>
          <p:cNvSpPr txBox="1"/>
          <p:nvPr/>
        </p:nvSpPr>
        <p:spPr>
          <a:xfrm>
            <a:off x="807945" y="5148185"/>
            <a:ext cx="4024822" cy="511804"/>
          </a:xfrm>
          <a:prstGeom prst="rect">
            <a:avLst/>
          </a:prstGeom>
        </p:spPr>
        <p:txBody>
          <a:bodyPr lIns="0" tIns="0" rIns="0" bIns="0" rtlCol="0" anchor="t">
            <a:spAutoFit/>
          </a:bodyPr>
          <a:lstStyle/>
          <a:p>
            <a:pPr algn="ctr">
              <a:lnSpc>
                <a:spcPts val="4202"/>
              </a:lnSpc>
              <a:spcBef>
                <a:spcPct val="0"/>
              </a:spcBef>
            </a:pPr>
            <a:r>
              <a:rPr lang="en-US" sz="3001">
                <a:solidFill>
                  <a:srgbClr val="FFA260"/>
                </a:solidFill>
                <a:latin typeface="HK Modular"/>
                <a:ea typeface="HK Modular"/>
                <a:cs typeface="HK Modular"/>
                <a:sym typeface="HK Modular"/>
              </a:rPr>
              <a:t>OVERLOADING</a:t>
            </a:r>
          </a:p>
        </p:txBody>
      </p:sp>
      <p:sp>
        <p:nvSpPr>
          <p:cNvPr id="15" name="TextBox 15"/>
          <p:cNvSpPr txBox="1"/>
          <p:nvPr/>
        </p:nvSpPr>
        <p:spPr>
          <a:xfrm>
            <a:off x="6082789" y="5126589"/>
            <a:ext cx="3466447" cy="533400"/>
          </a:xfrm>
          <a:prstGeom prst="rect">
            <a:avLst/>
          </a:prstGeom>
        </p:spPr>
        <p:txBody>
          <a:bodyPr lIns="0" tIns="0" rIns="0" bIns="0" rtlCol="0" anchor="t">
            <a:spAutoFit/>
          </a:bodyPr>
          <a:lstStyle/>
          <a:p>
            <a:pPr algn="ctr">
              <a:lnSpc>
                <a:spcPts val="4200"/>
              </a:lnSpc>
              <a:spcBef>
                <a:spcPct val="0"/>
              </a:spcBef>
            </a:pPr>
            <a:r>
              <a:rPr lang="en-US" sz="3000">
                <a:solidFill>
                  <a:srgbClr val="FFA260"/>
                </a:solidFill>
                <a:latin typeface="HK Modular"/>
                <a:ea typeface="HK Modular"/>
                <a:cs typeface="HK Modular"/>
                <a:sym typeface="HK Modular"/>
              </a:rPr>
              <a:t>OVERRIDING</a:t>
            </a:r>
          </a:p>
        </p:txBody>
      </p:sp>
      <p:sp>
        <p:nvSpPr>
          <p:cNvPr id="16" name="TextBox 16"/>
          <p:cNvSpPr txBox="1"/>
          <p:nvPr/>
        </p:nvSpPr>
        <p:spPr>
          <a:xfrm>
            <a:off x="12988948" y="3154800"/>
            <a:ext cx="3724614" cy="908879"/>
          </a:xfrm>
          <a:prstGeom prst="rect">
            <a:avLst/>
          </a:prstGeom>
        </p:spPr>
        <p:txBody>
          <a:bodyPr lIns="0" tIns="0" rIns="0" bIns="0" rtlCol="0" anchor="t">
            <a:spAutoFit/>
          </a:bodyPr>
          <a:lstStyle/>
          <a:p>
            <a:pPr algn="ctr">
              <a:lnSpc>
                <a:spcPts val="3672"/>
              </a:lnSpc>
              <a:spcBef>
                <a:spcPct val="0"/>
              </a:spcBef>
            </a:pPr>
            <a:r>
              <a:rPr lang="en-US" sz="2623">
                <a:solidFill>
                  <a:srgbClr val="FFA260"/>
                </a:solidFill>
                <a:latin typeface="HK Modular"/>
                <a:ea typeface="HK Modular"/>
                <a:cs typeface="HK Modular"/>
                <a:sym typeface="HK Modular"/>
              </a:rPr>
              <a:t>CLASES ABSTRACTAS</a:t>
            </a:r>
          </a:p>
        </p:txBody>
      </p:sp>
      <p:sp>
        <p:nvSpPr>
          <p:cNvPr id="17" name="TextBox 17"/>
          <p:cNvSpPr txBox="1"/>
          <p:nvPr/>
        </p:nvSpPr>
        <p:spPr>
          <a:xfrm>
            <a:off x="13168515" y="5396132"/>
            <a:ext cx="3545047" cy="470564"/>
          </a:xfrm>
          <a:prstGeom prst="rect">
            <a:avLst/>
          </a:prstGeom>
        </p:spPr>
        <p:txBody>
          <a:bodyPr lIns="0" tIns="0" rIns="0" bIns="0" rtlCol="0" anchor="t">
            <a:spAutoFit/>
          </a:bodyPr>
          <a:lstStyle/>
          <a:p>
            <a:pPr algn="ctr">
              <a:lnSpc>
                <a:spcPts val="3821"/>
              </a:lnSpc>
              <a:spcBef>
                <a:spcPct val="0"/>
              </a:spcBef>
            </a:pPr>
            <a:r>
              <a:rPr lang="en-US" sz="2729">
                <a:solidFill>
                  <a:srgbClr val="FFA260"/>
                </a:solidFill>
                <a:latin typeface="HK Modular"/>
                <a:ea typeface="HK Modular"/>
                <a:cs typeface="HK Modular"/>
                <a:sym typeface="HK Modular"/>
              </a:rPr>
              <a:t>INTERFACES</a:t>
            </a:r>
          </a:p>
        </p:txBody>
      </p:sp>
      <p:sp>
        <p:nvSpPr>
          <p:cNvPr id="18" name="TextBox 18"/>
          <p:cNvSpPr txBox="1"/>
          <p:nvPr/>
        </p:nvSpPr>
        <p:spPr>
          <a:xfrm>
            <a:off x="12643876" y="7197280"/>
            <a:ext cx="4995657" cy="1854944"/>
          </a:xfrm>
          <a:prstGeom prst="rect">
            <a:avLst/>
          </a:prstGeom>
        </p:spPr>
        <p:txBody>
          <a:bodyPr lIns="0" tIns="0" rIns="0" bIns="0" rtlCol="0" anchor="t">
            <a:spAutoFit/>
          </a:bodyPr>
          <a:lstStyle/>
          <a:p>
            <a:pPr algn="ctr">
              <a:lnSpc>
                <a:spcPts val="2947"/>
              </a:lnSpc>
              <a:spcBef>
                <a:spcPct val="0"/>
              </a:spcBef>
            </a:pPr>
            <a:r>
              <a:rPr lang="en-US" sz="2105">
                <a:solidFill>
                  <a:srgbClr val="FFFFFF"/>
                </a:solidFill>
                <a:latin typeface="Poppins"/>
                <a:ea typeface="Poppins"/>
                <a:cs typeface="Poppins"/>
                <a:sym typeface="Poppins"/>
              </a:rPr>
              <a:t>una interface proporciona un contrato/mecanismo de encapsulación de los protocolos de los métodos sin forzar al usuario a utilizar la herencia. </a:t>
            </a:r>
          </a:p>
        </p:txBody>
      </p:sp>
      <p:sp>
        <p:nvSpPr>
          <p:cNvPr id="19" name="TextBox 19"/>
          <p:cNvSpPr txBox="1"/>
          <p:nvPr/>
        </p:nvSpPr>
        <p:spPr>
          <a:xfrm>
            <a:off x="13429712" y="4090737"/>
            <a:ext cx="2843087" cy="359034"/>
          </a:xfrm>
          <a:prstGeom prst="rect">
            <a:avLst/>
          </a:prstGeom>
        </p:spPr>
        <p:txBody>
          <a:bodyPr lIns="0" tIns="0" rIns="0" bIns="0" rtlCol="0" anchor="t">
            <a:spAutoFit/>
          </a:bodyPr>
          <a:lstStyle/>
          <a:p>
            <a:pPr algn="ctr">
              <a:lnSpc>
                <a:spcPts val="2809"/>
              </a:lnSpc>
              <a:spcBef>
                <a:spcPct val="0"/>
              </a:spcBef>
            </a:pPr>
            <a:r>
              <a:rPr lang="en-US" sz="2006">
                <a:solidFill>
                  <a:srgbClr val="FFFFFF"/>
                </a:solidFill>
                <a:latin typeface="Poppins"/>
                <a:ea typeface="Poppins"/>
                <a:cs typeface="Poppins"/>
                <a:sym typeface="Poppins"/>
              </a:rPr>
              <a:t>extends</a:t>
            </a:r>
          </a:p>
        </p:txBody>
      </p:sp>
      <p:sp>
        <p:nvSpPr>
          <p:cNvPr id="20" name="TextBox 20"/>
          <p:cNvSpPr txBox="1"/>
          <p:nvPr/>
        </p:nvSpPr>
        <p:spPr>
          <a:xfrm>
            <a:off x="13544724" y="5895271"/>
            <a:ext cx="2843087" cy="359034"/>
          </a:xfrm>
          <a:prstGeom prst="rect">
            <a:avLst/>
          </a:prstGeom>
        </p:spPr>
        <p:txBody>
          <a:bodyPr lIns="0" tIns="0" rIns="0" bIns="0" rtlCol="0" anchor="t">
            <a:spAutoFit/>
          </a:bodyPr>
          <a:lstStyle/>
          <a:p>
            <a:pPr algn="ctr">
              <a:lnSpc>
                <a:spcPts val="2809"/>
              </a:lnSpc>
              <a:spcBef>
                <a:spcPct val="0"/>
              </a:spcBef>
            </a:pPr>
            <a:r>
              <a:rPr lang="en-US" sz="2006">
                <a:solidFill>
                  <a:srgbClr val="FFFFFF"/>
                </a:solidFill>
                <a:latin typeface="Poppins"/>
                <a:ea typeface="Poppins"/>
                <a:cs typeface="Poppins"/>
                <a:sym typeface="Poppins"/>
              </a:rPr>
              <a:t>implements</a:t>
            </a:r>
          </a:p>
        </p:txBody>
      </p:sp>
      <p:sp>
        <p:nvSpPr>
          <p:cNvPr id="21" name="TextBox 21"/>
          <p:cNvSpPr txBox="1"/>
          <p:nvPr/>
        </p:nvSpPr>
        <p:spPr>
          <a:xfrm>
            <a:off x="3478622" y="1529608"/>
            <a:ext cx="11663082" cy="853854"/>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O: OPEN/CLOSED</a:t>
            </a:r>
          </a:p>
        </p:txBody>
      </p:sp>
      <p:sp>
        <p:nvSpPr>
          <p:cNvPr id="22" name="Freeform 22"/>
          <p:cNvSpPr/>
          <p:nvPr/>
        </p:nvSpPr>
        <p:spPr>
          <a:xfrm rot="2699999">
            <a:off x="9866570" y="6417592"/>
            <a:ext cx="2459973" cy="765667"/>
          </a:xfrm>
          <a:custGeom>
            <a:avLst/>
            <a:gdLst/>
            <a:ahLst/>
            <a:cxnLst/>
            <a:rect l="l" t="t" r="r" b="b"/>
            <a:pathLst>
              <a:path w="2459973" h="765667">
                <a:moveTo>
                  <a:pt x="0" y="0"/>
                </a:moveTo>
                <a:lnTo>
                  <a:pt x="2459973" y="0"/>
                </a:lnTo>
                <a:lnTo>
                  <a:pt x="2459973" y="765666"/>
                </a:lnTo>
                <a:lnTo>
                  <a:pt x="0" y="7656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CO"/>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362703" y="5143500"/>
            <a:ext cx="7183101" cy="3153279"/>
          </a:xfrm>
          <a:custGeom>
            <a:avLst/>
            <a:gdLst/>
            <a:ahLst/>
            <a:cxnLst/>
            <a:rect l="l" t="t" r="r" b="b"/>
            <a:pathLst>
              <a:path w="7183101" h="3153279">
                <a:moveTo>
                  <a:pt x="0" y="0"/>
                </a:moveTo>
                <a:lnTo>
                  <a:pt x="7183101" y="0"/>
                </a:lnTo>
                <a:lnTo>
                  <a:pt x="7183101" y="3153279"/>
                </a:lnTo>
                <a:lnTo>
                  <a:pt x="0" y="3153279"/>
                </a:lnTo>
                <a:lnTo>
                  <a:pt x="0" y="0"/>
                </a:lnTo>
                <a:close/>
              </a:path>
            </a:pathLst>
          </a:custGeom>
          <a:blipFill>
            <a:blip r:embed="rId4"/>
            <a:stretch>
              <a:fillRect/>
            </a:stretch>
          </a:blipFill>
        </p:spPr>
        <p:txBody>
          <a:bodyPr/>
          <a:lstStyle/>
          <a:p>
            <a:endParaRPr lang="es-CO"/>
          </a:p>
        </p:txBody>
      </p:sp>
      <p:sp>
        <p:nvSpPr>
          <p:cNvPr id="8" name="Freeform 8"/>
          <p:cNvSpPr/>
          <p:nvPr/>
        </p:nvSpPr>
        <p:spPr>
          <a:xfrm>
            <a:off x="10299743" y="6720140"/>
            <a:ext cx="6814908" cy="1658259"/>
          </a:xfrm>
          <a:custGeom>
            <a:avLst/>
            <a:gdLst/>
            <a:ahLst/>
            <a:cxnLst/>
            <a:rect l="l" t="t" r="r" b="b"/>
            <a:pathLst>
              <a:path w="6814908" h="1658259">
                <a:moveTo>
                  <a:pt x="0" y="0"/>
                </a:moveTo>
                <a:lnTo>
                  <a:pt x="6814908" y="0"/>
                </a:lnTo>
                <a:lnTo>
                  <a:pt x="6814908" y="1658258"/>
                </a:lnTo>
                <a:lnTo>
                  <a:pt x="0" y="1658258"/>
                </a:lnTo>
                <a:lnTo>
                  <a:pt x="0" y="0"/>
                </a:lnTo>
                <a:close/>
              </a:path>
            </a:pathLst>
          </a:custGeom>
          <a:blipFill>
            <a:blip r:embed="rId5"/>
            <a:stretch>
              <a:fillRect/>
            </a:stretch>
          </a:blipFill>
        </p:spPr>
        <p:txBody>
          <a:bodyPr/>
          <a:lstStyle/>
          <a:p>
            <a:endParaRPr lang="es-CO"/>
          </a:p>
        </p:txBody>
      </p:sp>
      <p:sp>
        <p:nvSpPr>
          <p:cNvPr id="9" name="Freeform 9"/>
          <p:cNvSpPr/>
          <p:nvPr/>
        </p:nvSpPr>
        <p:spPr>
          <a:xfrm>
            <a:off x="12375307" y="5143500"/>
            <a:ext cx="2854981" cy="1292378"/>
          </a:xfrm>
          <a:custGeom>
            <a:avLst/>
            <a:gdLst/>
            <a:ahLst/>
            <a:cxnLst/>
            <a:rect l="l" t="t" r="r" b="b"/>
            <a:pathLst>
              <a:path w="2854981" h="1292378">
                <a:moveTo>
                  <a:pt x="0" y="0"/>
                </a:moveTo>
                <a:lnTo>
                  <a:pt x="2854981" y="0"/>
                </a:lnTo>
                <a:lnTo>
                  <a:pt x="2854981" y="1292378"/>
                </a:lnTo>
                <a:lnTo>
                  <a:pt x="0" y="1292378"/>
                </a:lnTo>
                <a:lnTo>
                  <a:pt x="0" y="0"/>
                </a:lnTo>
                <a:close/>
              </a:path>
            </a:pathLst>
          </a:custGeom>
          <a:blipFill>
            <a:blip r:embed="rId6"/>
            <a:stretch>
              <a:fillRect/>
            </a:stretch>
          </a:blipFill>
        </p:spPr>
        <p:txBody>
          <a:bodyPr/>
          <a:lstStyle/>
          <a:p>
            <a:endParaRPr lang="es-CO"/>
          </a:p>
        </p:txBody>
      </p:sp>
      <p:sp>
        <p:nvSpPr>
          <p:cNvPr id="10" name="TextBox 10"/>
          <p:cNvSpPr txBox="1"/>
          <p:nvPr/>
        </p:nvSpPr>
        <p:spPr>
          <a:xfrm>
            <a:off x="1441599" y="3768198"/>
            <a:ext cx="7104206"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¿Por que este codigo viola el principio sI añadimos un nuevo coche de otra marca?</a:t>
            </a:r>
          </a:p>
        </p:txBody>
      </p:sp>
      <p:sp>
        <p:nvSpPr>
          <p:cNvPr id="11" name="TextBox 11"/>
          <p:cNvSpPr txBox="1"/>
          <p:nvPr/>
        </p:nvSpPr>
        <p:spPr>
          <a:xfrm>
            <a:off x="10155094" y="3996798"/>
            <a:ext cx="7104206"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Tendriamos que modificar el metodo que hemos creado anteriormente</a:t>
            </a:r>
          </a:p>
        </p:txBody>
      </p:sp>
      <p:sp>
        <p:nvSpPr>
          <p:cNvPr id="12" name="Freeform 12"/>
          <p:cNvSpPr/>
          <p:nvPr/>
        </p:nvSpPr>
        <p:spPr>
          <a:xfrm>
            <a:off x="4416663" y="8681261"/>
            <a:ext cx="1154077" cy="1154077"/>
          </a:xfrm>
          <a:custGeom>
            <a:avLst/>
            <a:gdLst/>
            <a:ahLst/>
            <a:cxnLst/>
            <a:rect l="l" t="t" r="r" b="b"/>
            <a:pathLst>
              <a:path w="1154077" h="1154077">
                <a:moveTo>
                  <a:pt x="0" y="0"/>
                </a:moveTo>
                <a:lnTo>
                  <a:pt x="1154077" y="0"/>
                </a:lnTo>
                <a:lnTo>
                  <a:pt x="1154077" y="1154078"/>
                </a:lnTo>
                <a:lnTo>
                  <a:pt x="0" y="115407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CO"/>
          </a:p>
        </p:txBody>
      </p:sp>
      <p:sp>
        <p:nvSpPr>
          <p:cNvPr id="13" name="Freeform 13"/>
          <p:cNvSpPr/>
          <p:nvPr/>
        </p:nvSpPr>
        <p:spPr>
          <a:xfrm>
            <a:off x="13330385" y="8606998"/>
            <a:ext cx="1154077" cy="1154077"/>
          </a:xfrm>
          <a:custGeom>
            <a:avLst/>
            <a:gdLst/>
            <a:ahLst/>
            <a:cxnLst/>
            <a:rect l="l" t="t" r="r" b="b"/>
            <a:pathLst>
              <a:path w="1154077" h="1154077">
                <a:moveTo>
                  <a:pt x="0" y="0"/>
                </a:moveTo>
                <a:lnTo>
                  <a:pt x="1154077" y="0"/>
                </a:lnTo>
                <a:lnTo>
                  <a:pt x="1154077" y="1154078"/>
                </a:lnTo>
                <a:lnTo>
                  <a:pt x="0" y="115407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CO"/>
          </a:p>
        </p:txBody>
      </p:sp>
      <p:sp>
        <p:nvSpPr>
          <p:cNvPr id="14" name="TextBox 14"/>
          <p:cNvSpPr txBox="1"/>
          <p:nvPr/>
        </p:nvSpPr>
        <p:spPr>
          <a:xfrm>
            <a:off x="3312459" y="2306714"/>
            <a:ext cx="11663082" cy="853854"/>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O: OPEN/CLOSED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3145312" y="4562388"/>
            <a:ext cx="4670701" cy="5273120"/>
          </a:xfrm>
          <a:custGeom>
            <a:avLst/>
            <a:gdLst/>
            <a:ahLst/>
            <a:cxnLst/>
            <a:rect l="l" t="t" r="r" b="b"/>
            <a:pathLst>
              <a:path w="4670701" h="5273120">
                <a:moveTo>
                  <a:pt x="0" y="0"/>
                </a:moveTo>
                <a:lnTo>
                  <a:pt x="4670701" y="0"/>
                </a:lnTo>
                <a:lnTo>
                  <a:pt x="4670701" y="5273119"/>
                </a:lnTo>
                <a:lnTo>
                  <a:pt x="0" y="5273119"/>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3312459" y="2306714"/>
            <a:ext cx="11663082" cy="853854"/>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O: OPEN/CLOSED</a:t>
            </a:r>
          </a:p>
        </p:txBody>
      </p:sp>
      <p:sp>
        <p:nvSpPr>
          <p:cNvPr id="9" name="TextBox 9"/>
          <p:cNvSpPr txBox="1"/>
          <p:nvPr/>
        </p:nvSpPr>
        <p:spPr>
          <a:xfrm>
            <a:off x="1928560" y="3737986"/>
            <a:ext cx="7104206" cy="915036"/>
          </a:xfrm>
          <a:prstGeom prst="rect">
            <a:avLst/>
          </a:prstGeom>
        </p:spPr>
        <p:txBody>
          <a:bodyPr lIns="0" tIns="0" rIns="0" bIns="0" rtlCol="0" anchor="t">
            <a:spAutoFit/>
          </a:bodyPr>
          <a:lstStyle/>
          <a:p>
            <a:pPr algn="ctr">
              <a:lnSpc>
                <a:spcPts val="3639"/>
              </a:lnSpc>
            </a:pPr>
            <a:r>
              <a:rPr lang="en-US" sz="2599">
                <a:solidFill>
                  <a:srgbClr val="FFFFFF"/>
                </a:solidFill>
                <a:latin typeface="Poppins"/>
                <a:ea typeface="Poppins"/>
                <a:cs typeface="Poppins"/>
                <a:sym typeface="Poppins"/>
              </a:rPr>
              <a:t>¿Como podria mejorar?</a:t>
            </a:r>
          </a:p>
          <a:p>
            <a:pPr algn="ctr">
              <a:lnSpc>
                <a:spcPts val="3639"/>
              </a:lnSpc>
              <a:spcBef>
                <a:spcPct val="0"/>
              </a:spcBef>
            </a:pPr>
            <a:endParaRPr lang="en-US" sz="2599">
              <a:solidFill>
                <a:srgbClr val="FFFFFF"/>
              </a:solidFill>
              <a:latin typeface="Poppins"/>
              <a:ea typeface="Poppins"/>
              <a:cs typeface="Poppins"/>
              <a:sym typeface="Poppins"/>
            </a:endParaRPr>
          </a:p>
        </p:txBody>
      </p:sp>
      <p:sp>
        <p:nvSpPr>
          <p:cNvPr id="10" name="TextBox 10"/>
          <p:cNvSpPr txBox="1"/>
          <p:nvPr/>
        </p:nvSpPr>
        <p:spPr>
          <a:xfrm>
            <a:off x="11418449" y="4195245"/>
            <a:ext cx="5725842" cy="1109405"/>
          </a:xfrm>
          <a:prstGeom prst="rect">
            <a:avLst/>
          </a:prstGeom>
        </p:spPr>
        <p:txBody>
          <a:bodyPr lIns="0" tIns="0" rIns="0" bIns="0" rtlCol="0" anchor="t">
            <a:spAutoFit/>
          </a:bodyPr>
          <a:lstStyle/>
          <a:p>
            <a:pPr algn="ctr">
              <a:lnSpc>
                <a:spcPts val="2933"/>
              </a:lnSpc>
              <a:spcBef>
                <a:spcPct val="0"/>
              </a:spcBef>
            </a:pPr>
            <a:r>
              <a:rPr lang="en-US" sz="2095">
                <a:solidFill>
                  <a:srgbClr val="FFFFFF"/>
                </a:solidFill>
                <a:latin typeface="Poppins"/>
                <a:ea typeface="Poppins"/>
                <a:cs typeface="Poppins"/>
                <a:sym typeface="Poppins"/>
              </a:rPr>
              <a:t>Cada coche extiende la clase abstracta Coche e implementa el metodo abstracto precioMedioCoche()</a:t>
            </a:r>
          </a:p>
        </p:txBody>
      </p:sp>
      <p:sp>
        <p:nvSpPr>
          <p:cNvPr id="11" name="Freeform 11"/>
          <p:cNvSpPr/>
          <p:nvPr/>
        </p:nvSpPr>
        <p:spPr>
          <a:xfrm>
            <a:off x="10110122" y="5849932"/>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2" name="TextBox 12"/>
          <p:cNvSpPr txBox="1"/>
          <p:nvPr/>
        </p:nvSpPr>
        <p:spPr>
          <a:xfrm>
            <a:off x="11533458" y="5631632"/>
            <a:ext cx="5725842" cy="1477898"/>
          </a:xfrm>
          <a:prstGeom prst="rect">
            <a:avLst/>
          </a:prstGeom>
        </p:spPr>
        <p:txBody>
          <a:bodyPr lIns="0" tIns="0" rIns="0" bIns="0" rtlCol="0" anchor="t">
            <a:spAutoFit/>
          </a:bodyPr>
          <a:lstStyle/>
          <a:p>
            <a:pPr algn="ctr">
              <a:lnSpc>
                <a:spcPts val="2933"/>
              </a:lnSpc>
              <a:spcBef>
                <a:spcPct val="0"/>
              </a:spcBef>
            </a:pPr>
            <a:r>
              <a:rPr lang="en-US" sz="2095">
                <a:solidFill>
                  <a:srgbClr val="FFFFFF"/>
                </a:solidFill>
                <a:latin typeface="Poppins"/>
                <a:ea typeface="Poppins"/>
                <a:cs typeface="Poppins"/>
                <a:sym typeface="Poppins"/>
              </a:rPr>
              <a:t>Cada coche tiene su propia implementacion del metodo, por lo que el metodo imprimirPrecioMedioCoche itera el array y solo llama al metodo</a:t>
            </a:r>
          </a:p>
        </p:txBody>
      </p:sp>
      <p:sp>
        <p:nvSpPr>
          <p:cNvPr id="13" name="Freeform 13"/>
          <p:cNvSpPr/>
          <p:nvPr/>
        </p:nvSpPr>
        <p:spPr>
          <a:xfrm>
            <a:off x="10110122" y="7648856"/>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4" name="TextBox 14"/>
          <p:cNvSpPr txBox="1"/>
          <p:nvPr/>
        </p:nvSpPr>
        <p:spPr>
          <a:xfrm>
            <a:off x="11533458" y="7591706"/>
            <a:ext cx="5725842" cy="1109405"/>
          </a:xfrm>
          <a:prstGeom prst="rect">
            <a:avLst/>
          </a:prstGeom>
        </p:spPr>
        <p:txBody>
          <a:bodyPr lIns="0" tIns="0" rIns="0" bIns="0" rtlCol="0" anchor="t">
            <a:spAutoFit/>
          </a:bodyPr>
          <a:lstStyle/>
          <a:p>
            <a:pPr algn="ctr">
              <a:lnSpc>
                <a:spcPts val="2933"/>
              </a:lnSpc>
              <a:spcBef>
                <a:spcPct val="0"/>
              </a:spcBef>
            </a:pPr>
            <a:r>
              <a:rPr lang="en-US" sz="2095">
                <a:solidFill>
                  <a:srgbClr val="FFFFFF"/>
                </a:solidFill>
                <a:latin typeface="Poppins"/>
                <a:ea typeface="Poppins"/>
                <a:cs typeface="Poppins"/>
                <a:sym typeface="Poppins"/>
              </a:rPr>
              <a:t>Si añadimos un nuevo coche, precioMedioCoche no tendra que ser modificado</a:t>
            </a:r>
          </a:p>
        </p:txBody>
      </p:sp>
      <p:sp>
        <p:nvSpPr>
          <p:cNvPr id="15" name="Freeform 15"/>
          <p:cNvSpPr/>
          <p:nvPr/>
        </p:nvSpPr>
        <p:spPr>
          <a:xfrm>
            <a:off x="10110122" y="4252395"/>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045063" y="2321035"/>
            <a:ext cx="11723240" cy="758774"/>
          </a:xfrm>
          <a:prstGeom prst="rect">
            <a:avLst/>
          </a:prstGeom>
        </p:spPr>
        <p:txBody>
          <a:bodyPr lIns="0" tIns="0" rIns="0" bIns="0" rtlCol="0" anchor="t">
            <a:spAutoFit/>
          </a:bodyPr>
          <a:lstStyle/>
          <a:p>
            <a:pPr algn="ctr">
              <a:lnSpc>
                <a:spcPts val="6101"/>
              </a:lnSpc>
              <a:spcBef>
                <a:spcPct val="0"/>
              </a:spcBef>
            </a:pPr>
            <a:r>
              <a:rPr lang="en-US" sz="4358">
                <a:solidFill>
                  <a:srgbClr val="F800C0"/>
                </a:solidFill>
                <a:latin typeface="HK Modular"/>
                <a:ea typeface="HK Modular"/>
                <a:cs typeface="HK Modular"/>
                <a:sym typeface="HK Modular"/>
              </a:rPr>
              <a:t>OPEN/CLOSED FALLA SI...</a:t>
            </a:r>
          </a:p>
        </p:txBody>
      </p:sp>
      <p:sp>
        <p:nvSpPr>
          <p:cNvPr id="8" name="Freeform 8"/>
          <p:cNvSpPr/>
          <p:nvPr/>
        </p:nvSpPr>
        <p:spPr>
          <a:xfrm>
            <a:off x="2261075" y="4357025"/>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3527690" y="4348798"/>
            <a:ext cx="12391210" cy="9150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Se detecta si es una clase que se debe modificar muy a menudo y estos cambios afectan lo ya modificado</a:t>
            </a:r>
          </a:p>
        </p:txBody>
      </p:sp>
      <p:sp>
        <p:nvSpPr>
          <p:cNvPr id="10" name="TextBox 10"/>
          <p:cNvSpPr txBox="1"/>
          <p:nvPr/>
        </p:nvSpPr>
        <p:spPr>
          <a:xfrm>
            <a:off x="3527690" y="5770079"/>
            <a:ext cx="12391210"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Uso excesivo de if/else o switch en vez de polimorfismo</a:t>
            </a:r>
          </a:p>
        </p:txBody>
      </p:sp>
      <p:sp>
        <p:nvSpPr>
          <p:cNvPr id="11" name="Freeform 11"/>
          <p:cNvSpPr/>
          <p:nvPr/>
        </p:nvSpPr>
        <p:spPr>
          <a:xfrm>
            <a:off x="2261075" y="5549706"/>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2" name="Freeform 12"/>
          <p:cNvSpPr/>
          <p:nvPr/>
        </p:nvSpPr>
        <p:spPr>
          <a:xfrm>
            <a:off x="2261075" y="6743562"/>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3" name="TextBox 13"/>
          <p:cNvSpPr txBox="1"/>
          <p:nvPr/>
        </p:nvSpPr>
        <p:spPr>
          <a:xfrm>
            <a:off x="3527690" y="6963935"/>
            <a:ext cx="12391210"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Codigo duplicado con variaciones minimas</a:t>
            </a:r>
          </a:p>
        </p:txBody>
      </p:sp>
      <p:sp>
        <p:nvSpPr>
          <p:cNvPr id="14" name="Freeform 14"/>
          <p:cNvSpPr/>
          <p:nvPr/>
        </p:nvSpPr>
        <p:spPr>
          <a:xfrm>
            <a:off x="2261075" y="7937418"/>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5" name="TextBox 15"/>
          <p:cNvSpPr txBox="1"/>
          <p:nvPr/>
        </p:nvSpPr>
        <p:spPr>
          <a:xfrm>
            <a:off x="3527690" y="8009787"/>
            <a:ext cx="12391210" cy="13722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Si modificar una funcionalidad obliga a tocar muchas clases o metodos no relacionados con la nueva extension, el sitema no esta bien cerrado a modificaciones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626176" y="6825800"/>
            <a:ext cx="1586363" cy="1358323"/>
          </a:xfrm>
          <a:custGeom>
            <a:avLst/>
            <a:gdLst/>
            <a:ahLst/>
            <a:cxnLst/>
            <a:rect l="l" t="t" r="r" b="b"/>
            <a:pathLst>
              <a:path w="1586363" h="1358323">
                <a:moveTo>
                  <a:pt x="0" y="0"/>
                </a:moveTo>
                <a:lnTo>
                  <a:pt x="1586363" y="0"/>
                </a:lnTo>
                <a:lnTo>
                  <a:pt x="1586363" y="1358323"/>
                </a:lnTo>
                <a:lnTo>
                  <a:pt x="0" y="13583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TextBox 8"/>
          <p:cNvSpPr txBox="1"/>
          <p:nvPr/>
        </p:nvSpPr>
        <p:spPr>
          <a:xfrm>
            <a:off x="3312459" y="2306714"/>
            <a:ext cx="1166308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L: LISKOV SUBSTITUTION</a:t>
            </a:r>
          </a:p>
        </p:txBody>
      </p:sp>
      <p:sp>
        <p:nvSpPr>
          <p:cNvPr id="9" name="TextBox 9"/>
          <p:cNvSpPr txBox="1"/>
          <p:nvPr/>
        </p:nvSpPr>
        <p:spPr>
          <a:xfrm>
            <a:off x="5224879" y="6158718"/>
            <a:ext cx="8056975" cy="599701"/>
          </a:xfrm>
          <a:prstGeom prst="rect">
            <a:avLst/>
          </a:prstGeom>
        </p:spPr>
        <p:txBody>
          <a:bodyPr lIns="0" tIns="0" rIns="0" bIns="0" rtlCol="0" anchor="t">
            <a:spAutoFit/>
          </a:bodyPr>
          <a:lstStyle/>
          <a:p>
            <a:pPr algn="ctr">
              <a:lnSpc>
                <a:spcPts val="4927"/>
              </a:lnSpc>
              <a:spcBef>
                <a:spcPct val="0"/>
              </a:spcBef>
            </a:pPr>
            <a:r>
              <a:rPr lang="en-US" sz="3519">
                <a:solidFill>
                  <a:srgbClr val="F800C0"/>
                </a:solidFill>
                <a:latin typeface="HK Modular"/>
                <a:ea typeface="HK Modular"/>
                <a:cs typeface="HK Modular"/>
                <a:sym typeface="HK Modular"/>
              </a:rPr>
              <a:t>CONSEJO DE APLICACION</a:t>
            </a:r>
          </a:p>
        </p:txBody>
      </p:sp>
      <p:sp>
        <p:nvSpPr>
          <p:cNvPr id="10" name="TextBox 10"/>
          <p:cNvSpPr txBox="1"/>
          <p:nvPr/>
        </p:nvSpPr>
        <p:spPr>
          <a:xfrm>
            <a:off x="2850208" y="3576172"/>
            <a:ext cx="1258758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Las clases derivadas (subclase) deben poder sustituirse por sus clases base (superclase)</a:t>
            </a:r>
          </a:p>
        </p:txBody>
      </p:sp>
      <p:sp>
        <p:nvSpPr>
          <p:cNvPr id="11" name="TextBox 11"/>
          <p:cNvSpPr txBox="1"/>
          <p:nvPr/>
        </p:nvSpPr>
        <p:spPr>
          <a:xfrm>
            <a:off x="2850208" y="4910308"/>
            <a:ext cx="12587585"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Al extender una clase no se altera el comportamiento de la clase padre</a:t>
            </a:r>
          </a:p>
        </p:txBody>
      </p:sp>
      <p:sp>
        <p:nvSpPr>
          <p:cNvPr id="12" name="TextBox 12"/>
          <p:cNvSpPr txBox="1"/>
          <p:nvPr/>
        </p:nvSpPr>
        <p:spPr>
          <a:xfrm>
            <a:off x="3212539" y="7269088"/>
            <a:ext cx="1258758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Con INMUTABILIDAD se puede respetar este principio, ya que con ella podremos utilizar herencia de forma correcta</a:t>
            </a:r>
          </a:p>
        </p:txBody>
      </p:sp>
      <p:sp>
        <p:nvSpPr>
          <p:cNvPr id="13" name="TextBox 13"/>
          <p:cNvSpPr txBox="1"/>
          <p:nvPr/>
        </p:nvSpPr>
        <p:spPr>
          <a:xfrm>
            <a:off x="2850208" y="8800464"/>
            <a:ext cx="12587585"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PATO DE GOMA VS PATO ANIMAL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rot="8953216">
            <a:off x="1475914" y="6782200"/>
            <a:ext cx="1819785" cy="566408"/>
          </a:xfrm>
          <a:custGeom>
            <a:avLst/>
            <a:gdLst/>
            <a:ahLst/>
            <a:cxnLst/>
            <a:rect l="l" t="t" r="r" b="b"/>
            <a:pathLst>
              <a:path w="1819785" h="566408">
                <a:moveTo>
                  <a:pt x="0" y="0"/>
                </a:moveTo>
                <a:lnTo>
                  <a:pt x="1819785" y="0"/>
                </a:lnTo>
                <a:lnTo>
                  <a:pt x="1819785" y="566408"/>
                </a:lnTo>
                <a:lnTo>
                  <a:pt x="0" y="5664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p:cNvSpPr/>
          <p:nvPr/>
        </p:nvSpPr>
        <p:spPr>
          <a:xfrm rot="3038648">
            <a:off x="7236324" y="6593420"/>
            <a:ext cx="1457866" cy="943969"/>
          </a:xfrm>
          <a:custGeom>
            <a:avLst/>
            <a:gdLst/>
            <a:ahLst/>
            <a:cxnLst/>
            <a:rect l="l" t="t" r="r" b="b"/>
            <a:pathLst>
              <a:path w="1457866" h="943969">
                <a:moveTo>
                  <a:pt x="0" y="0"/>
                </a:moveTo>
                <a:lnTo>
                  <a:pt x="1457866" y="0"/>
                </a:lnTo>
                <a:lnTo>
                  <a:pt x="1457866" y="943968"/>
                </a:lnTo>
                <a:lnTo>
                  <a:pt x="0" y="9439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9" name="Freeform 9"/>
          <p:cNvSpPr/>
          <p:nvPr/>
        </p:nvSpPr>
        <p:spPr>
          <a:xfrm>
            <a:off x="12008745" y="3882286"/>
            <a:ext cx="3817144" cy="5611202"/>
          </a:xfrm>
          <a:custGeom>
            <a:avLst/>
            <a:gdLst/>
            <a:ahLst/>
            <a:cxnLst/>
            <a:rect l="l" t="t" r="r" b="b"/>
            <a:pathLst>
              <a:path w="3817144" h="5611202">
                <a:moveTo>
                  <a:pt x="0" y="0"/>
                </a:moveTo>
                <a:lnTo>
                  <a:pt x="3817144" y="0"/>
                </a:lnTo>
                <a:lnTo>
                  <a:pt x="3817144" y="5611202"/>
                </a:lnTo>
                <a:lnTo>
                  <a:pt x="0" y="5611202"/>
                </a:lnTo>
                <a:lnTo>
                  <a:pt x="0" y="0"/>
                </a:lnTo>
                <a:close/>
              </a:path>
            </a:pathLst>
          </a:custGeom>
          <a:blipFill>
            <a:blip r:embed="rId6"/>
            <a:stretch>
              <a:fillRect/>
            </a:stretch>
          </a:blipFill>
        </p:spPr>
        <p:txBody>
          <a:bodyPr/>
          <a:lstStyle/>
          <a:p>
            <a:endParaRPr lang="es-CO"/>
          </a:p>
        </p:txBody>
      </p:sp>
      <p:sp>
        <p:nvSpPr>
          <p:cNvPr id="10" name="TextBox 10"/>
          <p:cNvSpPr txBox="1"/>
          <p:nvPr/>
        </p:nvSpPr>
        <p:spPr>
          <a:xfrm>
            <a:off x="3312459" y="2306714"/>
            <a:ext cx="1166308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L: LISKOV SUBSTITUTION</a:t>
            </a:r>
          </a:p>
        </p:txBody>
      </p:sp>
      <p:sp>
        <p:nvSpPr>
          <p:cNvPr id="11" name="TextBox 11"/>
          <p:cNvSpPr txBox="1"/>
          <p:nvPr/>
        </p:nvSpPr>
        <p:spPr>
          <a:xfrm>
            <a:off x="1253188" y="4348333"/>
            <a:ext cx="8056975" cy="599701"/>
          </a:xfrm>
          <a:prstGeom prst="rect">
            <a:avLst/>
          </a:prstGeom>
        </p:spPr>
        <p:txBody>
          <a:bodyPr lIns="0" tIns="0" rIns="0" bIns="0" rtlCol="0" anchor="t">
            <a:spAutoFit/>
          </a:bodyPr>
          <a:lstStyle/>
          <a:p>
            <a:pPr algn="ctr">
              <a:lnSpc>
                <a:spcPts val="4927"/>
              </a:lnSpc>
              <a:spcBef>
                <a:spcPct val="0"/>
              </a:spcBef>
            </a:pPr>
            <a:r>
              <a:rPr lang="en-US" sz="3519">
                <a:solidFill>
                  <a:srgbClr val="FFA260"/>
                </a:solidFill>
                <a:latin typeface="HK Modular"/>
                <a:ea typeface="HK Modular"/>
                <a:cs typeface="HK Modular"/>
                <a:sym typeface="HK Modular"/>
              </a:rPr>
              <a:t>INMUTABILIDAD</a:t>
            </a:r>
          </a:p>
        </p:txBody>
      </p:sp>
      <p:sp>
        <p:nvSpPr>
          <p:cNvPr id="12" name="TextBox 12"/>
          <p:cNvSpPr txBox="1"/>
          <p:nvPr/>
        </p:nvSpPr>
        <p:spPr>
          <a:xfrm>
            <a:off x="3138936" y="5315651"/>
            <a:ext cx="4285479"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Una vez que se ha creado un objeto no puede volver a modificarse</a:t>
            </a:r>
          </a:p>
        </p:txBody>
      </p:sp>
      <p:sp>
        <p:nvSpPr>
          <p:cNvPr id="13" name="TextBox 13"/>
          <p:cNvSpPr txBox="1"/>
          <p:nvPr/>
        </p:nvSpPr>
        <p:spPr>
          <a:xfrm>
            <a:off x="739266" y="8000262"/>
            <a:ext cx="4285479"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Mejor uso de memoria ya que todo su estado es final</a:t>
            </a:r>
          </a:p>
        </p:txBody>
      </p:sp>
      <p:sp>
        <p:nvSpPr>
          <p:cNvPr id="14" name="TextBox 14"/>
          <p:cNvSpPr txBox="1"/>
          <p:nvPr/>
        </p:nvSpPr>
        <p:spPr>
          <a:xfrm>
            <a:off x="5822518" y="8000262"/>
            <a:ext cx="4285479"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Seguridad en multiples hilos de ejecucion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346200" y="5143500"/>
            <a:ext cx="6811505" cy="3037213"/>
          </a:xfrm>
          <a:custGeom>
            <a:avLst/>
            <a:gdLst/>
            <a:ahLst/>
            <a:cxnLst/>
            <a:rect l="l" t="t" r="r" b="b"/>
            <a:pathLst>
              <a:path w="6811505" h="3037213">
                <a:moveTo>
                  <a:pt x="0" y="0"/>
                </a:moveTo>
                <a:lnTo>
                  <a:pt x="6811506" y="0"/>
                </a:lnTo>
                <a:lnTo>
                  <a:pt x="6811506" y="3037213"/>
                </a:lnTo>
                <a:lnTo>
                  <a:pt x="0" y="3037213"/>
                </a:lnTo>
                <a:lnTo>
                  <a:pt x="0" y="0"/>
                </a:lnTo>
                <a:close/>
              </a:path>
            </a:pathLst>
          </a:custGeom>
          <a:blipFill>
            <a:blip r:embed="rId4"/>
            <a:stretch>
              <a:fillRect r="-65914"/>
            </a:stretch>
          </a:blipFill>
        </p:spPr>
        <p:txBody>
          <a:bodyPr/>
          <a:lstStyle/>
          <a:p>
            <a:endParaRPr lang="es-CO"/>
          </a:p>
        </p:txBody>
      </p:sp>
      <p:sp>
        <p:nvSpPr>
          <p:cNvPr id="8" name="Freeform 8"/>
          <p:cNvSpPr/>
          <p:nvPr/>
        </p:nvSpPr>
        <p:spPr>
          <a:xfrm>
            <a:off x="9930768" y="4654877"/>
            <a:ext cx="7049270" cy="4991179"/>
          </a:xfrm>
          <a:custGeom>
            <a:avLst/>
            <a:gdLst/>
            <a:ahLst/>
            <a:cxnLst/>
            <a:rect l="l" t="t" r="r" b="b"/>
            <a:pathLst>
              <a:path w="7049270" h="4991179">
                <a:moveTo>
                  <a:pt x="0" y="0"/>
                </a:moveTo>
                <a:lnTo>
                  <a:pt x="7049270" y="0"/>
                </a:lnTo>
                <a:lnTo>
                  <a:pt x="7049270" y="4991178"/>
                </a:lnTo>
                <a:lnTo>
                  <a:pt x="0" y="4991178"/>
                </a:lnTo>
                <a:lnTo>
                  <a:pt x="0" y="0"/>
                </a:lnTo>
                <a:close/>
              </a:path>
            </a:pathLst>
          </a:custGeom>
          <a:blipFill>
            <a:blip r:embed="rId5"/>
            <a:stretch>
              <a:fillRect/>
            </a:stretch>
          </a:blipFill>
        </p:spPr>
        <p:txBody>
          <a:bodyPr/>
          <a:lstStyle/>
          <a:p>
            <a:endParaRPr lang="es-CO"/>
          </a:p>
        </p:txBody>
      </p:sp>
      <p:sp>
        <p:nvSpPr>
          <p:cNvPr id="9" name="TextBox 9"/>
          <p:cNvSpPr txBox="1"/>
          <p:nvPr/>
        </p:nvSpPr>
        <p:spPr>
          <a:xfrm>
            <a:off x="3312459" y="2306714"/>
            <a:ext cx="1166308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L: LISKOV SUBSTITUTION</a:t>
            </a:r>
          </a:p>
        </p:txBody>
      </p:sp>
      <p:sp>
        <p:nvSpPr>
          <p:cNvPr id="10" name="TextBox 10"/>
          <p:cNvSpPr txBox="1"/>
          <p:nvPr/>
        </p:nvSpPr>
        <p:spPr>
          <a:xfrm>
            <a:off x="1199850" y="4099842"/>
            <a:ext cx="710420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¿Por que este codigo viola el principio?</a:t>
            </a:r>
          </a:p>
        </p:txBody>
      </p:sp>
      <p:sp>
        <p:nvSpPr>
          <p:cNvPr id="11" name="TextBox 11"/>
          <p:cNvSpPr txBox="1"/>
          <p:nvPr/>
        </p:nvSpPr>
        <p:spPr>
          <a:xfrm>
            <a:off x="9875832" y="3904262"/>
            <a:ext cx="710420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Y si agregamos un nuevo tipo de Coche</a:t>
            </a:r>
          </a:p>
        </p:txBody>
      </p:sp>
      <p:sp>
        <p:nvSpPr>
          <p:cNvPr id="12" name="Freeform 12"/>
          <p:cNvSpPr/>
          <p:nvPr/>
        </p:nvSpPr>
        <p:spPr>
          <a:xfrm>
            <a:off x="3975564" y="8491978"/>
            <a:ext cx="1154077" cy="1154077"/>
          </a:xfrm>
          <a:custGeom>
            <a:avLst/>
            <a:gdLst/>
            <a:ahLst/>
            <a:cxnLst/>
            <a:rect l="l" t="t" r="r" b="b"/>
            <a:pathLst>
              <a:path w="1154077" h="1154077">
                <a:moveTo>
                  <a:pt x="0" y="0"/>
                </a:moveTo>
                <a:lnTo>
                  <a:pt x="1154078" y="0"/>
                </a:lnTo>
                <a:lnTo>
                  <a:pt x="1154078" y="1154077"/>
                </a:lnTo>
                <a:lnTo>
                  <a:pt x="0" y="115407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CO"/>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9904601" y="4033520"/>
            <a:ext cx="852502" cy="729955"/>
          </a:xfrm>
          <a:custGeom>
            <a:avLst/>
            <a:gdLst/>
            <a:ahLst/>
            <a:cxnLst/>
            <a:rect l="l" t="t" r="r" b="b"/>
            <a:pathLst>
              <a:path w="852502" h="729955">
                <a:moveTo>
                  <a:pt x="0" y="0"/>
                </a:moveTo>
                <a:lnTo>
                  <a:pt x="852502" y="0"/>
                </a:lnTo>
                <a:lnTo>
                  <a:pt x="852502" y="729954"/>
                </a:lnTo>
                <a:lnTo>
                  <a:pt x="0" y="7299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p:cNvSpPr/>
          <p:nvPr/>
        </p:nvSpPr>
        <p:spPr>
          <a:xfrm>
            <a:off x="9904601" y="7504962"/>
            <a:ext cx="852502" cy="729955"/>
          </a:xfrm>
          <a:custGeom>
            <a:avLst/>
            <a:gdLst/>
            <a:ahLst/>
            <a:cxnLst/>
            <a:rect l="l" t="t" r="r" b="b"/>
            <a:pathLst>
              <a:path w="852502" h="729955">
                <a:moveTo>
                  <a:pt x="0" y="0"/>
                </a:moveTo>
                <a:lnTo>
                  <a:pt x="852502" y="0"/>
                </a:lnTo>
                <a:lnTo>
                  <a:pt x="852502" y="729954"/>
                </a:lnTo>
                <a:lnTo>
                  <a:pt x="0" y="7299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Freeform 9"/>
          <p:cNvSpPr/>
          <p:nvPr/>
        </p:nvSpPr>
        <p:spPr>
          <a:xfrm>
            <a:off x="1310697" y="5651795"/>
            <a:ext cx="7890738" cy="2361462"/>
          </a:xfrm>
          <a:custGeom>
            <a:avLst/>
            <a:gdLst/>
            <a:ahLst/>
            <a:cxnLst/>
            <a:rect l="l" t="t" r="r" b="b"/>
            <a:pathLst>
              <a:path w="7890738" h="2361462">
                <a:moveTo>
                  <a:pt x="0" y="0"/>
                </a:moveTo>
                <a:lnTo>
                  <a:pt x="7890738" y="0"/>
                </a:lnTo>
                <a:lnTo>
                  <a:pt x="7890738" y="2361462"/>
                </a:lnTo>
                <a:lnTo>
                  <a:pt x="0" y="2361462"/>
                </a:lnTo>
                <a:lnTo>
                  <a:pt x="0" y="0"/>
                </a:lnTo>
                <a:close/>
              </a:path>
            </a:pathLst>
          </a:custGeom>
          <a:blipFill>
            <a:blip r:embed="rId5"/>
            <a:stretch>
              <a:fillRect/>
            </a:stretch>
          </a:blipFill>
        </p:spPr>
        <p:txBody>
          <a:bodyPr/>
          <a:lstStyle/>
          <a:p>
            <a:endParaRPr lang="es-CO"/>
          </a:p>
        </p:txBody>
      </p:sp>
      <p:sp>
        <p:nvSpPr>
          <p:cNvPr id="10" name="TextBox 10"/>
          <p:cNvSpPr txBox="1"/>
          <p:nvPr/>
        </p:nvSpPr>
        <p:spPr>
          <a:xfrm>
            <a:off x="3312459" y="2306714"/>
            <a:ext cx="1166308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L: LISKOV SUBSTITUTION</a:t>
            </a:r>
          </a:p>
        </p:txBody>
      </p:sp>
      <p:sp>
        <p:nvSpPr>
          <p:cNvPr id="11" name="TextBox 11"/>
          <p:cNvSpPr txBox="1"/>
          <p:nvPr/>
        </p:nvSpPr>
        <p:spPr>
          <a:xfrm>
            <a:off x="1703963" y="4125107"/>
            <a:ext cx="710420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¿Como podria mejorar?</a:t>
            </a:r>
          </a:p>
        </p:txBody>
      </p:sp>
      <p:sp>
        <p:nvSpPr>
          <p:cNvPr id="12" name="TextBox 12"/>
          <p:cNvSpPr txBox="1"/>
          <p:nvPr/>
        </p:nvSpPr>
        <p:spPr>
          <a:xfrm>
            <a:off x="10757103" y="3966845"/>
            <a:ext cx="7104206" cy="22866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Si la super clase Coche tiene un metodo que acepta un parametro del tipo de la super clase entonces su subclase deberia aceptar como argumento un tipo de la super clase o un tipo de la subclase</a:t>
            </a:r>
          </a:p>
        </p:txBody>
      </p:sp>
      <p:sp>
        <p:nvSpPr>
          <p:cNvPr id="13" name="TextBox 13"/>
          <p:cNvSpPr txBox="1"/>
          <p:nvPr/>
        </p:nvSpPr>
        <p:spPr>
          <a:xfrm>
            <a:off x="10868103" y="7438287"/>
            <a:ext cx="7104206" cy="18294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Si la superclase devuelve un tipo de ella misma (Coche) entonces su subclase deberia devolver un tipo de la superclase o un tipo de la subclase</a:t>
            </a:r>
          </a:p>
        </p:txBody>
      </p:sp>
      <p:sp>
        <p:nvSpPr>
          <p:cNvPr id="14" name="TextBox 14"/>
          <p:cNvSpPr txBox="1"/>
          <p:nvPr/>
        </p:nvSpPr>
        <p:spPr>
          <a:xfrm>
            <a:off x="1703963" y="8800464"/>
            <a:ext cx="710420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Al metodo no le importa el tipo de la clase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9478350" y="4413545"/>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p:cNvSpPr/>
          <p:nvPr/>
        </p:nvSpPr>
        <p:spPr>
          <a:xfrm>
            <a:off x="9478350" y="6775007"/>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Freeform 9"/>
          <p:cNvSpPr/>
          <p:nvPr/>
        </p:nvSpPr>
        <p:spPr>
          <a:xfrm>
            <a:off x="2727942" y="4686300"/>
            <a:ext cx="4703191" cy="1774789"/>
          </a:xfrm>
          <a:custGeom>
            <a:avLst/>
            <a:gdLst/>
            <a:ahLst/>
            <a:cxnLst/>
            <a:rect l="l" t="t" r="r" b="b"/>
            <a:pathLst>
              <a:path w="4703191" h="1774789">
                <a:moveTo>
                  <a:pt x="0" y="0"/>
                </a:moveTo>
                <a:lnTo>
                  <a:pt x="4703190" y="0"/>
                </a:lnTo>
                <a:lnTo>
                  <a:pt x="4703190" y="1774789"/>
                </a:lnTo>
                <a:lnTo>
                  <a:pt x="0" y="1774789"/>
                </a:lnTo>
                <a:lnTo>
                  <a:pt x="0" y="0"/>
                </a:lnTo>
                <a:close/>
              </a:path>
            </a:pathLst>
          </a:custGeom>
          <a:blipFill>
            <a:blip r:embed="rId5"/>
            <a:stretch>
              <a:fillRect/>
            </a:stretch>
          </a:blipFill>
        </p:spPr>
        <p:txBody>
          <a:bodyPr/>
          <a:lstStyle/>
          <a:p>
            <a:endParaRPr lang="es-CO"/>
          </a:p>
        </p:txBody>
      </p:sp>
      <p:sp>
        <p:nvSpPr>
          <p:cNvPr id="10" name="Freeform 10"/>
          <p:cNvSpPr/>
          <p:nvPr/>
        </p:nvSpPr>
        <p:spPr>
          <a:xfrm>
            <a:off x="2957010" y="6918289"/>
            <a:ext cx="4245055" cy="2854949"/>
          </a:xfrm>
          <a:custGeom>
            <a:avLst/>
            <a:gdLst/>
            <a:ahLst/>
            <a:cxnLst/>
            <a:rect l="l" t="t" r="r" b="b"/>
            <a:pathLst>
              <a:path w="4245055" h="2854949">
                <a:moveTo>
                  <a:pt x="0" y="0"/>
                </a:moveTo>
                <a:lnTo>
                  <a:pt x="4245055" y="0"/>
                </a:lnTo>
                <a:lnTo>
                  <a:pt x="4245055" y="2854949"/>
                </a:lnTo>
                <a:lnTo>
                  <a:pt x="0" y="2854949"/>
                </a:lnTo>
                <a:lnTo>
                  <a:pt x="0" y="0"/>
                </a:lnTo>
                <a:close/>
              </a:path>
            </a:pathLst>
          </a:custGeom>
          <a:blipFill>
            <a:blip r:embed="rId6"/>
            <a:stretch>
              <a:fillRect/>
            </a:stretch>
          </a:blipFill>
        </p:spPr>
        <p:txBody>
          <a:bodyPr/>
          <a:lstStyle/>
          <a:p>
            <a:endParaRPr lang="es-CO"/>
          </a:p>
        </p:txBody>
      </p:sp>
      <p:sp>
        <p:nvSpPr>
          <p:cNvPr id="11" name="TextBox 11"/>
          <p:cNvSpPr txBox="1"/>
          <p:nvPr/>
        </p:nvSpPr>
        <p:spPr>
          <a:xfrm>
            <a:off x="3312459" y="2306714"/>
            <a:ext cx="1166308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L: LISKOV SUBSTITUTION</a:t>
            </a:r>
          </a:p>
        </p:txBody>
      </p:sp>
      <p:sp>
        <p:nvSpPr>
          <p:cNvPr id="12" name="TextBox 12"/>
          <p:cNvSpPr txBox="1"/>
          <p:nvPr/>
        </p:nvSpPr>
        <p:spPr>
          <a:xfrm>
            <a:off x="1625195" y="3771264"/>
            <a:ext cx="710420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¿Como podria mejorar?</a:t>
            </a:r>
          </a:p>
        </p:txBody>
      </p:sp>
      <p:sp>
        <p:nvSpPr>
          <p:cNvPr id="13" name="TextBox 13"/>
          <p:cNvSpPr txBox="1"/>
          <p:nvPr/>
        </p:nvSpPr>
        <p:spPr>
          <a:xfrm>
            <a:off x="10330852" y="4424045"/>
            <a:ext cx="7104206"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La superclase debe definir el nuevo metodo y las subclases deben implementar dicho metodo</a:t>
            </a:r>
          </a:p>
        </p:txBody>
      </p:sp>
      <p:sp>
        <p:nvSpPr>
          <p:cNvPr id="14" name="TextBox 14"/>
          <p:cNvSpPr txBox="1"/>
          <p:nvPr/>
        </p:nvSpPr>
        <p:spPr>
          <a:xfrm>
            <a:off x="10490018" y="6708332"/>
            <a:ext cx="7104206" cy="2743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El metodo imprimirNumAsientos() no necesita saber con que tipo de coche se va a realizar su logica, simplemente llama al metodo numAsientos() del tipo Coche , ya que por contrato una subclase debe implementarlo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391747" y="2216619"/>
            <a:ext cx="11723240" cy="1533000"/>
          </a:xfrm>
          <a:prstGeom prst="rect">
            <a:avLst/>
          </a:prstGeom>
        </p:spPr>
        <p:txBody>
          <a:bodyPr lIns="0" tIns="0" rIns="0" bIns="0" rtlCol="0" anchor="t">
            <a:spAutoFit/>
          </a:bodyPr>
          <a:lstStyle/>
          <a:p>
            <a:pPr algn="ctr">
              <a:lnSpc>
                <a:spcPts val="6101"/>
              </a:lnSpc>
              <a:spcBef>
                <a:spcPct val="0"/>
              </a:spcBef>
            </a:pPr>
            <a:r>
              <a:rPr lang="en-US" sz="4358">
                <a:solidFill>
                  <a:srgbClr val="FFA260"/>
                </a:solidFill>
                <a:latin typeface="HK Modular"/>
                <a:ea typeface="HK Modular"/>
                <a:cs typeface="HK Modular"/>
                <a:sym typeface="HK Modular"/>
              </a:rPr>
              <a:t>LISKOV SUBSTITUTION FALLA SI...</a:t>
            </a:r>
          </a:p>
        </p:txBody>
      </p:sp>
      <p:sp>
        <p:nvSpPr>
          <p:cNvPr id="8" name="Freeform 8"/>
          <p:cNvSpPr/>
          <p:nvPr/>
        </p:nvSpPr>
        <p:spPr>
          <a:xfrm>
            <a:off x="2959575" y="4178244"/>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Freeform 9"/>
          <p:cNvSpPr/>
          <p:nvPr/>
        </p:nvSpPr>
        <p:spPr>
          <a:xfrm>
            <a:off x="2959575" y="5459364"/>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0" name="Freeform 10"/>
          <p:cNvSpPr/>
          <p:nvPr/>
        </p:nvSpPr>
        <p:spPr>
          <a:xfrm>
            <a:off x="2959575" y="6738945"/>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TextBox 11"/>
          <p:cNvSpPr txBox="1"/>
          <p:nvPr/>
        </p:nvSpPr>
        <p:spPr>
          <a:xfrm>
            <a:off x="2959575" y="4383943"/>
            <a:ext cx="12587585"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Un metodo sobreescrito no hace nada o lanza una excepcion</a:t>
            </a:r>
          </a:p>
        </p:txBody>
      </p:sp>
      <p:sp>
        <p:nvSpPr>
          <p:cNvPr id="12" name="TextBox 12"/>
          <p:cNvSpPr txBox="1"/>
          <p:nvPr/>
        </p:nvSpPr>
        <p:spPr>
          <a:xfrm>
            <a:off x="2178619" y="5661984"/>
            <a:ext cx="12587585"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Si las pruebas padre no funcionan para la clase hija</a:t>
            </a:r>
          </a:p>
        </p:txBody>
      </p:sp>
      <p:sp>
        <p:nvSpPr>
          <p:cNvPr id="13" name="TextBox 13"/>
          <p:cNvSpPr txBox="1"/>
          <p:nvPr/>
        </p:nvSpPr>
        <p:spPr>
          <a:xfrm>
            <a:off x="4132056" y="6789165"/>
            <a:ext cx="12587585" cy="9150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Si el método en la subclase exige más condiciones de entrada que el de la clase padre.</a:t>
            </a:r>
          </a:p>
        </p:txBody>
      </p:sp>
      <p:sp>
        <p:nvSpPr>
          <p:cNvPr id="14" name="TextBox 14"/>
          <p:cNvSpPr txBox="1"/>
          <p:nvPr/>
        </p:nvSpPr>
        <p:spPr>
          <a:xfrm>
            <a:off x="4132056" y="8258190"/>
            <a:ext cx="12587585" cy="1829436"/>
          </a:xfrm>
          <a:prstGeom prst="rect">
            <a:avLst/>
          </a:prstGeom>
        </p:spPr>
        <p:txBody>
          <a:bodyPr lIns="0" tIns="0" rIns="0" bIns="0" rtlCol="0" anchor="t">
            <a:spAutoFit/>
          </a:bodyPr>
          <a:lstStyle/>
          <a:p>
            <a:pPr algn="l">
              <a:lnSpc>
                <a:spcPts val="3639"/>
              </a:lnSpc>
            </a:pPr>
            <a:r>
              <a:rPr lang="en-US" sz="2599">
                <a:solidFill>
                  <a:srgbClr val="FFFFFF"/>
                </a:solidFill>
                <a:latin typeface="Poppins"/>
                <a:ea typeface="Poppins"/>
                <a:cs typeface="Poppins"/>
                <a:sym typeface="Poppins"/>
              </a:rPr>
              <a:t>Si el hijo no respeta las reglas de uso, garantías y contratos del padre, lo que genera errores, comportamientos inesperados o la necesidad de tratar al hijo de forma distinta.</a:t>
            </a:r>
          </a:p>
          <a:p>
            <a:pPr algn="l">
              <a:lnSpc>
                <a:spcPts val="3639"/>
              </a:lnSpc>
              <a:spcBef>
                <a:spcPct val="0"/>
              </a:spcBef>
            </a:pPr>
            <a:endParaRPr lang="en-US" sz="2599">
              <a:solidFill>
                <a:srgbClr val="FFFFFF"/>
              </a:solidFill>
              <a:latin typeface="Poppins"/>
              <a:ea typeface="Poppins"/>
              <a:cs typeface="Poppins"/>
              <a:sym typeface="Poppins"/>
            </a:endParaRPr>
          </a:p>
        </p:txBody>
      </p:sp>
      <p:sp>
        <p:nvSpPr>
          <p:cNvPr id="15" name="Freeform 15"/>
          <p:cNvSpPr/>
          <p:nvPr/>
        </p:nvSpPr>
        <p:spPr>
          <a:xfrm>
            <a:off x="2959575" y="8240989"/>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028700" y="6850711"/>
            <a:ext cx="1586363" cy="1358323"/>
          </a:xfrm>
          <a:custGeom>
            <a:avLst/>
            <a:gdLst/>
            <a:ahLst/>
            <a:cxnLst/>
            <a:rect l="l" t="t" r="r" b="b"/>
            <a:pathLst>
              <a:path w="1586363" h="1358323">
                <a:moveTo>
                  <a:pt x="0" y="0"/>
                </a:moveTo>
                <a:lnTo>
                  <a:pt x="1586363" y="0"/>
                </a:lnTo>
                <a:lnTo>
                  <a:pt x="1586363" y="1358323"/>
                </a:lnTo>
                <a:lnTo>
                  <a:pt x="0" y="13583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TextBox 8"/>
          <p:cNvSpPr txBox="1"/>
          <p:nvPr/>
        </p:nvSpPr>
        <p:spPr>
          <a:xfrm>
            <a:off x="2964154" y="192937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I: INTERFACE SEGREGATION</a:t>
            </a:r>
          </a:p>
        </p:txBody>
      </p:sp>
      <p:sp>
        <p:nvSpPr>
          <p:cNvPr id="9" name="TextBox 9"/>
          <p:cNvSpPr txBox="1"/>
          <p:nvPr/>
        </p:nvSpPr>
        <p:spPr>
          <a:xfrm>
            <a:off x="5115512" y="6210717"/>
            <a:ext cx="8056975" cy="599701"/>
          </a:xfrm>
          <a:prstGeom prst="rect">
            <a:avLst/>
          </a:prstGeom>
        </p:spPr>
        <p:txBody>
          <a:bodyPr lIns="0" tIns="0" rIns="0" bIns="0" rtlCol="0" anchor="t">
            <a:spAutoFit/>
          </a:bodyPr>
          <a:lstStyle/>
          <a:p>
            <a:pPr algn="ctr">
              <a:lnSpc>
                <a:spcPts val="4927"/>
              </a:lnSpc>
              <a:spcBef>
                <a:spcPct val="0"/>
              </a:spcBef>
            </a:pPr>
            <a:r>
              <a:rPr lang="en-US" sz="3519">
                <a:solidFill>
                  <a:srgbClr val="FFA260"/>
                </a:solidFill>
                <a:latin typeface="HK Modular"/>
                <a:ea typeface="HK Modular"/>
                <a:cs typeface="HK Modular"/>
                <a:sym typeface="HK Modular"/>
              </a:rPr>
              <a:t>CONSEJO DE APLICACION</a:t>
            </a:r>
          </a:p>
        </p:txBody>
      </p:sp>
      <p:sp>
        <p:nvSpPr>
          <p:cNvPr id="10" name="TextBox 10"/>
          <p:cNvSpPr txBox="1"/>
          <p:nvPr/>
        </p:nvSpPr>
        <p:spPr>
          <a:xfrm>
            <a:off x="2850208" y="3009046"/>
            <a:ext cx="1258758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Este principio establece que los clientes no deberian verse forzados a depender de interfaces que no usan</a:t>
            </a:r>
          </a:p>
        </p:txBody>
      </p:sp>
      <p:sp>
        <p:nvSpPr>
          <p:cNvPr id="11" name="TextBox 11"/>
          <p:cNvSpPr txBox="1"/>
          <p:nvPr/>
        </p:nvSpPr>
        <p:spPr>
          <a:xfrm>
            <a:off x="2734798" y="4152681"/>
            <a:ext cx="12587585" cy="18294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Cuando un cliente depende de una clase que implementa una interfaz cuya funcionalidad este cliente no usa pero otros clientes si, este cliente esta siendo afectado por los cambios que fuercen otros clientes en dicha interfaz</a:t>
            </a:r>
          </a:p>
        </p:txBody>
      </p:sp>
      <p:sp>
        <p:nvSpPr>
          <p:cNvPr id="12" name="TextBox 12"/>
          <p:cNvSpPr txBox="1"/>
          <p:nvPr/>
        </p:nvSpPr>
        <p:spPr>
          <a:xfrm>
            <a:off x="3095526" y="7039017"/>
            <a:ext cx="1258758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Es necesario definir una interfaz para cada tipo de cliente y no una general que agrupe metodos sin uso</a:t>
            </a:r>
          </a:p>
        </p:txBody>
      </p:sp>
      <p:sp>
        <p:nvSpPr>
          <p:cNvPr id="13" name="TextBox 13"/>
          <p:cNvSpPr txBox="1"/>
          <p:nvPr/>
        </p:nvSpPr>
        <p:spPr>
          <a:xfrm>
            <a:off x="2961101" y="8314463"/>
            <a:ext cx="12587585"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Cada clase que implemente una interfaz debe utilizar TODOS los metodos</a:t>
            </a:r>
          </a:p>
        </p:txBody>
      </p:sp>
      <p:sp>
        <p:nvSpPr>
          <p:cNvPr id="14" name="TextBox 14"/>
          <p:cNvSpPr txBox="1"/>
          <p:nvPr/>
        </p:nvSpPr>
        <p:spPr>
          <a:xfrm>
            <a:off x="3095526" y="9134249"/>
            <a:ext cx="12587585"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Una interfaz ayuda a desacoplar modulos entre si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3685763" y="4089938"/>
            <a:ext cx="3282027" cy="5743548"/>
          </a:xfrm>
          <a:custGeom>
            <a:avLst/>
            <a:gdLst/>
            <a:ahLst/>
            <a:cxnLst/>
            <a:rect l="l" t="t" r="r" b="b"/>
            <a:pathLst>
              <a:path w="3282027" h="5743548">
                <a:moveTo>
                  <a:pt x="0" y="0"/>
                </a:moveTo>
                <a:lnTo>
                  <a:pt x="3282027" y="0"/>
                </a:lnTo>
                <a:lnTo>
                  <a:pt x="3282027" y="5743548"/>
                </a:lnTo>
                <a:lnTo>
                  <a:pt x="0" y="5743548"/>
                </a:lnTo>
                <a:lnTo>
                  <a:pt x="0" y="0"/>
                </a:lnTo>
                <a:close/>
              </a:path>
            </a:pathLst>
          </a:custGeom>
          <a:blipFill>
            <a:blip r:embed="rId4"/>
            <a:stretch>
              <a:fillRect/>
            </a:stretch>
          </a:blipFill>
        </p:spPr>
        <p:txBody>
          <a:bodyPr/>
          <a:lstStyle/>
          <a:p>
            <a:endParaRPr lang="es-CO"/>
          </a:p>
        </p:txBody>
      </p:sp>
      <p:sp>
        <p:nvSpPr>
          <p:cNvPr id="8" name="Freeform 8"/>
          <p:cNvSpPr/>
          <p:nvPr/>
        </p:nvSpPr>
        <p:spPr>
          <a:xfrm>
            <a:off x="13472020" y="3759450"/>
            <a:ext cx="2574226" cy="6385418"/>
          </a:xfrm>
          <a:custGeom>
            <a:avLst/>
            <a:gdLst/>
            <a:ahLst/>
            <a:cxnLst/>
            <a:rect l="l" t="t" r="r" b="b"/>
            <a:pathLst>
              <a:path w="2574226" h="6385418">
                <a:moveTo>
                  <a:pt x="0" y="0"/>
                </a:moveTo>
                <a:lnTo>
                  <a:pt x="2574226" y="0"/>
                </a:lnTo>
                <a:lnTo>
                  <a:pt x="2574226" y="6385419"/>
                </a:lnTo>
                <a:lnTo>
                  <a:pt x="0" y="6385419"/>
                </a:lnTo>
                <a:lnTo>
                  <a:pt x="0" y="0"/>
                </a:lnTo>
                <a:close/>
              </a:path>
            </a:pathLst>
          </a:custGeom>
          <a:blipFill>
            <a:blip r:embed="rId5"/>
            <a:stretch>
              <a:fillRect/>
            </a:stretch>
          </a:blipFill>
        </p:spPr>
        <p:txBody>
          <a:bodyPr/>
          <a:lstStyle/>
          <a:p>
            <a:endParaRPr lang="es-CO"/>
          </a:p>
        </p:txBody>
      </p:sp>
      <p:sp>
        <p:nvSpPr>
          <p:cNvPr id="9" name="TextBox 9"/>
          <p:cNvSpPr txBox="1"/>
          <p:nvPr/>
        </p:nvSpPr>
        <p:spPr>
          <a:xfrm>
            <a:off x="2961101" y="192937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I: INTERFACE SEGREGATION</a:t>
            </a:r>
          </a:p>
        </p:txBody>
      </p:sp>
      <p:sp>
        <p:nvSpPr>
          <p:cNvPr id="10" name="TextBox 10"/>
          <p:cNvSpPr txBox="1"/>
          <p:nvPr/>
        </p:nvSpPr>
        <p:spPr>
          <a:xfrm>
            <a:off x="3130905" y="2584301"/>
            <a:ext cx="11818448" cy="1301987"/>
          </a:xfrm>
          <a:prstGeom prst="rect">
            <a:avLst/>
          </a:prstGeom>
        </p:spPr>
        <p:txBody>
          <a:bodyPr lIns="0" tIns="0" rIns="0" bIns="0" rtlCol="0" anchor="t">
            <a:spAutoFit/>
          </a:bodyPr>
          <a:lstStyle/>
          <a:p>
            <a:pPr algn="ctr">
              <a:lnSpc>
                <a:spcPts val="3417"/>
              </a:lnSpc>
            </a:pPr>
            <a:endParaRPr/>
          </a:p>
          <a:p>
            <a:pPr algn="ctr">
              <a:lnSpc>
                <a:spcPts val="3417"/>
              </a:lnSpc>
              <a:spcBef>
                <a:spcPct val="0"/>
              </a:spcBef>
            </a:pPr>
            <a:r>
              <a:rPr lang="en-US" sz="2441">
                <a:solidFill>
                  <a:srgbClr val="FFFFFF"/>
                </a:solidFill>
                <a:latin typeface="Poppins"/>
                <a:ea typeface="Poppins"/>
                <a:cs typeface="Poppins"/>
                <a:sym typeface="Poppins"/>
              </a:rPr>
              <a:t>¿Porque este codigo esta bien pero si implementamos Pinguinos se esta violando el principio?</a:t>
            </a:r>
          </a:p>
        </p:txBody>
      </p:sp>
      <p:sp>
        <p:nvSpPr>
          <p:cNvPr id="11" name="Freeform 11"/>
          <p:cNvSpPr/>
          <p:nvPr/>
        </p:nvSpPr>
        <p:spPr>
          <a:xfrm>
            <a:off x="2499886" y="6137847"/>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CO"/>
          </a:p>
        </p:txBody>
      </p:sp>
      <p:sp>
        <p:nvSpPr>
          <p:cNvPr id="12" name="Freeform 12"/>
          <p:cNvSpPr/>
          <p:nvPr/>
        </p:nvSpPr>
        <p:spPr>
          <a:xfrm>
            <a:off x="12220871" y="5950027"/>
            <a:ext cx="917775" cy="917775"/>
          </a:xfrm>
          <a:custGeom>
            <a:avLst/>
            <a:gdLst/>
            <a:ahLst/>
            <a:cxnLst/>
            <a:rect l="l" t="t" r="r" b="b"/>
            <a:pathLst>
              <a:path w="917775" h="917775">
                <a:moveTo>
                  <a:pt x="0" y="0"/>
                </a:moveTo>
                <a:lnTo>
                  <a:pt x="917774" y="0"/>
                </a:lnTo>
                <a:lnTo>
                  <a:pt x="917774" y="917775"/>
                </a:lnTo>
                <a:lnTo>
                  <a:pt x="0" y="91777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CO"/>
          </a:p>
        </p:txBody>
      </p:sp>
      <p:sp>
        <p:nvSpPr>
          <p:cNvPr id="13" name="Freeform 13"/>
          <p:cNvSpPr/>
          <p:nvPr/>
        </p:nvSpPr>
        <p:spPr>
          <a:xfrm rot="705390">
            <a:off x="8359342" y="5054279"/>
            <a:ext cx="2375242" cy="1537969"/>
          </a:xfrm>
          <a:custGeom>
            <a:avLst/>
            <a:gdLst/>
            <a:ahLst/>
            <a:cxnLst/>
            <a:rect l="l" t="t" r="r" b="b"/>
            <a:pathLst>
              <a:path w="2375242" h="1537969">
                <a:moveTo>
                  <a:pt x="0" y="0"/>
                </a:moveTo>
                <a:lnTo>
                  <a:pt x="2375241" y="0"/>
                </a:lnTo>
                <a:lnTo>
                  <a:pt x="2375241" y="1537969"/>
                </a:lnTo>
                <a:lnTo>
                  <a:pt x="0" y="153796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CO"/>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3405520" y="3586161"/>
            <a:ext cx="2574226" cy="6385418"/>
          </a:xfrm>
          <a:custGeom>
            <a:avLst/>
            <a:gdLst/>
            <a:ahLst/>
            <a:cxnLst/>
            <a:rect l="l" t="t" r="r" b="b"/>
            <a:pathLst>
              <a:path w="2574226" h="6385418">
                <a:moveTo>
                  <a:pt x="0" y="0"/>
                </a:moveTo>
                <a:lnTo>
                  <a:pt x="2574226" y="0"/>
                </a:lnTo>
                <a:lnTo>
                  <a:pt x="2574226" y="6385419"/>
                </a:lnTo>
                <a:lnTo>
                  <a:pt x="0" y="6385419"/>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2961101" y="192937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I: INTERFACE SEGREGATION</a:t>
            </a:r>
          </a:p>
        </p:txBody>
      </p:sp>
      <p:sp>
        <p:nvSpPr>
          <p:cNvPr id="9" name="TextBox 9"/>
          <p:cNvSpPr txBox="1"/>
          <p:nvPr/>
        </p:nvSpPr>
        <p:spPr>
          <a:xfrm>
            <a:off x="3564793" y="2508830"/>
            <a:ext cx="11158413" cy="1214480"/>
          </a:xfrm>
          <a:prstGeom prst="rect">
            <a:avLst/>
          </a:prstGeom>
        </p:spPr>
        <p:txBody>
          <a:bodyPr lIns="0" tIns="0" rIns="0" bIns="0" rtlCol="0" anchor="t">
            <a:spAutoFit/>
          </a:bodyPr>
          <a:lstStyle/>
          <a:p>
            <a:pPr algn="ctr">
              <a:lnSpc>
                <a:spcPts val="3226"/>
              </a:lnSpc>
            </a:pPr>
            <a:endParaRPr/>
          </a:p>
          <a:p>
            <a:pPr algn="ctr">
              <a:lnSpc>
                <a:spcPts val="3226"/>
              </a:lnSpc>
              <a:spcBef>
                <a:spcPct val="0"/>
              </a:spcBef>
            </a:pPr>
            <a:r>
              <a:rPr lang="en-US" sz="2304">
                <a:solidFill>
                  <a:srgbClr val="FFFFFF"/>
                </a:solidFill>
                <a:latin typeface="Poppins"/>
                <a:ea typeface="Poppins"/>
                <a:cs typeface="Poppins"/>
                <a:sym typeface="Poppins"/>
              </a:rPr>
              <a:t>¿Porque este codigo esta bien pero si implementamos Pinguinos se esta violando el principio?</a:t>
            </a:r>
          </a:p>
        </p:txBody>
      </p:sp>
      <p:sp>
        <p:nvSpPr>
          <p:cNvPr id="10" name="Freeform 10"/>
          <p:cNvSpPr/>
          <p:nvPr/>
        </p:nvSpPr>
        <p:spPr>
          <a:xfrm>
            <a:off x="6898238" y="4542831"/>
            <a:ext cx="917775" cy="917775"/>
          </a:xfrm>
          <a:custGeom>
            <a:avLst/>
            <a:gdLst/>
            <a:ahLst/>
            <a:cxnLst/>
            <a:rect l="l" t="t" r="r" b="b"/>
            <a:pathLst>
              <a:path w="917775" h="917775">
                <a:moveTo>
                  <a:pt x="0" y="0"/>
                </a:moveTo>
                <a:lnTo>
                  <a:pt x="917775" y="0"/>
                </a:lnTo>
                <a:lnTo>
                  <a:pt x="917775" y="917775"/>
                </a:lnTo>
                <a:lnTo>
                  <a:pt x="0" y="9177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1" name="TextBox 11"/>
          <p:cNvSpPr txBox="1"/>
          <p:nvPr/>
        </p:nvSpPr>
        <p:spPr>
          <a:xfrm>
            <a:off x="7550859" y="4387908"/>
            <a:ext cx="9126209" cy="809189"/>
          </a:xfrm>
          <a:prstGeom prst="rect">
            <a:avLst/>
          </a:prstGeom>
        </p:spPr>
        <p:txBody>
          <a:bodyPr lIns="0" tIns="0" rIns="0" bIns="0" rtlCol="0" anchor="t">
            <a:spAutoFit/>
          </a:bodyPr>
          <a:lstStyle/>
          <a:p>
            <a:pPr algn="ctr">
              <a:lnSpc>
                <a:spcPts val="3226"/>
              </a:lnSpc>
            </a:pPr>
            <a:endParaRPr/>
          </a:p>
          <a:p>
            <a:pPr algn="ctr">
              <a:lnSpc>
                <a:spcPts val="3226"/>
              </a:lnSpc>
              <a:spcBef>
                <a:spcPct val="0"/>
              </a:spcBef>
            </a:pPr>
            <a:r>
              <a:rPr lang="en-US" sz="2304">
                <a:solidFill>
                  <a:srgbClr val="FFFFFF"/>
                </a:solidFill>
                <a:latin typeface="Poppins"/>
                <a:ea typeface="Poppins"/>
                <a:cs typeface="Poppins"/>
                <a:sym typeface="Poppins"/>
              </a:rPr>
              <a:t>El problema es que el loro no nada y el pinguino no vuela</a:t>
            </a:r>
          </a:p>
        </p:txBody>
      </p:sp>
      <p:sp>
        <p:nvSpPr>
          <p:cNvPr id="12" name="TextBox 12"/>
          <p:cNvSpPr txBox="1"/>
          <p:nvPr/>
        </p:nvSpPr>
        <p:spPr>
          <a:xfrm>
            <a:off x="7928944" y="5403456"/>
            <a:ext cx="9126209" cy="2046484"/>
          </a:xfrm>
          <a:prstGeom prst="rect">
            <a:avLst/>
          </a:prstGeom>
        </p:spPr>
        <p:txBody>
          <a:bodyPr lIns="0" tIns="0" rIns="0" bIns="0" rtlCol="0" anchor="t">
            <a:spAutoFit/>
          </a:bodyPr>
          <a:lstStyle/>
          <a:p>
            <a:pPr algn="l">
              <a:lnSpc>
                <a:spcPts val="3226"/>
              </a:lnSpc>
            </a:pPr>
            <a:endParaRPr/>
          </a:p>
          <a:p>
            <a:pPr algn="l">
              <a:lnSpc>
                <a:spcPts val="3226"/>
              </a:lnSpc>
              <a:spcBef>
                <a:spcPct val="0"/>
              </a:spcBef>
            </a:pPr>
            <a:r>
              <a:rPr lang="en-US" sz="2304">
                <a:solidFill>
                  <a:srgbClr val="FFFFFF"/>
                </a:solidFill>
                <a:latin typeface="Poppins"/>
                <a:ea typeface="Poppins"/>
                <a:cs typeface="Poppins"/>
                <a:sym typeface="Poppins"/>
              </a:rPr>
              <a:t>Si quisieramos añadir otro metodo a la interfaz IAve tendriamos que recorrer cada una de las clases que la implementa e ir añadiendo la implementacion de dicho metodo en todas ellas</a:t>
            </a:r>
          </a:p>
        </p:txBody>
      </p:sp>
      <p:sp>
        <p:nvSpPr>
          <p:cNvPr id="13" name="TextBox 13"/>
          <p:cNvSpPr txBox="1"/>
          <p:nvPr/>
        </p:nvSpPr>
        <p:spPr>
          <a:xfrm>
            <a:off x="7550859" y="7447812"/>
            <a:ext cx="9126209" cy="403899"/>
          </a:xfrm>
          <a:prstGeom prst="rect">
            <a:avLst/>
          </a:prstGeom>
        </p:spPr>
        <p:txBody>
          <a:bodyPr lIns="0" tIns="0" rIns="0" bIns="0" rtlCol="0" anchor="t">
            <a:spAutoFit/>
          </a:bodyPr>
          <a:lstStyle/>
          <a:p>
            <a:pPr algn="ctr">
              <a:lnSpc>
                <a:spcPts val="3226"/>
              </a:lnSpc>
              <a:spcBef>
                <a:spcPct val="0"/>
              </a:spcBef>
            </a:pPr>
            <a:endParaRPr/>
          </a:p>
        </p:txBody>
      </p:sp>
      <p:sp>
        <p:nvSpPr>
          <p:cNvPr id="14" name="TextBox 14"/>
          <p:cNvSpPr txBox="1"/>
          <p:nvPr/>
        </p:nvSpPr>
        <p:spPr>
          <a:xfrm>
            <a:off x="7928944" y="7392789"/>
            <a:ext cx="9126209" cy="1227334"/>
          </a:xfrm>
          <a:prstGeom prst="rect">
            <a:avLst/>
          </a:prstGeom>
        </p:spPr>
        <p:txBody>
          <a:bodyPr lIns="0" tIns="0" rIns="0" bIns="0" rtlCol="0" anchor="t">
            <a:spAutoFit/>
          </a:bodyPr>
          <a:lstStyle/>
          <a:p>
            <a:pPr algn="l">
              <a:lnSpc>
                <a:spcPts val="3226"/>
              </a:lnSpc>
            </a:pPr>
            <a:endParaRPr/>
          </a:p>
          <a:p>
            <a:pPr algn="l">
              <a:lnSpc>
                <a:spcPts val="3226"/>
              </a:lnSpc>
              <a:spcBef>
                <a:spcPct val="0"/>
              </a:spcBef>
            </a:pPr>
            <a:r>
              <a:rPr lang="en-US" sz="2304">
                <a:solidFill>
                  <a:srgbClr val="FFFFFF"/>
                </a:solidFill>
                <a:latin typeface="Poppins"/>
                <a:ea typeface="Poppins"/>
                <a:cs typeface="Poppins"/>
                <a:sym typeface="Poppins"/>
              </a:rPr>
              <a:t>Los clientes no tienen porque depender de metodos que no usan</a:t>
            </a:r>
          </a:p>
        </p:txBody>
      </p:sp>
      <p:sp>
        <p:nvSpPr>
          <p:cNvPr id="15" name="Freeform 15"/>
          <p:cNvSpPr/>
          <p:nvPr/>
        </p:nvSpPr>
        <p:spPr>
          <a:xfrm>
            <a:off x="6898238" y="5861096"/>
            <a:ext cx="917775" cy="917775"/>
          </a:xfrm>
          <a:custGeom>
            <a:avLst/>
            <a:gdLst/>
            <a:ahLst/>
            <a:cxnLst/>
            <a:rect l="l" t="t" r="r" b="b"/>
            <a:pathLst>
              <a:path w="917775" h="917775">
                <a:moveTo>
                  <a:pt x="0" y="0"/>
                </a:moveTo>
                <a:lnTo>
                  <a:pt x="917775" y="0"/>
                </a:lnTo>
                <a:lnTo>
                  <a:pt x="917775" y="917775"/>
                </a:lnTo>
                <a:lnTo>
                  <a:pt x="0" y="9177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6" name="Freeform 16"/>
          <p:cNvSpPr/>
          <p:nvPr/>
        </p:nvSpPr>
        <p:spPr>
          <a:xfrm>
            <a:off x="6898238" y="7851711"/>
            <a:ext cx="917775" cy="917775"/>
          </a:xfrm>
          <a:custGeom>
            <a:avLst/>
            <a:gdLst/>
            <a:ahLst/>
            <a:cxnLst/>
            <a:rect l="l" t="t" r="r" b="b"/>
            <a:pathLst>
              <a:path w="917775" h="917775">
                <a:moveTo>
                  <a:pt x="0" y="0"/>
                </a:moveTo>
                <a:lnTo>
                  <a:pt x="917775" y="0"/>
                </a:lnTo>
                <a:lnTo>
                  <a:pt x="917775" y="917774"/>
                </a:lnTo>
                <a:lnTo>
                  <a:pt x="0" y="9177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3184813" y="3919801"/>
            <a:ext cx="2843642" cy="2447397"/>
          </a:xfrm>
          <a:custGeom>
            <a:avLst/>
            <a:gdLst/>
            <a:ahLst/>
            <a:cxnLst/>
            <a:rect l="l" t="t" r="r" b="b"/>
            <a:pathLst>
              <a:path w="2843642" h="2447397">
                <a:moveTo>
                  <a:pt x="0" y="0"/>
                </a:moveTo>
                <a:lnTo>
                  <a:pt x="2843642" y="0"/>
                </a:lnTo>
                <a:lnTo>
                  <a:pt x="2843642" y="2447398"/>
                </a:lnTo>
                <a:lnTo>
                  <a:pt x="0" y="2447398"/>
                </a:lnTo>
                <a:lnTo>
                  <a:pt x="0" y="0"/>
                </a:lnTo>
                <a:close/>
              </a:path>
            </a:pathLst>
          </a:custGeom>
          <a:blipFill>
            <a:blip r:embed="rId4"/>
            <a:stretch>
              <a:fillRect/>
            </a:stretch>
          </a:blipFill>
        </p:spPr>
        <p:txBody>
          <a:bodyPr/>
          <a:lstStyle/>
          <a:p>
            <a:endParaRPr lang="es-CO"/>
          </a:p>
        </p:txBody>
      </p:sp>
      <p:sp>
        <p:nvSpPr>
          <p:cNvPr id="8" name="Freeform 8"/>
          <p:cNvSpPr/>
          <p:nvPr/>
        </p:nvSpPr>
        <p:spPr>
          <a:xfrm>
            <a:off x="511863" y="7008366"/>
            <a:ext cx="3678153" cy="2249934"/>
          </a:xfrm>
          <a:custGeom>
            <a:avLst/>
            <a:gdLst/>
            <a:ahLst/>
            <a:cxnLst/>
            <a:rect l="l" t="t" r="r" b="b"/>
            <a:pathLst>
              <a:path w="3678153" h="2249934">
                <a:moveTo>
                  <a:pt x="0" y="0"/>
                </a:moveTo>
                <a:lnTo>
                  <a:pt x="3678153" y="0"/>
                </a:lnTo>
                <a:lnTo>
                  <a:pt x="3678153" y="2249934"/>
                </a:lnTo>
                <a:lnTo>
                  <a:pt x="0" y="2249934"/>
                </a:lnTo>
                <a:lnTo>
                  <a:pt x="0" y="0"/>
                </a:lnTo>
                <a:close/>
              </a:path>
            </a:pathLst>
          </a:custGeom>
          <a:blipFill>
            <a:blip r:embed="rId5"/>
            <a:stretch>
              <a:fillRect/>
            </a:stretch>
          </a:blipFill>
        </p:spPr>
        <p:txBody>
          <a:bodyPr/>
          <a:lstStyle/>
          <a:p>
            <a:endParaRPr lang="es-CO"/>
          </a:p>
        </p:txBody>
      </p:sp>
      <p:sp>
        <p:nvSpPr>
          <p:cNvPr id="9" name="Freeform 9"/>
          <p:cNvSpPr/>
          <p:nvPr/>
        </p:nvSpPr>
        <p:spPr>
          <a:xfrm>
            <a:off x="4606634" y="7008366"/>
            <a:ext cx="4163605" cy="2296105"/>
          </a:xfrm>
          <a:custGeom>
            <a:avLst/>
            <a:gdLst/>
            <a:ahLst/>
            <a:cxnLst/>
            <a:rect l="l" t="t" r="r" b="b"/>
            <a:pathLst>
              <a:path w="4163605" h="2296105">
                <a:moveTo>
                  <a:pt x="0" y="0"/>
                </a:moveTo>
                <a:lnTo>
                  <a:pt x="4163604" y="0"/>
                </a:lnTo>
                <a:lnTo>
                  <a:pt x="4163604" y="2296106"/>
                </a:lnTo>
                <a:lnTo>
                  <a:pt x="0" y="2296106"/>
                </a:lnTo>
                <a:lnTo>
                  <a:pt x="0" y="0"/>
                </a:lnTo>
                <a:close/>
              </a:path>
            </a:pathLst>
          </a:custGeom>
          <a:blipFill>
            <a:blip r:embed="rId6"/>
            <a:stretch>
              <a:fillRect/>
            </a:stretch>
          </a:blipFill>
        </p:spPr>
        <p:txBody>
          <a:bodyPr/>
          <a:lstStyle/>
          <a:p>
            <a:endParaRPr lang="es-CO"/>
          </a:p>
        </p:txBody>
      </p:sp>
      <p:sp>
        <p:nvSpPr>
          <p:cNvPr id="10" name="TextBox 10"/>
          <p:cNvSpPr txBox="1"/>
          <p:nvPr/>
        </p:nvSpPr>
        <p:spPr>
          <a:xfrm>
            <a:off x="2961101" y="192937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I: INTERFACE SEGREGATION</a:t>
            </a:r>
          </a:p>
        </p:txBody>
      </p:sp>
      <p:sp>
        <p:nvSpPr>
          <p:cNvPr id="11" name="TextBox 11"/>
          <p:cNvSpPr txBox="1"/>
          <p:nvPr/>
        </p:nvSpPr>
        <p:spPr>
          <a:xfrm>
            <a:off x="3810112" y="2616953"/>
            <a:ext cx="11158413" cy="809189"/>
          </a:xfrm>
          <a:prstGeom prst="rect">
            <a:avLst/>
          </a:prstGeom>
        </p:spPr>
        <p:txBody>
          <a:bodyPr lIns="0" tIns="0" rIns="0" bIns="0" rtlCol="0" anchor="t">
            <a:spAutoFit/>
          </a:bodyPr>
          <a:lstStyle/>
          <a:p>
            <a:pPr algn="ctr">
              <a:lnSpc>
                <a:spcPts val="3226"/>
              </a:lnSpc>
            </a:pPr>
            <a:endParaRPr/>
          </a:p>
          <a:p>
            <a:pPr algn="ctr">
              <a:lnSpc>
                <a:spcPts val="3226"/>
              </a:lnSpc>
              <a:spcBef>
                <a:spcPct val="0"/>
              </a:spcBef>
            </a:pPr>
            <a:r>
              <a:rPr lang="en-US" sz="2304">
                <a:solidFill>
                  <a:srgbClr val="FFFFFF"/>
                </a:solidFill>
                <a:latin typeface="Poppins"/>
                <a:ea typeface="Poppins"/>
                <a:cs typeface="Poppins"/>
                <a:sym typeface="Poppins"/>
              </a:rPr>
              <a:t>¿Como se podria arreglar esto?</a:t>
            </a:r>
          </a:p>
        </p:txBody>
      </p:sp>
      <p:sp>
        <p:nvSpPr>
          <p:cNvPr id="12" name="TextBox 12"/>
          <p:cNvSpPr txBox="1"/>
          <p:nvPr/>
        </p:nvSpPr>
        <p:spPr>
          <a:xfrm>
            <a:off x="7550859" y="7447812"/>
            <a:ext cx="9126209" cy="403899"/>
          </a:xfrm>
          <a:prstGeom prst="rect">
            <a:avLst/>
          </a:prstGeom>
        </p:spPr>
        <p:txBody>
          <a:bodyPr lIns="0" tIns="0" rIns="0" bIns="0" rtlCol="0" anchor="t">
            <a:spAutoFit/>
          </a:bodyPr>
          <a:lstStyle/>
          <a:p>
            <a:pPr algn="ctr">
              <a:lnSpc>
                <a:spcPts val="3226"/>
              </a:lnSpc>
              <a:spcBef>
                <a:spcPct val="0"/>
              </a:spcBef>
            </a:pPr>
            <a:endParaRPr/>
          </a:p>
        </p:txBody>
      </p:sp>
      <p:sp>
        <p:nvSpPr>
          <p:cNvPr id="13" name="TextBox 13"/>
          <p:cNvSpPr txBox="1"/>
          <p:nvPr/>
        </p:nvSpPr>
        <p:spPr>
          <a:xfrm>
            <a:off x="10228958" y="4026441"/>
            <a:ext cx="7645378" cy="1227334"/>
          </a:xfrm>
          <a:prstGeom prst="rect">
            <a:avLst/>
          </a:prstGeom>
        </p:spPr>
        <p:txBody>
          <a:bodyPr lIns="0" tIns="0" rIns="0" bIns="0" rtlCol="0" anchor="t">
            <a:spAutoFit/>
          </a:bodyPr>
          <a:lstStyle/>
          <a:p>
            <a:pPr algn="l">
              <a:lnSpc>
                <a:spcPts val="3226"/>
              </a:lnSpc>
            </a:pPr>
            <a:endParaRPr/>
          </a:p>
          <a:p>
            <a:pPr algn="l">
              <a:lnSpc>
                <a:spcPts val="3226"/>
              </a:lnSpc>
              <a:spcBef>
                <a:spcPct val="0"/>
              </a:spcBef>
            </a:pPr>
            <a:r>
              <a:rPr lang="en-US" sz="2304">
                <a:solidFill>
                  <a:srgbClr val="FFFFFF"/>
                </a:solidFill>
                <a:latin typeface="Poppins"/>
                <a:ea typeface="Poppins"/>
                <a:cs typeface="Poppins"/>
                <a:sym typeface="Poppins"/>
              </a:rPr>
              <a:t>Cada clase implementa las interfaces de la que realmente necesita implementar sus metodos</a:t>
            </a:r>
          </a:p>
        </p:txBody>
      </p:sp>
      <p:sp>
        <p:nvSpPr>
          <p:cNvPr id="14" name="Freeform 14"/>
          <p:cNvSpPr/>
          <p:nvPr/>
        </p:nvSpPr>
        <p:spPr>
          <a:xfrm rot="3573287">
            <a:off x="6259441" y="5625207"/>
            <a:ext cx="1368802" cy="886299"/>
          </a:xfrm>
          <a:custGeom>
            <a:avLst/>
            <a:gdLst/>
            <a:ahLst/>
            <a:cxnLst/>
            <a:rect l="l" t="t" r="r" b="b"/>
            <a:pathLst>
              <a:path w="1368802" h="886299">
                <a:moveTo>
                  <a:pt x="0" y="0"/>
                </a:moveTo>
                <a:lnTo>
                  <a:pt x="1368802" y="0"/>
                </a:lnTo>
                <a:lnTo>
                  <a:pt x="1368802" y="886299"/>
                </a:lnTo>
                <a:lnTo>
                  <a:pt x="0" y="88629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CO"/>
          </a:p>
        </p:txBody>
      </p:sp>
      <p:sp>
        <p:nvSpPr>
          <p:cNvPr id="15" name="Freeform 15"/>
          <p:cNvSpPr/>
          <p:nvPr/>
        </p:nvSpPr>
        <p:spPr>
          <a:xfrm rot="8953216">
            <a:off x="1261038" y="5964526"/>
            <a:ext cx="1684548" cy="524316"/>
          </a:xfrm>
          <a:custGeom>
            <a:avLst/>
            <a:gdLst/>
            <a:ahLst/>
            <a:cxnLst/>
            <a:rect l="l" t="t" r="r" b="b"/>
            <a:pathLst>
              <a:path w="1684548" h="524316">
                <a:moveTo>
                  <a:pt x="0" y="0"/>
                </a:moveTo>
                <a:lnTo>
                  <a:pt x="1684549" y="0"/>
                </a:lnTo>
                <a:lnTo>
                  <a:pt x="1684549" y="524315"/>
                </a:lnTo>
                <a:lnTo>
                  <a:pt x="0" y="524315"/>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CO"/>
          </a:p>
        </p:txBody>
      </p:sp>
      <p:sp>
        <p:nvSpPr>
          <p:cNvPr id="16" name="Freeform 16"/>
          <p:cNvSpPr/>
          <p:nvPr/>
        </p:nvSpPr>
        <p:spPr>
          <a:xfrm>
            <a:off x="9144000" y="4523820"/>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CO"/>
          </a:p>
        </p:txBody>
      </p:sp>
      <p:sp>
        <p:nvSpPr>
          <p:cNvPr id="17" name="TextBox 17"/>
          <p:cNvSpPr txBox="1"/>
          <p:nvPr/>
        </p:nvSpPr>
        <p:spPr>
          <a:xfrm>
            <a:off x="10228958" y="5584442"/>
            <a:ext cx="7645378" cy="1227334"/>
          </a:xfrm>
          <a:prstGeom prst="rect">
            <a:avLst/>
          </a:prstGeom>
        </p:spPr>
        <p:txBody>
          <a:bodyPr lIns="0" tIns="0" rIns="0" bIns="0" rtlCol="0" anchor="t">
            <a:spAutoFit/>
          </a:bodyPr>
          <a:lstStyle/>
          <a:p>
            <a:pPr algn="l">
              <a:lnSpc>
                <a:spcPts val="3226"/>
              </a:lnSpc>
            </a:pPr>
            <a:endParaRPr/>
          </a:p>
          <a:p>
            <a:pPr algn="l">
              <a:lnSpc>
                <a:spcPts val="3226"/>
              </a:lnSpc>
              <a:spcBef>
                <a:spcPct val="0"/>
              </a:spcBef>
            </a:pPr>
            <a:r>
              <a:rPr lang="en-US" sz="2304">
                <a:solidFill>
                  <a:srgbClr val="FFFFFF"/>
                </a:solidFill>
                <a:latin typeface="Poppins"/>
                <a:ea typeface="Poppins"/>
                <a:cs typeface="Poppins"/>
                <a:sym typeface="Poppins"/>
              </a:rPr>
              <a:t>Esto nos ahorra tiempo y nos permite añadir nuevas funcionalidades</a:t>
            </a:r>
          </a:p>
        </p:txBody>
      </p:sp>
      <p:sp>
        <p:nvSpPr>
          <p:cNvPr id="18" name="Freeform 18"/>
          <p:cNvSpPr/>
          <p:nvPr/>
        </p:nvSpPr>
        <p:spPr>
          <a:xfrm>
            <a:off x="9144000" y="6081821"/>
            <a:ext cx="852502" cy="729955"/>
          </a:xfrm>
          <a:custGeom>
            <a:avLst/>
            <a:gdLst/>
            <a:ahLst/>
            <a:cxnLst/>
            <a:rect l="l" t="t" r="r" b="b"/>
            <a:pathLst>
              <a:path w="852502" h="729955">
                <a:moveTo>
                  <a:pt x="0" y="0"/>
                </a:moveTo>
                <a:lnTo>
                  <a:pt x="852502" y="0"/>
                </a:lnTo>
                <a:lnTo>
                  <a:pt x="852502" y="729954"/>
                </a:lnTo>
                <a:lnTo>
                  <a:pt x="0" y="729954"/>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s-CO"/>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527699" y="1969104"/>
            <a:ext cx="11723240" cy="1533000"/>
          </a:xfrm>
          <a:prstGeom prst="rect">
            <a:avLst/>
          </a:prstGeom>
        </p:spPr>
        <p:txBody>
          <a:bodyPr lIns="0" tIns="0" rIns="0" bIns="0" rtlCol="0" anchor="t">
            <a:spAutoFit/>
          </a:bodyPr>
          <a:lstStyle/>
          <a:p>
            <a:pPr algn="ctr">
              <a:lnSpc>
                <a:spcPts val="6101"/>
              </a:lnSpc>
              <a:spcBef>
                <a:spcPct val="0"/>
              </a:spcBef>
            </a:pPr>
            <a:r>
              <a:rPr lang="en-US" sz="4358">
                <a:solidFill>
                  <a:srgbClr val="F800C0"/>
                </a:solidFill>
                <a:latin typeface="HK Modular"/>
                <a:ea typeface="HK Modular"/>
                <a:cs typeface="HK Modular"/>
                <a:sym typeface="HK Modular"/>
              </a:rPr>
              <a:t>INTERFACE SEGREGATION FALLA SI...</a:t>
            </a:r>
          </a:p>
        </p:txBody>
      </p:sp>
      <p:sp>
        <p:nvSpPr>
          <p:cNvPr id="8" name="Freeform 8"/>
          <p:cNvSpPr/>
          <p:nvPr/>
        </p:nvSpPr>
        <p:spPr>
          <a:xfrm>
            <a:off x="2261075" y="4357025"/>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Freeform 9"/>
          <p:cNvSpPr/>
          <p:nvPr/>
        </p:nvSpPr>
        <p:spPr>
          <a:xfrm>
            <a:off x="2261075" y="5549706"/>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0" name="Freeform 10"/>
          <p:cNvSpPr/>
          <p:nvPr/>
        </p:nvSpPr>
        <p:spPr>
          <a:xfrm>
            <a:off x="2261075" y="6743562"/>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p:cNvSpPr/>
          <p:nvPr/>
        </p:nvSpPr>
        <p:spPr>
          <a:xfrm>
            <a:off x="2261075" y="7937418"/>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2" name="TextBox 12"/>
          <p:cNvSpPr txBox="1"/>
          <p:nvPr/>
        </p:nvSpPr>
        <p:spPr>
          <a:xfrm>
            <a:off x="3411767" y="4299875"/>
            <a:ext cx="12308420" cy="817759"/>
          </a:xfrm>
          <a:prstGeom prst="rect">
            <a:avLst/>
          </a:prstGeom>
        </p:spPr>
        <p:txBody>
          <a:bodyPr lIns="0" tIns="0" rIns="0" bIns="0" rtlCol="0" anchor="t">
            <a:spAutoFit/>
          </a:bodyPr>
          <a:lstStyle/>
          <a:p>
            <a:pPr algn="l">
              <a:lnSpc>
                <a:spcPts val="3226"/>
              </a:lnSpc>
            </a:pPr>
            <a:endParaRPr/>
          </a:p>
          <a:p>
            <a:pPr algn="l">
              <a:lnSpc>
                <a:spcPts val="3226"/>
              </a:lnSpc>
              <a:spcBef>
                <a:spcPct val="0"/>
              </a:spcBef>
            </a:pPr>
            <a:r>
              <a:rPr lang="en-US" sz="2304">
                <a:solidFill>
                  <a:srgbClr val="FFFFFF"/>
                </a:solidFill>
                <a:latin typeface="Poppins"/>
                <a:ea typeface="Poppins"/>
                <a:cs typeface="Poppins"/>
                <a:sym typeface="Poppins"/>
              </a:rPr>
              <a:t>Una interfaz tiene demasiados metodos</a:t>
            </a:r>
          </a:p>
        </p:txBody>
      </p:sp>
      <p:sp>
        <p:nvSpPr>
          <p:cNvPr id="13" name="TextBox 13"/>
          <p:cNvSpPr txBox="1"/>
          <p:nvPr/>
        </p:nvSpPr>
        <p:spPr>
          <a:xfrm>
            <a:off x="3411767" y="5381733"/>
            <a:ext cx="12308420" cy="1227334"/>
          </a:xfrm>
          <a:prstGeom prst="rect">
            <a:avLst/>
          </a:prstGeom>
        </p:spPr>
        <p:txBody>
          <a:bodyPr lIns="0" tIns="0" rIns="0" bIns="0" rtlCol="0" anchor="t">
            <a:spAutoFit/>
          </a:bodyPr>
          <a:lstStyle/>
          <a:p>
            <a:pPr algn="l">
              <a:lnSpc>
                <a:spcPts val="3226"/>
              </a:lnSpc>
            </a:pPr>
            <a:endParaRPr/>
          </a:p>
          <a:p>
            <a:pPr algn="l">
              <a:lnSpc>
                <a:spcPts val="3226"/>
              </a:lnSpc>
              <a:spcBef>
                <a:spcPct val="0"/>
              </a:spcBef>
            </a:pPr>
            <a:r>
              <a:rPr lang="en-US" sz="2304">
                <a:solidFill>
                  <a:srgbClr val="FFFFFF"/>
                </a:solidFill>
                <a:latin typeface="Poppins"/>
                <a:ea typeface="Poppins"/>
                <a:cs typeface="Poppins"/>
                <a:sym typeface="Poppins"/>
              </a:rPr>
              <a:t>Una clase que implementa la interfaz se ve obligada a poner metodos vacios o sin sentido</a:t>
            </a:r>
          </a:p>
        </p:txBody>
      </p:sp>
      <p:sp>
        <p:nvSpPr>
          <p:cNvPr id="14" name="TextBox 14"/>
          <p:cNvSpPr txBox="1"/>
          <p:nvPr/>
        </p:nvSpPr>
        <p:spPr>
          <a:xfrm>
            <a:off x="3411767" y="6686412"/>
            <a:ext cx="12308420" cy="817759"/>
          </a:xfrm>
          <a:prstGeom prst="rect">
            <a:avLst/>
          </a:prstGeom>
        </p:spPr>
        <p:txBody>
          <a:bodyPr lIns="0" tIns="0" rIns="0" bIns="0" rtlCol="0" anchor="t">
            <a:spAutoFit/>
          </a:bodyPr>
          <a:lstStyle/>
          <a:p>
            <a:pPr algn="l">
              <a:lnSpc>
                <a:spcPts val="3226"/>
              </a:lnSpc>
            </a:pPr>
            <a:endParaRPr/>
          </a:p>
          <a:p>
            <a:pPr algn="l">
              <a:lnSpc>
                <a:spcPts val="3226"/>
              </a:lnSpc>
              <a:spcBef>
                <a:spcPct val="0"/>
              </a:spcBef>
            </a:pPr>
            <a:r>
              <a:rPr lang="en-US" sz="2304">
                <a:solidFill>
                  <a:srgbClr val="FFFFFF"/>
                </a:solidFill>
                <a:latin typeface="Poppins"/>
                <a:ea typeface="Poppins"/>
                <a:cs typeface="Poppins"/>
                <a:sym typeface="Poppins"/>
              </a:rPr>
              <a:t>La interfaz mezcla responsabilidades diferentes</a:t>
            </a:r>
          </a:p>
        </p:txBody>
      </p:sp>
      <p:sp>
        <p:nvSpPr>
          <p:cNvPr id="15" name="TextBox 15"/>
          <p:cNvSpPr txBox="1"/>
          <p:nvPr/>
        </p:nvSpPr>
        <p:spPr>
          <a:xfrm>
            <a:off x="3411767" y="7771662"/>
            <a:ext cx="12308420" cy="817759"/>
          </a:xfrm>
          <a:prstGeom prst="rect">
            <a:avLst/>
          </a:prstGeom>
        </p:spPr>
        <p:txBody>
          <a:bodyPr lIns="0" tIns="0" rIns="0" bIns="0" rtlCol="0" anchor="t">
            <a:spAutoFit/>
          </a:bodyPr>
          <a:lstStyle/>
          <a:p>
            <a:pPr algn="l">
              <a:lnSpc>
                <a:spcPts val="3226"/>
              </a:lnSpc>
            </a:pPr>
            <a:endParaRPr/>
          </a:p>
          <a:p>
            <a:pPr algn="l">
              <a:lnSpc>
                <a:spcPts val="3226"/>
              </a:lnSpc>
              <a:spcBef>
                <a:spcPct val="0"/>
              </a:spcBef>
            </a:pPr>
            <a:r>
              <a:rPr lang="en-US" sz="2304">
                <a:solidFill>
                  <a:srgbClr val="FFFFFF"/>
                </a:solidFill>
                <a:latin typeface="Poppins"/>
                <a:ea typeface="Poppins"/>
                <a:cs typeface="Poppins"/>
                <a:sym typeface="Poppins"/>
              </a:rPr>
              <a:t>Si una interfaz obliga a las clases a implementar metodos que no usan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831342" y="8036885"/>
            <a:ext cx="1586363" cy="1358323"/>
          </a:xfrm>
          <a:custGeom>
            <a:avLst/>
            <a:gdLst/>
            <a:ahLst/>
            <a:cxnLst/>
            <a:rect l="l" t="t" r="r" b="b"/>
            <a:pathLst>
              <a:path w="1586363" h="1358323">
                <a:moveTo>
                  <a:pt x="0" y="0"/>
                </a:moveTo>
                <a:lnTo>
                  <a:pt x="1586363" y="0"/>
                </a:lnTo>
                <a:lnTo>
                  <a:pt x="1586363" y="1358323"/>
                </a:lnTo>
                <a:lnTo>
                  <a:pt x="0" y="13583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TextBox 8"/>
          <p:cNvSpPr txBox="1"/>
          <p:nvPr/>
        </p:nvSpPr>
        <p:spPr>
          <a:xfrm>
            <a:off x="2961101" y="2308677"/>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D: DEPENDENCY INVERSION</a:t>
            </a:r>
          </a:p>
        </p:txBody>
      </p:sp>
      <p:sp>
        <p:nvSpPr>
          <p:cNvPr id="9" name="TextBox 9"/>
          <p:cNvSpPr txBox="1"/>
          <p:nvPr/>
        </p:nvSpPr>
        <p:spPr>
          <a:xfrm>
            <a:off x="5115512" y="7364096"/>
            <a:ext cx="8056975" cy="599701"/>
          </a:xfrm>
          <a:prstGeom prst="rect">
            <a:avLst/>
          </a:prstGeom>
        </p:spPr>
        <p:txBody>
          <a:bodyPr lIns="0" tIns="0" rIns="0" bIns="0" rtlCol="0" anchor="t">
            <a:spAutoFit/>
          </a:bodyPr>
          <a:lstStyle/>
          <a:p>
            <a:pPr algn="ctr">
              <a:lnSpc>
                <a:spcPts val="4927"/>
              </a:lnSpc>
              <a:spcBef>
                <a:spcPct val="0"/>
              </a:spcBef>
            </a:pPr>
            <a:r>
              <a:rPr lang="en-US" sz="3519">
                <a:solidFill>
                  <a:srgbClr val="F800C0"/>
                </a:solidFill>
                <a:latin typeface="HK Modular"/>
                <a:ea typeface="HK Modular"/>
                <a:cs typeface="HK Modular"/>
                <a:sym typeface="HK Modular"/>
              </a:rPr>
              <a:t>CONSEJO DE APLICACION</a:t>
            </a:r>
          </a:p>
        </p:txBody>
      </p:sp>
      <p:sp>
        <p:nvSpPr>
          <p:cNvPr id="10" name="TextBox 10"/>
          <p:cNvSpPr txBox="1"/>
          <p:nvPr/>
        </p:nvSpPr>
        <p:spPr>
          <a:xfrm>
            <a:off x="2850208" y="3662160"/>
            <a:ext cx="1258758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Establece que las dependencias deben estar en las abstracciones, no en los detalles de la implementacion</a:t>
            </a:r>
          </a:p>
        </p:txBody>
      </p:sp>
      <p:sp>
        <p:nvSpPr>
          <p:cNvPr id="11" name="TextBox 11"/>
          <p:cNvSpPr txBox="1"/>
          <p:nvPr/>
        </p:nvSpPr>
        <p:spPr>
          <a:xfrm>
            <a:off x="2850208" y="5076825"/>
            <a:ext cx="12587585"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Los modulos de alto nivel no deberian depender de modulos de bajo nivel</a:t>
            </a:r>
          </a:p>
        </p:txBody>
      </p:sp>
      <p:sp>
        <p:nvSpPr>
          <p:cNvPr id="12" name="TextBox 12"/>
          <p:cNvSpPr txBox="1"/>
          <p:nvPr/>
        </p:nvSpPr>
        <p:spPr>
          <a:xfrm>
            <a:off x="3417705" y="8225191"/>
            <a:ext cx="1258758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Definido mediante interfaces lo que ayuda a que la aplicacion nucleo no tendra que concoer la implementacion real para funcionar</a:t>
            </a:r>
          </a:p>
        </p:txBody>
      </p:sp>
      <p:sp>
        <p:nvSpPr>
          <p:cNvPr id="13" name="TextBox 13"/>
          <p:cNvSpPr txBox="1"/>
          <p:nvPr/>
        </p:nvSpPr>
        <p:spPr>
          <a:xfrm>
            <a:off x="2961101" y="9404733"/>
            <a:ext cx="12587585"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Permite tener bajo ACOPLAMIENTO y alta COHESION</a:t>
            </a:r>
          </a:p>
        </p:txBody>
      </p:sp>
      <p:sp>
        <p:nvSpPr>
          <p:cNvPr id="14" name="TextBox 14"/>
          <p:cNvSpPr txBox="1"/>
          <p:nvPr/>
        </p:nvSpPr>
        <p:spPr>
          <a:xfrm>
            <a:off x="2961101" y="5865063"/>
            <a:ext cx="1258758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En lugar de depender directamente de clases concretas, las clases deben depender de interfaces o abstracciones para mayor flexibilidad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044746" y="-534832"/>
            <a:ext cx="2767309" cy="2767309"/>
          </a:xfrm>
          <a:custGeom>
            <a:avLst/>
            <a:gdLst/>
            <a:ahLst/>
            <a:cxnLst/>
            <a:rect l="l" t="t" r="r" b="b"/>
            <a:pathLst>
              <a:path w="2767309" h="2767309">
                <a:moveTo>
                  <a:pt x="0" y="0"/>
                </a:moveTo>
                <a:lnTo>
                  <a:pt x="2767309" y="0"/>
                </a:lnTo>
                <a:lnTo>
                  <a:pt x="2767309" y="2767309"/>
                </a:lnTo>
                <a:lnTo>
                  <a:pt x="0" y="2767309"/>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227767" y="1568262"/>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D: DEPENDENCY INVERSION</a:t>
            </a:r>
          </a:p>
        </p:txBody>
      </p:sp>
      <p:sp>
        <p:nvSpPr>
          <p:cNvPr id="8" name="TextBox 8"/>
          <p:cNvSpPr txBox="1"/>
          <p:nvPr/>
        </p:nvSpPr>
        <p:spPr>
          <a:xfrm>
            <a:off x="1696998" y="3046334"/>
            <a:ext cx="5426137" cy="599701"/>
          </a:xfrm>
          <a:prstGeom prst="rect">
            <a:avLst/>
          </a:prstGeom>
        </p:spPr>
        <p:txBody>
          <a:bodyPr lIns="0" tIns="0" rIns="0" bIns="0" rtlCol="0" anchor="t">
            <a:spAutoFit/>
          </a:bodyPr>
          <a:lstStyle/>
          <a:p>
            <a:pPr algn="ctr">
              <a:lnSpc>
                <a:spcPts val="4927"/>
              </a:lnSpc>
              <a:spcBef>
                <a:spcPct val="0"/>
              </a:spcBef>
            </a:pPr>
            <a:r>
              <a:rPr lang="en-US" sz="3519">
                <a:solidFill>
                  <a:srgbClr val="F800C0"/>
                </a:solidFill>
                <a:latin typeface="HK Modular"/>
                <a:ea typeface="HK Modular"/>
                <a:cs typeface="HK Modular"/>
                <a:sym typeface="HK Modular"/>
              </a:rPr>
              <a:t>ACOPLAMIENTO</a:t>
            </a:r>
          </a:p>
        </p:txBody>
      </p:sp>
      <p:sp>
        <p:nvSpPr>
          <p:cNvPr id="9" name="TextBox 9"/>
          <p:cNvSpPr txBox="1"/>
          <p:nvPr/>
        </p:nvSpPr>
        <p:spPr>
          <a:xfrm>
            <a:off x="11065208" y="3046334"/>
            <a:ext cx="5426137" cy="599701"/>
          </a:xfrm>
          <a:prstGeom prst="rect">
            <a:avLst/>
          </a:prstGeom>
        </p:spPr>
        <p:txBody>
          <a:bodyPr lIns="0" tIns="0" rIns="0" bIns="0" rtlCol="0" anchor="t">
            <a:spAutoFit/>
          </a:bodyPr>
          <a:lstStyle/>
          <a:p>
            <a:pPr algn="ctr">
              <a:lnSpc>
                <a:spcPts val="4927"/>
              </a:lnSpc>
              <a:spcBef>
                <a:spcPct val="0"/>
              </a:spcBef>
            </a:pPr>
            <a:r>
              <a:rPr lang="en-US" sz="3519">
                <a:solidFill>
                  <a:srgbClr val="F800C0"/>
                </a:solidFill>
                <a:latin typeface="HK Modular"/>
                <a:ea typeface="HK Modular"/>
                <a:cs typeface="HK Modular"/>
                <a:sym typeface="HK Modular"/>
              </a:rPr>
              <a:t>COHESION</a:t>
            </a:r>
          </a:p>
        </p:txBody>
      </p:sp>
      <p:sp>
        <p:nvSpPr>
          <p:cNvPr id="10" name="TextBox 10"/>
          <p:cNvSpPr txBox="1"/>
          <p:nvPr/>
        </p:nvSpPr>
        <p:spPr>
          <a:xfrm>
            <a:off x="1443845" y="4137077"/>
            <a:ext cx="5932443"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Grado de interdependencia de dos unidades de software entre si</a:t>
            </a:r>
          </a:p>
        </p:txBody>
      </p:sp>
      <p:sp>
        <p:nvSpPr>
          <p:cNvPr id="11" name="TextBox 11"/>
          <p:cNvSpPr txBox="1"/>
          <p:nvPr/>
        </p:nvSpPr>
        <p:spPr>
          <a:xfrm>
            <a:off x="1443845" y="5585584"/>
            <a:ext cx="5932443"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Si son independientes una de la otra hay desacople</a:t>
            </a:r>
          </a:p>
        </p:txBody>
      </p:sp>
      <p:sp>
        <p:nvSpPr>
          <p:cNvPr id="12" name="TextBox 12"/>
          <p:cNvSpPr txBox="1"/>
          <p:nvPr/>
        </p:nvSpPr>
        <p:spPr>
          <a:xfrm>
            <a:off x="10812055" y="3822824"/>
            <a:ext cx="5932443" cy="18294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Grado en que los elementos de un sistema permanecen unidos para alcanzar un mejor resultado que si trabajaran solos.</a:t>
            </a:r>
          </a:p>
        </p:txBody>
      </p:sp>
      <p:sp>
        <p:nvSpPr>
          <p:cNvPr id="13" name="TextBox 13"/>
          <p:cNvSpPr txBox="1"/>
          <p:nvPr/>
        </p:nvSpPr>
        <p:spPr>
          <a:xfrm>
            <a:off x="10812055" y="5814113"/>
            <a:ext cx="5932443"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Agrupar diversas unidades para crear una unidad mayor</a:t>
            </a:r>
          </a:p>
        </p:txBody>
      </p:sp>
      <p:sp>
        <p:nvSpPr>
          <p:cNvPr id="14" name="TextBox 14"/>
          <p:cNvSpPr txBox="1"/>
          <p:nvPr/>
        </p:nvSpPr>
        <p:spPr>
          <a:xfrm>
            <a:off x="2207891" y="7685937"/>
            <a:ext cx="13336598" cy="18294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La alta cohesión significa que los elementos dentro de un módulo están estrechamente relacionados y trabajan juntos hacia un objetivo común, mientras que el bajo acoplamiento implica que los módulos son independientes entre sí y tienen poca dependencia mutua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194097" y="-411319"/>
            <a:ext cx="2492840" cy="2492840"/>
          </a:xfrm>
          <a:custGeom>
            <a:avLst/>
            <a:gdLst/>
            <a:ahLst/>
            <a:cxnLst/>
            <a:rect l="l" t="t" r="r" b="b"/>
            <a:pathLst>
              <a:path w="2492840" h="2492840">
                <a:moveTo>
                  <a:pt x="0" y="0"/>
                </a:moveTo>
                <a:lnTo>
                  <a:pt x="2492840" y="0"/>
                </a:lnTo>
                <a:lnTo>
                  <a:pt x="2492840" y="2492840"/>
                </a:lnTo>
                <a:lnTo>
                  <a:pt x="0" y="2492840"/>
                </a:lnTo>
                <a:lnTo>
                  <a:pt x="0" y="0"/>
                </a:lnTo>
                <a:close/>
              </a:path>
            </a:pathLst>
          </a:custGeom>
          <a:blipFill>
            <a:blip r:embed="rId3"/>
            <a:stretch>
              <a:fillRect/>
            </a:stretch>
          </a:blipFill>
        </p:spPr>
        <p:txBody>
          <a:bodyPr/>
          <a:lstStyle/>
          <a:p>
            <a:endParaRPr lang="es-CO"/>
          </a:p>
        </p:txBody>
      </p:sp>
      <p:sp>
        <p:nvSpPr>
          <p:cNvPr id="7" name="Freeform 7"/>
          <p:cNvSpPr/>
          <p:nvPr/>
        </p:nvSpPr>
        <p:spPr>
          <a:xfrm>
            <a:off x="9767276" y="5984549"/>
            <a:ext cx="7913430" cy="2821310"/>
          </a:xfrm>
          <a:custGeom>
            <a:avLst/>
            <a:gdLst/>
            <a:ahLst/>
            <a:cxnLst/>
            <a:rect l="l" t="t" r="r" b="b"/>
            <a:pathLst>
              <a:path w="7913430" h="2821310">
                <a:moveTo>
                  <a:pt x="0" y="0"/>
                </a:moveTo>
                <a:lnTo>
                  <a:pt x="7913430" y="0"/>
                </a:lnTo>
                <a:lnTo>
                  <a:pt x="7913430" y="2821309"/>
                </a:lnTo>
                <a:lnTo>
                  <a:pt x="0" y="2821309"/>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2961101" y="1606970"/>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D: DEPENDENCY INVERSION</a:t>
            </a:r>
          </a:p>
        </p:txBody>
      </p:sp>
      <p:sp>
        <p:nvSpPr>
          <p:cNvPr id="9" name="TextBox 9"/>
          <p:cNvSpPr txBox="1"/>
          <p:nvPr/>
        </p:nvSpPr>
        <p:spPr>
          <a:xfrm>
            <a:off x="4311175" y="2981089"/>
            <a:ext cx="9884384" cy="599701"/>
          </a:xfrm>
          <a:prstGeom prst="rect">
            <a:avLst/>
          </a:prstGeom>
        </p:spPr>
        <p:txBody>
          <a:bodyPr lIns="0" tIns="0" rIns="0" bIns="0" rtlCol="0" anchor="t">
            <a:spAutoFit/>
          </a:bodyPr>
          <a:lstStyle/>
          <a:p>
            <a:pPr algn="ctr">
              <a:lnSpc>
                <a:spcPts val="4927"/>
              </a:lnSpc>
              <a:spcBef>
                <a:spcPct val="0"/>
              </a:spcBef>
            </a:pPr>
            <a:r>
              <a:rPr lang="en-US" sz="3519">
                <a:solidFill>
                  <a:srgbClr val="F800C0"/>
                </a:solidFill>
                <a:latin typeface="HK Modular"/>
                <a:ea typeface="HK Modular"/>
                <a:cs typeface="HK Modular"/>
                <a:sym typeface="HK Modular"/>
              </a:rPr>
              <a:t>INJECCION DE DEPENDENCIAS</a:t>
            </a:r>
          </a:p>
        </p:txBody>
      </p:sp>
      <p:sp>
        <p:nvSpPr>
          <p:cNvPr id="10" name="TextBox 10"/>
          <p:cNvSpPr txBox="1"/>
          <p:nvPr/>
        </p:nvSpPr>
        <p:spPr>
          <a:xfrm>
            <a:off x="3506649" y="3912014"/>
            <a:ext cx="11493436"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Es un patron que permite a un objeto recibir sus dependencias de una fuente externa, en lugar de crearlas directamente</a:t>
            </a:r>
          </a:p>
        </p:txBody>
      </p:sp>
      <p:sp>
        <p:nvSpPr>
          <p:cNvPr id="11" name="TextBox 11"/>
          <p:cNvSpPr txBox="1"/>
          <p:nvPr/>
        </p:nvSpPr>
        <p:spPr>
          <a:xfrm>
            <a:off x="637150" y="5632346"/>
            <a:ext cx="8173227" cy="915036"/>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FFFFFF"/>
                </a:solidFill>
                <a:latin typeface="Poppins"/>
                <a:ea typeface="Poppins"/>
                <a:cs typeface="Poppins"/>
                <a:sym typeface="Poppins"/>
              </a:rPr>
              <a:t>Se definen interfaces o clases abstractas para representar las dependencias</a:t>
            </a:r>
          </a:p>
        </p:txBody>
      </p:sp>
      <p:sp>
        <p:nvSpPr>
          <p:cNvPr id="12" name="TextBox 12"/>
          <p:cNvSpPr txBox="1"/>
          <p:nvPr/>
        </p:nvSpPr>
        <p:spPr>
          <a:xfrm>
            <a:off x="637150" y="7014106"/>
            <a:ext cx="8173227" cy="915036"/>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FFFFFF"/>
                </a:solidFill>
                <a:latin typeface="Poppins"/>
                <a:ea typeface="Poppins"/>
                <a:cs typeface="Poppins"/>
                <a:sym typeface="Poppins"/>
              </a:rPr>
              <a:t>Se crean clases concretas que implementan esas interfaces</a:t>
            </a:r>
          </a:p>
        </p:txBody>
      </p:sp>
      <p:sp>
        <p:nvSpPr>
          <p:cNvPr id="13" name="TextBox 13"/>
          <p:cNvSpPr txBox="1"/>
          <p:nvPr/>
        </p:nvSpPr>
        <p:spPr>
          <a:xfrm>
            <a:off x="637150" y="8395867"/>
            <a:ext cx="8173227" cy="1372236"/>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FFFFFF"/>
                </a:solidFill>
                <a:latin typeface="Poppins"/>
                <a:ea typeface="Poppins"/>
                <a:cs typeface="Poppins"/>
                <a:sym typeface="Poppins"/>
              </a:rPr>
              <a:t>El objeto que necesita las dependencias las recibe de una fuente externa en lugar de crearlas por si mismo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044746" y="-196212"/>
            <a:ext cx="2767309" cy="2767309"/>
          </a:xfrm>
          <a:custGeom>
            <a:avLst/>
            <a:gdLst/>
            <a:ahLst/>
            <a:cxnLst/>
            <a:rect l="l" t="t" r="r" b="b"/>
            <a:pathLst>
              <a:path w="2767309" h="2767309">
                <a:moveTo>
                  <a:pt x="0" y="0"/>
                </a:moveTo>
                <a:lnTo>
                  <a:pt x="2767309" y="0"/>
                </a:lnTo>
                <a:lnTo>
                  <a:pt x="2767309" y="2767310"/>
                </a:lnTo>
                <a:lnTo>
                  <a:pt x="0" y="2767310"/>
                </a:lnTo>
                <a:lnTo>
                  <a:pt x="0" y="0"/>
                </a:lnTo>
                <a:close/>
              </a:path>
            </a:pathLst>
          </a:custGeom>
          <a:blipFill>
            <a:blip r:embed="rId3"/>
            <a:stretch>
              <a:fillRect/>
            </a:stretch>
          </a:blipFill>
        </p:spPr>
        <p:txBody>
          <a:bodyPr/>
          <a:lstStyle/>
          <a:p>
            <a:endParaRPr lang="es-CO"/>
          </a:p>
        </p:txBody>
      </p:sp>
      <p:sp>
        <p:nvSpPr>
          <p:cNvPr id="7" name="Freeform 7"/>
          <p:cNvSpPr/>
          <p:nvPr/>
        </p:nvSpPr>
        <p:spPr>
          <a:xfrm>
            <a:off x="6576387" y="6621166"/>
            <a:ext cx="5135226" cy="3401003"/>
          </a:xfrm>
          <a:custGeom>
            <a:avLst/>
            <a:gdLst/>
            <a:ahLst/>
            <a:cxnLst/>
            <a:rect l="l" t="t" r="r" b="b"/>
            <a:pathLst>
              <a:path w="5135226" h="3401003">
                <a:moveTo>
                  <a:pt x="0" y="0"/>
                </a:moveTo>
                <a:lnTo>
                  <a:pt x="5135226" y="0"/>
                </a:lnTo>
                <a:lnTo>
                  <a:pt x="5135226" y="3401003"/>
                </a:lnTo>
                <a:lnTo>
                  <a:pt x="0" y="3401003"/>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3136135"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D: DEPENDENCY INVERSION</a:t>
            </a:r>
          </a:p>
        </p:txBody>
      </p:sp>
      <p:sp>
        <p:nvSpPr>
          <p:cNvPr id="9" name="TextBox 9"/>
          <p:cNvSpPr txBox="1"/>
          <p:nvPr/>
        </p:nvSpPr>
        <p:spPr>
          <a:xfrm>
            <a:off x="1608350" y="3382615"/>
            <a:ext cx="15290035"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En algun momento nuestra aplicacion llegara a estar formado por muchos modulos, ahi es cuando debemos utilizar INYECCION DE DEPENDENCIAS</a:t>
            </a:r>
          </a:p>
        </p:txBody>
      </p:sp>
      <p:sp>
        <p:nvSpPr>
          <p:cNvPr id="10" name="TextBox 10"/>
          <p:cNvSpPr txBox="1"/>
          <p:nvPr/>
        </p:nvSpPr>
        <p:spPr>
          <a:xfrm>
            <a:off x="1521705" y="4726275"/>
            <a:ext cx="15463324"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Esto nos permitira controlar las funcionalidades desde un sitio concreto en vez de tenerlas esparcidas</a:t>
            </a:r>
          </a:p>
        </p:txBody>
      </p:sp>
      <p:sp>
        <p:nvSpPr>
          <p:cNvPr id="11" name="TextBox 11"/>
          <p:cNvSpPr txBox="1"/>
          <p:nvPr/>
        </p:nvSpPr>
        <p:spPr>
          <a:xfrm>
            <a:off x="1269649" y="5868055"/>
            <a:ext cx="15463324"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Imaginemos que nuestro servicio tiene este Acceso a Datos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044746" y="-196212"/>
            <a:ext cx="2767309" cy="2767309"/>
          </a:xfrm>
          <a:custGeom>
            <a:avLst/>
            <a:gdLst/>
            <a:ahLst/>
            <a:cxnLst/>
            <a:rect l="l" t="t" r="r" b="b"/>
            <a:pathLst>
              <a:path w="2767309" h="2767309">
                <a:moveTo>
                  <a:pt x="0" y="0"/>
                </a:moveTo>
                <a:lnTo>
                  <a:pt x="2767309" y="0"/>
                </a:lnTo>
                <a:lnTo>
                  <a:pt x="2767309" y="2767310"/>
                </a:lnTo>
                <a:lnTo>
                  <a:pt x="0" y="2767310"/>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136135"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D: DEPENDENCY INVERSION</a:t>
            </a:r>
          </a:p>
        </p:txBody>
      </p:sp>
      <p:sp>
        <p:nvSpPr>
          <p:cNvPr id="8" name="TextBox 8"/>
          <p:cNvSpPr txBox="1"/>
          <p:nvPr/>
        </p:nvSpPr>
        <p:spPr>
          <a:xfrm>
            <a:off x="1521705" y="3284478"/>
            <a:ext cx="15463324"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¿Que pasa si queremos cambiar el servicio de Base de datos por un servicio que conecta con un servicio externo?</a:t>
            </a:r>
          </a:p>
        </p:txBody>
      </p:sp>
      <p:sp>
        <p:nvSpPr>
          <p:cNvPr id="9" name="TextBox 9"/>
          <p:cNvSpPr txBox="1"/>
          <p:nvPr/>
        </p:nvSpPr>
        <p:spPr>
          <a:xfrm>
            <a:off x="11068339" y="4913888"/>
            <a:ext cx="5522851"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Tendriamos que modificar todas las instancias de la clase AccesoADatos una por una</a:t>
            </a:r>
          </a:p>
        </p:txBody>
      </p:sp>
      <p:sp>
        <p:nvSpPr>
          <p:cNvPr id="10" name="Freeform 10"/>
          <p:cNvSpPr/>
          <p:nvPr/>
        </p:nvSpPr>
        <p:spPr>
          <a:xfrm>
            <a:off x="2196908" y="4980563"/>
            <a:ext cx="6505993" cy="4308847"/>
          </a:xfrm>
          <a:custGeom>
            <a:avLst/>
            <a:gdLst/>
            <a:ahLst/>
            <a:cxnLst/>
            <a:rect l="l" t="t" r="r" b="b"/>
            <a:pathLst>
              <a:path w="6505993" h="4308847">
                <a:moveTo>
                  <a:pt x="0" y="0"/>
                </a:moveTo>
                <a:lnTo>
                  <a:pt x="6505993" y="0"/>
                </a:lnTo>
                <a:lnTo>
                  <a:pt x="6505993" y="4308848"/>
                </a:lnTo>
                <a:lnTo>
                  <a:pt x="0" y="4308848"/>
                </a:lnTo>
                <a:lnTo>
                  <a:pt x="0" y="0"/>
                </a:lnTo>
                <a:close/>
              </a:path>
            </a:pathLst>
          </a:custGeom>
          <a:blipFill>
            <a:blip r:embed="rId4"/>
            <a:stretch>
              <a:fillRect/>
            </a:stretch>
          </a:blipFill>
        </p:spPr>
        <p:txBody>
          <a:bodyPr/>
          <a:lstStyle/>
          <a:p>
            <a:endParaRPr lang="es-CO"/>
          </a:p>
        </p:txBody>
      </p:sp>
      <p:sp>
        <p:nvSpPr>
          <p:cNvPr id="11" name="Freeform 11"/>
          <p:cNvSpPr/>
          <p:nvPr/>
        </p:nvSpPr>
        <p:spPr>
          <a:xfrm>
            <a:off x="9894281" y="4980563"/>
            <a:ext cx="917775" cy="917775"/>
          </a:xfrm>
          <a:custGeom>
            <a:avLst/>
            <a:gdLst/>
            <a:ahLst/>
            <a:cxnLst/>
            <a:rect l="l" t="t" r="r" b="b"/>
            <a:pathLst>
              <a:path w="917775" h="917775">
                <a:moveTo>
                  <a:pt x="0" y="0"/>
                </a:moveTo>
                <a:lnTo>
                  <a:pt x="917774" y="0"/>
                </a:lnTo>
                <a:lnTo>
                  <a:pt x="917774" y="917775"/>
                </a:lnTo>
                <a:lnTo>
                  <a:pt x="0" y="9177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2" name="TextBox 12"/>
          <p:cNvSpPr txBox="1"/>
          <p:nvPr/>
        </p:nvSpPr>
        <p:spPr>
          <a:xfrm>
            <a:off x="11068339" y="6785506"/>
            <a:ext cx="5522851" cy="18294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Nuestro modulo de alto nivel depende de uno de mas Bajo nivel, en este caso deberia depender es de abstracciones</a:t>
            </a:r>
          </a:p>
        </p:txBody>
      </p:sp>
      <p:sp>
        <p:nvSpPr>
          <p:cNvPr id="13" name="Freeform 13"/>
          <p:cNvSpPr/>
          <p:nvPr/>
        </p:nvSpPr>
        <p:spPr>
          <a:xfrm>
            <a:off x="9894281" y="6815787"/>
            <a:ext cx="917775" cy="917775"/>
          </a:xfrm>
          <a:custGeom>
            <a:avLst/>
            <a:gdLst/>
            <a:ahLst/>
            <a:cxnLst/>
            <a:rect l="l" t="t" r="r" b="b"/>
            <a:pathLst>
              <a:path w="917775" h="917775">
                <a:moveTo>
                  <a:pt x="0" y="0"/>
                </a:moveTo>
                <a:lnTo>
                  <a:pt x="917774" y="0"/>
                </a:lnTo>
                <a:lnTo>
                  <a:pt x="917774" y="917775"/>
                </a:lnTo>
                <a:lnTo>
                  <a:pt x="0" y="9177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044746" y="-196212"/>
            <a:ext cx="2767309" cy="2767309"/>
          </a:xfrm>
          <a:custGeom>
            <a:avLst/>
            <a:gdLst/>
            <a:ahLst/>
            <a:cxnLst/>
            <a:rect l="l" t="t" r="r" b="b"/>
            <a:pathLst>
              <a:path w="2767309" h="2767309">
                <a:moveTo>
                  <a:pt x="0" y="0"/>
                </a:moveTo>
                <a:lnTo>
                  <a:pt x="2767309" y="0"/>
                </a:lnTo>
                <a:lnTo>
                  <a:pt x="2767309" y="2767310"/>
                </a:lnTo>
                <a:lnTo>
                  <a:pt x="0" y="2767310"/>
                </a:lnTo>
                <a:lnTo>
                  <a:pt x="0" y="0"/>
                </a:lnTo>
                <a:close/>
              </a:path>
            </a:pathLst>
          </a:custGeom>
          <a:blipFill>
            <a:blip r:embed="rId3"/>
            <a:stretch>
              <a:fillRect/>
            </a:stretch>
          </a:blipFill>
        </p:spPr>
        <p:txBody>
          <a:bodyPr/>
          <a:lstStyle/>
          <a:p>
            <a:endParaRPr lang="es-CO"/>
          </a:p>
        </p:txBody>
      </p:sp>
      <p:sp>
        <p:nvSpPr>
          <p:cNvPr id="7" name="Freeform 7"/>
          <p:cNvSpPr/>
          <p:nvPr/>
        </p:nvSpPr>
        <p:spPr>
          <a:xfrm>
            <a:off x="2306337" y="4413545"/>
            <a:ext cx="5502107" cy="4496783"/>
          </a:xfrm>
          <a:custGeom>
            <a:avLst/>
            <a:gdLst/>
            <a:ahLst/>
            <a:cxnLst/>
            <a:rect l="l" t="t" r="r" b="b"/>
            <a:pathLst>
              <a:path w="5502107" h="4496783">
                <a:moveTo>
                  <a:pt x="0" y="0"/>
                </a:moveTo>
                <a:lnTo>
                  <a:pt x="5502106" y="0"/>
                </a:lnTo>
                <a:lnTo>
                  <a:pt x="5502106" y="4496784"/>
                </a:lnTo>
                <a:lnTo>
                  <a:pt x="0" y="4496784"/>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3136135"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D: DEPENDENCY INVERSION</a:t>
            </a:r>
          </a:p>
        </p:txBody>
      </p:sp>
      <p:sp>
        <p:nvSpPr>
          <p:cNvPr id="9" name="TextBox 9"/>
          <p:cNvSpPr txBox="1"/>
          <p:nvPr/>
        </p:nvSpPr>
        <p:spPr>
          <a:xfrm>
            <a:off x="1521705" y="3284478"/>
            <a:ext cx="15463324"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¿Como podemos arreglar esto?</a:t>
            </a:r>
          </a:p>
        </p:txBody>
      </p:sp>
      <p:sp>
        <p:nvSpPr>
          <p:cNvPr id="10" name="TextBox 10"/>
          <p:cNvSpPr txBox="1"/>
          <p:nvPr/>
        </p:nvSpPr>
        <p:spPr>
          <a:xfrm>
            <a:off x="9997100" y="4346870"/>
            <a:ext cx="7838619"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Podemos hacer que el modulo de acceso a datos dependa de una abstraccion mas generica</a:t>
            </a:r>
          </a:p>
        </p:txBody>
      </p:sp>
      <p:sp>
        <p:nvSpPr>
          <p:cNvPr id="11" name="Freeform 11"/>
          <p:cNvSpPr/>
          <p:nvPr/>
        </p:nvSpPr>
        <p:spPr>
          <a:xfrm>
            <a:off x="8827116" y="4413545"/>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2" name="TextBox 12"/>
          <p:cNvSpPr txBox="1"/>
          <p:nvPr/>
        </p:nvSpPr>
        <p:spPr>
          <a:xfrm>
            <a:off x="10133746" y="6319181"/>
            <a:ext cx="7838619"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Sin importar el tipo de conexion ni este ni sus intancias tendran que cambiar</a:t>
            </a:r>
          </a:p>
        </p:txBody>
      </p:sp>
      <p:sp>
        <p:nvSpPr>
          <p:cNvPr id="13" name="Freeform 13"/>
          <p:cNvSpPr/>
          <p:nvPr/>
        </p:nvSpPr>
        <p:spPr>
          <a:xfrm>
            <a:off x="8827116" y="6385856"/>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044746" y="-196212"/>
            <a:ext cx="2767309" cy="2767309"/>
          </a:xfrm>
          <a:custGeom>
            <a:avLst/>
            <a:gdLst/>
            <a:ahLst/>
            <a:cxnLst/>
            <a:rect l="l" t="t" r="r" b="b"/>
            <a:pathLst>
              <a:path w="2767309" h="2767309">
                <a:moveTo>
                  <a:pt x="0" y="0"/>
                </a:moveTo>
                <a:lnTo>
                  <a:pt x="2767309" y="0"/>
                </a:lnTo>
                <a:lnTo>
                  <a:pt x="2767309" y="2767310"/>
                </a:lnTo>
                <a:lnTo>
                  <a:pt x="0" y="2767310"/>
                </a:lnTo>
                <a:lnTo>
                  <a:pt x="0" y="0"/>
                </a:lnTo>
                <a:close/>
              </a:path>
            </a:pathLst>
          </a:custGeom>
          <a:blipFill>
            <a:blip r:embed="rId3"/>
            <a:stretch>
              <a:fillRect/>
            </a:stretch>
          </a:blipFill>
        </p:spPr>
        <p:txBody>
          <a:bodyPr/>
          <a:lstStyle/>
          <a:p>
            <a:endParaRPr lang="es-CO"/>
          </a:p>
        </p:txBody>
      </p:sp>
      <p:sp>
        <p:nvSpPr>
          <p:cNvPr id="7" name="Freeform 7"/>
          <p:cNvSpPr/>
          <p:nvPr/>
        </p:nvSpPr>
        <p:spPr>
          <a:xfrm>
            <a:off x="8827116" y="4413545"/>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p:cNvSpPr/>
          <p:nvPr/>
        </p:nvSpPr>
        <p:spPr>
          <a:xfrm>
            <a:off x="8827116" y="6385856"/>
            <a:ext cx="852502" cy="729955"/>
          </a:xfrm>
          <a:custGeom>
            <a:avLst/>
            <a:gdLst/>
            <a:ahLst/>
            <a:cxnLst/>
            <a:rect l="l" t="t" r="r" b="b"/>
            <a:pathLst>
              <a:path w="852502" h="729955">
                <a:moveTo>
                  <a:pt x="0" y="0"/>
                </a:moveTo>
                <a:lnTo>
                  <a:pt x="852502" y="0"/>
                </a:lnTo>
                <a:lnTo>
                  <a:pt x="852502" y="729955"/>
                </a:lnTo>
                <a:lnTo>
                  <a:pt x="0" y="7299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Freeform 9"/>
          <p:cNvSpPr/>
          <p:nvPr/>
        </p:nvSpPr>
        <p:spPr>
          <a:xfrm>
            <a:off x="1706101" y="4413545"/>
            <a:ext cx="5571979" cy="4323541"/>
          </a:xfrm>
          <a:custGeom>
            <a:avLst/>
            <a:gdLst/>
            <a:ahLst/>
            <a:cxnLst/>
            <a:rect l="l" t="t" r="r" b="b"/>
            <a:pathLst>
              <a:path w="5571979" h="4323541">
                <a:moveTo>
                  <a:pt x="0" y="0"/>
                </a:moveTo>
                <a:lnTo>
                  <a:pt x="5571980" y="0"/>
                </a:lnTo>
                <a:lnTo>
                  <a:pt x="5571980" y="4323541"/>
                </a:lnTo>
                <a:lnTo>
                  <a:pt x="0" y="4323541"/>
                </a:lnTo>
                <a:lnTo>
                  <a:pt x="0" y="0"/>
                </a:lnTo>
                <a:close/>
              </a:path>
            </a:pathLst>
          </a:custGeom>
          <a:blipFill>
            <a:blip r:embed="rId5"/>
            <a:stretch>
              <a:fillRect/>
            </a:stretch>
          </a:blipFill>
        </p:spPr>
        <p:txBody>
          <a:bodyPr/>
          <a:lstStyle/>
          <a:p>
            <a:endParaRPr lang="es-CO"/>
          </a:p>
        </p:txBody>
      </p:sp>
      <p:sp>
        <p:nvSpPr>
          <p:cNvPr id="10" name="TextBox 10"/>
          <p:cNvSpPr txBox="1"/>
          <p:nvPr/>
        </p:nvSpPr>
        <p:spPr>
          <a:xfrm>
            <a:off x="3136135" y="2096546"/>
            <a:ext cx="12584532" cy="853854"/>
          </a:xfrm>
          <a:prstGeom prst="rect">
            <a:avLst/>
          </a:prstGeom>
        </p:spPr>
        <p:txBody>
          <a:bodyPr lIns="0" tIns="0" rIns="0" bIns="0" rtlCol="0" anchor="t">
            <a:spAutoFit/>
          </a:bodyPr>
          <a:lstStyle/>
          <a:p>
            <a:pPr algn="ctr">
              <a:lnSpc>
                <a:spcPts val="7012"/>
              </a:lnSpc>
              <a:spcBef>
                <a:spcPct val="0"/>
              </a:spcBef>
            </a:pPr>
            <a:r>
              <a:rPr lang="en-US" sz="5008">
                <a:solidFill>
                  <a:srgbClr val="FFA260"/>
                </a:solidFill>
                <a:latin typeface="HK Modular"/>
                <a:ea typeface="HK Modular"/>
                <a:cs typeface="HK Modular"/>
                <a:sym typeface="HK Modular"/>
              </a:rPr>
              <a:t>D: DEPENDENCY INVERSION</a:t>
            </a:r>
          </a:p>
        </p:txBody>
      </p:sp>
      <p:sp>
        <p:nvSpPr>
          <p:cNvPr id="11" name="TextBox 11"/>
          <p:cNvSpPr txBox="1"/>
          <p:nvPr/>
        </p:nvSpPr>
        <p:spPr>
          <a:xfrm>
            <a:off x="1521705" y="3284478"/>
            <a:ext cx="15463324"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¿Como podemos arreglar esto?</a:t>
            </a:r>
          </a:p>
        </p:txBody>
      </p:sp>
      <p:sp>
        <p:nvSpPr>
          <p:cNvPr id="12" name="TextBox 12"/>
          <p:cNvSpPr txBox="1"/>
          <p:nvPr/>
        </p:nvSpPr>
        <p:spPr>
          <a:xfrm>
            <a:off x="9997100" y="4346870"/>
            <a:ext cx="7838619"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Cada servicio que querramos crear debera implementar la interfaz</a:t>
            </a:r>
          </a:p>
        </p:txBody>
      </p:sp>
      <p:sp>
        <p:nvSpPr>
          <p:cNvPr id="13" name="TextBox 13"/>
          <p:cNvSpPr txBox="1"/>
          <p:nvPr/>
        </p:nvSpPr>
        <p:spPr>
          <a:xfrm>
            <a:off x="10133746" y="6319181"/>
            <a:ext cx="7838619"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El modulo de alto nivel como el de bajo nivel dependen de abstracciones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3045063" y="2321035"/>
            <a:ext cx="11723240" cy="1533000"/>
          </a:xfrm>
          <a:prstGeom prst="rect">
            <a:avLst/>
          </a:prstGeom>
        </p:spPr>
        <p:txBody>
          <a:bodyPr lIns="0" tIns="0" rIns="0" bIns="0" rtlCol="0" anchor="t">
            <a:spAutoFit/>
          </a:bodyPr>
          <a:lstStyle/>
          <a:p>
            <a:pPr algn="ctr">
              <a:lnSpc>
                <a:spcPts val="6101"/>
              </a:lnSpc>
              <a:spcBef>
                <a:spcPct val="0"/>
              </a:spcBef>
            </a:pPr>
            <a:r>
              <a:rPr lang="en-US" sz="4358">
                <a:solidFill>
                  <a:srgbClr val="FFA260"/>
                </a:solidFill>
                <a:latin typeface="HK Modular"/>
                <a:ea typeface="HK Modular"/>
                <a:cs typeface="HK Modular"/>
                <a:sym typeface="HK Modular"/>
              </a:rPr>
              <a:t>DEPENDENCY INVERSION FALLA SI...</a:t>
            </a:r>
          </a:p>
        </p:txBody>
      </p:sp>
      <p:sp>
        <p:nvSpPr>
          <p:cNvPr id="8" name="Freeform 8"/>
          <p:cNvSpPr/>
          <p:nvPr/>
        </p:nvSpPr>
        <p:spPr>
          <a:xfrm>
            <a:off x="2261075" y="4357025"/>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Freeform 9"/>
          <p:cNvSpPr/>
          <p:nvPr/>
        </p:nvSpPr>
        <p:spPr>
          <a:xfrm>
            <a:off x="2261075" y="5549706"/>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0" name="Freeform 10"/>
          <p:cNvSpPr/>
          <p:nvPr/>
        </p:nvSpPr>
        <p:spPr>
          <a:xfrm>
            <a:off x="2261075" y="6743562"/>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p:cNvSpPr/>
          <p:nvPr/>
        </p:nvSpPr>
        <p:spPr>
          <a:xfrm>
            <a:off x="2261075" y="7937418"/>
            <a:ext cx="965256" cy="965256"/>
          </a:xfrm>
          <a:custGeom>
            <a:avLst/>
            <a:gdLst/>
            <a:ahLst/>
            <a:cxnLst/>
            <a:rect l="l" t="t" r="r" b="b"/>
            <a:pathLst>
              <a:path w="965256" h="965256">
                <a:moveTo>
                  <a:pt x="0" y="0"/>
                </a:moveTo>
                <a:lnTo>
                  <a:pt x="965256" y="0"/>
                </a:lnTo>
                <a:lnTo>
                  <a:pt x="965256" y="965256"/>
                </a:lnTo>
                <a:lnTo>
                  <a:pt x="0" y="965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2" name="TextBox 12"/>
          <p:cNvSpPr txBox="1"/>
          <p:nvPr/>
        </p:nvSpPr>
        <p:spPr>
          <a:xfrm>
            <a:off x="3506649" y="4290350"/>
            <a:ext cx="1149343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El modulo de alto nivel conoce detalles de implementacion </a:t>
            </a:r>
          </a:p>
        </p:txBody>
      </p:sp>
      <p:sp>
        <p:nvSpPr>
          <p:cNvPr id="13" name="TextBox 13"/>
          <p:cNvSpPr txBox="1"/>
          <p:nvPr/>
        </p:nvSpPr>
        <p:spPr>
          <a:xfrm>
            <a:off x="3642600" y="5186336"/>
            <a:ext cx="11493436"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El flujo depende de clases concretas en lugar de Abstracciones, por ejemplo un OrderService que llama a EmailSender directamente en lugar de depender de una interfaz INotificationService</a:t>
            </a:r>
          </a:p>
        </p:txBody>
      </p:sp>
      <p:sp>
        <p:nvSpPr>
          <p:cNvPr id="14" name="TextBox 14"/>
          <p:cNvSpPr txBox="1"/>
          <p:nvPr/>
        </p:nvSpPr>
        <p:spPr>
          <a:xfrm>
            <a:off x="3274866" y="7047126"/>
            <a:ext cx="1149343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No hay interfaces o contratos claros entre capas</a:t>
            </a:r>
          </a:p>
        </p:txBody>
      </p:sp>
      <p:sp>
        <p:nvSpPr>
          <p:cNvPr id="15" name="TextBox 15"/>
          <p:cNvSpPr txBox="1"/>
          <p:nvPr/>
        </p:nvSpPr>
        <p:spPr>
          <a:xfrm>
            <a:off x="3274866" y="8157791"/>
            <a:ext cx="11493436"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No puedes usar mocks o stubs en pruebas unitarias porque las clases estan fuertemente acopladas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7931607" y="-548656"/>
            <a:ext cx="2815787" cy="2815787"/>
          </a:xfrm>
          <a:custGeom>
            <a:avLst/>
            <a:gdLst/>
            <a:ahLst/>
            <a:cxnLst/>
            <a:rect l="l" t="t" r="r" b="b"/>
            <a:pathLst>
              <a:path w="2815787" h="2815787">
                <a:moveTo>
                  <a:pt x="0" y="0"/>
                </a:moveTo>
                <a:lnTo>
                  <a:pt x="2815787" y="0"/>
                </a:lnTo>
                <a:lnTo>
                  <a:pt x="2815787" y="2815786"/>
                </a:lnTo>
                <a:lnTo>
                  <a:pt x="0" y="2815786"/>
                </a:lnTo>
                <a:lnTo>
                  <a:pt x="0" y="0"/>
                </a:lnTo>
                <a:close/>
              </a:path>
            </a:pathLst>
          </a:custGeom>
          <a:blipFill>
            <a:blip r:embed="rId3"/>
            <a:stretch>
              <a:fillRect/>
            </a:stretch>
          </a:blipFill>
        </p:spPr>
        <p:txBody>
          <a:bodyPr/>
          <a:lstStyle/>
          <a:p>
            <a:endParaRPr lang="es-CO"/>
          </a:p>
        </p:txBody>
      </p:sp>
      <p:sp>
        <p:nvSpPr>
          <p:cNvPr id="13" name="TextBox 13"/>
          <p:cNvSpPr txBox="1"/>
          <p:nvPr/>
        </p:nvSpPr>
        <p:spPr>
          <a:xfrm>
            <a:off x="3649348" y="4733365"/>
            <a:ext cx="11380305" cy="1101873"/>
          </a:xfrm>
          <a:prstGeom prst="rect">
            <a:avLst/>
          </a:prstGeom>
        </p:spPr>
        <p:txBody>
          <a:bodyPr lIns="0" tIns="0" rIns="0" bIns="0" rtlCol="0" anchor="t">
            <a:spAutoFit/>
          </a:bodyPr>
          <a:lstStyle/>
          <a:p>
            <a:pPr algn="ctr">
              <a:lnSpc>
                <a:spcPts val="8941"/>
              </a:lnSpc>
              <a:spcBef>
                <a:spcPct val="0"/>
              </a:spcBef>
            </a:pPr>
            <a:r>
              <a:rPr lang="en-US" sz="6387">
                <a:solidFill>
                  <a:srgbClr val="FFA260"/>
                </a:solidFill>
                <a:latin typeface="HK Modular"/>
                <a:ea typeface="HK Modular"/>
                <a:cs typeface="HK Modular"/>
                <a:sym typeface="HK Modular"/>
              </a:rPr>
              <a:t>MAVEN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430400" y="-506257"/>
            <a:ext cx="2217438" cy="2217438"/>
          </a:xfrm>
          <a:custGeom>
            <a:avLst/>
            <a:gdLst/>
            <a:ahLst/>
            <a:cxnLst/>
            <a:rect l="l" t="t" r="r" b="b"/>
            <a:pathLst>
              <a:path w="2217438" h="2217438">
                <a:moveTo>
                  <a:pt x="0" y="0"/>
                </a:moveTo>
                <a:lnTo>
                  <a:pt x="2217438" y="0"/>
                </a:lnTo>
                <a:lnTo>
                  <a:pt x="2217438" y="2217438"/>
                </a:lnTo>
                <a:lnTo>
                  <a:pt x="0" y="2217438"/>
                </a:lnTo>
                <a:lnTo>
                  <a:pt x="0" y="0"/>
                </a:lnTo>
                <a:close/>
              </a:path>
            </a:pathLst>
          </a:custGeom>
          <a:blipFill>
            <a:blip r:embed="rId3"/>
            <a:stretch>
              <a:fillRect/>
            </a:stretch>
          </a:blipFill>
        </p:spPr>
        <p:txBody>
          <a:bodyPr/>
          <a:lstStyle/>
          <a:p>
            <a:endParaRPr lang="es-CO"/>
          </a:p>
        </p:txBody>
      </p:sp>
      <p:sp>
        <p:nvSpPr>
          <p:cNvPr id="7" name="TextBox 7"/>
          <p:cNvSpPr txBox="1"/>
          <p:nvPr/>
        </p:nvSpPr>
        <p:spPr>
          <a:xfrm>
            <a:off x="4567469" y="1596881"/>
            <a:ext cx="9153062" cy="993012"/>
          </a:xfrm>
          <a:prstGeom prst="rect">
            <a:avLst/>
          </a:prstGeom>
        </p:spPr>
        <p:txBody>
          <a:bodyPr lIns="0" tIns="0" rIns="0" bIns="0" rtlCol="0" anchor="t">
            <a:spAutoFit/>
          </a:bodyPr>
          <a:lstStyle/>
          <a:p>
            <a:pPr algn="ctr">
              <a:lnSpc>
                <a:spcPts val="8072"/>
              </a:lnSpc>
              <a:spcBef>
                <a:spcPct val="0"/>
              </a:spcBef>
            </a:pPr>
            <a:r>
              <a:rPr lang="en-US" sz="5766">
                <a:solidFill>
                  <a:srgbClr val="FFA260"/>
                </a:solidFill>
                <a:latin typeface="HK Modular"/>
                <a:ea typeface="HK Modular"/>
                <a:cs typeface="HK Modular"/>
                <a:sym typeface="HK Modular"/>
              </a:rPr>
              <a:t>¿QUE ES MAVEN?</a:t>
            </a:r>
          </a:p>
        </p:txBody>
      </p:sp>
      <p:sp>
        <p:nvSpPr>
          <p:cNvPr id="8" name="TextBox 8"/>
          <p:cNvSpPr txBox="1"/>
          <p:nvPr/>
        </p:nvSpPr>
        <p:spPr>
          <a:xfrm>
            <a:off x="2297557" y="3046603"/>
            <a:ext cx="13692886"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Es una herramienta de software para la gestion de proyectos y construccion de proyectos JAVA, creada por Jason van Zyl en 2002</a:t>
            </a:r>
          </a:p>
        </p:txBody>
      </p:sp>
      <p:sp>
        <p:nvSpPr>
          <p:cNvPr id="9" name="TextBox 9"/>
          <p:cNvSpPr txBox="1"/>
          <p:nvPr/>
        </p:nvSpPr>
        <p:spPr>
          <a:xfrm>
            <a:off x="2406924" y="4228338"/>
            <a:ext cx="13692886"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Gestiona las dependencias como herramienta de compilacion e incluso como herramienta de documentacion</a:t>
            </a:r>
          </a:p>
        </p:txBody>
      </p:sp>
      <p:sp>
        <p:nvSpPr>
          <p:cNvPr id="10" name="TextBox 10"/>
          <p:cNvSpPr txBox="1"/>
          <p:nvPr/>
        </p:nvSpPr>
        <p:spPr>
          <a:xfrm>
            <a:off x="2297557" y="5410074"/>
            <a:ext cx="13692886" cy="4578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Con maven se puede</a:t>
            </a:r>
          </a:p>
        </p:txBody>
      </p:sp>
      <p:sp>
        <p:nvSpPr>
          <p:cNvPr id="11" name="TextBox 11"/>
          <p:cNvSpPr txBox="1"/>
          <p:nvPr/>
        </p:nvSpPr>
        <p:spPr>
          <a:xfrm>
            <a:off x="2297557" y="6313249"/>
            <a:ext cx="13692886" cy="3210561"/>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FFFFFF"/>
                </a:solidFill>
                <a:latin typeface="Poppins"/>
                <a:ea typeface="Poppins"/>
                <a:cs typeface="Poppins"/>
                <a:sym typeface="Poppins"/>
              </a:rPr>
              <a:t>Gestionar las dependencias del proyecto, descargando e instando modulos, paquetes y herramientas</a:t>
            </a:r>
          </a:p>
          <a:p>
            <a:pPr marL="561336" lvl="1" indent="-280668" algn="l">
              <a:lnSpc>
                <a:spcPts val="3639"/>
              </a:lnSpc>
              <a:buFont typeface="Arial"/>
              <a:buChar char="•"/>
            </a:pPr>
            <a:r>
              <a:rPr lang="en-US" sz="2599">
                <a:solidFill>
                  <a:srgbClr val="FFFFFF"/>
                </a:solidFill>
                <a:latin typeface="Poppins"/>
                <a:ea typeface="Poppins"/>
                <a:cs typeface="Poppins"/>
                <a:sym typeface="Poppins"/>
              </a:rPr>
              <a:t>Compilar codigo fuente de la aplicacion</a:t>
            </a:r>
          </a:p>
          <a:p>
            <a:pPr marL="561336" lvl="1" indent="-280668" algn="l">
              <a:lnSpc>
                <a:spcPts val="3639"/>
              </a:lnSpc>
              <a:buFont typeface="Arial"/>
              <a:buChar char="•"/>
            </a:pPr>
            <a:r>
              <a:rPr lang="en-US" sz="2599">
                <a:solidFill>
                  <a:srgbClr val="FFFFFF"/>
                </a:solidFill>
                <a:latin typeface="Poppins"/>
                <a:ea typeface="Poppins"/>
                <a:cs typeface="Poppins"/>
                <a:sym typeface="Poppins"/>
              </a:rPr>
              <a:t>Empaquetar el codigo en archivos .jar o .zip</a:t>
            </a:r>
          </a:p>
          <a:p>
            <a:pPr marL="561336" lvl="1" indent="-280668" algn="l">
              <a:lnSpc>
                <a:spcPts val="3639"/>
              </a:lnSpc>
              <a:buFont typeface="Arial"/>
              <a:buChar char="•"/>
            </a:pPr>
            <a:r>
              <a:rPr lang="en-US" sz="2599">
                <a:solidFill>
                  <a:srgbClr val="FFFFFF"/>
                </a:solidFill>
                <a:latin typeface="Poppins"/>
                <a:ea typeface="Poppins"/>
                <a:cs typeface="Poppins"/>
                <a:sym typeface="Poppins"/>
              </a:rPr>
              <a:t>Instalar los paquetes en un repositorio</a:t>
            </a:r>
          </a:p>
          <a:p>
            <a:pPr marL="561336" lvl="1" indent="-280668" algn="l">
              <a:lnSpc>
                <a:spcPts val="3639"/>
              </a:lnSpc>
              <a:buFont typeface="Arial"/>
              <a:buChar char="•"/>
            </a:pPr>
            <a:r>
              <a:rPr lang="en-US" sz="2599">
                <a:solidFill>
                  <a:srgbClr val="FFFFFF"/>
                </a:solidFill>
                <a:latin typeface="Poppins"/>
                <a:ea typeface="Poppins"/>
                <a:cs typeface="Poppins"/>
                <a:sym typeface="Poppins"/>
              </a:rPr>
              <a:t>Generar documentacion a partir de codigo fuente</a:t>
            </a:r>
          </a:p>
          <a:p>
            <a:pPr marL="561336" lvl="1" indent="-280668" algn="l">
              <a:lnSpc>
                <a:spcPts val="3639"/>
              </a:lnSpc>
              <a:buFont typeface="Arial"/>
              <a:buChar char="•"/>
            </a:pPr>
            <a:r>
              <a:rPr lang="en-US" sz="2599">
                <a:solidFill>
                  <a:srgbClr val="FFFFFF"/>
                </a:solidFill>
                <a:latin typeface="Poppins"/>
                <a:ea typeface="Poppins"/>
                <a:cs typeface="Poppins"/>
                <a:sym typeface="Poppins"/>
              </a:rPr>
              <a:t>Gestionar las distintas fases del ciclo de vida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856298" y="-7571540"/>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430400" y="-506257"/>
            <a:ext cx="2217438" cy="2217438"/>
          </a:xfrm>
          <a:custGeom>
            <a:avLst/>
            <a:gdLst/>
            <a:ahLst/>
            <a:cxnLst/>
            <a:rect l="l" t="t" r="r" b="b"/>
            <a:pathLst>
              <a:path w="2217438" h="2217438">
                <a:moveTo>
                  <a:pt x="0" y="0"/>
                </a:moveTo>
                <a:lnTo>
                  <a:pt x="2217438" y="0"/>
                </a:lnTo>
                <a:lnTo>
                  <a:pt x="2217438" y="2217438"/>
                </a:lnTo>
                <a:lnTo>
                  <a:pt x="0" y="2217438"/>
                </a:lnTo>
                <a:lnTo>
                  <a:pt x="0" y="0"/>
                </a:lnTo>
                <a:close/>
              </a:path>
            </a:pathLst>
          </a:custGeom>
          <a:blipFill>
            <a:blip r:embed="rId3"/>
            <a:stretch>
              <a:fillRect/>
            </a:stretch>
          </a:blipFill>
        </p:spPr>
        <p:txBody>
          <a:bodyPr/>
          <a:lstStyle/>
          <a:p>
            <a:endParaRPr lang="es-CO"/>
          </a:p>
        </p:txBody>
      </p:sp>
      <p:sp>
        <p:nvSpPr>
          <p:cNvPr id="7" name="Freeform 7"/>
          <p:cNvSpPr/>
          <p:nvPr/>
        </p:nvSpPr>
        <p:spPr>
          <a:xfrm>
            <a:off x="7932991" y="3820875"/>
            <a:ext cx="3534450" cy="4633397"/>
          </a:xfrm>
          <a:custGeom>
            <a:avLst/>
            <a:gdLst/>
            <a:ahLst/>
            <a:cxnLst/>
            <a:rect l="l" t="t" r="r" b="b"/>
            <a:pathLst>
              <a:path w="3534450" h="4633397">
                <a:moveTo>
                  <a:pt x="0" y="0"/>
                </a:moveTo>
                <a:lnTo>
                  <a:pt x="3534450" y="0"/>
                </a:lnTo>
                <a:lnTo>
                  <a:pt x="3534450" y="4633397"/>
                </a:lnTo>
                <a:lnTo>
                  <a:pt x="0" y="4633397"/>
                </a:lnTo>
                <a:lnTo>
                  <a:pt x="0" y="0"/>
                </a:lnTo>
                <a:close/>
              </a:path>
            </a:pathLst>
          </a:custGeom>
          <a:blipFill>
            <a:blip r:embed="rId4"/>
            <a:stretch>
              <a:fillRect/>
            </a:stretch>
          </a:blipFill>
        </p:spPr>
        <p:txBody>
          <a:bodyPr/>
          <a:lstStyle/>
          <a:p>
            <a:endParaRPr lang="es-CO"/>
          </a:p>
        </p:txBody>
      </p:sp>
      <p:sp>
        <p:nvSpPr>
          <p:cNvPr id="8" name="Freeform 8"/>
          <p:cNvSpPr/>
          <p:nvPr/>
        </p:nvSpPr>
        <p:spPr>
          <a:xfrm>
            <a:off x="12494871" y="4211237"/>
            <a:ext cx="4764429" cy="3852673"/>
          </a:xfrm>
          <a:custGeom>
            <a:avLst/>
            <a:gdLst/>
            <a:ahLst/>
            <a:cxnLst/>
            <a:rect l="l" t="t" r="r" b="b"/>
            <a:pathLst>
              <a:path w="4764429" h="3852673">
                <a:moveTo>
                  <a:pt x="0" y="0"/>
                </a:moveTo>
                <a:lnTo>
                  <a:pt x="4764429" y="0"/>
                </a:lnTo>
                <a:lnTo>
                  <a:pt x="4764429" y="3852673"/>
                </a:lnTo>
                <a:lnTo>
                  <a:pt x="0" y="3852673"/>
                </a:lnTo>
                <a:lnTo>
                  <a:pt x="0" y="0"/>
                </a:lnTo>
                <a:close/>
              </a:path>
            </a:pathLst>
          </a:custGeom>
          <a:blipFill>
            <a:blip r:embed="rId5"/>
            <a:stretch>
              <a:fillRect l="-3954" r="-20211"/>
            </a:stretch>
          </a:blipFill>
        </p:spPr>
        <p:txBody>
          <a:bodyPr/>
          <a:lstStyle/>
          <a:p>
            <a:endParaRPr lang="es-CO"/>
          </a:p>
        </p:txBody>
      </p:sp>
      <p:sp>
        <p:nvSpPr>
          <p:cNvPr id="9" name="TextBox 9"/>
          <p:cNvSpPr txBox="1"/>
          <p:nvPr/>
        </p:nvSpPr>
        <p:spPr>
          <a:xfrm>
            <a:off x="4567469" y="1596881"/>
            <a:ext cx="9153062" cy="993012"/>
          </a:xfrm>
          <a:prstGeom prst="rect">
            <a:avLst/>
          </a:prstGeom>
        </p:spPr>
        <p:txBody>
          <a:bodyPr lIns="0" tIns="0" rIns="0" bIns="0" rtlCol="0" anchor="t">
            <a:spAutoFit/>
          </a:bodyPr>
          <a:lstStyle/>
          <a:p>
            <a:pPr algn="ctr">
              <a:lnSpc>
                <a:spcPts val="8072"/>
              </a:lnSpc>
              <a:spcBef>
                <a:spcPct val="0"/>
              </a:spcBef>
            </a:pPr>
            <a:r>
              <a:rPr lang="en-US" sz="5766">
                <a:solidFill>
                  <a:srgbClr val="FFA260"/>
                </a:solidFill>
                <a:latin typeface="HK Modular"/>
                <a:ea typeface="HK Modular"/>
                <a:cs typeface="HK Modular"/>
                <a:sym typeface="HK Modular"/>
              </a:rPr>
              <a:t>EL ARCHIVO POM</a:t>
            </a:r>
          </a:p>
        </p:txBody>
      </p:sp>
      <p:sp>
        <p:nvSpPr>
          <p:cNvPr id="10" name="TextBox 10"/>
          <p:cNvSpPr txBox="1"/>
          <p:nvPr/>
        </p:nvSpPr>
        <p:spPr>
          <a:xfrm>
            <a:off x="1028700" y="3131037"/>
            <a:ext cx="6178456" cy="2286636"/>
          </a:xfrm>
          <a:prstGeom prst="rect">
            <a:avLst/>
          </a:prstGeom>
        </p:spPr>
        <p:txBody>
          <a:bodyPr lIns="0" tIns="0" rIns="0" bIns="0" rtlCol="0" anchor="t">
            <a:spAutoFit/>
          </a:bodyPr>
          <a:lstStyle/>
          <a:p>
            <a:pPr algn="ctr">
              <a:lnSpc>
                <a:spcPts val="3639"/>
              </a:lnSpc>
            </a:pPr>
            <a:r>
              <a:rPr lang="en-US" sz="2599">
                <a:solidFill>
                  <a:srgbClr val="FFFFFF"/>
                </a:solidFill>
                <a:latin typeface="Poppins"/>
                <a:ea typeface="Poppins"/>
                <a:cs typeface="Poppins"/>
                <a:sym typeface="Poppins"/>
              </a:rPr>
              <a:t>La unidad basica de trabajo en Maven es el llamado Modelo de Objetos de Proyecto conocido como POM (Project Object Model)</a:t>
            </a:r>
          </a:p>
          <a:p>
            <a:pPr algn="ctr">
              <a:lnSpc>
                <a:spcPts val="3639"/>
              </a:lnSpc>
            </a:pPr>
            <a:endParaRPr lang="en-US" sz="2599">
              <a:solidFill>
                <a:srgbClr val="FFFFFF"/>
              </a:solidFill>
              <a:latin typeface="Poppins"/>
              <a:ea typeface="Poppins"/>
              <a:cs typeface="Poppins"/>
              <a:sym typeface="Poppins"/>
            </a:endParaRPr>
          </a:p>
        </p:txBody>
      </p:sp>
      <p:sp>
        <p:nvSpPr>
          <p:cNvPr id="11" name="TextBox 11"/>
          <p:cNvSpPr txBox="1"/>
          <p:nvPr/>
        </p:nvSpPr>
        <p:spPr>
          <a:xfrm>
            <a:off x="1028700" y="7792915"/>
            <a:ext cx="6139506" cy="1831151"/>
          </a:xfrm>
          <a:prstGeom prst="rect">
            <a:avLst/>
          </a:prstGeom>
        </p:spPr>
        <p:txBody>
          <a:bodyPr lIns="0" tIns="0" rIns="0" bIns="0" rtlCol="0" anchor="t">
            <a:spAutoFit/>
          </a:bodyPr>
          <a:lstStyle/>
          <a:p>
            <a:pPr algn="ctr">
              <a:lnSpc>
                <a:spcPts val="3643"/>
              </a:lnSpc>
            </a:pPr>
            <a:r>
              <a:rPr lang="en-US" sz="2602">
                <a:solidFill>
                  <a:srgbClr val="FFFFFF"/>
                </a:solidFill>
                <a:latin typeface="Poppins"/>
                <a:ea typeface="Poppins"/>
                <a:cs typeface="Poppins"/>
                <a:sym typeface="Poppins"/>
              </a:rPr>
              <a:t>Es un archivo XML llamado pom.xml que se encuentra por defecto en la raiz de los proyectos</a:t>
            </a:r>
          </a:p>
          <a:p>
            <a:pPr algn="ctr">
              <a:lnSpc>
                <a:spcPts val="3643"/>
              </a:lnSpc>
            </a:pPr>
            <a:endParaRPr lang="en-US" sz="2602">
              <a:solidFill>
                <a:srgbClr val="FFFFFF"/>
              </a:solidFill>
              <a:latin typeface="Poppins"/>
              <a:ea typeface="Poppins"/>
              <a:cs typeface="Poppins"/>
              <a:sym typeface="Poppins"/>
            </a:endParaRPr>
          </a:p>
        </p:txBody>
      </p:sp>
      <p:sp>
        <p:nvSpPr>
          <p:cNvPr id="12" name="TextBox 12"/>
          <p:cNvSpPr txBox="1"/>
          <p:nvPr/>
        </p:nvSpPr>
        <p:spPr>
          <a:xfrm>
            <a:off x="1028700" y="5575418"/>
            <a:ext cx="6178456" cy="1831151"/>
          </a:xfrm>
          <a:prstGeom prst="rect">
            <a:avLst/>
          </a:prstGeom>
        </p:spPr>
        <p:txBody>
          <a:bodyPr lIns="0" tIns="0" rIns="0" bIns="0" rtlCol="0" anchor="t">
            <a:spAutoFit/>
          </a:bodyPr>
          <a:lstStyle/>
          <a:p>
            <a:pPr algn="ctr">
              <a:lnSpc>
                <a:spcPts val="3643"/>
              </a:lnSpc>
            </a:pPr>
            <a:r>
              <a:rPr lang="en-US" sz="2602">
                <a:solidFill>
                  <a:srgbClr val="FFFFFF"/>
                </a:solidFill>
                <a:latin typeface="Poppins"/>
                <a:ea typeface="Poppins"/>
                <a:cs typeface="Poppins"/>
                <a:sym typeface="Poppins"/>
              </a:rPr>
              <a:t>Contiene toda la informacion del proyecto: su configuracion, sus dependencias, etc...</a:t>
            </a:r>
          </a:p>
          <a:p>
            <a:pPr algn="ctr">
              <a:lnSpc>
                <a:spcPts val="3643"/>
              </a:lnSpc>
            </a:pPr>
            <a:endParaRPr lang="en-US" sz="2602">
              <a:solidFill>
                <a:srgbClr val="FFFFFF"/>
              </a:solidFill>
              <a:latin typeface="Poppins"/>
              <a:ea typeface="Poppins"/>
              <a:cs typeface="Poppins"/>
              <a:sym typeface="Poppi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2049465" y="2182646"/>
            <a:ext cx="14407805" cy="985735"/>
          </a:xfrm>
          <a:prstGeom prst="rect">
            <a:avLst/>
          </a:prstGeom>
        </p:spPr>
        <p:txBody>
          <a:bodyPr lIns="0" tIns="0" rIns="0" bIns="0" rtlCol="0" anchor="t">
            <a:spAutoFit/>
          </a:bodyPr>
          <a:lstStyle/>
          <a:p>
            <a:pPr algn="ctr">
              <a:lnSpc>
                <a:spcPts val="8045"/>
              </a:lnSpc>
              <a:spcBef>
                <a:spcPct val="0"/>
              </a:spcBef>
            </a:pPr>
            <a:r>
              <a:rPr lang="en-US" sz="5746">
                <a:solidFill>
                  <a:srgbClr val="FF914D"/>
                </a:solidFill>
                <a:latin typeface="HK Modular"/>
                <a:ea typeface="HK Modular"/>
                <a:cs typeface="HK Modular"/>
                <a:sym typeface="HK Modular"/>
              </a:rPr>
              <a:t>MAVEN</a:t>
            </a:r>
          </a:p>
        </p:txBody>
      </p:sp>
      <p:sp>
        <p:nvSpPr>
          <p:cNvPr id="13" name="Freeform 13"/>
          <p:cNvSpPr/>
          <p:nvPr/>
        </p:nvSpPr>
        <p:spPr>
          <a:xfrm>
            <a:off x="2203531" y="3849667"/>
            <a:ext cx="5409176" cy="5058138"/>
          </a:xfrm>
          <a:custGeom>
            <a:avLst/>
            <a:gdLst/>
            <a:ahLst/>
            <a:cxnLst/>
            <a:rect l="l" t="t" r="r" b="b"/>
            <a:pathLst>
              <a:path w="5409176" h="5058138">
                <a:moveTo>
                  <a:pt x="0" y="0"/>
                </a:moveTo>
                <a:lnTo>
                  <a:pt x="5409176" y="0"/>
                </a:lnTo>
                <a:lnTo>
                  <a:pt x="5409176" y="5058138"/>
                </a:lnTo>
                <a:lnTo>
                  <a:pt x="0" y="5058138"/>
                </a:lnTo>
                <a:lnTo>
                  <a:pt x="0" y="0"/>
                </a:lnTo>
                <a:close/>
              </a:path>
            </a:pathLst>
          </a:custGeom>
          <a:blipFill>
            <a:blip r:embed="rId3"/>
            <a:stretch>
              <a:fillRect/>
            </a:stretch>
          </a:blipFill>
        </p:spPr>
        <p:txBody>
          <a:bodyPr/>
          <a:lstStyle/>
          <a:p>
            <a:endParaRPr lang="es-CO"/>
          </a:p>
        </p:txBody>
      </p:sp>
      <p:sp>
        <p:nvSpPr>
          <p:cNvPr id="14" name="TextBox 14"/>
          <p:cNvSpPr txBox="1"/>
          <p:nvPr/>
        </p:nvSpPr>
        <p:spPr>
          <a:xfrm>
            <a:off x="9856778" y="4313575"/>
            <a:ext cx="2369637"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groupId --&gt;</a:t>
            </a:r>
          </a:p>
        </p:txBody>
      </p:sp>
      <p:sp>
        <p:nvSpPr>
          <p:cNvPr id="15" name="TextBox 15"/>
          <p:cNvSpPr txBox="1"/>
          <p:nvPr/>
        </p:nvSpPr>
        <p:spPr>
          <a:xfrm>
            <a:off x="9775690" y="5347093"/>
            <a:ext cx="6109012"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artifactId --&gt;</a:t>
            </a:r>
          </a:p>
        </p:txBody>
      </p:sp>
      <p:sp>
        <p:nvSpPr>
          <p:cNvPr id="16" name="TextBox 16"/>
          <p:cNvSpPr txBox="1"/>
          <p:nvPr/>
        </p:nvSpPr>
        <p:spPr>
          <a:xfrm>
            <a:off x="9856778" y="6254611"/>
            <a:ext cx="2024233"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version --&gt; </a:t>
            </a:r>
          </a:p>
        </p:txBody>
      </p:sp>
      <p:sp>
        <p:nvSpPr>
          <p:cNvPr id="17" name="TextBox 17"/>
          <p:cNvSpPr txBox="1"/>
          <p:nvPr/>
        </p:nvSpPr>
        <p:spPr>
          <a:xfrm>
            <a:off x="9775690" y="7312522"/>
            <a:ext cx="3360797"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dependencies --&gt;</a:t>
            </a:r>
          </a:p>
        </p:txBody>
      </p:sp>
      <p:sp>
        <p:nvSpPr>
          <p:cNvPr id="18" name="TextBox 18"/>
          <p:cNvSpPr txBox="1"/>
          <p:nvPr/>
        </p:nvSpPr>
        <p:spPr>
          <a:xfrm>
            <a:off x="12634358" y="4313575"/>
            <a:ext cx="2369637"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Quién lo crea</a:t>
            </a:r>
          </a:p>
        </p:txBody>
      </p:sp>
      <p:sp>
        <p:nvSpPr>
          <p:cNvPr id="19" name="TextBox 19"/>
          <p:cNvSpPr txBox="1"/>
          <p:nvPr/>
        </p:nvSpPr>
        <p:spPr>
          <a:xfrm>
            <a:off x="12634358" y="5370586"/>
            <a:ext cx="4066623"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Nombre del proyecto</a:t>
            </a:r>
          </a:p>
        </p:txBody>
      </p:sp>
      <p:sp>
        <p:nvSpPr>
          <p:cNvPr id="20" name="TextBox 20"/>
          <p:cNvSpPr txBox="1"/>
          <p:nvPr/>
        </p:nvSpPr>
        <p:spPr>
          <a:xfrm>
            <a:off x="12671762" y="6254611"/>
            <a:ext cx="4066623"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Versión</a:t>
            </a:r>
          </a:p>
        </p:txBody>
      </p:sp>
      <p:sp>
        <p:nvSpPr>
          <p:cNvPr id="21" name="TextBox 21"/>
          <p:cNvSpPr txBox="1"/>
          <p:nvPr/>
        </p:nvSpPr>
        <p:spPr>
          <a:xfrm>
            <a:off x="13136487" y="7312522"/>
            <a:ext cx="4066623" cy="457836"/>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Poppins"/>
                <a:ea typeface="Poppins"/>
                <a:cs typeface="Poppins"/>
                <a:sym typeface="Poppins"/>
              </a:rPr>
              <a:t>Librerias necesarias</a:t>
            </a:r>
          </a:p>
        </p:txBody>
      </p:sp>
      <p:sp>
        <p:nvSpPr>
          <p:cNvPr id="22" name="Freeform 22"/>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3"/>
            <a:stretch>
              <a:fillRect/>
            </a:stretch>
          </a:blipFill>
        </p:spPr>
        <p:txBody>
          <a:bodyPr/>
          <a:lstStyle/>
          <a:p>
            <a:endParaRPr lang="es-CO"/>
          </a:p>
        </p:txBody>
      </p:sp>
      <p:sp>
        <p:nvSpPr>
          <p:cNvPr id="13" name="Freeform 13"/>
          <p:cNvSpPr/>
          <p:nvPr/>
        </p:nvSpPr>
        <p:spPr>
          <a:xfrm>
            <a:off x="2611833" y="3712329"/>
            <a:ext cx="5752907" cy="5752907"/>
          </a:xfrm>
          <a:custGeom>
            <a:avLst/>
            <a:gdLst/>
            <a:ahLst/>
            <a:cxnLst/>
            <a:rect l="l" t="t" r="r" b="b"/>
            <a:pathLst>
              <a:path w="5752907" h="5752907">
                <a:moveTo>
                  <a:pt x="0" y="0"/>
                </a:moveTo>
                <a:lnTo>
                  <a:pt x="5752907" y="0"/>
                </a:lnTo>
                <a:lnTo>
                  <a:pt x="5752907" y="5752907"/>
                </a:lnTo>
                <a:lnTo>
                  <a:pt x="0" y="5752907"/>
                </a:lnTo>
                <a:lnTo>
                  <a:pt x="0" y="0"/>
                </a:lnTo>
                <a:close/>
              </a:path>
            </a:pathLst>
          </a:custGeom>
          <a:blipFill>
            <a:blip r:embed="rId4"/>
            <a:stretch>
              <a:fillRect/>
            </a:stretch>
          </a:blipFill>
        </p:spPr>
        <p:txBody>
          <a:bodyPr/>
          <a:lstStyle/>
          <a:p>
            <a:endParaRPr lang="es-CO"/>
          </a:p>
        </p:txBody>
      </p:sp>
      <p:sp>
        <p:nvSpPr>
          <p:cNvPr id="14" name="TextBox 14"/>
          <p:cNvSpPr txBox="1"/>
          <p:nvPr/>
        </p:nvSpPr>
        <p:spPr>
          <a:xfrm>
            <a:off x="2929197" y="1590975"/>
            <a:ext cx="12429605" cy="1734276"/>
          </a:xfrm>
          <a:prstGeom prst="rect">
            <a:avLst/>
          </a:prstGeom>
        </p:spPr>
        <p:txBody>
          <a:bodyPr lIns="0" tIns="0" rIns="0" bIns="0" rtlCol="0" anchor="t">
            <a:spAutoFit/>
          </a:bodyPr>
          <a:lstStyle/>
          <a:p>
            <a:pPr algn="ctr">
              <a:lnSpc>
                <a:spcPts val="6940"/>
              </a:lnSpc>
              <a:spcBef>
                <a:spcPct val="0"/>
              </a:spcBef>
            </a:pPr>
            <a:r>
              <a:rPr lang="en-US" sz="4957">
                <a:solidFill>
                  <a:srgbClr val="FF914D"/>
                </a:solidFill>
                <a:latin typeface="HK Modular"/>
                <a:ea typeface="HK Modular"/>
                <a:cs typeface="HK Modular"/>
                <a:sym typeface="HK Modular"/>
              </a:rPr>
              <a:t>MAVEN DENTRO DEL CICLO DEVOPS</a:t>
            </a:r>
          </a:p>
        </p:txBody>
      </p:sp>
      <p:sp>
        <p:nvSpPr>
          <p:cNvPr id="15" name="TextBox 15"/>
          <p:cNvSpPr txBox="1"/>
          <p:nvPr/>
        </p:nvSpPr>
        <p:spPr>
          <a:xfrm>
            <a:off x="10223349" y="4652645"/>
            <a:ext cx="6153390"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Lo que hoy ejecutamos localmente mañana se automatiza en CI/CD.</a:t>
            </a:r>
          </a:p>
        </p:txBody>
      </p:sp>
      <p:sp>
        <p:nvSpPr>
          <p:cNvPr id="16" name="TextBox 16"/>
          <p:cNvSpPr txBox="1"/>
          <p:nvPr/>
        </p:nvSpPr>
        <p:spPr>
          <a:xfrm>
            <a:off x="9338214" y="6785506"/>
            <a:ext cx="7921086"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Maven prepara el camino para que el pipeline pueda compilar, probar y empaquetar de manera consistente.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3"/>
            <a:stretch>
              <a:fillRect/>
            </a:stretch>
          </a:blipFill>
        </p:spPr>
        <p:txBody>
          <a:bodyPr/>
          <a:lstStyle/>
          <a:p>
            <a:endParaRPr lang="es-CO"/>
          </a:p>
        </p:txBody>
      </p:sp>
      <p:sp>
        <p:nvSpPr>
          <p:cNvPr id="13" name="Freeform 13"/>
          <p:cNvSpPr/>
          <p:nvPr/>
        </p:nvSpPr>
        <p:spPr>
          <a:xfrm>
            <a:off x="4397469" y="3626326"/>
            <a:ext cx="9735965" cy="5291633"/>
          </a:xfrm>
          <a:custGeom>
            <a:avLst/>
            <a:gdLst/>
            <a:ahLst/>
            <a:cxnLst/>
            <a:rect l="l" t="t" r="r" b="b"/>
            <a:pathLst>
              <a:path w="9735965" h="5291633">
                <a:moveTo>
                  <a:pt x="0" y="0"/>
                </a:moveTo>
                <a:lnTo>
                  <a:pt x="9735965" y="0"/>
                </a:lnTo>
                <a:lnTo>
                  <a:pt x="9735965" y="5291633"/>
                </a:lnTo>
                <a:lnTo>
                  <a:pt x="0" y="5291633"/>
                </a:lnTo>
                <a:lnTo>
                  <a:pt x="0" y="0"/>
                </a:lnTo>
                <a:close/>
              </a:path>
            </a:pathLst>
          </a:custGeom>
          <a:blipFill>
            <a:blip r:embed="rId4"/>
            <a:stretch>
              <a:fillRect/>
            </a:stretch>
          </a:blipFill>
        </p:spPr>
        <p:txBody>
          <a:bodyPr/>
          <a:lstStyle/>
          <a:p>
            <a:endParaRPr lang="es-CO"/>
          </a:p>
        </p:txBody>
      </p:sp>
      <p:sp>
        <p:nvSpPr>
          <p:cNvPr id="14" name="TextBox 14"/>
          <p:cNvSpPr txBox="1"/>
          <p:nvPr/>
        </p:nvSpPr>
        <p:spPr>
          <a:xfrm>
            <a:off x="3903237" y="1814065"/>
            <a:ext cx="10481525" cy="1459836"/>
          </a:xfrm>
          <a:prstGeom prst="rect">
            <a:avLst/>
          </a:prstGeom>
        </p:spPr>
        <p:txBody>
          <a:bodyPr lIns="0" tIns="0" rIns="0" bIns="0" rtlCol="0" anchor="t">
            <a:spAutoFit/>
          </a:bodyPr>
          <a:lstStyle/>
          <a:p>
            <a:pPr algn="ctr">
              <a:lnSpc>
                <a:spcPts val="5853"/>
              </a:lnSpc>
              <a:spcBef>
                <a:spcPct val="0"/>
              </a:spcBef>
            </a:pPr>
            <a:r>
              <a:rPr lang="en-US" sz="4180">
                <a:solidFill>
                  <a:srgbClr val="FF914D"/>
                </a:solidFill>
                <a:latin typeface="HK Modular"/>
                <a:ea typeface="HK Modular"/>
                <a:cs typeface="HK Modular"/>
                <a:sym typeface="HK Modular"/>
              </a:rPr>
              <a:t>MAVEN DENTRO DEL CICLO DEVOPS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B5BAC97FAEABB4E9C157EE386378C88" ma:contentTypeVersion="3" ma:contentTypeDescription="Crear nuevo documento." ma:contentTypeScope="" ma:versionID="a485e506546b9dc49e4f01043526fcc8">
  <xsd:schema xmlns:xsd="http://www.w3.org/2001/XMLSchema" xmlns:xs="http://www.w3.org/2001/XMLSchema" xmlns:p="http://schemas.microsoft.com/office/2006/metadata/properties" xmlns:ns2="a4ca1935-4d02-4ee2-b565-35cc2fa3819b" targetNamespace="http://schemas.microsoft.com/office/2006/metadata/properties" ma:root="true" ma:fieldsID="869b673358c31917cf7b18db7e5787e9" ns2:_="">
    <xsd:import namespace="a4ca1935-4d02-4ee2-b565-35cc2fa3819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ca1935-4d02-4ee2-b565-35cc2fa381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F87085D-1899-4835-85D6-0D02673C94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ca1935-4d02-4ee2-b565-35cc2fa381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300919F-5F29-4CF6-8D32-32399F36FA3E}">
  <ds:schemaRefs>
    <ds:schemaRef ds:uri="http://schemas.microsoft.com/sharepoint/v3/contenttype/forms"/>
  </ds:schemaRefs>
</ds:datastoreItem>
</file>

<file path=customXml/itemProps3.xml><?xml version="1.0" encoding="utf-8"?>
<ds:datastoreItem xmlns:ds="http://schemas.openxmlformats.org/officeDocument/2006/customXml" ds:itemID="{0E0AB9B9-73B5-4408-84D8-096CA417BCD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TotalTime>
  <Words>2169</Words>
  <Application>Microsoft Office PowerPoint</Application>
  <PresentationFormat>Personalizado</PresentationFormat>
  <Paragraphs>243</Paragraphs>
  <Slides>41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41</vt:i4>
      </vt:variant>
    </vt:vector>
  </HeadingPairs>
  <TitlesOfParts>
    <vt:vector size="46" baseType="lpstr">
      <vt:lpstr>HK Modular</vt:lpstr>
      <vt:lpstr>Arial</vt:lpstr>
      <vt:lpstr>Calibri</vt:lpstr>
      <vt:lpstr>Poppins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DOSW 1 - S02</dc:title>
  <cp:lastModifiedBy>Sebastián Granados</cp:lastModifiedBy>
  <cp:revision>2</cp:revision>
  <dcterms:created xsi:type="dcterms:W3CDTF">2006-08-16T00:00:00Z</dcterms:created>
  <dcterms:modified xsi:type="dcterms:W3CDTF">2026-08-31T00:18:33Z</dcterms:modified>
  <dc:identifier>DAGwSZQAfuI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0x0101002B5BAC97FAEABB4E9C157EE386378C88</vt:lpwstr>
  </property>
</Properties>
</file>