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Lst>
  <p:sldSz cx="18288000" cy="10287000"/>
  <p:notesSz cx="6858000" cy="9144000"/>
  <p:embeddedFontLst>
    <p:embeddedFont>
      <p:font typeface="Canva Sans" panose="020B0604020202020204" charset="0"/>
      <p:regular r:id="rId55"/>
    </p:embeddedFont>
    <p:embeddedFont>
      <p:font typeface="HK Modular" panose="020B0604020202020204" charset="0"/>
      <p:regular r:id="rId56"/>
    </p:embeddedFont>
    <p:embeddedFont>
      <p:font typeface="Poppins" panose="00000500000000000000" pitchFamily="2" charset="0"/>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04" d="100"/>
          <a:sy n="104" d="100"/>
        </p:scale>
        <p:origin x="474"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font" Target="fonts/font1.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3.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33.sv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45.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67.png"/></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9.png"/><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3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76.png"/></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77.png"/></Relationships>
</file>

<file path=ppt/slides/_rels/slide37.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3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84.png"/></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41.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4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92.png"/><Relationship Id="rId7" Type="http://schemas.openxmlformats.org/officeDocument/2006/relationships/image" Target="../media/image9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93.png"/></Relationships>
</file>

<file path=ppt/slides/_rels/slide4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99.svg"/><Relationship Id="rId4" Type="http://schemas.openxmlformats.org/officeDocument/2006/relationships/image" Target="../media/image98.png"/></Relationships>
</file>

<file path=ppt/slides/_rels/slide46.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3.svg"/><Relationship Id="rId5" Type="http://schemas.openxmlformats.org/officeDocument/2006/relationships/image" Target="../media/image102.svg"/><Relationship Id="rId4" Type="http://schemas.openxmlformats.org/officeDocument/2006/relationships/image" Target="../media/image101.png"/></Relationships>
</file>

<file path=ppt/slides/_rels/slide47.xml.rels><?xml version="1.0" encoding="UTF-8" standalone="yes"?>
<Relationships xmlns="http://schemas.openxmlformats.org/package/2006/relationships"><Relationship Id="rId3" Type="http://schemas.openxmlformats.org/officeDocument/2006/relationships/image" Target="../media/image104.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4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09.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10.png"/></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800000">
            <a:off x="-874366" y="8434822"/>
            <a:ext cx="10731144" cy="4199330"/>
            <a:chOff x="0" y="0"/>
            <a:chExt cx="3083604" cy="1206681"/>
          </a:xfrm>
        </p:grpSpPr>
        <p:sp>
          <p:nvSpPr>
            <p:cNvPr id="7" name="Freeform 7"/>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8" name="TextBox 8"/>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339501" y="-2648321"/>
            <a:ext cx="10731144" cy="4199330"/>
            <a:chOff x="0" y="0"/>
            <a:chExt cx="3083604" cy="1206681"/>
          </a:xfrm>
        </p:grpSpPr>
        <p:sp>
          <p:nvSpPr>
            <p:cNvPr id="10" name="Freeform 10"/>
            <p:cNvSpPr/>
            <p:nvPr/>
          </p:nvSpPr>
          <p:spPr>
            <a:xfrm>
              <a:off x="0" y="0"/>
              <a:ext cx="3083604" cy="1206681"/>
            </a:xfrm>
            <a:custGeom>
              <a:avLst/>
              <a:gdLst/>
              <a:ahLst/>
              <a:cxnLst/>
              <a:rect l="l" t="t" r="r" b="b"/>
              <a:pathLst>
                <a:path w="3083604" h="1206681">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1">
              <a:gsLst>
                <a:gs pos="0">
                  <a:srgbClr val="000000">
                    <a:alpha val="0"/>
                  </a:srgbClr>
                </a:gs>
                <a:gs pos="100000">
                  <a:srgbClr val="FF00BF">
                    <a:alpha val="100000"/>
                  </a:srgbClr>
                </a:gs>
              </a:gsLst>
              <a:lin ang="0"/>
            </a:gradFill>
          </p:spPr>
          <p:txBody>
            <a:bodyPr/>
            <a:lstStyle/>
            <a:p>
              <a:endParaRPr lang="es-CO"/>
            </a:p>
          </p:txBody>
        </p:sp>
        <p:sp>
          <p:nvSpPr>
            <p:cNvPr id="11" name="TextBox 11"/>
            <p:cNvSpPr txBox="1"/>
            <p:nvPr/>
          </p:nvSpPr>
          <p:spPr>
            <a:xfrm>
              <a:off x="0" y="-38100"/>
              <a:ext cx="3083604" cy="1244781"/>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7931607" y="-548656"/>
            <a:ext cx="2815787" cy="2815787"/>
          </a:xfrm>
          <a:custGeom>
            <a:avLst/>
            <a:gdLst/>
            <a:ahLst/>
            <a:cxnLst/>
            <a:rect l="l" t="t" r="r" b="b"/>
            <a:pathLst>
              <a:path w="2815787" h="2815787">
                <a:moveTo>
                  <a:pt x="0" y="0"/>
                </a:moveTo>
                <a:lnTo>
                  <a:pt x="2815787" y="0"/>
                </a:lnTo>
                <a:lnTo>
                  <a:pt x="2815787" y="2815786"/>
                </a:lnTo>
                <a:lnTo>
                  <a:pt x="0" y="2815786"/>
                </a:lnTo>
                <a:lnTo>
                  <a:pt x="0" y="0"/>
                </a:lnTo>
                <a:close/>
              </a:path>
            </a:pathLst>
          </a:custGeom>
          <a:blipFill>
            <a:blip r:embed="rId3"/>
            <a:stretch>
              <a:fillRect/>
            </a:stretch>
          </a:blipFill>
        </p:spPr>
        <p:txBody>
          <a:bodyPr/>
          <a:lstStyle/>
          <a:p>
            <a:endParaRPr lang="es-CO"/>
          </a:p>
        </p:txBody>
      </p:sp>
      <p:sp>
        <p:nvSpPr>
          <p:cNvPr id="13" name="Freeform 13"/>
          <p:cNvSpPr/>
          <p:nvPr/>
        </p:nvSpPr>
        <p:spPr>
          <a:xfrm>
            <a:off x="9253367" y="3384633"/>
            <a:ext cx="8221696" cy="5919621"/>
          </a:xfrm>
          <a:custGeom>
            <a:avLst/>
            <a:gdLst/>
            <a:ahLst/>
            <a:cxnLst/>
            <a:rect l="l" t="t" r="r" b="b"/>
            <a:pathLst>
              <a:path w="8221696" h="5919621">
                <a:moveTo>
                  <a:pt x="0" y="0"/>
                </a:moveTo>
                <a:lnTo>
                  <a:pt x="8221696" y="0"/>
                </a:lnTo>
                <a:lnTo>
                  <a:pt x="8221696" y="5919621"/>
                </a:lnTo>
                <a:lnTo>
                  <a:pt x="0" y="5919621"/>
                </a:lnTo>
                <a:lnTo>
                  <a:pt x="0" y="0"/>
                </a:lnTo>
                <a:close/>
              </a:path>
            </a:pathLst>
          </a:custGeom>
          <a:blipFill>
            <a:blip r:embed="rId4"/>
            <a:stretch>
              <a:fillRect/>
            </a:stretch>
          </a:blipFill>
        </p:spPr>
        <p:txBody>
          <a:bodyPr/>
          <a:lstStyle/>
          <a:p>
            <a:endParaRPr lang="es-CO"/>
          </a:p>
        </p:txBody>
      </p:sp>
      <p:sp>
        <p:nvSpPr>
          <p:cNvPr id="14" name="TextBox 14"/>
          <p:cNvSpPr txBox="1"/>
          <p:nvPr/>
        </p:nvSpPr>
        <p:spPr>
          <a:xfrm>
            <a:off x="2509136" y="1747713"/>
            <a:ext cx="13488463" cy="1277705"/>
          </a:xfrm>
          <a:prstGeom prst="rect">
            <a:avLst/>
          </a:prstGeom>
        </p:spPr>
        <p:txBody>
          <a:bodyPr lIns="0" tIns="0" rIns="0" bIns="0" rtlCol="0" anchor="t">
            <a:spAutoFit/>
          </a:bodyPr>
          <a:lstStyle/>
          <a:p>
            <a:pPr algn="ctr">
              <a:lnSpc>
                <a:spcPts val="5117"/>
              </a:lnSpc>
              <a:spcBef>
                <a:spcPct val="0"/>
              </a:spcBef>
            </a:pPr>
            <a:r>
              <a:rPr lang="en-US" sz="3655">
                <a:solidFill>
                  <a:srgbClr val="FFA260"/>
                </a:solidFill>
                <a:latin typeface="HK Modular"/>
                <a:ea typeface="HK Modular"/>
                <a:cs typeface="HK Modular"/>
                <a:sym typeface="HK Modular"/>
              </a:rPr>
              <a:t>DIAGRAMACION # 1 - DIAGRAMAS DE CLASES</a:t>
            </a:r>
          </a:p>
        </p:txBody>
      </p:sp>
      <p:sp>
        <p:nvSpPr>
          <p:cNvPr id="15" name="TextBox 15"/>
          <p:cNvSpPr txBox="1"/>
          <p:nvPr/>
        </p:nvSpPr>
        <p:spPr>
          <a:xfrm>
            <a:off x="1150007" y="3509228"/>
            <a:ext cx="7071493" cy="134239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El diagrama de clases es un diagrama estructural, parte de la familia que modela las relaciones estáticas de un sistema en estado estacionario. Es una herramienta vital para la programación orientada a objetos (POO).</a:t>
            </a:r>
          </a:p>
        </p:txBody>
      </p:sp>
      <p:sp>
        <p:nvSpPr>
          <p:cNvPr id="16" name="TextBox 16"/>
          <p:cNvSpPr txBox="1"/>
          <p:nvPr/>
        </p:nvSpPr>
        <p:spPr>
          <a:xfrm>
            <a:off x="1150007" y="5335429"/>
            <a:ext cx="6819436" cy="10090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Una clase es un elemento de modelado que define las características del objeto que representa, incluidos sus atributos y comportamientos.</a:t>
            </a:r>
          </a:p>
        </p:txBody>
      </p:sp>
      <p:sp>
        <p:nvSpPr>
          <p:cNvPr id="17" name="TextBox 17"/>
          <p:cNvSpPr txBox="1"/>
          <p:nvPr/>
        </p:nvSpPr>
        <p:spPr>
          <a:xfrm>
            <a:off x="1259472" y="7197741"/>
            <a:ext cx="1895294" cy="307221"/>
          </a:xfrm>
          <a:prstGeom prst="rect">
            <a:avLst/>
          </a:prstGeom>
        </p:spPr>
        <p:txBody>
          <a:bodyPr lIns="0" tIns="0" rIns="0" bIns="0" rtlCol="0" anchor="t">
            <a:spAutoFit/>
          </a:bodyPr>
          <a:lstStyle/>
          <a:p>
            <a:pPr algn="ctr">
              <a:lnSpc>
                <a:spcPts val="2491"/>
              </a:lnSpc>
              <a:spcBef>
                <a:spcPct val="0"/>
              </a:spcBef>
            </a:pPr>
            <a:r>
              <a:rPr lang="en-US" sz="1779">
                <a:solidFill>
                  <a:srgbClr val="FFA260"/>
                </a:solidFill>
                <a:latin typeface="HK Modular"/>
                <a:ea typeface="HK Modular"/>
                <a:cs typeface="HK Modular"/>
                <a:sym typeface="HK Modular"/>
              </a:rPr>
              <a:t>CLASES</a:t>
            </a:r>
          </a:p>
        </p:txBody>
      </p:sp>
      <p:sp>
        <p:nvSpPr>
          <p:cNvPr id="18" name="TextBox 18"/>
          <p:cNvSpPr txBox="1"/>
          <p:nvPr/>
        </p:nvSpPr>
        <p:spPr>
          <a:xfrm>
            <a:off x="5347002" y="6849269"/>
            <a:ext cx="1895294" cy="307221"/>
          </a:xfrm>
          <a:prstGeom prst="rect">
            <a:avLst/>
          </a:prstGeom>
        </p:spPr>
        <p:txBody>
          <a:bodyPr lIns="0" tIns="0" rIns="0" bIns="0" rtlCol="0" anchor="t">
            <a:spAutoFit/>
          </a:bodyPr>
          <a:lstStyle/>
          <a:p>
            <a:pPr algn="ctr">
              <a:lnSpc>
                <a:spcPts val="2491"/>
              </a:lnSpc>
              <a:spcBef>
                <a:spcPct val="0"/>
              </a:spcBef>
            </a:pPr>
            <a:r>
              <a:rPr lang="en-US" sz="1779">
                <a:solidFill>
                  <a:srgbClr val="FFA260"/>
                </a:solidFill>
                <a:latin typeface="HK Modular"/>
                <a:ea typeface="HK Modular"/>
                <a:cs typeface="HK Modular"/>
                <a:sym typeface="HK Modular"/>
              </a:rPr>
              <a:t>NOMBRE</a:t>
            </a:r>
          </a:p>
        </p:txBody>
      </p:sp>
      <p:sp>
        <p:nvSpPr>
          <p:cNvPr id="19" name="TextBox 19"/>
          <p:cNvSpPr txBox="1"/>
          <p:nvPr/>
        </p:nvSpPr>
        <p:spPr>
          <a:xfrm>
            <a:off x="5347002" y="7236132"/>
            <a:ext cx="1895294" cy="307221"/>
          </a:xfrm>
          <a:prstGeom prst="rect">
            <a:avLst/>
          </a:prstGeom>
        </p:spPr>
        <p:txBody>
          <a:bodyPr lIns="0" tIns="0" rIns="0" bIns="0" rtlCol="0" anchor="t">
            <a:spAutoFit/>
          </a:bodyPr>
          <a:lstStyle/>
          <a:p>
            <a:pPr algn="ctr">
              <a:lnSpc>
                <a:spcPts val="2491"/>
              </a:lnSpc>
              <a:spcBef>
                <a:spcPct val="0"/>
              </a:spcBef>
            </a:pPr>
            <a:r>
              <a:rPr lang="en-US" sz="1779">
                <a:solidFill>
                  <a:srgbClr val="FFA260"/>
                </a:solidFill>
                <a:latin typeface="HK Modular"/>
                <a:ea typeface="HK Modular"/>
                <a:cs typeface="HK Modular"/>
                <a:sym typeface="HK Modular"/>
              </a:rPr>
              <a:t>ATRIBUTOS</a:t>
            </a:r>
          </a:p>
        </p:txBody>
      </p:sp>
      <p:sp>
        <p:nvSpPr>
          <p:cNvPr id="20" name="TextBox 20"/>
          <p:cNvSpPr txBox="1"/>
          <p:nvPr/>
        </p:nvSpPr>
        <p:spPr>
          <a:xfrm>
            <a:off x="5347002" y="7622995"/>
            <a:ext cx="1895294" cy="307221"/>
          </a:xfrm>
          <a:prstGeom prst="rect">
            <a:avLst/>
          </a:prstGeom>
        </p:spPr>
        <p:txBody>
          <a:bodyPr lIns="0" tIns="0" rIns="0" bIns="0" rtlCol="0" anchor="t">
            <a:spAutoFit/>
          </a:bodyPr>
          <a:lstStyle/>
          <a:p>
            <a:pPr algn="ctr">
              <a:lnSpc>
                <a:spcPts val="2491"/>
              </a:lnSpc>
              <a:spcBef>
                <a:spcPct val="0"/>
              </a:spcBef>
            </a:pPr>
            <a:r>
              <a:rPr lang="en-US" sz="1779">
                <a:solidFill>
                  <a:srgbClr val="FFA260"/>
                </a:solidFill>
                <a:latin typeface="HK Modular"/>
                <a:ea typeface="HK Modular"/>
                <a:cs typeface="HK Modular"/>
                <a:sym typeface="HK Modular"/>
              </a:rPr>
              <a:t>METODOS</a:t>
            </a:r>
          </a:p>
        </p:txBody>
      </p:sp>
      <p:sp>
        <p:nvSpPr>
          <p:cNvPr id="21" name="TextBox 21"/>
          <p:cNvSpPr txBox="1"/>
          <p:nvPr/>
        </p:nvSpPr>
        <p:spPr>
          <a:xfrm>
            <a:off x="5165837" y="8032351"/>
            <a:ext cx="2257625" cy="307221"/>
          </a:xfrm>
          <a:prstGeom prst="rect">
            <a:avLst/>
          </a:prstGeom>
        </p:spPr>
        <p:txBody>
          <a:bodyPr lIns="0" tIns="0" rIns="0" bIns="0" rtlCol="0" anchor="t">
            <a:spAutoFit/>
          </a:bodyPr>
          <a:lstStyle/>
          <a:p>
            <a:pPr algn="ctr">
              <a:lnSpc>
                <a:spcPts val="2491"/>
              </a:lnSpc>
              <a:spcBef>
                <a:spcPct val="0"/>
              </a:spcBef>
            </a:pPr>
            <a:r>
              <a:rPr lang="en-US" sz="1779">
                <a:solidFill>
                  <a:srgbClr val="FFA260"/>
                </a:solidFill>
                <a:latin typeface="HK Modular"/>
                <a:ea typeface="HK Modular"/>
                <a:cs typeface="HK Modular"/>
                <a:sym typeface="HK Modular"/>
              </a:rPr>
              <a:t>VISIBILIDAD</a:t>
            </a:r>
          </a:p>
        </p:txBody>
      </p:sp>
      <p:sp>
        <p:nvSpPr>
          <p:cNvPr id="22" name="TextBox 22"/>
          <p:cNvSpPr txBox="1"/>
          <p:nvPr/>
        </p:nvSpPr>
        <p:spPr>
          <a:xfrm>
            <a:off x="1078307" y="9220200"/>
            <a:ext cx="2257625" cy="307221"/>
          </a:xfrm>
          <a:prstGeom prst="rect">
            <a:avLst/>
          </a:prstGeom>
        </p:spPr>
        <p:txBody>
          <a:bodyPr lIns="0" tIns="0" rIns="0" bIns="0" rtlCol="0" anchor="t">
            <a:spAutoFit/>
          </a:bodyPr>
          <a:lstStyle/>
          <a:p>
            <a:pPr algn="ctr">
              <a:lnSpc>
                <a:spcPts val="2491"/>
              </a:lnSpc>
              <a:spcBef>
                <a:spcPct val="0"/>
              </a:spcBef>
            </a:pPr>
            <a:r>
              <a:rPr lang="en-US" sz="1779">
                <a:solidFill>
                  <a:srgbClr val="FFA260"/>
                </a:solidFill>
                <a:latin typeface="HK Modular"/>
                <a:ea typeface="HK Modular"/>
                <a:cs typeface="HK Modular"/>
                <a:sym typeface="HK Modular"/>
              </a:rPr>
              <a:t>RELACIONES</a:t>
            </a:r>
          </a:p>
        </p:txBody>
      </p:sp>
      <p:sp>
        <p:nvSpPr>
          <p:cNvPr id="23" name="TextBox 23"/>
          <p:cNvSpPr txBox="1"/>
          <p:nvPr/>
        </p:nvSpPr>
        <p:spPr>
          <a:xfrm>
            <a:off x="5165837" y="8710952"/>
            <a:ext cx="2257625" cy="307221"/>
          </a:xfrm>
          <a:prstGeom prst="rect">
            <a:avLst/>
          </a:prstGeom>
        </p:spPr>
        <p:txBody>
          <a:bodyPr lIns="0" tIns="0" rIns="0" bIns="0" rtlCol="0" anchor="t">
            <a:spAutoFit/>
          </a:bodyPr>
          <a:lstStyle/>
          <a:p>
            <a:pPr algn="ctr">
              <a:lnSpc>
                <a:spcPts val="2491"/>
              </a:lnSpc>
              <a:spcBef>
                <a:spcPct val="0"/>
              </a:spcBef>
            </a:pPr>
            <a:r>
              <a:rPr lang="en-US" sz="1779">
                <a:solidFill>
                  <a:srgbClr val="FFA260"/>
                </a:solidFill>
                <a:latin typeface="HK Modular"/>
                <a:ea typeface="HK Modular"/>
                <a:cs typeface="HK Modular"/>
                <a:sym typeface="HK Modular"/>
              </a:rPr>
              <a:t>ASOCIACION</a:t>
            </a:r>
          </a:p>
        </p:txBody>
      </p:sp>
      <p:sp>
        <p:nvSpPr>
          <p:cNvPr id="24" name="TextBox 24"/>
          <p:cNvSpPr txBox="1"/>
          <p:nvPr/>
        </p:nvSpPr>
        <p:spPr>
          <a:xfrm>
            <a:off x="3952816" y="9075323"/>
            <a:ext cx="4683667" cy="307221"/>
          </a:xfrm>
          <a:prstGeom prst="rect">
            <a:avLst/>
          </a:prstGeom>
        </p:spPr>
        <p:txBody>
          <a:bodyPr lIns="0" tIns="0" rIns="0" bIns="0" rtlCol="0" anchor="t">
            <a:spAutoFit/>
          </a:bodyPr>
          <a:lstStyle/>
          <a:p>
            <a:pPr algn="ctr">
              <a:lnSpc>
                <a:spcPts val="2491"/>
              </a:lnSpc>
              <a:spcBef>
                <a:spcPct val="0"/>
              </a:spcBef>
            </a:pPr>
            <a:r>
              <a:rPr lang="en-US" sz="1779">
                <a:solidFill>
                  <a:srgbClr val="FFA260"/>
                </a:solidFill>
                <a:latin typeface="HK Modular"/>
                <a:ea typeface="HK Modular"/>
                <a:cs typeface="HK Modular"/>
                <a:sym typeface="HK Modular"/>
              </a:rPr>
              <a:t>AGREGACION Y COMPOSICION</a:t>
            </a:r>
          </a:p>
        </p:txBody>
      </p:sp>
      <p:sp>
        <p:nvSpPr>
          <p:cNvPr id="25" name="TextBox 25"/>
          <p:cNvSpPr txBox="1"/>
          <p:nvPr/>
        </p:nvSpPr>
        <p:spPr>
          <a:xfrm>
            <a:off x="3952816" y="9496844"/>
            <a:ext cx="4683667" cy="307221"/>
          </a:xfrm>
          <a:prstGeom prst="rect">
            <a:avLst/>
          </a:prstGeom>
        </p:spPr>
        <p:txBody>
          <a:bodyPr lIns="0" tIns="0" rIns="0" bIns="0" rtlCol="0" anchor="t">
            <a:spAutoFit/>
          </a:bodyPr>
          <a:lstStyle/>
          <a:p>
            <a:pPr algn="ctr">
              <a:lnSpc>
                <a:spcPts val="2491"/>
              </a:lnSpc>
              <a:spcBef>
                <a:spcPct val="0"/>
              </a:spcBef>
            </a:pPr>
            <a:r>
              <a:rPr lang="en-US" sz="1779">
                <a:solidFill>
                  <a:srgbClr val="FFA260"/>
                </a:solidFill>
                <a:latin typeface="HK Modular"/>
                <a:ea typeface="HK Modular"/>
                <a:cs typeface="HK Modular"/>
                <a:sym typeface="HK Modular"/>
              </a:rPr>
              <a:t>HERENCIA</a:t>
            </a:r>
          </a:p>
        </p:txBody>
      </p:sp>
      <p:sp>
        <p:nvSpPr>
          <p:cNvPr id="26" name="TextBox 26"/>
          <p:cNvSpPr txBox="1"/>
          <p:nvPr/>
        </p:nvSpPr>
        <p:spPr>
          <a:xfrm>
            <a:off x="3952816" y="9861215"/>
            <a:ext cx="4683667" cy="307221"/>
          </a:xfrm>
          <a:prstGeom prst="rect">
            <a:avLst/>
          </a:prstGeom>
        </p:spPr>
        <p:txBody>
          <a:bodyPr lIns="0" tIns="0" rIns="0" bIns="0" rtlCol="0" anchor="t">
            <a:spAutoFit/>
          </a:bodyPr>
          <a:lstStyle/>
          <a:p>
            <a:pPr algn="ctr">
              <a:lnSpc>
                <a:spcPts val="2491"/>
              </a:lnSpc>
              <a:spcBef>
                <a:spcPct val="0"/>
              </a:spcBef>
            </a:pPr>
            <a:r>
              <a:rPr lang="en-US" sz="1779">
                <a:solidFill>
                  <a:srgbClr val="FFA260"/>
                </a:solidFill>
                <a:latin typeface="HK Modular"/>
                <a:ea typeface="HK Modular"/>
                <a:cs typeface="HK Modular"/>
                <a:sym typeface="HK Modular"/>
              </a:rPr>
              <a:t>MULTIPLICIDAD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188346" y="3822529"/>
            <a:ext cx="9200973" cy="5750608"/>
          </a:xfrm>
          <a:custGeom>
            <a:avLst/>
            <a:gdLst/>
            <a:ahLst/>
            <a:cxnLst/>
            <a:rect l="l" t="t" r="r" b="b"/>
            <a:pathLst>
              <a:path w="9200973" h="5750608">
                <a:moveTo>
                  <a:pt x="0" y="0"/>
                </a:moveTo>
                <a:lnTo>
                  <a:pt x="9200972" y="0"/>
                </a:lnTo>
                <a:lnTo>
                  <a:pt x="9200972" y="5750607"/>
                </a:lnTo>
                <a:lnTo>
                  <a:pt x="0" y="5750607"/>
                </a:lnTo>
                <a:lnTo>
                  <a:pt x="0" y="0"/>
                </a:lnTo>
                <a:close/>
              </a:path>
            </a:pathLst>
          </a:custGeom>
          <a:blipFill>
            <a:blip r:embed="rId4"/>
            <a:stretch>
              <a:fillRect/>
            </a:stretch>
          </a:blipFill>
        </p:spPr>
        <p:txBody>
          <a:bodyPr/>
          <a:lstStyle/>
          <a:p>
            <a:endParaRPr lang="es-CO"/>
          </a:p>
        </p:txBody>
      </p:sp>
      <p:sp>
        <p:nvSpPr>
          <p:cNvPr id="8" name="TextBox 8"/>
          <p:cNvSpPr txBox="1"/>
          <p:nvPr/>
        </p:nvSpPr>
        <p:spPr>
          <a:xfrm>
            <a:off x="3527699" y="2289528"/>
            <a:ext cx="11723240" cy="1533000"/>
          </a:xfrm>
          <a:prstGeom prst="rect">
            <a:avLst/>
          </a:prstGeom>
        </p:spPr>
        <p:txBody>
          <a:bodyPr lIns="0" tIns="0" rIns="0" bIns="0" rtlCol="0" anchor="t">
            <a:spAutoFit/>
          </a:bodyPr>
          <a:lstStyle/>
          <a:p>
            <a:pPr algn="ctr">
              <a:lnSpc>
                <a:spcPts val="6101"/>
              </a:lnSpc>
              <a:spcBef>
                <a:spcPct val="0"/>
              </a:spcBef>
            </a:pPr>
            <a:r>
              <a:rPr lang="en-US" sz="4358">
                <a:solidFill>
                  <a:srgbClr val="FFA260"/>
                </a:solidFill>
                <a:latin typeface="HK Modular"/>
                <a:ea typeface="HK Modular"/>
                <a:cs typeface="HK Modular"/>
                <a:sym typeface="HK Modular"/>
              </a:rPr>
              <a:t>¿QUE SON LOS PATRONES DE DISEÑO?</a:t>
            </a:r>
          </a:p>
        </p:txBody>
      </p:sp>
      <p:sp>
        <p:nvSpPr>
          <p:cNvPr id="9" name="TextBox 9"/>
          <p:cNvSpPr txBox="1"/>
          <p:nvPr/>
        </p:nvSpPr>
        <p:spPr>
          <a:xfrm>
            <a:off x="9389318" y="4424045"/>
            <a:ext cx="7869982" cy="13722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Son soluciones habituales a problemas que ocurren con frecuencia en el diseño de software</a:t>
            </a:r>
          </a:p>
        </p:txBody>
      </p:sp>
      <p:sp>
        <p:nvSpPr>
          <p:cNvPr id="10" name="TextBox 10"/>
          <p:cNvSpPr txBox="1"/>
          <p:nvPr/>
        </p:nvSpPr>
        <p:spPr>
          <a:xfrm>
            <a:off x="9253367" y="6589926"/>
            <a:ext cx="8005933"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Son como planos que se pueden personalizar para resolver un problema de diseño</a:t>
            </a:r>
          </a:p>
        </p:txBody>
      </p:sp>
      <p:sp>
        <p:nvSpPr>
          <p:cNvPr id="11" name="TextBox 11"/>
          <p:cNvSpPr txBox="1"/>
          <p:nvPr/>
        </p:nvSpPr>
        <p:spPr>
          <a:xfrm>
            <a:off x="9389318" y="8343264"/>
            <a:ext cx="7869982" cy="915036"/>
          </a:xfrm>
          <a:prstGeom prst="rect">
            <a:avLst/>
          </a:prstGeom>
        </p:spPr>
        <p:txBody>
          <a:bodyPr lIns="0" tIns="0" rIns="0" bIns="0" rtlCol="0" anchor="t">
            <a:spAutoFit/>
          </a:bodyPr>
          <a:lstStyle/>
          <a:p>
            <a:pPr algn="ctr">
              <a:lnSpc>
                <a:spcPts val="3639"/>
              </a:lnSpc>
              <a:spcBef>
                <a:spcPct val="0"/>
              </a:spcBef>
            </a:pPr>
            <a:r>
              <a:rPr lang="en-US" sz="2599">
                <a:solidFill>
                  <a:srgbClr val="FFFFFF"/>
                </a:solidFill>
                <a:latin typeface="Poppins"/>
                <a:ea typeface="Poppins"/>
                <a:cs typeface="Poppins"/>
                <a:sym typeface="Poppins"/>
              </a:rPr>
              <a:t>Son reutilizables y se pueden extraer, explicar en multiples ambitos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7816013" y="-363382"/>
            <a:ext cx="3146611" cy="3146611"/>
          </a:xfrm>
          <a:custGeom>
            <a:avLst/>
            <a:gdLst/>
            <a:ahLst/>
            <a:cxnLst/>
            <a:rect l="l" t="t" r="r" b="b"/>
            <a:pathLst>
              <a:path w="3146611" h="3146611">
                <a:moveTo>
                  <a:pt x="0" y="0"/>
                </a:moveTo>
                <a:lnTo>
                  <a:pt x="3146611" y="0"/>
                </a:lnTo>
                <a:lnTo>
                  <a:pt x="3146611" y="3146611"/>
                </a:lnTo>
                <a:lnTo>
                  <a:pt x="0" y="3146611"/>
                </a:lnTo>
                <a:lnTo>
                  <a:pt x="0" y="0"/>
                </a:lnTo>
                <a:close/>
              </a:path>
            </a:pathLst>
          </a:custGeom>
          <a:blipFill>
            <a:blip r:embed="rId3"/>
            <a:stretch>
              <a:fillRect/>
            </a:stretch>
          </a:blipFill>
        </p:spPr>
        <p:txBody>
          <a:bodyPr/>
          <a:lstStyle/>
          <a:p>
            <a:endParaRPr lang="es-CO"/>
          </a:p>
        </p:txBody>
      </p:sp>
      <p:sp>
        <p:nvSpPr>
          <p:cNvPr id="7" name="Freeform 7"/>
          <p:cNvSpPr/>
          <p:nvPr/>
        </p:nvSpPr>
        <p:spPr>
          <a:xfrm>
            <a:off x="1028700" y="3291582"/>
            <a:ext cx="3582608" cy="2239130"/>
          </a:xfrm>
          <a:custGeom>
            <a:avLst/>
            <a:gdLst/>
            <a:ahLst/>
            <a:cxnLst/>
            <a:rect l="l" t="t" r="r" b="b"/>
            <a:pathLst>
              <a:path w="3582608" h="2239130">
                <a:moveTo>
                  <a:pt x="0" y="0"/>
                </a:moveTo>
                <a:lnTo>
                  <a:pt x="3582608" y="0"/>
                </a:lnTo>
                <a:lnTo>
                  <a:pt x="3582608" y="2239130"/>
                </a:lnTo>
                <a:lnTo>
                  <a:pt x="0" y="2239130"/>
                </a:lnTo>
                <a:lnTo>
                  <a:pt x="0" y="0"/>
                </a:lnTo>
                <a:close/>
              </a:path>
            </a:pathLst>
          </a:custGeom>
          <a:blipFill>
            <a:blip r:embed="rId4"/>
            <a:stretch>
              <a:fillRect/>
            </a:stretch>
          </a:blipFill>
        </p:spPr>
        <p:txBody>
          <a:bodyPr/>
          <a:lstStyle/>
          <a:p>
            <a:endParaRPr lang="es-CO"/>
          </a:p>
        </p:txBody>
      </p:sp>
      <p:sp>
        <p:nvSpPr>
          <p:cNvPr id="8" name="Freeform 8"/>
          <p:cNvSpPr/>
          <p:nvPr/>
        </p:nvSpPr>
        <p:spPr>
          <a:xfrm>
            <a:off x="7114140" y="3220983"/>
            <a:ext cx="3808523" cy="2380327"/>
          </a:xfrm>
          <a:custGeom>
            <a:avLst/>
            <a:gdLst/>
            <a:ahLst/>
            <a:cxnLst/>
            <a:rect l="l" t="t" r="r" b="b"/>
            <a:pathLst>
              <a:path w="3808523" h="2380327">
                <a:moveTo>
                  <a:pt x="0" y="0"/>
                </a:moveTo>
                <a:lnTo>
                  <a:pt x="3808524" y="0"/>
                </a:lnTo>
                <a:lnTo>
                  <a:pt x="3808524" y="2380327"/>
                </a:lnTo>
                <a:lnTo>
                  <a:pt x="0" y="2380327"/>
                </a:lnTo>
                <a:lnTo>
                  <a:pt x="0" y="0"/>
                </a:lnTo>
                <a:close/>
              </a:path>
            </a:pathLst>
          </a:custGeom>
          <a:blipFill>
            <a:blip r:embed="rId5"/>
            <a:stretch>
              <a:fillRect/>
            </a:stretch>
          </a:blipFill>
        </p:spPr>
        <p:txBody>
          <a:bodyPr/>
          <a:lstStyle/>
          <a:p>
            <a:endParaRPr lang="es-CO"/>
          </a:p>
        </p:txBody>
      </p:sp>
      <p:sp>
        <p:nvSpPr>
          <p:cNvPr id="9" name="Freeform 9"/>
          <p:cNvSpPr/>
          <p:nvPr/>
        </p:nvSpPr>
        <p:spPr>
          <a:xfrm>
            <a:off x="13246245" y="3056518"/>
            <a:ext cx="3923145" cy="2709257"/>
          </a:xfrm>
          <a:custGeom>
            <a:avLst/>
            <a:gdLst/>
            <a:ahLst/>
            <a:cxnLst/>
            <a:rect l="l" t="t" r="r" b="b"/>
            <a:pathLst>
              <a:path w="3923145" h="2709257">
                <a:moveTo>
                  <a:pt x="0" y="0"/>
                </a:moveTo>
                <a:lnTo>
                  <a:pt x="3923145" y="0"/>
                </a:lnTo>
                <a:lnTo>
                  <a:pt x="3923145" y="2709257"/>
                </a:lnTo>
                <a:lnTo>
                  <a:pt x="0" y="2709257"/>
                </a:lnTo>
                <a:lnTo>
                  <a:pt x="0" y="0"/>
                </a:lnTo>
                <a:close/>
              </a:path>
            </a:pathLst>
          </a:custGeom>
          <a:blipFill>
            <a:blip r:embed="rId6"/>
            <a:stretch>
              <a:fillRect/>
            </a:stretch>
          </a:blipFill>
        </p:spPr>
        <p:txBody>
          <a:bodyPr/>
          <a:lstStyle/>
          <a:p>
            <a:endParaRPr lang="es-CO"/>
          </a:p>
        </p:txBody>
      </p:sp>
      <p:sp>
        <p:nvSpPr>
          <p:cNvPr id="10" name="TextBox 10"/>
          <p:cNvSpPr txBox="1"/>
          <p:nvPr/>
        </p:nvSpPr>
        <p:spPr>
          <a:xfrm>
            <a:off x="3391747" y="2024456"/>
            <a:ext cx="11723240" cy="758774"/>
          </a:xfrm>
          <a:prstGeom prst="rect">
            <a:avLst/>
          </a:prstGeom>
        </p:spPr>
        <p:txBody>
          <a:bodyPr lIns="0" tIns="0" rIns="0" bIns="0" rtlCol="0" anchor="t">
            <a:spAutoFit/>
          </a:bodyPr>
          <a:lstStyle/>
          <a:p>
            <a:pPr algn="ctr">
              <a:lnSpc>
                <a:spcPts val="6101"/>
              </a:lnSpc>
              <a:spcBef>
                <a:spcPct val="0"/>
              </a:spcBef>
            </a:pPr>
            <a:r>
              <a:rPr lang="en-US" sz="4358">
                <a:solidFill>
                  <a:srgbClr val="F800C0"/>
                </a:solidFill>
                <a:latin typeface="HK Modular"/>
                <a:ea typeface="HK Modular"/>
                <a:cs typeface="HK Modular"/>
                <a:sym typeface="HK Modular"/>
              </a:rPr>
              <a:t>CATEGORIAS</a:t>
            </a:r>
          </a:p>
        </p:txBody>
      </p:sp>
      <p:sp>
        <p:nvSpPr>
          <p:cNvPr id="11" name="TextBox 11"/>
          <p:cNvSpPr txBox="1"/>
          <p:nvPr/>
        </p:nvSpPr>
        <p:spPr>
          <a:xfrm>
            <a:off x="777277" y="5972389"/>
            <a:ext cx="4177332" cy="518534"/>
          </a:xfrm>
          <a:prstGeom prst="rect">
            <a:avLst/>
          </a:prstGeom>
        </p:spPr>
        <p:txBody>
          <a:bodyPr lIns="0" tIns="0" rIns="0" bIns="0" rtlCol="0" anchor="t">
            <a:spAutoFit/>
          </a:bodyPr>
          <a:lstStyle/>
          <a:p>
            <a:pPr algn="ctr">
              <a:lnSpc>
                <a:spcPts val="4155"/>
              </a:lnSpc>
              <a:spcBef>
                <a:spcPct val="0"/>
              </a:spcBef>
            </a:pPr>
            <a:r>
              <a:rPr lang="en-US" sz="2968">
                <a:solidFill>
                  <a:srgbClr val="FF914D"/>
                </a:solidFill>
                <a:latin typeface="HK Modular"/>
                <a:ea typeface="HK Modular"/>
                <a:cs typeface="HK Modular"/>
                <a:sym typeface="HK Modular"/>
              </a:rPr>
              <a:t>CREACIONALES</a:t>
            </a:r>
          </a:p>
        </p:txBody>
      </p:sp>
      <p:sp>
        <p:nvSpPr>
          <p:cNvPr id="12" name="TextBox 12"/>
          <p:cNvSpPr txBox="1"/>
          <p:nvPr/>
        </p:nvSpPr>
        <p:spPr>
          <a:xfrm>
            <a:off x="6773126" y="5972389"/>
            <a:ext cx="4544292" cy="504838"/>
          </a:xfrm>
          <a:prstGeom prst="rect">
            <a:avLst/>
          </a:prstGeom>
        </p:spPr>
        <p:txBody>
          <a:bodyPr lIns="0" tIns="0" rIns="0" bIns="0" rtlCol="0" anchor="t">
            <a:spAutoFit/>
          </a:bodyPr>
          <a:lstStyle/>
          <a:p>
            <a:pPr algn="ctr">
              <a:lnSpc>
                <a:spcPts val="4029"/>
              </a:lnSpc>
              <a:spcBef>
                <a:spcPct val="0"/>
              </a:spcBef>
            </a:pPr>
            <a:r>
              <a:rPr lang="en-US" sz="2878">
                <a:solidFill>
                  <a:srgbClr val="FF914D"/>
                </a:solidFill>
                <a:latin typeface="HK Modular"/>
                <a:ea typeface="HK Modular"/>
                <a:cs typeface="HK Modular"/>
                <a:sym typeface="HK Modular"/>
              </a:rPr>
              <a:t>ESTRUCTURALES</a:t>
            </a:r>
          </a:p>
        </p:txBody>
      </p:sp>
      <p:sp>
        <p:nvSpPr>
          <p:cNvPr id="13" name="TextBox 13"/>
          <p:cNvSpPr txBox="1"/>
          <p:nvPr/>
        </p:nvSpPr>
        <p:spPr>
          <a:xfrm>
            <a:off x="12767240" y="5981914"/>
            <a:ext cx="4959028" cy="535302"/>
          </a:xfrm>
          <a:prstGeom prst="rect">
            <a:avLst/>
          </a:prstGeom>
        </p:spPr>
        <p:txBody>
          <a:bodyPr lIns="0" tIns="0" rIns="0" bIns="0" rtlCol="0" anchor="t">
            <a:spAutoFit/>
          </a:bodyPr>
          <a:lstStyle/>
          <a:p>
            <a:pPr algn="ctr">
              <a:lnSpc>
                <a:spcPts val="4397"/>
              </a:lnSpc>
              <a:spcBef>
                <a:spcPct val="0"/>
              </a:spcBef>
            </a:pPr>
            <a:r>
              <a:rPr lang="en-US" sz="3140">
                <a:solidFill>
                  <a:srgbClr val="FF914D"/>
                </a:solidFill>
                <a:latin typeface="HK Modular"/>
                <a:ea typeface="HK Modular"/>
                <a:cs typeface="HK Modular"/>
                <a:sym typeface="HK Modular"/>
              </a:rPr>
              <a:t>COMPORTAMIENTO</a:t>
            </a:r>
          </a:p>
        </p:txBody>
      </p:sp>
      <p:sp>
        <p:nvSpPr>
          <p:cNvPr id="14" name="TextBox 14"/>
          <p:cNvSpPr txBox="1"/>
          <p:nvPr/>
        </p:nvSpPr>
        <p:spPr>
          <a:xfrm>
            <a:off x="685400" y="6738573"/>
            <a:ext cx="4269209" cy="1925965"/>
          </a:xfrm>
          <a:prstGeom prst="rect">
            <a:avLst/>
          </a:prstGeom>
        </p:spPr>
        <p:txBody>
          <a:bodyPr lIns="0" tIns="0" rIns="0" bIns="0" rtlCol="0" anchor="t">
            <a:spAutoFit/>
          </a:bodyPr>
          <a:lstStyle/>
          <a:p>
            <a:pPr algn="ctr">
              <a:lnSpc>
                <a:spcPts val="3048"/>
              </a:lnSpc>
              <a:spcBef>
                <a:spcPct val="0"/>
              </a:spcBef>
            </a:pPr>
            <a:r>
              <a:rPr lang="en-US" sz="2177">
                <a:solidFill>
                  <a:srgbClr val="FFFFFF"/>
                </a:solidFill>
                <a:latin typeface="Poppins"/>
                <a:ea typeface="Poppins"/>
                <a:cs typeface="Poppins"/>
                <a:sym typeface="Poppins"/>
              </a:rPr>
              <a:t>Proporcionan diversos mecanismos de creacion de objetos que incrementan la flexibilidad y reutilizacion del codigo existente</a:t>
            </a:r>
          </a:p>
        </p:txBody>
      </p:sp>
      <p:sp>
        <p:nvSpPr>
          <p:cNvPr id="15" name="TextBox 15"/>
          <p:cNvSpPr txBox="1"/>
          <p:nvPr/>
        </p:nvSpPr>
        <p:spPr>
          <a:xfrm>
            <a:off x="7074180" y="6682916"/>
            <a:ext cx="3888444" cy="2099381"/>
          </a:xfrm>
          <a:prstGeom prst="rect">
            <a:avLst/>
          </a:prstGeom>
        </p:spPr>
        <p:txBody>
          <a:bodyPr lIns="0" tIns="0" rIns="0" bIns="0" rtlCol="0" anchor="t">
            <a:spAutoFit/>
          </a:bodyPr>
          <a:lstStyle/>
          <a:p>
            <a:pPr algn="ctr">
              <a:lnSpc>
                <a:spcPts val="2776"/>
              </a:lnSpc>
              <a:spcBef>
                <a:spcPct val="0"/>
              </a:spcBef>
            </a:pPr>
            <a:r>
              <a:rPr lang="en-US" sz="1983">
                <a:solidFill>
                  <a:srgbClr val="FFFFFF"/>
                </a:solidFill>
                <a:latin typeface="Poppins"/>
                <a:ea typeface="Poppins"/>
                <a:cs typeface="Poppins"/>
                <a:sym typeface="Poppins"/>
              </a:rPr>
              <a:t>Explican como ensamblar objetos y clases en estructuras mas grandes, mientras se mantiene la flexibilidad y eficiencia de la estructura</a:t>
            </a:r>
          </a:p>
        </p:txBody>
      </p:sp>
      <p:sp>
        <p:nvSpPr>
          <p:cNvPr id="16" name="TextBox 16"/>
          <p:cNvSpPr txBox="1"/>
          <p:nvPr/>
        </p:nvSpPr>
        <p:spPr>
          <a:xfrm>
            <a:off x="13246245" y="6682916"/>
            <a:ext cx="4001017" cy="1799639"/>
          </a:xfrm>
          <a:prstGeom prst="rect">
            <a:avLst/>
          </a:prstGeom>
        </p:spPr>
        <p:txBody>
          <a:bodyPr lIns="0" tIns="0" rIns="0" bIns="0" rtlCol="0" anchor="t">
            <a:spAutoFit/>
          </a:bodyPr>
          <a:lstStyle/>
          <a:p>
            <a:pPr algn="ctr">
              <a:lnSpc>
                <a:spcPts val="2857"/>
              </a:lnSpc>
              <a:spcBef>
                <a:spcPct val="0"/>
              </a:spcBef>
            </a:pPr>
            <a:r>
              <a:rPr lang="en-US" sz="2040">
                <a:solidFill>
                  <a:srgbClr val="FFFFFF"/>
                </a:solidFill>
                <a:latin typeface="Poppins"/>
                <a:ea typeface="Poppins"/>
                <a:cs typeface="Poppins"/>
                <a:sym typeface="Poppins"/>
              </a:rPr>
              <a:t>Estos patrones tratan con algoritmos y la asignacion de responsabilidades entre objetos, es decir como interactuan entre si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781153" y="1850399"/>
            <a:ext cx="10944428" cy="1747534"/>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CREACIONAL - FACTORY METHOD</a:t>
            </a:r>
          </a:p>
        </p:txBody>
      </p:sp>
      <p:sp>
        <p:nvSpPr>
          <p:cNvPr id="7" name="Freeform 7"/>
          <p:cNvSpPr/>
          <p:nvPr/>
        </p:nvSpPr>
        <p:spPr>
          <a:xfrm>
            <a:off x="1188362" y="5143500"/>
            <a:ext cx="6603979" cy="4338008"/>
          </a:xfrm>
          <a:custGeom>
            <a:avLst/>
            <a:gdLst/>
            <a:ahLst/>
            <a:cxnLst/>
            <a:rect l="l" t="t" r="r" b="b"/>
            <a:pathLst>
              <a:path w="6603979" h="4338008">
                <a:moveTo>
                  <a:pt x="0" y="0"/>
                </a:moveTo>
                <a:lnTo>
                  <a:pt x="6603979" y="0"/>
                </a:lnTo>
                <a:lnTo>
                  <a:pt x="6603979" y="4338008"/>
                </a:lnTo>
                <a:lnTo>
                  <a:pt x="0" y="4338008"/>
                </a:lnTo>
                <a:lnTo>
                  <a:pt x="0" y="0"/>
                </a:lnTo>
                <a:close/>
              </a:path>
            </a:pathLst>
          </a:custGeom>
          <a:blipFill>
            <a:blip r:embed="rId3"/>
            <a:stretch>
              <a:fillRect/>
            </a:stretch>
          </a:blipFill>
        </p:spPr>
        <p:txBody>
          <a:bodyPr/>
          <a:lstStyle/>
          <a:p>
            <a:endParaRPr lang="es-CO"/>
          </a:p>
        </p:txBody>
      </p:sp>
      <p:pic>
        <p:nvPicPr>
          <p:cNvPr id="8" name="Picture 8"/>
          <p:cNvPicPr>
            <a:picLocks noChangeAspect="1"/>
          </p:cNvPicPr>
          <p:nvPr/>
        </p:nvPicPr>
        <p:blipFill>
          <a:blip r:embed="rId4"/>
          <a:stretch>
            <a:fillRect/>
          </a:stretch>
        </p:blipFill>
        <p:spPr>
          <a:xfrm>
            <a:off x="8332988" y="5415412"/>
            <a:ext cx="884789" cy="885324"/>
          </a:xfrm>
          <a:prstGeom prst="rect">
            <a:avLst/>
          </a:prstGeom>
        </p:spPr>
      </p:pic>
      <p:sp>
        <p:nvSpPr>
          <p:cNvPr id="9" name="TextBox 9"/>
          <p:cNvSpPr txBox="1"/>
          <p:nvPr/>
        </p:nvSpPr>
        <p:spPr>
          <a:xfrm>
            <a:off x="1652826" y="3970911"/>
            <a:ext cx="15814111"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Es un patrón de diseño creacional que proporciona una interfaz para crear objetos en una superclase, mientras permite a las subclases alterar el tipo de objetos que se crearán.</a:t>
            </a:r>
          </a:p>
        </p:txBody>
      </p:sp>
      <p:sp>
        <p:nvSpPr>
          <p:cNvPr id="10" name="TextBox 10"/>
          <p:cNvSpPr txBox="1"/>
          <p:nvPr/>
        </p:nvSpPr>
        <p:spPr>
          <a:xfrm>
            <a:off x="9144000" y="5663982"/>
            <a:ext cx="8744962"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Con el evitas un acoplamiento fuerte entre el creador y los productos concretos</a:t>
            </a:r>
          </a:p>
        </p:txBody>
      </p:sp>
      <p:sp>
        <p:nvSpPr>
          <p:cNvPr id="11" name="TextBox 11"/>
          <p:cNvSpPr txBox="1"/>
          <p:nvPr/>
        </p:nvSpPr>
        <p:spPr>
          <a:xfrm>
            <a:off x="9253367" y="6958747"/>
            <a:ext cx="8744962" cy="10090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Se presenta el principio de SINGLE RESPONSABILITY ya que puedes mover el codigo de la creacion de un producto a un lugar del programa haciendolo mas facil de mantener</a:t>
            </a:r>
          </a:p>
        </p:txBody>
      </p:sp>
      <p:sp>
        <p:nvSpPr>
          <p:cNvPr id="12" name="TextBox 12"/>
          <p:cNvSpPr txBox="1"/>
          <p:nvPr/>
        </p:nvSpPr>
        <p:spPr>
          <a:xfrm>
            <a:off x="9144000" y="8582660"/>
            <a:ext cx="8744962"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Se presenta el principio de OPEN/CLOSE al incorporar nuevos tipos de productos en el programa sin descomponer el codigo cliente existente</a:t>
            </a:r>
          </a:p>
        </p:txBody>
      </p:sp>
      <p:pic>
        <p:nvPicPr>
          <p:cNvPr id="13" name="Picture 13"/>
          <p:cNvPicPr>
            <a:picLocks noChangeAspect="1"/>
          </p:cNvPicPr>
          <p:nvPr/>
        </p:nvPicPr>
        <p:blipFill>
          <a:blip r:embed="rId5"/>
          <a:stretch>
            <a:fillRect/>
          </a:stretch>
        </p:blipFill>
        <p:spPr>
          <a:xfrm>
            <a:off x="8332988" y="6869842"/>
            <a:ext cx="884789" cy="885324"/>
          </a:xfrm>
          <a:prstGeom prst="rect">
            <a:avLst/>
          </a:prstGeom>
        </p:spPr>
      </p:pic>
      <p:pic>
        <p:nvPicPr>
          <p:cNvPr id="14" name="Picture 14"/>
          <p:cNvPicPr>
            <a:picLocks noChangeAspect="1"/>
          </p:cNvPicPr>
          <p:nvPr/>
        </p:nvPicPr>
        <p:blipFill>
          <a:blip r:embed="rId6"/>
          <a:stretch>
            <a:fillRect/>
          </a:stretch>
        </p:blipFill>
        <p:spPr>
          <a:xfrm>
            <a:off x="8332988" y="8445812"/>
            <a:ext cx="884789" cy="885324"/>
          </a:xfrm>
          <a:prstGeom prst="rect">
            <a:avLst/>
          </a:prstGeom>
        </p:spPr>
      </p:pic>
      <p:sp>
        <p:nvSpPr>
          <p:cNvPr id="15" name="Freeform 15"/>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7"/>
            <a:stretch>
              <a:fillRect/>
            </a:stretch>
          </a:blipFill>
        </p:spPr>
        <p:txBody>
          <a:bodyPr/>
          <a:lstStyle/>
          <a:p>
            <a:endParaRPr lang="es-CO"/>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315746" y="1747476"/>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COMO IMPLEMENTARLO</a:t>
            </a:r>
          </a:p>
        </p:txBody>
      </p:sp>
      <p:sp>
        <p:nvSpPr>
          <p:cNvPr id="7" name="Freeform 7"/>
          <p:cNvSpPr/>
          <p:nvPr/>
        </p:nvSpPr>
        <p:spPr>
          <a:xfrm>
            <a:off x="4280851" y="3218530"/>
            <a:ext cx="9481246" cy="5458899"/>
          </a:xfrm>
          <a:custGeom>
            <a:avLst/>
            <a:gdLst/>
            <a:ahLst/>
            <a:cxnLst/>
            <a:rect l="l" t="t" r="r" b="b"/>
            <a:pathLst>
              <a:path w="9481246" h="5458899">
                <a:moveTo>
                  <a:pt x="0" y="0"/>
                </a:moveTo>
                <a:lnTo>
                  <a:pt x="9481246" y="0"/>
                </a:lnTo>
                <a:lnTo>
                  <a:pt x="9481246" y="5458899"/>
                </a:lnTo>
                <a:lnTo>
                  <a:pt x="0" y="5458899"/>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11074793" y="3161380"/>
            <a:ext cx="6612422" cy="1342390"/>
          </a:xfrm>
          <a:prstGeom prst="rect">
            <a:avLst/>
          </a:prstGeom>
        </p:spPr>
        <p:txBody>
          <a:bodyPr lIns="0" tIns="0" rIns="0" bIns="0" rtlCol="0" anchor="t">
            <a:spAutoFit/>
          </a:bodyPr>
          <a:lstStyle/>
          <a:p>
            <a:pPr marL="410209" lvl="1" indent="-205105" algn="ctr">
              <a:lnSpc>
                <a:spcPts val="2659"/>
              </a:lnSpc>
              <a:buAutoNum type="arabicPeriod"/>
            </a:pPr>
            <a:r>
              <a:rPr lang="en-US" sz="1899">
                <a:solidFill>
                  <a:srgbClr val="FFFFFF"/>
                </a:solidFill>
                <a:latin typeface="Poppins"/>
                <a:ea typeface="Poppins"/>
                <a:cs typeface="Poppins"/>
                <a:sym typeface="Poppins"/>
              </a:rPr>
              <a:t>Generen una interfaz que es comun para todos los objetos que puede producir la clase creadora y sus implementaciones concretas</a:t>
            </a:r>
          </a:p>
          <a:p>
            <a:pPr algn="ctr">
              <a:lnSpc>
                <a:spcPts val="2659"/>
              </a:lnSpc>
              <a:spcBef>
                <a:spcPct val="0"/>
              </a:spcBef>
            </a:pPr>
            <a:endParaRPr lang="en-US" sz="1899">
              <a:solidFill>
                <a:srgbClr val="FFFFFF"/>
              </a:solidFill>
              <a:latin typeface="Poppins"/>
              <a:ea typeface="Poppins"/>
              <a:cs typeface="Poppins"/>
              <a:sym typeface="Poppins"/>
            </a:endParaRPr>
          </a:p>
        </p:txBody>
      </p:sp>
      <p:sp>
        <p:nvSpPr>
          <p:cNvPr id="9" name="TextBox 9"/>
          <p:cNvSpPr txBox="1"/>
          <p:nvPr/>
        </p:nvSpPr>
        <p:spPr>
          <a:xfrm>
            <a:off x="287574" y="2852135"/>
            <a:ext cx="3689508" cy="2009140"/>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La clase creadora declara el metodo fabrica que devuelve nuevos objetos de producto, el retorno debe coincidir con la interfaz de producto</a:t>
            </a:r>
          </a:p>
        </p:txBody>
      </p:sp>
      <p:sp>
        <p:nvSpPr>
          <p:cNvPr id="10" name="TextBox 10"/>
          <p:cNvSpPr txBox="1"/>
          <p:nvPr/>
        </p:nvSpPr>
        <p:spPr>
          <a:xfrm>
            <a:off x="3695777" y="9125104"/>
            <a:ext cx="7379016" cy="675640"/>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Los creadores concretos sobrescriben el Factory Method base y devuelven un tipo diferente de producto</a:t>
            </a:r>
          </a:p>
        </p:txBody>
      </p:sp>
      <p:sp>
        <p:nvSpPr>
          <p:cNvPr id="11" name="TextBox 11"/>
          <p:cNvSpPr txBox="1"/>
          <p:nvPr/>
        </p:nvSpPr>
        <p:spPr>
          <a:xfrm>
            <a:off x="421099" y="6259803"/>
            <a:ext cx="3555983" cy="1540079"/>
          </a:xfrm>
          <a:prstGeom prst="rect">
            <a:avLst/>
          </a:prstGeom>
        </p:spPr>
        <p:txBody>
          <a:bodyPr lIns="0" tIns="0" rIns="0" bIns="0" rtlCol="0" anchor="t">
            <a:spAutoFit/>
          </a:bodyPr>
          <a:lstStyle/>
          <a:p>
            <a:pPr algn="ctr">
              <a:lnSpc>
                <a:spcPts val="2452"/>
              </a:lnSpc>
              <a:spcBef>
                <a:spcPct val="0"/>
              </a:spcBef>
            </a:pPr>
            <a:r>
              <a:rPr lang="en-US" sz="1751">
                <a:solidFill>
                  <a:srgbClr val="FFFFFF"/>
                </a:solidFill>
                <a:latin typeface="Poppins"/>
                <a:ea typeface="Poppins"/>
                <a:cs typeface="Poppins"/>
                <a:sym typeface="Poppins"/>
              </a:rPr>
              <a:t>SE PUEDE USAR EL CREADOR COMO ABSTRACTO para forzar a las subclases a implementar sus propias versiones con overriding</a:t>
            </a:r>
          </a:p>
        </p:txBody>
      </p:sp>
      <p:sp>
        <p:nvSpPr>
          <p:cNvPr id="12" name="Freeform 12"/>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#1</a:t>
            </a:r>
          </a:p>
        </p:txBody>
      </p:sp>
      <p:sp>
        <p:nvSpPr>
          <p:cNvPr id="7" name="Freeform 7"/>
          <p:cNvSpPr/>
          <p:nvPr/>
        </p:nvSpPr>
        <p:spPr>
          <a:xfrm>
            <a:off x="6670209" y="4618040"/>
            <a:ext cx="11301259" cy="3475137"/>
          </a:xfrm>
          <a:custGeom>
            <a:avLst/>
            <a:gdLst/>
            <a:ahLst/>
            <a:cxnLst/>
            <a:rect l="l" t="t" r="r" b="b"/>
            <a:pathLst>
              <a:path w="11301259" h="3475137">
                <a:moveTo>
                  <a:pt x="0" y="0"/>
                </a:moveTo>
                <a:lnTo>
                  <a:pt x="11301259" y="0"/>
                </a:lnTo>
                <a:lnTo>
                  <a:pt x="11301259" y="3475137"/>
                </a:lnTo>
                <a:lnTo>
                  <a:pt x="0" y="3475137"/>
                </a:lnTo>
                <a:lnTo>
                  <a:pt x="0" y="0"/>
                </a:lnTo>
                <a:close/>
              </a:path>
            </a:pathLst>
          </a:custGeom>
          <a:blipFill>
            <a:blip r:embed="rId3"/>
            <a:stretch>
              <a:fillRect/>
            </a:stretch>
          </a:blipFill>
        </p:spPr>
        <p:txBody>
          <a:bodyPr/>
          <a:lstStyle/>
          <a:p>
            <a:endParaRPr lang="es-CO"/>
          </a:p>
        </p:txBody>
      </p:sp>
      <p:sp>
        <p:nvSpPr>
          <p:cNvPr id="8" name="Freeform 8"/>
          <p:cNvSpPr/>
          <p:nvPr/>
        </p:nvSpPr>
        <p:spPr>
          <a:xfrm>
            <a:off x="1873694" y="2191796"/>
            <a:ext cx="2574485" cy="1956608"/>
          </a:xfrm>
          <a:custGeom>
            <a:avLst/>
            <a:gdLst/>
            <a:ahLst/>
            <a:cxnLst/>
            <a:rect l="l" t="t" r="r" b="b"/>
            <a:pathLst>
              <a:path w="2574485" h="1956608">
                <a:moveTo>
                  <a:pt x="0" y="0"/>
                </a:moveTo>
                <a:lnTo>
                  <a:pt x="2574485" y="0"/>
                </a:lnTo>
                <a:lnTo>
                  <a:pt x="2574485" y="1956608"/>
                </a:lnTo>
                <a:lnTo>
                  <a:pt x="0" y="1956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TextBox 9"/>
          <p:cNvSpPr txBox="1"/>
          <p:nvPr/>
        </p:nvSpPr>
        <p:spPr>
          <a:xfrm>
            <a:off x="833574" y="4560890"/>
            <a:ext cx="5451327" cy="4833115"/>
          </a:xfrm>
          <a:prstGeom prst="rect">
            <a:avLst/>
          </a:prstGeom>
        </p:spPr>
        <p:txBody>
          <a:bodyPr lIns="0" tIns="0" rIns="0" bIns="0" rtlCol="0" anchor="t">
            <a:spAutoFit/>
          </a:bodyPr>
          <a:lstStyle/>
          <a:p>
            <a:pPr algn="l">
              <a:lnSpc>
                <a:spcPts val="2747"/>
              </a:lnSpc>
              <a:spcBef>
                <a:spcPct val="0"/>
              </a:spcBef>
            </a:pPr>
            <a:r>
              <a:rPr lang="en-US" sz="1962">
                <a:solidFill>
                  <a:srgbClr val="FFFFFF"/>
                </a:solidFill>
                <a:latin typeface="Poppins"/>
                <a:ea typeface="Poppins"/>
                <a:cs typeface="Poppins"/>
                <a:sym typeface="Poppins"/>
              </a:rPr>
              <a:t>Una plataforma de comercio electrónico procesa pagos usando distintos métodos de pago:</a:t>
            </a:r>
          </a:p>
          <a:p>
            <a:pPr algn="l">
              <a:lnSpc>
                <a:spcPts val="2747"/>
              </a:lnSpc>
              <a:spcBef>
                <a:spcPct val="0"/>
              </a:spcBef>
            </a:pPr>
            <a:endParaRPr lang="en-US" sz="1962">
              <a:solidFill>
                <a:srgbClr val="FFFFFF"/>
              </a:solidFill>
              <a:latin typeface="Poppins"/>
              <a:ea typeface="Poppins"/>
              <a:cs typeface="Poppins"/>
              <a:sym typeface="Poppins"/>
            </a:endParaRPr>
          </a:p>
          <a:p>
            <a:pPr marL="423723" lvl="1" indent="-211861" algn="l">
              <a:lnSpc>
                <a:spcPts val="2747"/>
              </a:lnSpc>
              <a:buFont typeface="Arial"/>
              <a:buChar char="•"/>
            </a:pPr>
            <a:r>
              <a:rPr lang="en-US" sz="1962">
                <a:solidFill>
                  <a:srgbClr val="FFFFFF"/>
                </a:solidFill>
                <a:latin typeface="Poppins"/>
                <a:ea typeface="Poppins"/>
                <a:cs typeface="Poppins"/>
                <a:sym typeface="Poppins"/>
              </a:rPr>
              <a:t>Tarjeta de crédito</a:t>
            </a:r>
          </a:p>
          <a:p>
            <a:pPr marL="423723" lvl="1" indent="-211861" algn="l">
              <a:lnSpc>
                <a:spcPts val="2747"/>
              </a:lnSpc>
              <a:buFont typeface="Arial"/>
              <a:buChar char="•"/>
            </a:pPr>
            <a:r>
              <a:rPr lang="en-US" sz="1962">
                <a:solidFill>
                  <a:srgbClr val="FFFFFF"/>
                </a:solidFill>
                <a:latin typeface="Poppins"/>
                <a:ea typeface="Poppins"/>
                <a:cs typeface="Poppins"/>
                <a:sym typeface="Poppins"/>
              </a:rPr>
              <a:t>PayPal</a:t>
            </a:r>
          </a:p>
          <a:p>
            <a:pPr marL="423723" lvl="1" indent="-211861" algn="l">
              <a:lnSpc>
                <a:spcPts val="2747"/>
              </a:lnSpc>
              <a:buFont typeface="Arial"/>
              <a:buChar char="•"/>
            </a:pPr>
            <a:r>
              <a:rPr lang="en-US" sz="1962">
                <a:solidFill>
                  <a:srgbClr val="FFFFFF"/>
                </a:solidFill>
                <a:latin typeface="Poppins"/>
                <a:ea typeface="Poppins"/>
                <a:cs typeface="Poppins"/>
                <a:sym typeface="Poppins"/>
              </a:rPr>
              <a:t>Transferencia bancaria</a:t>
            </a:r>
          </a:p>
          <a:p>
            <a:pPr algn="l">
              <a:lnSpc>
                <a:spcPts val="2747"/>
              </a:lnSpc>
            </a:pPr>
            <a:endParaRPr lang="en-US" sz="1962">
              <a:solidFill>
                <a:srgbClr val="FFFFFF"/>
              </a:solidFill>
              <a:latin typeface="Poppins"/>
              <a:ea typeface="Poppins"/>
              <a:cs typeface="Poppins"/>
              <a:sym typeface="Poppins"/>
            </a:endParaRPr>
          </a:p>
          <a:p>
            <a:pPr algn="l">
              <a:lnSpc>
                <a:spcPts val="2747"/>
              </a:lnSpc>
              <a:spcBef>
                <a:spcPct val="0"/>
              </a:spcBef>
            </a:pPr>
            <a:r>
              <a:rPr lang="en-US" sz="1962">
                <a:solidFill>
                  <a:srgbClr val="FFFFFF"/>
                </a:solidFill>
                <a:latin typeface="Poppins"/>
                <a:ea typeface="Poppins"/>
                <a:cs typeface="Poppins"/>
                <a:sym typeface="Poppins"/>
              </a:rPr>
              <a:t>El sistema no debe acoplarse a las clases concretas de cada tipo de pago.</a:t>
            </a:r>
          </a:p>
          <a:p>
            <a:pPr algn="l">
              <a:lnSpc>
                <a:spcPts val="2747"/>
              </a:lnSpc>
              <a:spcBef>
                <a:spcPct val="0"/>
              </a:spcBef>
            </a:pPr>
            <a:r>
              <a:rPr lang="en-US" sz="1962">
                <a:solidFill>
                  <a:srgbClr val="FFFFFF"/>
                </a:solidFill>
                <a:latin typeface="Poppins"/>
                <a:ea typeface="Poppins"/>
                <a:cs typeface="Poppins"/>
                <a:sym typeface="Poppins"/>
              </a:rPr>
              <a:t>Los pagos son con decimales</a:t>
            </a:r>
          </a:p>
          <a:p>
            <a:pPr algn="l">
              <a:lnSpc>
                <a:spcPts val="2747"/>
              </a:lnSpc>
              <a:spcBef>
                <a:spcPct val="0"/>
              </a:spcBef>
            </a:pPr>
            <a:r>
              <a:rPr lang="en-US" sz="1962">
                <a:solidFill>
                  <a:srgbClr val="FFFFFF"/>
                </a:solidFill>
                <a:latin typeface="Poppins"/>
                <a:ea typeface="Poppins"/>
                <a:cs typeface="Poppins"/>
                <a:sym typeface="Poppins"/>
              </a:rPr>
              <a:t>Cada pago debe decir:</a:t>
            </a:r>
          </a:p>
          <a:p>
            <a:pPr algn="l">
              <a:lnSpc>
                <a:spcPts val="2747"/>
              </a:lnSpc>
              <a:spcBef>
                <a:spcPct val="0"/>
              </a:spcBef>
            </a:pPr>
            <a:endParaRPr lang="en-US" sz="1962">
              <a:solidFill>
                <a:srgbClr val="FFFFFF"/>
              </a:solidFill>
              <a:latin typeface="Poppins"/>
              <a:ea typeface="Poppins"/>
              <a:cs typeface="Poppins"/>
              <a:sym typeface="Poppins"/>
            </a:endParaRPr>
          </a:p>
          <a:p>
            <a:pPr algn="l">
              <a:lnSpc>
                <a:spcPts val="2747"/>
              </a:lnSpc>
              <a:spcBef>
                <a:spcPct val="0"/>
              </a:spcBef>
            </a:pPr>
            <a:r>
              <a:rPr lang="en-US" sz="1962">
                <a:solidFill>
                  <a:srgbClr val="FFFFFF"/>
                </a:solidFill>
                <a:latin typeface="Poppins"/>
                <a:ea typeface="Poppins"/>
                <a:cs typeface="Poppins"/>
                <a:sym typeface="Poppins"/>
              </a:rPr>
              <a:t>Pago con METODO por $ MONTO</a:t>
            </a:r>
          </a:p>
        </p:txBody>
      </p:sp>
      <p:sp>
        <p:nvSpPr>
          <p:cNvPr id="10" name="Freeform 10"/>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#1</a:t>
            </a:r>
          </a:p>
        </p:txBody>
      </p:sp>
      <p:sp>
        <p:nvSpPr>
          <p:cNvPr id="7" name="Freeform 7"/>
          <p:cNvSpPr/>
          <p:nvPr/>
        </p:nvSpPr>
        <p:spPr>
          <a:xfrm>
            <a:off x="10075325" y="4092830"/>
            <a:ext cx="6505191" cy="5430805"/>
          </a:xfrm>
          <a:custGeom>
            <a:avLst/>
            <a:gdLst/>
            <a:ahLst/>
            <a:cxnLst/>
            <a:rect l="l" t="t" r="r" b="b"/>
            <a:pathLst>
              <a:path w="6505191" h="5430805">
                <a:moveTo>
                  <a:pt x="0" y="0"/>
                </a:moveTo>
                <a:lnTo>
                  <a:pt x="6505191" y="0"/>
                </a:lnTo>
                <a:lnTo>
                  <a:pt x="6505191" y="5430805"/>
                </a:lnTo>
                <a:lnTo>
                  <a:pt x="0" y="5430805"/>
                </a:lnTo>
                <a:lnTo>
                  <a:pt x="0" y="0"/>
                </a:lnTo>
                <a:close/>
              </a:path>
            </a:pathLst>
          </a:custGeom>
          <a:blipFill>
            <a:blip r:embed="rId3"/>
            <a:stretch>
              <a:fillRect/>
            </a:stretch>
          </a:blipFill>
        </p:spPr>
        <p:txBody>
          <a:bodyPr/>
          <a:lstStyle/>
          <a:p>
            <a:endParaRPr lang="es-CO"/>
          </a:p>
        </p:txBody>
      </p:sp>
      <p:sp>
        <p:nvSpPr>
          <p:cNvPr id="8" name="Freeform 8"/>
          <p:cNvSpPr/>
          <p:nvPr/>
        </p:nvSpPr>
        <p:spPr>
          <a:xfrm>
            <a:off x="2481652" y="4199345"/>
            <a:ext cx="4592367" cy="5218598"/>
          </a:xfrm>
          <a:custGeom>
            <a:avLst/>
            <a:gdLst/>
            <a:ahLst/>
            <a:cxnLst/>
            <a:rect l="l" t="t" r="r" b="b"/>
            <a:pathLst>
              <a:path w="4592367" h="5218598">
                <a:moveTo>
                  <a:pt x="0" y="0"/>
                </a:moveTo>
                <a:lnTo>
                  <a:pt x="4592367" y="0"/>
                </a:lnTo>
                <a:lnTo>
                  <a:pt x="4592367" y="5218598"/>
                </a:lnTo>
                <a:lnTo>
                  <a:pt x="0" y="5218598"/>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083578" y="3121522"/>
            <a:ext cx="16613442" cy="466483"/>
          </a:xfrm>
          <a:prstGeom prst="rect">
            <a:avLst/>
          </a:prstGeom>
        </p:spPr>
        <p:txBody>
          <a:bodyPr lIns="0" tIns="0" rIns="0" bIns="0" rtlCol="0" anchor="t">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
        <p:nvSpPr>
          <p:cNvPr id="10" name="Freeform 10"/>
          <p:cNvSpPr/>
          <p:nvPr/>
        </p:nvSpPr>
        <p:spPr>
          <a:xfrm>
            <a:off x="7922742"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781153" y="1850399"/>
            <a:ext cx="10944428" cy="1747534"/>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CREACIONAL - ABSTRACT FACTORY</a:t>
            </a:r>
          </a:p>
        </p:txBody>
      </p:sp>
      <p:pic>
        <p:nvPicPr>
          <p:cNvPr id="7" name="Picture 7"/>
          <p:cNvPicPr>
            <a:picLocks noChangeAspect="1"/>
          </p:cNvPicPr>
          <p:nvPr/>
        </p:nvPicPr>
        <p:blipFill>
          <a:blip r:embed="rId3"/>
          <a:stretch>
            <a:fillRect/>
          </a:stretch>
        </p:blipFill>
        <p:spPr>
          <a:xfrm>
            <a:off x="8332988" y="4950443"/>
            <a:ext cx="884789" cy="885324"/>
          </a:xfrm>
          <a:prstGeom prst="rect">
            <a:avLst/>
          </a:prstGeom>
        </p:spPr>
      </p:pic>
      <p:pic>
        <p:nvPicPr>
          <p:cNvPr id="8" name="Picture 8"/>
          <p:cNvPicPr>
            <a:picLocks noChangeAspect="1"/>
          </p:cNvPicPr>
          <p:nvPr/>
        </p:nvPicPr>
        <p:blipFill>
          <a:blip r:embed="rId4"/>
          <a:stretch>
            <a:fillRect/>
          </a:stretch>
        </p:blipFill>
        <p:spPr>
          <a:xfrm>
            <a:off x="8332988" y="6869842"/>
            <a:ext cx="884789" cy="885324"/>
          </a:xfrm>
          <a:prstGeom prst="rect">
            <a:avLst/>
          </a:prstGeom>
        </p:spPr>
      </p:pic>
      <p:pic>
        <p:nvPicPr>
          <p:cNvPr id="9" name="Picture 9"/>
          <p:cNvPicPr>
            <a:picLocks noChangeAspect="1"/>
          </p:cNvPicPr>
          <p:nvPr/>
        </p:nvPicPr>
        <p:blipFill>
          <a:blip r:embed="rId5"/>
          <a:stretch>
            <a:fillRect/>
          </a:stretch>
        </p:blipFill>
        <p:spPr>
          <a:xfrm>
            <a:off x="8332988" y="8445812"/>
            <a:ext cx="884789" cy="885324"/>
          </a:xfrm>
          <a:prstGeom prst="rect">
            <a:avLst/>
          </a:prstGeom>
        </p:spPr>
      </p:pic>
      <p:pic>
        <p:nvPicPr>
          <p:cNvPr id="10" name="Picture 10"/>
          <p:cNvPicPr>
            <a:picLocks noChangeAspect="1"/>
          </p:cNvPicPr>
          <p:nvPr/>
        </p:nvPicPr>
        <p:blipFill>
          <a:blip r:embed="rId6"/>
          <a:stretch>
            <a:fillRect/>
          </a:stretch>
        </p:blipFill>
        <p:spPr>
          <a:xfrm>
            <a:off x="8332988" y="5922151"/>
            <a:ext cx="884789" cy="885324"/>
          </a:xfrm>
          <a:prstGeom prst="rect">
            <a:avLst/>
          </a:prstGeom>
        </p:spPr>
      </p:pic>
      <p:sp>
        <p:nvSpPr>
          <p:cNvPr id="11" name="Freeform 11"/>
          <p:cNvSpPr/>
          <p:nvPr/>
        </p:nvSpPr>
        <p:spPr>
          <a:xfrm>
            <a:off x="1302721" y="5024220"/>
            <a:ext cx="6401345" cy="4330031"/>
          </a:xfrm>
          <a:custGeom>
            <a:avLst/>
            <a:gdLst/>
            <a:ahLst/>
            <a:cxnLst/>
            <a:rect l="l" t="t" r="r" b="b"/>
            <a:pathLst>
              <a:path w="6401345" h="4330031">
                <a:moveTo>
                  <a:pt x="0" y="0"/>
                </a:moveTo>
                <a:lnTo>
                  <a:pt x="6401345" y="0"/>
                </a:lnTo>
                <a:lnTo>
                  <a:pt x="6401345" y="4330031"/>
                </a:lnTo>
                <a:lnTo>
                  <a:pt x="0" y="4330031"/>
                </a:lnTo>
                <a:lnTo>
                  <a:pt x="0" y="0"/>
                </a:lnTo>
                <a:close/>
              </a:path>
            </a:pathLst>
          </a:custGeom>
          <a:blipFill>
            <a:blip r:embed="rId7"/>
            <a:stretch>
              <a:fillRect/>
            </a:stretch>
          </a:blipFill>
        </p:spPr>
        <p:txBody>
          <a:bodyPr/>
          <a:lstStyle/>
          <a:p>
            <a:endParaRPr lang="es-CO"/>
          </a:p>
        </p:txBody>
      </p:sp>
      <p:sp>
        <p:nvSpPr>
          <p:cNvPr id="12" name="TextBox 12"/>
          <p:cNvSpPr txBox="1"/>
          <p:nvPr/>
        </p:nvSpPr>
        <p:spPr>
          <a:xfrm>
            <a:off x="1652826" y="3970911"/>
            <a:ext cx="15814111" cy="3422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Es un patrón de diseño creacional que nos permite producir familias de objetos relacionados sin especificar sus clases concretas.</a:t>
            </a:r>
          </a:p>
        </p:txBody>
      </p:sp>
      <p:sp>
        <p:nvSpPr>
          <p:cNvPr id="13" name="TextBox 13"/>
          <p:cNvSpPr txBox="1"/>
          <p:nvPr/>
        </p:nvSpPr>
        <p:spPr>
          <a:xfrm>
            <a:off x="9144000" y="5086350"/>
            <a:ext cx="8744962"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Puedes tener la certeza de que los productos que obtienes en una fabrica son compatibles entre si</a:t>
            </a:r>
          </a:p>
        </p:txBody>
      </p:sp>
      <p:sp>
        <p:nvSpPr>
          <p:cNvPr id="14" name="TextBox 14"/>
          <p:cNvSpPr txBox="1"/>
          <p:nvPr/>
        </p:nvSpPr>
        <p:spPr>
          <a:xfrm>
            <a:off x="9253367" y="6958747"/>
            <a:ext cx="8744962" cy="10090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Se presenta el principio de SINGLE RESPONSABILITY ya que puedes mover el codigo de la creacion de un producto a un lugar del programa haciendolo mas facil de mantener</a:t>
            </a:r>
          </a:p>
        </p:txBody>
      </p:sp>
      <p:sp>
        <p:nvSpPr>
          <p:cNvPr id="15" name="TextBox 15"/>
          <p:cNvSpPr txBox="1"/>
          <p:nvPr/>
        </p:nvSpPr>
        <p:spPr>
          <a:xfrm>
            <a:off x="9144000" y="8582660"/>
            <a:ext cx="8744962"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Se presenta el principio de OPEN/CLOSE al incorporar nuevos tipos de productos en el programa sin descomponer el codigo cliente existente</a:t>
            </a:r>
          </a:p>
        </p:txBody>
      </p:sp>
      <p:sp>
        <p:nvSpPr>
          <p:cNvPr id="16" name="TextBox 16"/>
          <p:cNvSpPr txBox="1"/>
          <p:nvPr/>
        </p:nvSpPr>
        <p:spPr>
          <a:xfrm>
            <a:off x="9253367" y="6022548"/>
            <a:ext cx="8744962" cy="3422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Evitas un acoplamiento fierte entre productos y codigo cliente</a:t>
            </a:r>
          </a:p>
        </p:txBody>
      </p:sp>
      <p:sp>
        <p:nvSpPr>
          <p:cNvPr id="17" name="Freeform 17"/>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8"/>
            <a:stretch>
              <a:fillRect/>
            </a:stretch>
          </a:blipFill>
        </p:spPr>
        <p:txBody>
          <a:bodyPr/>
          <a:lstStyle/>
          <a:p>
            <a:endParaRPr lang="es-CO"/>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315746" y="1747476"/>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COMO IMPLEMENTARLO</a:t>
            </a:r>
          </a:p>
        </p:txBody>
      </p:sp>
      <p:sp>
        <p:nvSpPr>
          <p:cNvPr id="7" name="Freeform 7"/>
          <p:cNvSpPr/>
          <p:nvPr/>
        </p:nvSpPr>
        <p:spPr>
          <a:xfrm>
            <a:off x="4178261" y="2978957"/>
            <a:ext cx="9012727" cy="5632954"/>
          </a:xfrm>
          <a:custGeom>
            <a:avLst/>
            <a:gdLst/>
            <a:ahLst/>
            <a:cxnLst/>
            <a:rect l="l" t="t" r="r" b="b"/>
            <a:pathLst>
              <a:path w="9012727" h="5632954">
                <a:moveTo>
                  <a:pt x="0" y="0"/>
                </a:moveTo>
                <a:lnTo>
                  <a:pt x="9012727" y="0"/>
                </a:lnTo>
                <a:lnTo>
                  <a:pt x="9012727" y="5632955"/>
                </a:lnTo>
                <a:lnTo>
                  <a:pt x="0" y="5632955"/>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625795" y="6119311"/>
            <a:ext cx="3389563" cy="1074992"/>
          </a:xfrm>
          <a:prstGeom prst="rect">
            <a:avLst/>
          </a:prstGeom>
        </p:spPr>
        <p:txBody>
          <a:bodyPr lIns="0" tIns="0" rIns="0" bIns="0" rtlCol="0" anchor="t">
            <a:spAutoFit/>
          </a:bodyPr>
          <a:lstStyle/>
          <a:p>
            <a:pPr marL="327904" lvl="1" indent="-163952" algn="ctr">
              <a:lnSpc>
                <a:spcPts val="2126"/>
              </a:lnSpc>
              <a:spcBef>
                <a:spcPct val="0"/>
              </a:spcBef>
              <a:buAutoNum type="arabicPeriod"/>
            </a:pPr>
            <a:r>
              <a:rPr lang="en-US" sz="1518">
                <a:solidFill>
                  <a:srgbClr val="FFFFFF"/>
                </a:solidFill>
                <a:latin typeface="Poppins"/>
                <a:ea typeface="Poppins"/>
                <a:cs typeface="Poppins"/>
                <a:sym typeface="Poppins"/>
              </a:rPr>
              <a:t>Los productos abstractos declaran interfaces para un grupo de productos diferentes pero relacionados en familia</a:t>
            </a:r>
          </a:p>
        </p:txBody>
      </p:sp>
      <p:sp>
        <p:nvSpPr>
          <p:cNvPr id="9" name="TextBox 9"/>
          <p:cNvSpPr txBox="1"/>
          <p:nvPr/>
        </p:nvSpPr>
        <p:spPr>
          <a:xfrm>
            <a:off x="435438" y="2940857"/>
            <a:ext cx="3792469" cy="787421"/>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Los productos concretos son implementaciones distintas de los asbtractos agrupados por variantes</a:t>
            </a:r>
          </a:p>
        </p:txBody>
      </p:sp>
      <p:sp>
        <p:nvSpPr>
          <p:cNvPr id="10" name="TextBox 10"/>
          <p:cNvSpPr txBox="1"/>
          <p:nvPr/>
        </p:nvSpPr>
        <p:spPr>
          <a:xfrm>
            <a:off x="625795" y="3962444"/>
            <a:ext cx="3792469" cy="787421"/>
          </a:xfrm>
          <a:prstGeom prst="rect">
            <a:avLst/>
          </a:prstGeom>
        </p:spPr>
        <p:txBody>
          <a:bodyPr lIns="0" tIns="0" rIns="0" bIns="0" rtlCol="0" anchor="t">
            <a:spAutoFit/>
          </a:bodyPr>
          <a:lstStyle/>
          <a:p>
            <a:pPr algn="ctr">
              <a:lnSpc>
                <a:spcPts val="2093"/>
              </a:lnSpc>
              <a:spcBef>
                <a:spcPct val="0"/>
              </a:spcBef>
            </a:pPr>
            <a:r>
              <a:rPr lang="en-US" sz="1495">
                <a:solidFill>
                  <a:srgbClr val="FFFFFF"/>
                </a:solidFill>
                <a:latin typeface="Poppins"/>
                <a:ea typeface="Poppins"/>
                <a:cs typeface="Poppins"/>
                <a:sym typeface="Poppins"/>
              </a:rPr>
              <a:t>CADA PRODUCTO ABSTRACTO DEBE IMPLEMENTARSE EN TODAS LAS VARIABLES DADAS</a:t>
            </a:r>
          </a:p>
        </p:txBody>
      </p:sp>
      <p:sp>
        <p:nvSpPr>
          <p:cNvPr id="11" name="TextBox 11"/>
          <p:cNvSpPr txBox="1"/>
          <p:nvPr/>
        </p:nvSpPr>
        <p:spPr>
          <a:xfrm>
            <a:off x="9957867" y="3305992"/>
            <a:ext cx="3389563" cy="1341478"/>
          </a:xfrm>
          <a:prstGeom prst="rect">
            <a:avLst/>
          </a:prstGeom>
        </p:spPr>
        <p:txBody>
          <a:bodyPr lIns="0" tIns="0" rIns="0" bIns="0" rtlCol="0" anchor="t">
            <a:spAutoFit/>
          </a:bodyPr>
          <a:lstStyle/>
          <a:p>
            <a:pPr marL="327904" lvl="1" indent="-163952" algn="ctr">
              <a:lnSpc>
                <a:spcPts val="2126"/>
              </a:lnSpc>
              <a:spcBef>
                <a:spcPct val="0"/>
              </a:spcBef>
              <a:buAutoNum type="arabicPeriod"/>
            </a:pPr>
            <a:r>
              <a:rPr lang="en-US" sz="1518">
                <a:solidFill>
                  <a:srgbClr val="FFFFFF"/>
                </a:solidFill>
                <a:latin typeface="Poppins"/>
                <a:ea typeface="Poppins"/>
                <a:cs typeface="Poppins"/>
                <a:sym typeface="Poppins"/>
              </a:rPr>
              <a:t>La fabrica abstracta es definida como una interfaz y declara un grupo de metodos para crear cada producto abstracto</a:t>
            </a:r>
          </a:p>
        </p:txBody>
      </p:sp>
      <p:sp>
        <p:nvSpPr>
          <p:cNvPr id="12" name="TextBox 12"/>
          <p:cNvSpPr txBox="1"/>
          <p:nvPr/>
        </p:nvSpPr>
        <p:spPr>
          <a:xfrm>
            <a:off x="4790404" y="8736058"/>
            <a:ext cx="3389563" cy="1341478"/>
          </a:xfrm>
          <a:prstGeom prst="rect">
            <a:avLst/>
          </a:prstGeom>
        </p:spPr>
        <p:txBody>
          <a:bodyPr lIns="0" tIns="0" rIns="0" bIns="0" rtlCol="0" anchor="t">
            <a:spAutoFit/>
          </a:bodyPr>
          <a:lstStyle/>
          <a:p>
            <a:pPr marL="327904" lvl="1" indent="-163952" algn="ctr">
              <a:lnSpc>
                <a:spcPts val="2126"/>
              </a:lnSpc>
              <a:spcBef>
                <a:spcPct val="0"/>
              </a:spcBef>
              <a:buAutoNum type="arabicPeriod"/>
            </a:pPr>
            <a:r>
              <a:rPr lang="en-US" sz="1518">
                <a:solidFill>
                  <a:srgbClr val="FFFFFF"/>
                </a:solidFill>
                <a:latin typeface="Poppins"/>
                <a:ea typeface="Poppins"/>
                <a:cs typeface="Poppins"/>
                <a:sym typeface="Poppins"/>
              </a:rPr>
              <a:t>Las fabricas concretas implementan metodos de creacion de la fabrica abstracta, cada fabrica es una variante de los productos</a:t>
            </a:r>
          </a:p>
        </p:txBody>
      </p:sp>
      <p:sp>
        <p:nvSpPr>
          <p:cNvPr id="13" name="TextBox 13"/>
          <p:cNvSpPr txBox="1"/>
          <p:nvPr/>
        </p:nvSpPr>
        <p:spPr>
          <a:xfrm>
            <a:off x="8684624" y="9135787"/>
            <a:ext cx="6213800" cy="542020"/>
          </a:xfrm>
          <a:prstGeom prst="rect">
            <a:avLst/>
          </a:prstGeom>
        </p:spPr>
        <p:txBody>
          <a:bodyPr lIns="0" tIns="0" rIns="0" bIns="0" rtlCol="0" anchor="t">
            <a:spAutoFit/>
          </a:bodyPr>
          <a:lstStyle/>
          <a:p>
            <a:pPr algn="ctr">
              <a:lnSpc>
                <a:spcPts val="2126"/>
              </a:lnSpc>
              <a:spcBef>
                <a:spcPct val="0"/>
              </a:spcBef>
            </a:pPr>
            <a:r>
              <a:rPr lang="en-US" sz="1518">
                <a:solidFill>
                  <a:srgbClr val="FFFFFF"/>
                </a:solidFill>
                <a:latin typeface="Poppins"/>
                <a:ea typeface="Poppins"/>
                <a:cs typeface="Poppins"/>
                <a:sym typeface="Poppins"/>
              </a:rPr>
              <a:t>LAS FIRMAS DE LOS METODOS DE CREACION DEBEN DEVOLVER LOS PRODUCTOS ABSTRACTOS CORRESPONDIENTES</a:t>
            </a:r>
          </a:p>
        </p:txBody>
      </p:sp>
      <p:sp>
        <p:nvSpPr>
          <p:cNvPr id="14" name="TextBox 14"/>
          <p:cNvSpPr txBox="1"/>
          <p:nvPr/>
        </p:nvSpPr>
        <p:spPr>
          <a:xfrm>
            <a:off x="13749920" y="5369740"/>
            <a:ext cx="3389563" cy="1074992"/>
          </a:xfrm>
          <a:prstGeom prst="rect">
            <a:avLst/>
          </a:prstGeom>
        </p:spPr>
        <p:txBody>
          <a:bodyPr lIns="0" tIns="0" rIns="0" bIns="0" rtlCol="0" anchor="t">
            <a:spAutoFit/>
          </a:bodyPr>
          <a:lstStyle/>
          <a:p>
            <a:pPr marL="327904" lvl="1" indent="-163952" algn="ctr">
              <a:lnSpc>
                <a:spcPts val="2126"/>
              </a:lnSpc>
              <a:spcBef>
                <a:spcPct val="0"/>
              </a:spcBef>
              <a:buAutoNum type="arabicPeriod"/>
            </a:pPr>
            <a:r>
              <a:rPr lang="en-US" sz="1518">
                <a:solidFill>
                  <a:srgbClr val="FFFFFF"/>
                </a:solidFill>
                <a:latin typeface="Poppins"/>
                <a:ea typeface="Poppins"/>
                <a:cs typeface="Poppins"/>
                <a:sym typeface="Poppins"/>
              </a:rPr>
              <a:t>El codigo cliente no se acopla a la variante del producto y puede funcionar como cualquier fabrica</a:t>
            </a:r>
          </a:p>
        </p:txBody>
      </p:sp>
      <p:sp>
        <p:nvSpPr>
          <p:cNvPr id="15" name="Freeform 15"/>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#2</a:t>
            </a:r>
          </a:p>
        </p:txBody>
      </p:sp>
      <p:sp>
        <p:nvSpPr>
          <p:cNvPr id="7" name="Freeform 7"/>
          <p:cNvSpPr/>
          <p:nvPr/>
        </p:nvSpPr>
        <p:spPr>
          <a:xfrm>
            <a:off x="6702542" y="3368277"/>
            <a:ext cx="11301259" cy="5707136"/>
          </a:xfrm>
          <a:custGeom>
            <a:avLst/>
            <a:gdLst/>
            <a:ahLst/>
            <a:cxnLst/>
            <a:rect l="l" t="t" r="r" b="b"/>
            <a:pathLst>
              <a:path w="11301259" h="5707136">
                <a:moveTo>
                  <a:pt x="0" y="0"/>
                </a:moveTo>
                <a:lnTo>
                  <a:pt x="11301259" y="0"/>
                </a:lnTo>
                <a:lnTo>
                  <a:pt x="11301259" y="5707136"/>
                </a:lnTo>
                <a:lnTo>
                  <a:pt x="0" y="5707136"/>
                </a:lnTo>
                <a:lnTo>
                  <a:pt x="0" y="0"/>
                </a:lnTo>
                <a:close/>
              </a:path>
            </a:pathLst>
          </a:custGeom>
          <a:blipFill>
            <a:blip r:embed="rId3"/>
            <a:stretch>
              <a:fillRect/>
            </a:stretch>
          </a:blipFill>
        </p:spPr>
        <p:txBody>
          <a:bodyPr/>
          <a:lstStyle/>
          <a:p>
            <a:endParaRPr lang="es-CO"/>
          </a:p>
        </p:txBody>
      </p:sp>
      <p:sp>
        <p:nvSpPr>
          <p:cNvPr id="8" name="Freeform 8"/>
          <p:cNvSpPr/>
          <p:nvPr/>
        </p:nvSpPr>
        <p:spPr>
          <a:xfrm>
            <a:off x="1791026" y="572080"/>
            <a:ext cx="1973945" cy="1366957"/>
          </a:xfrm>
          <a:custGeom>
            <a:avLst/>
            <a:gdLst/>
            <a:ahLst/>
            <a:cxnLst/>
            <a:rect l="l" t="t" r="r" b="b"/>
            <a:pathLst>
              <a:path w="1973945" h="1366957">
                <a:moveTo>
                  <a:pt x="0" y="0"/>
                </a:moveTo>
                <a:lnTo>
                  <a:pt x="1973945" y="0"/>
                </a:lnTo>
                <a:lnTo>
                  <a:pt x="1973945" y="1366956"/>
                </a:lnTo>
                <a:lnTo>
                  <a:pt x="0" y="13669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TextBox 9"/>
          <p:cNvSpPr txBox="1"/>
          <p:nvPr/>
        </p:nvSpPr>
        <p:spPr>
          <a:xfrm>
            <a:off x="789068" y="2351465"/>
            <a:ext cx="5673842" cy="7551100"/>
          </a:xfrm>
          <a:prstGeom prst="rect">
            <a:avLst/>
          </a:prstGeom>
        </p:spPr>
        <p:txBody>
          <a:bodyPr lIns="0" tIns="0" rIns="0" bIns="0" rtlCol="0" anchor="t">
            <a:spAutoFit/>
          </a:bodyPr>
          <a:lstStyle/>
          <a:p>
            <a:pPr algn="l">
              <a:lnSpc>
                <a:spcPts val="2747"/>
              </a:lnSpc>
            </a:pPr>
            <a:r>
              <a:rPr lang="en-US" sz="1962">
                <a:solidFill>
                  <a:srgbClr val="FFFFFF"/>
                </a:solidFill>
                <a:latin typeface="Poppins"/>
                <a:ea typeface="Poppins"/>
                <a:cs typeface="Poppins"/>
                <a:sym typeface="Poppins"/>
              </a:rPr>
              <a:t>Una empresa desarrolla videojuegos que deben ejecutarse en distintas consolas.</a:t>
            </a:r>
          </a:p>
          <a:p>
            <a:pPr algn="l">
              <a:lnSpc>
                <a:spcPts val="2747"/>
              </a:lnSpc>
            </a:pPr>
            <a:r>
              <a:rPr lang="en-US" sz="1962">
                <a:solidFill>
                  <a:srgbClr val="FFFFFF"/>
                </a:solidFill>
                <a:latin typeface="Poppins"/>
                <a:ea typeface="Poppins"/>
                <a:cs typeface="Poppins"/>
                <a:sym typeface="Poppins"/>
              </a:rPr>
              <a:t> Cada consola ofrece una familia de componentes compatibles entre sí:</a:t>
            </a:r>
          </a:p>
          <a:p>
            <a:pPr algn="l">
              <a:lnSpc>
                <a:spcPts val="2747"/>
              </a:lnSpc>
            </a:pPr>
            <a:endParaRPr lang="en-US" sz="1962">
              <a:solidFill>
                <a:srgbClr val="FFFFFF"/>
              </a:solidFill>
              <a:latin typeface="Poppins"/>
              <a:ea typeface="Poppins"/>
              <a:cs typeface="Poppins"/>
              <a:sym typeface="Poppins"/>
            </a:endParaRPr>
          </a:p>
          <a:p>
            <a:pPr marL="423722" lvl="1" indent="-211861" algn="l">
              <a:lnSpc>
                <a:spcPts val="2747"/>
              </a:lnSpc>
              <a:buFont typeface="Arial"/>
              <a:buChar char="•"/>
            </a:pPr>
            <a:r>
              <a:rPr lang="en-US" sz="1962">
                <a:solidFill>
                  <a:srgbClr val="FFFFFF"/>
                </a:solidFill>
                <a:latin typeface="Poppins"/>
                <a:ea typeface="Poppins"/>
                <a:cs typeface="Poppins"/>
                <a:sym typeface="Poppins"/>
              </a:rPr>
              <a:t>Control</a:t>
            </a:r>
          </a:p>
          <a:p>
            <a:pPr marL="423722" lvl="1" indent="-211861" algn="l">
              <a:lnSpc>
                <a:spcPts val="2747"/>
              </a:lnSpc>
              <a:buFont typeface="Arial"/>
              <a:buChar char="•"/>
            </a:pPr>
            <a:r>
              <a:rPr lang="en-US" sz="1962">
                <a:solidFill>
                  <a:srgbClr val="FFFFFF"/>
                </a:solidFill>
                <a:latin typeface="Poppins"/>
                <a:ea typeface="Poppins"/>
                <a:cs typeface="Poppins"/>
                <a:sym typeface="Poppins"/>
              </a:rPr>
              <a:t>Juego</a:t>
            </a:r>
          </a:p>
          <a:p>
            <a:pPr marL="423722" lvl="1" indent="-211861" algn="l">
              <a:lnSpc>
                <a:spcPts val="2747"/>
              </a:lnSpc>
              <a:buFont typeface="Arial"/>
              <a:buChar char="•"/>
            </a:pPr>
            <a:r>
              <a:rPr lang="en-US" sz="1962">
                <a:solidFill>
                  <a:srgbClr val="FFFFFF"/>
                </a:solidFill>
                <a:latin typeface="Poppins"/>
                <a:ea typeface="Poppins"/>
                <a:cs typeface="Poppins"/>
                <a:sym typeface="Poppins"/>
              </a:rPr>
              <a:t>Interfaz gráfica</a:t>
            </a:r>
          </a:p>
          <a:p>
            <a:pPr algn="l">
              <a:lnSpc>
                <a:spcPts val="2747"/>
              </a:lnSpc>
            </a:pPr>
            <a:endParaRPr lang="en-US" sz="1962">
              <a:solidFill>
                <a:srgbClr val="FFFFFF"/>
              </a:solidFill>
              <a:latin typeface="Poppins"/>
              <a:ea typeface="Poppins"/>
              <a:cs typeface="Poppins"/>
              <a:sym typeface="Poppins"/>
            </a:endParaRPr>
          </a:p>
          <a:p>
            <a:pPr algn="l">
              <a:lnSpc>
                <a:spcPts val="2747"/>
              </a:lnSpc>
            </a:pPr>
            <a:r>
              <a:rPr lang="en-US" sz="1962">
                <a:solidFill>
                  <a:srgbClr val="FFFFFF"/>
                </a:solidFill>
                <a:latin typeface="Poppins"/>
                <a:ea typeface="Poppins"/>
                <a:cs typeface="Poppins"/>
                <a:sym typeface="Poppins"/>
              </a:rPr>
              <a:t>Las consolas soportadas inicialmente son:</a:t>
            </a:r>
          </a:p>
          <a:p>
            <a:pPr marL="423722" lvl="1" indent="-211861" algn="l">
              <a:lnSpc>
                <a:spcPts val="2747"/>
              </a:lnSpc>
              <a:buFont typeface="Arial"/>
              <a:buChar char="•"/>
            </a:pPr>
            <a:r>
              <a:rPr lang="en-US" sz="1962">
                <a:solidFill>
                  <a:srgbClr val="FFFFFF"/>
                </a:solidFill>
                <a:latin typeface="Poppins"/>
                <a:ea typeface="Poppins"/>
                <a:cs typeface="Poppins"/>
                <a:sym typeface="Poppins"/>
              </a:rPr>
              <a:t>PlayStation</a:t>
            </a:r>
          </a:p>
          <a:p>
            <a:pPr marL="423722" lvl="1" indent="-211861" algn="l">
              <a:lnSpc>
                <a:spcPts val="2747"/>
              </a:lnSpc>
              <a:buFont typeface="Arial"/>
              <a:buChar char="•"/>
            </a:pPr>
            <a:r>
              <a:rPr lang="en-US" sz="1962">
                <a:solidFill>
                  <a:srgbClr val="FFFFFF"/>
                </a:solidFill>
                <a:latin typeface="Poppins"/>
                <a:ea typeface="Poppins"/>
                <a:cs typeface="Poppins"/>
                <a:sym typeface="Poppins"/>
              </a:rPr>
              <a:t>Xbox</a:t>
            </a:r>
          </a:p>
          <a:p>
            <a:pPr algn="l">
              <a:lnSpc>
                <a:spcPts val="2747"/>
              </a:lnSpc>
            </a:pPr>
            <a:endParaRPr lang="en-US" sz="1962">
              <a:solidFill>
                <a:srgbClr val="FFFFFF"/>
              </a:solidFill>
              <a:latin typeface="Poppins"/>
              <a:ea typeface="Poppins"/>
              <a:cs typeface="Poppins"/>
              <a:sym typeface="Poppins"/>
            </a:endParaRPr>
          </a:p>
          <a:p>
            <a:pPr algn="l">
              <a:lnSpc>
                <a:spcPts val="2747"/>
              </a:lnSpc>
            </a:pPr>
            <a:r>
              <a:rPr lang="en-US" sz="1962">
                <a:solidFill>
                  <a:srgbClr val="FFFFFF"/>
                </a:solidFill>
                <a:latin typeface="Poppins"/>
                <a:ea typeface="Poppins"/>
                <a:cs typeface="Poppins"/>
                <a:sym typeface="Poppins"/>
              </a:rPr>
              <a:t>El motor del juego no debe conocer las implementaciones concretas de estos componentes.</a:t>
            </a:r>
          </a:p>
          <a:p>
            <a:pPr algn="l">
              <a:lnSpc>
                <a:spcPts val="2747"/>
              </a:lnSpc>
            </a:pPr>
            <a:endParaRPr lang="en-US" sz="1962">
              <a:solidFill>
                <a:srgbClr val="FFFFFF"/>
              </a:solidFill>
              <a:latin typeface="Poppins"/>
              <a:ea typeface="Poppins"/>
              <a:cs typeface="Poppins"/>
              <a:sym typeface="Poppins"/>
            </a:endParaRPr>
          </a:p>
          <a:p>
            <a:pPr marL="423722" lvl="1" indent="-211861" algn="l">
              <a:lnSpc>
                <a:spcPts val="2747"/>
              </a:lnSpc>
              <a:buFont typeface="Arial"/>
              <a:buChar char="•"/>
            </a:pPr>
            <a:r>
              <a:rPr lang="en-US" sz="1962">
                <a:solidFill>
                  <a:srgbClr val="FFFFFF"/>
                </a:solidFill>
                <a:latin typeface="Poppins"/>
                <a:ea typeface="Poppins"/>
                <a:cs typeface="Poppins"/>
                <a:sym typeface="Poppins"/>
              </a:rPr>
              <a:t>El control puede conectarse</a:t>
            </a:r>
          </a:p>
          <a:p>
            <a:pPr marL="423722" lvl="1" indent="-211861" algn="l">
              <a:lnSpc>
                <a:spcPts val="2747"/>
              </a:lnSpc>
              <a:buFont typeface="Arial"/>
              <a:buChar char="•"/>
            </a:pPr>
            <a:r>
              <a:rPr lang="en-US" sz="1962">
                <a:solidFill>
                  <a:srgbClr val="FFFFFF"/>
                </a:solidFill>
                <a:latin typeface="Poppins"/>
                <a:ea typeface="Poppins"/>
                <a:cs typeface="Poppins"/>
                <a:sym typeface="Poppins"/>
              </a:rPr>
              <a:t>El juego iniciarse</a:t>
            </a:r>
          </a:p>
          <a:p>
            <a:pPr marL="423722" lvl="1" indent="-211861" algn="l">
              <a:lnSpc>
                <a:spcPts val="2747"/>
              </a:lnSpc>
              <a:buFont typeface="Arial"/>
              <a:buChar char="•"/>
            </a:pPr>
            <a:r>
              <a:rPr lang="en-US" sz="1962">
                <a:solidFill>
                  <a:srgbClr val="FFFFFF"/>
                </a:solidFill>
                <a:latin typeface="Poppins"/>
                <a:ea typeface="Poppins"/>
                <a:cs typeface="Poppins"/>
                <a:sym typeface="Poppins"/>
              </a:rPr>
              <a:t>Y la interfaz grafica renderizar</a:t>
            </a:r>
          </a:p>
          <a:p>
            <a:pPr algn="l">
              <a:lnSpc>
                <a:spcPts val="2747"/>
              </a:lnSpc>
            </a:pPr>
            <a:endParaRPr lang="en-US" sz="1962">
              <a:solidFill>
                <a:srgbClr val="FFFFFF"/>
              </a:solidFill>
              <a:latin typeface="Poppins"/>
              <a:ea typeface="Poppins"/>
              <a:cs typeface="Poppins"/>
              <a:sym typeface="Poppins"/>
            </a:endParaRPr>
          </a:p>
          <a:p>
            <a:pPr algn="l">
              <a:lnSpc>
                <a:spcPts val="2747"/>
              </a:lnSpc>
              <a:spcBef>
                <a:spcPct val="0"/>
              </a:spcBef>
            </a:pPr>
            <a:endParaRPr lang="en-US" sz="1962">
              <a:solidFill>
                <a:srgbClr val="FFFFFF"/>
              </a:solidFill>
              <a:latin typeface="Poppins"/>
              <a:ea typeface="Poppins"/>
              <a:cs typeface="Poppins"/>
              <a:sym typeface="Poppins"/>
            </a:endParaRPr>
          </a:p>
        </p:txBody>
      </p:sp>
      <p:sp>
        <p:nvSpPr>
          <p:cNvPr id="10" name="Freeform 10"/>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#2</a:t>
            </a:r>
          </a:p>
        </p:txBody>
      </p:sp>
      <p:sp>
        <p:nvSpPr>
          <p:cNvPr id="7" name="Freeform 7"/>
          <p:cNvSpPr/>
          <p:nvPr/>
        </p:nvSpPr>
        <p:spPr>
          <a:xfrm>
            <a:off x="2481652" y="4199345"/>
            <a:ext cx="4592367" cy="5218598"/>
          </a:xfrm>
          <a:custGeom>
            <a:avLst/>
            <a:gdLst/>
            <a:ahLst/>
            <a:cxnLst/>
            <a:rect l="l" t="t" r="r" b="b"/>
            <a:pathLst>
              <a:path w="4592367" h="5218598">
                <a:moveTo>
                  <a:pt x="0" y="0"/>
                </a:moveTo>
                <a:lnTo>
                  <a:pt x="4592367" y="0"/>
                </a:lnTo>
                <a:lnTo>
                  <a:pt x="4592367" y="5218598"/>
                </a:lnTo>
                <a:lnTo>
                  <a:pt x="0" y="5218598"/>
                </a:lnTo>
                <a:lnTo>
                  <a:pt x="0" y="0"/>
                </a:lnTo>
                <a:close/>
              </a:path>
            </a:pathLst>
          </a:custGeom>
          <a:blipFill>
            <a:blip r:embed="rId3"/>
            <a:stretch>
              <a:fillRect/>
            </a:stretch>
          </a:blipFill>
        </p:spPr>
        <p:txBody>
          <a:bodyPr/>
          <a:lstStyle/>
          <a:p>
            <a:endParaRPr lang="es-CO"/>
          </a:p>
        </p:txBody>
      </p:sp>
      <p:sp>
        <p:nvSpPr>
          <p:cNvPr id="8" name="Freeform 8"/>
          <p:cNvSpPr/>
          <p:nvPr/>
        </p:nvSpPr>
        <p:spPr>
          <a:xfrm>
            <a:off x="9253367" y="3923320"/>
            <a:ext cx="7000764" cy="5494623"/>
          </a:xfrm>
          <a:custGeom>
            <a:avLst/>
            <a:gdLst/>
            <a:ahLst/>
            <a:cxnLst/>
            <a:rect l="l" t="t" r="r" b="b"/>
            <a:pathLst>
              <a:path w="7000764" h="5494623">
                <a:moveTo>
                  <a:pt x="0" y="0"/>
                </a:moveTo>
                <a:lnTo>
                  <a:pt x="7000763" y="0"/>
                </a:lnTo>
                <a:lnTo>
                  <a:pt x="7000763" y="5494623"/>
                </a:lnTo>
                <a:lnTo>
                  <a:pt x="0" y="5494623"/>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083578" y="3121522"/>
            <a:ext cx="16613442" cy="466483"/>
          </a:xfrm>
          <a:prstGeom prst="rect">
            <a:avLst/>
          </a:prstGeom>
        </p:spPr>
        <p:txBody>
          <a:bodyPr lIns="0" tIns="0" rIns="0" bIns="0" rtlCol="0" anchor="t">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
        <p:nvSpPr>
          <p:cNvPr id="10" name="Freeform 10"/>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781153" y="1850399"/>
            <a:ext cx="10944428" cy="857781"/>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CREACIONAL - BUILDER</a:t>
            </a:r>
          </a:p>
        </p:txBody>
      </p:sp>
      <p:pic>
        <p:nvPicPr>
          <p:cNvPr id="7" name="Picture 7"/>
          <p:cNvPicPr>
            <a:picLocks noChangeAspect="1"/>
          </p:cNvPicPr>
          <p:nvPr/>
        </p:nvPicPr>
        <p:blipFill>
          <a:blip r:embed="rId3"/>
          <a:stretch>
            <a:fillRect/>
          </a:stretch>
        </p:blipFill>
        <p:spPr>
          <a:xfrm>
            <a:off x="8332988" y="4331953"/>
            <a:ext cx="884789" cy="885324"/>
          </a:xfrm>
          <a:prstGeom prst="rect">
            <a:avLst/>
          </a:prstGeom>
        </p:spPr>
      </p:pic>
      <p:pic>
        <p:nvPicPr>
          <p:cNvPr id="8" name="Picture 8"/>
          <p:cNvPicPr>
            <a:picLocks noChangeAspect="1"/>
          </p:cNvPicPr>
          <p:nvPr/>
        </p:nvPicPr>
        <p:blipFill>
          <a:blip r:embed="rId4"/>
          <a:stretch>
            <a:fillRect/>
          </a:stretch>
        </p:blipFill>
        <p:spPr>
          <a:xfrm>
            <a:off x="8332988" y="5535333"/>
            <a:ext cx="884789" cy="885324"/>
          </a:xfrm>
          <a:prstGeom prst="rect">
            <a:avLst/>
          </a:prstGeom>
        </p:spPr>
      </p:pic>
      <p:pic>
        <p:nvPicPr>
          <p:cNvPr id="9" name="Picture 9"/>
          <p:cNvPicPr>
            <a:picLocks noChangeAspect="1"/>
          </p:cNvPicPr>
          <p:nvPr/>
        </p:nvPicPr>
        <p:blipFill>
          <a:blip r:embed="rId5"/>
          <a:stretch>
            <a:fillRect/>
          </a:stretch>
        </p:blipFill>
        <p:spPr>
          <a:xfrm>
            <a:off x="8332988" y="6753054"/>
            <a:ext cx="884789" cy="885324"/>
          </a:xfrm>
          <a:prstGeom prst="rect">
            <a:avLst/>
          </a:prstGeom>
        </p:spPr>
      </p:pic>
      <p:sp>
        <p:nvSpPr>
          <p:cNvPr id="10" name="Freeform 10"/>
          <p:cNvSpPr/>
          <p:nvPr/>
        </p:nvSpPr>
        <p:spPr>
          <a:xfrm>
            <a:off x="703485" y="4025107"/>
            <a:ext cx="7363907" cy="4863368"/>
          </a:xfrm>
          <a:custGeom>
            <a:avLst/>
            <a:gdLst/>
            <a:ahLst/>
            <a:cxnLst/>
            <a:rect l="l" t="t" r="r" b="b"/>
            <a:pathLst>
              <a:path w="7363907" h="4863368">
                <a:moveTo>
                  <a:pt x="0" y="0"/>
                </a:moveTo>
                <a:lnTo>
                  <a:pt x="7363907" y="0"/>
                </a:lnTo>
                <a:lnTo>
                  <a:pt x="7363907" y="4863367"/>
                </a:lnTo>
                <a:lnTo>
                  <a:pt x="0" y="4863367"/>
                </a:lnTo>
                <a:lnTo>
                  <a:pt x="0" y="0"/>
                </a:lnTo>
                <a:close/>
              </a:path>
            </a:pathLst>
          </a:custGeom>
          <a:blipFill>
            <a:blip r:embed="rId6"/>
            <a:stretch>
              <a:fillRect l="-2217"/>
            </a:stretch>
          </a:blipFill>
        </p:spPr>
        <p:txBody>
          <a:bodyPr/>
          <a:lstStyle/>
          <a:p>
            <a:endParaRPr lang="es-CO"/>
          </a:p>
        </p:txBody>
      </p:sp>
      <p:sp>
        <p:nvSpPr>
          <p:cNvPr id="11" name="TextBox 11"/>
          <p:cNvSpPr txBox="1"/>
          <p:nvPr/>
        </p:nvSpPr>
        <p:spPr>
          <a:xfrm>
            <a:off x="1445189" y="2943916"/>
            <a:ext cx="15814111"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Es un patrón de diseño creacional que nos permite construir objetos complejos paso a paso. El patrón nos permite producir distintos tipos y representaciones de un objeto empleando el mismo código de construcción.</a:t>
            </a:r>
          </a:p>
        </p:txBody>
      </p:sp>
      <p:sp>
        <p:nvSpPr>
          <p:cNvPr id="12" name="TextBox 12"/>
          <p:cNvSpPr txBox="1"/>
          <p:nvPr/>
        </p:nvSpPr>
        <p:spPr>
          <a:xfrm>
            <a:off x="9253367" y="4462201"/>
            <a:ext cx="8744962"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Puedes construir objetos paso a paso, aplazar pasos de la construccion o ejecutar pasos de forma recursiva</a:t>
            </a:r>
          </a:p>
        </p:txBody>
      </p:sp>
      <p:sp>
        <p:nvSpPr>
          <p:cNvPr id="13" name="TextBox 13"/>
          <p:cNvSpPr txBox="1"/>
          <p:nvPr/>
        </p:nvSpPr>
        <p:spPr>
          <a:xfrm>
            <a:off x="9253367" y="5671241"/>
            <a:ext cx="8744962"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Puedes reutilizar el mismo codigo de construccion al construir varias representaciones de productos</a:t>
            </a:r>
          </a:p>
        </p:txBody>
      </p:sp>
      <p:sp>
        <p:nvSpPr>
          <p:cNvPr id="14" name="TextBox 14"/>
          <p:cNvSpPr txBox="1"/>
          <p:nvPr/>
        </p:nvSpPr>
        <p:spPr>
          <a:xfrm>
            <a:off x="9144000" y="6829322"/>
            <a:ext cx="8744962"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Utiliza SINGLE RESPONSABILITY al aislar el codigo de construccion complejo de la logica de negocio del producto</a:t>
            </a:r>
          </a:p>
        </p:txBody>
      </p:sp>
      <p:sp>
        <p:nvSpPr>
          <p:cNvPr id="15" name="TextBox 15"/>
          <p:cNvSpPr txBox="1"/>
          <p:nvPr/>
        </p:nvSpPr>
        <p:spPr>
          <a:xfrm>
            <a:off x="9253367" y="8038362"/>
            <a:ext cx="8744962"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No es necesario crear constructores tan grandes o especializados dependiendo la combinacion de los datos de entrada</a:t>
            </a:r>
          </a:p>
        </p:txBody>
      </p:sp>
      <p:pic>
        <p:nvPicPr>
          <p:cNvPr id="16" name="Picture 16"/>
          <p:cNvPicPr>
            <a:picLocks noChangeAspect="1"/>
          </p:cNvPicPr>
          <p:nvPr/>
        </p:nvPicPr>
        <p:blipFill>
          <a:blip r:embed="rId7"/>
          <a:stretch>
            <a:fillRect/>
          </a:stretch>
        </p:blipFill>
        <p:spPr>
          <a:xfrm>
            <a:off x="8332988" y="8076927"/>
            <a:ext cx="884789" cy="885324"/>
          </a:xfrm>
          <a:prstGeom prst="rect">
            <a:avLst/>
          </a:prstGeom>
        </p:spPr>
      </p:pic>
      <p:sp>
        <p:nvSpPr>
          <p:cNvPr id="17" name="Freeform 17"/>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8"/>
            <a:stretch>
              <a:fillRect/>
            </a:stretch>
          </a:blipFill>
        </p:spPr>
        <p:txBody>
          <a:bodyPr/>
          <a:lstStyle/>
          <a:p>
            <a:endParaRPr lang="es-CO"/>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315746" y="1747476"/>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COMO IMPLEMENTARLO</a:t>
            </a:r>
          </a:p>
        </p:txBody>
      </p:sp>
      <p:sp>
        <p:nvSpPr>
          <p:cNvPr id="7" name="Freeform 7"/>
          <p:cNvSpPr/>
          <p:nvPr/>
        </p:nvSpPr>
        <p:spPr>
          <a:xfrm>
            <a:off x="6593789" y="2744245"/>
            <a:ext cx="5662995" cy="7140298"/>
          </a:xfrm>
          <a:custGeom>
            <a:avLst/>
            <a:gdLst/>
            <a:ahLst/>
            <a:cxnLst/>
            <a:rect l="l" t="t" r="r" b="b"/>
            <a:pathLst>
              <a:path w="5662995" h="7140298">
                <a:moveTo>
                  <a:pt x="0" y="0"/>
                </a:moveTo>
                <a:lnTo>
                  <a:pt x="5662994" y="0"/>
                </a:lnTo>
                <a:lnTo>
                  <a:pt x="5662994" y="7140298"/>
                </a:lnTo>
                <a:lnTo>
                  <a:pt x="0" y="7140298"/>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1523277" y="2940857"/>
            <a:ext cx="3792469" cy="1049858"/>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La interfaz constructora declara pasos de construccion de producto que todos los objetos constructores tienen en comun</a:t>
            </a:r>
          </a:p>
        </p:txBody>
      </p:sp>
      <p:sp>
        <p:nvSpPr>
          <p:cNvPr id="9" name="TextBox 9"/>
          <p:cNvSpPr txBox="1"/>
          <p:nvPr/>
        </p:nvSpPr>
        <p:spPr>
          <a:xfrm>
            <a:off x="1523277" y="5105400"/>
            <a:ext cx="3792469" cy="1312295"/>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Los constructores concretos ofrecen distintas implementaciones de los pasos de la construccion y crear productos que no siguen la interfaz comun</a:t>
            </a:r>
          </a:p>
        </p:txBody>
      </p:sp>
      <p:sp>
        <p:nvSpPr>
          <p:cNvPr id="10" name="TextBox 10"/>
          <p:cNvSpPr txBox="1"/>
          <p:nvPr/>
        </p:nvSpPr>
        <p:spPr>
          <a:xfrm>
            <a:off x="1523277" y="8270319"/>
            <a:ext cx="3792469" cy="1049858"/>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Los productos son los objetos resultantes, no tienen que perteneces a la misma jerarquia de clases o interfaz</a:t>
            </a:r>
          </a:p>
        </p:txBody>
      </p:sp>
      <p:sp>
        <p:nvSpPr>
          <p:cNvPr id="11" name="TextBox 11"/>
          <p:cNvSpPr txBox="1"/>
          <p:nvPr/>
        </p:nvSpPr>
        <p:spPr>
          <a:xfrm>
            <a:off x="12602880" y="4468303"/>
            <a:ext cx="3792469" cy="1312295"/>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El director define el orden en el que se invocan los pasos de construccion por lo que puedes crear y reutilizar configuraciones especificas de los productos</a:t>
            </a:r>
          </a:p>
        </p:txBody>
      </p:sp>
      <p:sp>
        <p:nvSpPr>
          <p:cNvPr id="12" name="TextBox 12"/>
          <p:cNvSpPr txBox="1"/>
          <p:nvPr/>
        </p:nvSpPr>
        <p:spPr>
          <a:xfrm>
            <a:off x="10939797" y="2831190"/>
            <a:ext cx="3792469" cy="787421"/>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El cliente debe asociar uno de los objetos constructores con la clase directora</a:t>
            </a:r>
          </a:p>
        </p:txBody>
      </p:sp>
      <p:sp>
        <p:nvSpPr>
          <p:cNvPr id="13" name="TextBox 13"/>
          <p:cNvSpPr txBox="1"/>
          <p:nvPr/>
        </p:nvSpPr>
        <p:spPr>
          <a:xfrm>
            <a:off x="13303029" y="7466862"/>
            <a:ext cx="3792469" cy="787421"/>
          </a:xfrm>
          <a:prstGeom prst="rect">
            <a:avLst/>
          </a:prstGeom>
        </p:spPr>
        <p:txBody>
          <a:bodyPr lIns="0" tIns="0" rIns="0" bIns="0" rtlCol="0" anchor="t">
            <a:spAutoFit/>
          </a:bodyPr>
          <a:lstStyle/>
          <a:p>
            <a:pPr algn="ctr">
              <a:lnSpc>
                <a:spcPts val="2093"/>
              </a:lnSpc>
              <a:spcBef>
                <a:spcPct val="0"/>
              </a:spcBef>
            </a:pPr>
            <a:r>
              <a:rPr lang="en-US" sz="1495">
                <a:solidFill>
                  <a:srgbClr val="FFFFFF"/>
                </a:solidFill>
                <a:latin typeface="Poppins"/>
                <a:ea typeface="Poppins"/>
                <a:cs typeface="Poppins"/>
                <a:sym typeface="Poppins"/>
              </a:rPr>
              <a:t>EL BUILDER NO ELIMINA LOS PARAMETROS LOS CONVIERTE EN PASOS EXPLICITOS Y CON NOMBRE</a:t>
            </a:r>
          </a:p>
        </p:txBody>
      </p:sp>
      <p:sp>
        <p:nvSpPr>
          <p:cNvPr id="14" name="Freeform 14"/>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25811" y="1576429"/>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#3</a:t>
            </a:r>
          </a:p>
        </p:txBody>
      </p:sp>
      <p:sp>
        <p:nvSpPr>
          <p:cNvPr id="7" name="Freeform 7"/>
          <p:cNvSpPr/>
          <p:nvPr/>
        </p:nvSpPr>
        <p:spPr>
          <a:xfrm>
            <a:off x="9778982" y="1917450"/>
            <a:ext cx="6950034" cy="8116828"/>
          </a:xfrm>
          <a:custGeom>
            <a:avLst/>
            <a:gdLst/>
            <a:ahLst/>
            <a:cxnLst/>
            <a:rect l="l" t="t" r="r" b="b"/>
            <a:pathLst>
              <a:path w="6950034" h="8116828">
                <a:moveTo>
                  <a:pt x="0" y="0"/>
                </a:moveTo>
                <a:lnTo>
                  <a:pt x="6950034" y="0"/>
                </a:lnTo>
                <a:lnTo>
                  <a:pt x="6950034" y="8116828"/>
                </a:lnTo>
                <a:lnTo>
                  <a:pt x="0" y="8116828"/>
                </a:lnTo>
                <a:lnTo>
                  <a:pt x="0" y="0"/>
                </a:lnTo>
                <a:close/>
              </a:path>
            </a:pathLst>
          </a:custGeom>
          <a:blipFill>
            <a:blip r:embed="rId3"/>
            <a:stretch>
              <a:fillRect/>
            </a:stretch>
          </a:blipFill>
        </p:spPr>
        <p:txBody>
          <a:bodyPr/>
          <a:lstStyle/>
          <a:p>
            <a:endParaRPr lang="es-CO"/>
          </a:p>
        </p:txBody>
      </p:sp>
      <p:sp>
        <p:nvSpPr>
          <p:cNvPr id="8" name="Freeform 8"/>
          <p:cNvSpPr/>
          <p:nvPr/>
        </p:nvSpPr>
        <p:spPr>
          <a:xfrm>
            <a:off x="2946027" y="7835174"/>
            <a:ext cx="2234809" cy="2025296"/>
          </a:xfrm>
          <a:custGeom>
            <a:avLst/>
            <a:gdLst/>
            <a:ahLst/>
            <a:cxnLst/>
            <a:rect l="l" t="t" r="r" b="b"/>
            <a:pathLst>
              <a:path w="2234809" h="2025296">
                <a:moveTo>
                  <a:pt x="0" y="0"/>
                </a:moveTo>
                <a:lnTo>
                  <a:pt x="2234809" y="0"/>
                </a:lnTo>
                <a:lnTo>
                  <a:pt x="2234809" y="2025295"/>
                </a:lnTo>
                <a:lnTo>
                  <a:pt x="0" y="202529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O"/>
          </a:p>
        </p:txBody>
      </p:sp>
      <p:sp>
        <p:nvSpPr>
          <p:cNvPr id="9" name="TextBox 9"/>
          <p:cNvSpPr txBox="1"/>
          <p:nvPr/>
        </p:nvSpPr>
        <p:spPr>
          <a:xfrm>
            <a:off x="1201111" y="2845587"/>
            <a:ext cx="5898939" cy="4659374"/>
          </a:xfrm>
          <a:prstGeom prst="rect">
            <a:avLst/>
          </a:prstGeom>
        </p:spPr>
        <p:txBody>
          <a:bodyPr lIns="0" tIns="0" rIns="0" bIns="0" rtlCol="0" anchor="t">
            <a:spAutoFit/>
          </a:bodyPr>
          <a:lstStyle/>
          <a:p>
            <a:pPr algn="l">
              <a:lnSpc>
                <a:spcPts val="2477"/>
              </a:lnSpc>
            </a:pPr>
            <a:r>
              <a:rPr lang="en-US" sz="1769">
                <a:solidFill>
                  <a:srgbClr val="FFFFFF"/>
                </a:solidFill>
                <a:latin typeface="Poppins"/>
                <a:ea typeface="Poppins"/>
                <a:cs typeface="Poppins"/>
                <a:sym typeface="Poppins"/>
              </a:rPr>
              <a:t>Una fábrica de juguetes produce muñecos con distintas configuraciones.</a:t>
            </a:r>
          </a:p>
          <a:p>
            <a:pPr algn="l">
              <a:lnSpc>
                <a:spcPts val="2477"/>
              </a:lnSpc>
            </a:pPr>
            <a:r>
              <a:rPr lang="en-US" sz="1769">
                <a:solidFill>
                  <a:srgbClr val="FFFFFF"/>
                </a:solidFill>
                <a:latin typeface="Poppins"/>
                <a:ea typeface="Poppins"/>
                <a:cs typeface="Poppins"/>
                <a:sym typeface="Poppins"/>
              </a:rPr>
              <a:t> El proceso de ensamblaje es el mismo, pero el resultado final varía según el tipo de muñeco solicitado.</a:t>
            </a:r>
          </a:p>
          <a:p>
            <a:pPr algn="l">
              <a:lnSpc>
                <a:spcPts val="2477"/>
              </a:lnSpc>
            </a:pPr>
            <a:r>
              <a:rPr lang="en-US" sz="1769">
                <a:solidFill>
                  <a:srgbClr val="FFFFFF"/>
                </a:solidFill>
                <a:latin typeface="Poppins"/>
                <a:ea typeface="Poppins"/>
                <a:cs typeface="Poppins"/>
                <a:sym typeface="Poppins"/>
              </a:rPr>
              <a:t>Ejemplos de muñecos:</a:t>
            </a:r>
          </a:p>
          <a:p>
            <a:pPr algn="l">
              <a:lnSpc>
                <a:spcPts val="2477"/>
              </a:lnSpc>
            </a:pPr>
            <a:endParaRPr lang="en-US" sz="1769">
              <a:solidFill>
                <a:srgbClr val="FFFFFF"/>
              </a:solidFill>
              <a:latin typeface="Poppins"/>
              <a:ea typeface="Poppins"/>
              <a:cs typeface="Poppins"/>
              <a:sym typeface="Poppins"/>
            </a:endParaRPr>
          </a:p>
          <a:p>
            <a:pPr marL="381996" lvl="1" indent="-190998" algn="l">
              <a:lnSpc>
                <a:spcPts val="2477"/>
              </a:lnSpc>
              <a:buFont typeface="Arial"/>
              <a:buChar char="•"/>
            </a:pPr>
            <a:r>
              <a:rPr lang="en-US" sz="1769">
                <a:solidFill>
                  <a:srgbClr val="FFFFFF"/>
                </a:solidFill>
                <a:latin typeface="Poppins"/>
                <a:ea typeface="Poppins"/>
                <a:cs typeface="Poppins"/>
                <a:sym typeface="Poppins"/>
              </a:rPr>
              <a:t>Muñeco de acción</a:t>
            </a:r>
          </a:p>
          <a:p>
            <a:pPr marL="381996" lvl="1" indent="-190998" algn="l">
              <a:lnSpc>
                <a:spcPts val="2477"/>
              </a:lnSpc>
              <a:buFont typeface="Arial"/>
              <a:buChar char="•"/>
            </a:pPr>
            <a:r>
              <a:rPr lang="en-US" sz="1769">
                <a:solidFill>
                  <a:srgbClr val="FFFFFF"/>
                </a:solidFill>
                <a:latin typeface="Poppins"/>
                <a:ea typeface="Poppins"/>
                <a:cs typeface="Poppins"/>
                <a:sym typeface="Poppins"/>
              </a:rPr>
              <a:t>Muñeca clásica</a:t>
            </a:r>
          </a:p>
          <a:p>
            <a:pPr algn="l">
              <a:lnSpc>
                <a:spcPts val="2477"/>
              </a:lnSpc>
            </a:pPr>
            <a:endParaRPr lang="en-US" sz="1769">
              <a:solidFill>
                <a:srgbClr val="FFFFFF"/>
              </a:solidFill>
              <a:latin typeface="Poppins"/>
              <a:ea typeface="Poppins"/>
              <a:cs typeface="Poppins"/>
              <a:sym typeface="Poppins"/>
            </a:endParaRPr>
          </a:p>
          <a:p>
            <a:pPr algn="l">
              <a:lnSpc>
                <a:spcPts val="2477"/>
              </a:lnSpc>
            </a:pPr>
            <a:r>
              <a:rPr lang="en-US" sz="1769">
                <a:solidFill>
                  <a:srgbClr val="FFFFFF"/>
                </a:solidFill>
                <a:latin typeface="Poppins"/>
                <a:ea typeface="Poppins"/>
                <a:cs typeface="Poppins"/>
                <a:sym typeface="Poppins"/>
              </a:rPr>
              <a:t>La fábrica quiere separar el proceso de construcción del objeto final.</a:t>
            </a:r>
          </a:p>
          <a:p>
            <a:pPr algn="l">
              <a:lnSpc>
                <a:spcPts val="2477"/>
              </a:lnSpc>
            </a:pPr>
            <a:endParaRPr lang="en-US" sz="1769">
              <a:solidFill>
                <a:srgbClr val="FFFFFF"/>
              </a:solidFill>
              <a:latin typeface="Poppins"/>
              <a:ea typeface="Poppins"/>
              <a:cs typeface="Poppins"/>
              <a:sym typeface="Poppins"/>
            </a:endParaRPr>
          </a:p>
          <a:p>
            <a:pPr algn="l">
              <a:lnSpc>
                <a:spcPts val="2477"/>
              </a:lnSpc>
            </a:pPr>
            <a:r>
              <a:rPr lang="en-US" sz="1769">
                <a:solidFill>
                  <a:srgbClr val="FFFFFF"/>
                </a:solidFill>
                <a:latin typeface="Poppins"/>
                <a:ea typeface="Poppins"/>
                <a:cs typeface="Poppins"/>
                <a:sym typeface="Poppins"/>
              </a:rPr>
              <a:t>Cada muñeco esta conformado de cabeza, cuerpo, brazos, piernas y puede o no tener accesorios</a:t>
            </a:r>
          </a:p>
        </p:txBody>
      </p:sp>
      <p:sp>
        <p:nvSpPr>
          <p:cNvPr id="10" name="Freeform 10"/>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#3</a:t>
            </a:r>
          </a:p>
        </p:txBody>
      </p:sp>
      <p:sp>
        <p:nvSpPr>
          <p:cNvPr id="7" name="Freeform 7"/>
          <p:cNvSpPr/>
          <p:nvPr/>
        </p:nvSpPr>
        <p:spPr>
          <a:xfrm>
            <a:off x="2481652" y="4199345"/>
            <a:ext cx="4592367" cy="5218598"/>
          </a:xfrm>
          <a:custGeom>
            <a:avLst/>
            <a:gdLst/>
            <a:ahLst/>
            <a:cxnLst/>
            <a:rect l="l" t="t" r="r" b="b"/>
            <a:pathLst>
              <a:path w="4592367" h="5218598">
                <a:moveTo>
                  <a:pt x="0" y="0"/>
                </a:moveTo>
                <a:lnTo>
                  <a:pt x="4592367" y="0"/>
                </a:lnTo>
                <a:lnTo>
                  <a:pt x="4592367" y="5218598"/>
                </a:lnTo>
                <a:lnTo>
                  <a:pt x="0" y="5218598"/>
                </a:lnTo>
                <a:lnTo>
                  <a:pt x="0" y="0"/>
                </a:lnTo>
                <a:close/>
              </a:path>
            </a:pathLst>
          </a:custGeom>
          <a:blipFill>
            <a:blip r:embed="rId3"/>
            <a:stretch>
              <a:fillRect/>
            </a:stretch>
          </a:blipFill>
        </p:spPr>
        <p:txBody>
          <a:bodyPr/>
          <a:lstStyle/>
          <a:p>
            <a:endParaRPr lang="es-CO"/>
          </a:p>
        </p:txBody>
      </p:sp>
      <p:sp>
        <p:nvSpPr>
          <p:cNvPr id="8" name="Freeform 8"/>
          <p:cNvSpPr/>
          <p:nvPr/>
        </p:nvSpPr>
        <p:spPr>
          <a:xfrm>
            <a:off x="9144000" y="4266723"/>
            <a:ext cx="7367363" cy="5083841"/>
          </a:xfrm>
          <a:custGeom>
            <a:avLst/>
            <a:gdLst/>
            <a:ahLst/>
            <a:cxnLst/>
            <a:rect l="l" t="t" r="r" b="b"/>
            <a:pathLst>
              <a:path w="7367363" h="5083841">
                <a:moveTo>
                  <a:pt x="0" y="0"/>
                </a:moveTo>
                <a:lnTo>
                  <a:pt x="7367363" y="0"/>
                </a:lnTo>
                <a:lnTo>
                  <a:pt x="7367363" y="5083842"/>
                </a:lnTo>
                <a:lnTo>
                  <a:pt x="0" y="5083842"/>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083578" y="3121522"/>
            <a:ext cx="16613442" cy="466483"/>
          </a:xfrm>
          <a:prstGeom prst="rect">
            <a:avLst/>
          </a:prstGeom>
        </p:spPr>
        <p:txBody>
          <a:bodyPr lIns="0" tIns="0" rIns="0" bIns="0" rtlCol="0" anchor="t">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
        <p:nvSpPr>
          <p:cNvPr id="10" name="Freeform 10"/>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781153" y="1850399"/>
            <a:ext cx="10944428" cy="857781"/>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ESTRUCTURAL - ADAPTER</a:t>
            </a:r>
          </a:p>
        </p:txBody>
      </p:sp>
      <p:pic>
        <p:nvPicPr>
          <p:cNvPr id="7" name="Picture 7"/>
          <p:cNvPicPr>
            <a:picLocks noChangeAspect="1"/>
          </p:cNvPicPr>
          <p:nvPr/>
        </p:nvPicPr>
        <p:blipFill>
          <a:blip r:embed="rId3"/>
          <a:stretch>
            <a:fillRect/>
          </a:stretch>
        </p:blipFill>
        <p:spPr>
          <a:xfrm>
            <a:off x="8332988" y="4331953"/>
            <a:ext cx="884789" cy="885324"/>
          </a:xfrm>
          <a:prstGeom prst="rect">
            <a:avLst/>
          </a:prstGeom>
        </p:spPr>
      </p:pic>
      <p:pic>
        <p:nvPicPr>
          <p:cNvPr id="8" name="Picture 8"/>
          <p:cNvPicPr>
            <a:picLocks noChangeAspect="1"/>
          </p:cNvPicPr>
          <p:nvPr/>
        </p:nvPicPr>
        <p:blipFill>
          <a:blip r:embed="rId4"/>
          <a:stretch>
            <a:fillRect/>
          </a:stretch>
        </p:blipFill>
        <p:spPr>
          <a:xfrm>
            <a:off x="8332988" y="6204350"/>
            <a:ext cx="884789" cy="885324"/>
          </a:xfrm>
          <a:prstGeom prst="rect">
            <a:avLst/>
          </a:prstGeom>
        </p:spPr>
      </p:pic>
      <p:pic>
        <p:nvPicPr>
          <p:cNvPr id="9" name="Picture 9"/>
          <p:cNvPicPr>
            <a:picLocks noChangeAspect="1"/>
          </p:cNvPicPr>
          <p:nvPr/>
        </p:nvPicPr>
        <p:blipFill>
          <a:blip r:embed="rId5"/>
          <a:stretch>
            <a:fillRect/>
          </a:stretch>
        </p:blipFill>
        <p:spPr>
          <a:xfrm>
            <a:off x="8332988" y="8445812"/>
            <a:ext cx="884789" cy="885324"/>
          </a:xfrm>
          <a:prstGeom prst="rect">
            <a:avLst/>
          </a:prstGeom>
        </p:spPr>
      </p:pic>
      <p:sp>
        <p:nvSpPr>
          <p:cNvPr id="10" name="Freeform 10"/>
          <p:cNvSpPr/>
          <p:nvPr/>
        </p:nvSpPr>
        <p:spPr>
          <a:xfrm>
            <a:off x="721403" y="4405730"/>
            <a:ext cx="7185997" cy="4643951"/>
          </a:xfrm>
          <a:custGeom>
            <a:avLst/>
            <a:gdLst/>
            <a:ahLst/>
            <a:cxnLst/>
            <a:rect l="l" t="t" r="r" b="b"/>
            <a:pathLst>
              <a:path w="7185997" h="4643951">
                <a:moveTo>
                  <a:pt x="0" y="0"/>
                </a:moveTo>
                <a:lnTo>
                  <a:pt x="7185997" y="0"/>
                </a:lnTo>
                <a:lnTo>
                  <a:pt x="7185997" y="4643950"/>
                </a:lnTo>
                <a:lnTo>
                  <a:pt x="0" y="4643950"/>
                </a:lnTo>
                <a:lnTo>
                  <a:pt x="0" y="0"/>
                </a:lnTo>
                <a:close/>
              </a:path>
            </a:pathLst>
          </a:custGeom>
          <a:blipFill>
            <a:blip r:embed="rId6"/>
            <a:stretch>
              <a:fillRect/>
            </a:stretch>
          </a:blipFill>
        </p:spPr>
        <p:txBody>
          <a:bodyPr/>
          <a:lstStyle/>
          <a:p>
            <a:endParaRPr lang="es-CO"/>
          </a:p>
        </p:txBody>
      </p:sp>
      <p:sp>
        <p:nvSpPr>
          <p:cNvPr id="11" name="TextBox 11"/>
          <p:cNvSpPr txBox="1"/>
          <p:nvPr/>
        </p:nvSpPr>
        <p:spPr>
          <a:xfrm>
            <a:off x="2683892" y="3092128"/>
            <a:ext cx="12920216" cy="3422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Es un patrón de diseño estructural que permite la colaboración entre objetos con interfaces incompatibles.</a:t>
            </a:r>
          </a:p>
        </p:txBody>
      </p:sp>
      <p:sp>
        <p:nvSpPr>
          <p:cNvPr id="12" name="TextBox 12"/>
          <p:cNvSpPr txBox="1"/>
          <p:nvPr/>
        </p:nvSpPr>
        <p:spPr>
          <a:xfrm>
            <a:off x="9253367" y="6482814"/>
            <a:ext cx="8790698" cy="10090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Se utiliza el SINGLE RESPONSABILITY ya que puedes separar la interfaz o el código de conversión de datos de la lógica de negocio primaria del programa.</a:t>
            </a:r>
          </a:p>
        </p:txBody>
      </p:sp>
      <p:sp>
        <p:nvSpPr>
          <p:cNvPr id="13" name="TextBox 13"/>
          <p:cNvSpPr txBox="1"/>
          <p:nvPr/>
        </p:nvSpPr>
        <p:spPr>
          <a:xfrm>
            <a:off x="9253367" y="8349910"/>
            <a:ext cx="8790698" cy="134239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Se aplica principio de OPEN/CLOSE, ya que puedes introducir nuevos tipos de adaptadores al programa sin descomponer el código cliente existente, siempre y cuando trabajen con los adaptadores a través de la interfaz con el cliente.</a:t>
            </a:r>
          </a:p>
        </p:txBody>
      </p:sp>
      <p:sp>
        <p:nvSpPr>
          <p:cNvPr id="14" name="TextBox 14"/>
          <p:cNvSpPr txBox="1"/>
          <p:nvPr/>
        </p:nvSpPr>
        <p:spPr>
          <a:xfrm>
            <a:off x="9253367" y="4348580"/>
            <a:ext cx="8549616" cy="10090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El patrón Adapter te permite crear una clase intermedia que sirva como traductora entre tu código y una clase heredada, una clase de un tercero o cualquier otra clase con una interfaz extraña.</a:t>
            </a:r>
          </a:p>
        </p:txBody>
      </p:sp>
      <p:sp>
        <p:nvSpPr>
          <p:cNvPr id="15" name="Freeform 15"/>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7"/>
            <a:stretch>
              <a:fillRect/>
            </a:stretch>
          </a:blipFill>
        </p:spPr>
        <p:txBody>
          <a:bodyPr/>
          <a:lstStyle/>
          <a:p>
            <a:endParaRPr lang="es-CO"/>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315746" y="1747476"/>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COMO IMPLEMENTARLO</a:t>
            </a:r>
          </a:p>
        </p:txBody>
      </p:sp>
      <p:sp>
        <p:nvSpPr>
          <p:cNvPr id="7" name="Freeform 7"/>
          <p:cNvSpPr/>
          <p:nvPr/>
        </p:nvSpPr>
        <p:spPr>
          <a:xfrm>
            <a:off x="4701681" y="3316495"/>
            <a:ext cx="9979772" cy="5501350"/>
          </a:xfrm>
          <a:custGeom>
            <a:avLst/>
            <a:gdLst/>
            <a:ahLst/>
            <a:cxnLst/>
            <a:rect l="l" t="t" r="r" b="b"/>
            <a:pathLst>
              <a:path w="9979772" h="5501350">
                <a:moveTo>
                  <a:pt x="0" y="0"/>
                </a:moveTo>
                <a:lnTo>
                  <a:pt x="9979772" y="0"/>
                </a:lnTo>
                <a:lnTo>
                  <a:pt x="9979772" y="5501350"/>
                </a:lnTo>
                <a:lnTo>
                  <a:pt x="0" y="5501350"/>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710567" y="3971847"/>
            <a:ext cx="3792469" cy="524983"/>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Esta clase contiene la logica del negocio existente en el programa</a:t>
            </a:r>
          </a:p>
        </p:txBody>
      </p:sp>
      <p:sp>
        <p:nvSpPr>
          <p:cNvPr id="9" name="TextBox 9"/>
          <p:cNvSpPr txBox="1"/>
          <p:nvPr/>
        </p:nvSpPr>
        <p:spPr>
          <a:xfrm>
            <a:off x="10157154" y="3709410"/>
            <a:ext cx="3792469" cy="1049858"/>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 La interfaz con el cliente describe un protocolo que otras clases deben seguir para poder colaborar con el codigo del cliente</a:t>
            </a:r>
          </a:p>
        </p:txBody>
      </p:sp>
      <p:sp>
        <p:nvSpPr>
          <p:cNvPr id="10" name="TextBox 10"/>
          <p:cNvSpPr txBox="1"/>
          <p:nvPr/>
        </p:nvSpPr>
        <p:spPr>
          <a:xfrm>
            <a:off x="14681453" y="5902179"/>
            <a:ext cx="3162556" cy="1574732"/>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Servicio es alguna clase util (de parte de terceros o heredada), el cliente no puede utilizar directamente esta clase porque su interfaz es incompatible</a:t>
            </a:r>
          </a:p>
        </p:txBody>
      </p:sp>
      <p:sp>
        <p:nvSpPr>
          <p:cNvPr id="11" name="TextBox 11"/>
          <p:cNvSpPr txBox="1"/>
          <p:nvPr/>
        </p:nvSpPr>
        <p:spPr>
          <a:xfrm>
            <a:off x="2482093" y="5902179"/>
            <a:ext cx="4518237" cy="1312295"/>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Adapter es capaz de trabajar tanto con la clase cliente como con la clase de servicio, implementado la interfaz con el cliente y traduce los llamados de la clase servicios envueltos en un formato que si comprenda</a:t>
            </a:r>
          </a:p>
        </p:txBody>
      </p:sp>
      <p:sp>
        <p:nvSpPr>
          <p:cNvPr id="12" name="TextBox 12"/>
          <p:cNvSpPr txBox="1"/>
          <p:nvPr/>
        </p:nvSpPr>
        <p:spPr>
          <a:xfrm>
            <a:off x="6421560" y="8845540"/>
            <a:ext cx="4518237" cy="787421"/>
          </a:xfrm>
          <a:prstGeom prst="rect">
            <a:avLst/>
          </a:prstGeom>
        </p:spPr>
        <p:txBody>
          <a:bodyPr lIns="0" tIns="0" rIns="0" bIns="0" rtlCol="0" anchor="t">
            <a:spAutoFit/>
          </a:bodyPr>
          <a:lstStyle/>
          <a:p>
            <a:pPr algn="ctr">
              <a:lnSpc>
                <a:spcPts val="2093"/>
              </a:lnSpc>
              <a:spcBef>
                <a:spcPct val="0"/>
              </a:spcBef>
            </a:pPr>
            <a:r>
              <a:rPr lang="en-US" sz="1495">
                <a:solidFill>
                  <a:srgbClr val="FFFFFF"/>
                </a:solidFill>
                <a:latin typeface="Poppins"/>
                <a:ea typeface="Poppins"/>
                <a:cs typeface="Poppins"/>
                <a:sym typeface="Poppins"/>
              </a:rPr>
              <a:t>SE PUEDE INTRODUCTIR NUEVOS TIPOS DE ADAPTADORES SIN DESCOMPONER EL CODIGO EXISTENTE</a:t>
            </a:r>
          </a:p>
        </p:txBody>
      </p:sp>
      <p:sp>
        <p:nvSpPr>
          <p:cNvPr id="13" name="Freeform 13"/>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#4</a:t>
            </a:r>
          </a:p>
        </p:txBody>
      </p:sp>
      <p:sp>
        <p:nvSpPr>
          <p:cNvPr id="7" name="Freeform 7"/>
          <p:cNvSpPr/>
          <p:nvPr/>
        </p:nvSpPr>
        <p:spPr>
          <a:xfrm>
            <a:off x="1444064" y="1425534"/>
            <a:ext cx="4722730" cy="2514854"/>
          </a:xfrm>
          <a:custGeom>
            <a:avLst/>
            <a:gdLst/>
            <a:ahLst/>
            <a:cxnLst/>
            <a:rect l="l" t="t" r="r" b="b"/>
            <a:pathLst>
              <a:path w="4722730" h="2514854">
                <a:moveTo>
                  <a:pt x="0" y="0"/>
                </a:moveTo>
                <a:lnTo>
                  <a:pt x="4722730" y="0"/>
                </a:lnTo>
                <a:lnTo>
                  <a:pt x="4722730" y="2514854"/>
                </a:lnTo>
                <a:lnTo>
                  <a:pt x="0" y="2514854"/>
                </a:lnTo>
                <a:lnTo>
                  <a:pt x="0" y="0"/>
                </a:lnTo>
                <a:close/>
              </a:path>
            </a:pathLst>
          </a:custGeom>
          <a:blipFill>
            <a:blip r:embed="rId3"/>
            <a:stretch>
              <a:fillRect/>
            </a:stretch>
          </a:blipFill>
        </p:spPr>
        <p:txBody>
          <a:bodyPr/>
          <a:lstStyle/>
          <a:p>
            <a:endParaRPr lang="es-CO"/>
          </a:p>
        </p:txBody>
      </p:sp>
      <p:sp>
        <p:nvSpPr>
          <p:cNvPr id="8" name="Freeform 8"/>
          <p:cNvSpPr/>
          <p:nvPr/>
        </p:nvSpPr>
        <p:spPr>
          <a:xfrm>
            <a:off x="8179967" y="3315147"/>
            <a:ext cx="8099697" cy="5943153"/>
          </a:xfrm>
          <a:custGeom>
            <a:avLst/>
            <a:gdLst/>
            <a:ahLst/>
            <a:cxnLst/>
            <a:rect l="l" t="t" r="r" b="b"/>
            <a:pathLst>
              <a:path w="8099697" h="5943153">
                <a:moveTo>
                  <a:pt x="0" y="0"/>
                </a:moveTo>
                <a:lnTo>
                  <a:pt x="8099698" y="0"/>
                </a:lnTo>
                <a:lnTo>
                  <a:pt x="8099698" y="5943153"/>
                </a:lnTo>
                <a:lnTo>
                  <a:pt x="0" y="5943153"/>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245663" y="4550666"/>
            <a:ext cx="5283855" cy="5489597"/>
          </a:xfrm>
          <a:prstGeom prst="rect">
            <a:avLst/>
          </a:prstGeom>
        </p:spPr>
        <p:txBody>
          <a:bodyPr lIns="0" tIns="0" rIns="0" bIns="0" rtlCol="0" anchor="t">
            <a:spAutoFit/>
          </a:bodyPr>
          <a:lstStyle/>
          <a:p>
            <a:pPr marL="377641" lvl="1" indent="-188821" algn="l">
              <a:lnSpc>
                <a:spcPts val="2448"/>
              </a:lnSpc>
              <a:buFont typeface="Arial"/>
              <a:buChar char="•"/>
            </a:pPr>
            <a:r>
              <a:rPr lang="en-US" sz="1749">
                <a:solidFill>
                  <a:srgbClr val="FFFFFF"/>
                </a:solidFill>
                <a:latin typeface="Poppins"/>
                <a:ea typeface="Poppins"/>
                <a:cs typeface="Poppins"/>
                <a:sym typeface="Poppins"/>
              </a:rPr>
              <a:t>Una gasolinería inteligente fue diseñada para atender vehículos a combustión usando un sistema estándar interno.</a:t>
            </a:r>
          </a:p>
          <a:p>
            <a:pPr marL="377641" lvl="1" indent="-188821" algn="l">
              <a:lnSpc>
                <a:spcPts val="2448"/>
              </a:lnSpc>
              <a:buFont typeface="Arial"/>
              <a:buChar char="•"/>
            </a:pPr>
            <a:r>
              <a:rPr lang="en-US" sz="1749">
                <a:solidFill>
                  <a:srgbClr val="FFFFFF"/>
                </a:solidFill>
                <a:latin typeface="Poppins"/>
                <a:ea typeface="Poppins"/>
                <a:cs typeface="Poppins"/>
                <a:sym typeface="Poppins"/>
              </a:rPr>
              <a:t>Con la llegada de vehículos eléctricos e híbridos, la estación incorpora cargadores eléctricos de distintos proveedores, cada uno con interfaces incompatibles que no pueden modificarse.</a:t>
            </a:r>
          </a:p>
          <a:p>
            <a:pPr marL="377641" lvl="1" indent="-188821" algn="l">
              <a:lnSpc>
                <a:spcPts val="2448"/>
              </a:lnSpc>
              <a:buFont typeface="Arial"/>
              <a:buChar char="•"/>
            </a:pPr>
            <a:r>
              <a:rPr lang="en-US" sz="1749">
                <a:solidFill>
                  <a:srgbClr val="FFFFFF"/>
                </a:solidFill>
                <a:latin typeface="Poppins"/>
                <a:ea typeface="Poppins"/>
                <a:cs typeface="Poppins"/>
                <a:sym typeface="Poppins"/>
              </a:rPr>
              <a:t>El sistema central de la gasolinería no debe cambiar.</a:t>
            </a:r>
          </a:p>
          <a:p>
            <a:pPr marL="377641" lvl="1" indent="-188821" algn="l">
              <a:lnSpc>
                <a:spcPts val="2448"/>
              </a:lnSpc>
              <a:buFont typeface="Arial"/>
              <a:buChar char="•"/>
            </a:pPr>
            <a:r>
              <a:rPr lang="en-US" sz="1749">
                <a:solidFill>
                  <a:srgbClr val="FFFFFF"/>
                </a:solidFill>
                <a:latin typeface="Poppins"/>
                <a:ea typeface="Poppins"/>
                <a:cs typeface="Poppins"/>
                <a:sym typeface="Poppins"/>
              </a:rPr>
              <a:t>Unificar el proceso de abastecimiento para todos los vehículos, permitiendo que el sistema use una sola interfaz, aplicando el patrón Adapter.</a:t>
            </a:r>
          </a:p>
          <a:p>
            <a:pPr algn="l">
              <a:lnSpc>
                <a:spcPts val="2448"/>
              </a:lnSpc>
            </a:pPr>
            <a:endParaRPr lang="en-US" sz="1749">
              <a:solidFill>
                <a:srgbClr val="FFFFFF"/>
              </a:solidFill>
              <a:latin typeface="Poppins"/>
              <a:ea typeface="Poppins"/>
              <a:cs typeface="Poppins"/>
              <a:sym typeface="Poppins"/>
            </a:endParaRPr>
          </a:p>
          <a:p>
            <a:pPr algn="l">
              <a:lnSpc>
                <a:spcPts val="2448"/>
              </a:lnSpc>
            </a:pPr>
            <a:r>
              <a:rPr lang="en-US" sz="1749">
                <a:solidFill>
                  <a:srgbClr val="FFFFFF"/>
                </a:solidFill>
                <a:latin typeface="Poppins"/>
                <a:ea typeface="Poppins"/>
                <a:cs typeface="Poppins"/>
                <a:sym typeface="Poppins"/>
              </a:rPr>
              <a:t>Para convertir litros en KWh en el modelo Rapido se multiplica los litros * 8.0, en el modelo lento se multiplica los litros por * 7,0</a:t>
            </a:r>
          </a:p>
        </p:txBody>
      </p:sp>
      <p:sp>
        <p:nvSpPr>
          <p:cNvPr id="10" name="Freeform 10"/>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#4</a:t>
            </a:r>
          </a:p>
        </p:txBody>
      </p:sp>
      <p:sp>
        <p:nvSpPr>
          <p:cNvPr id="7" name="Freeform 7"/>
          <p:cNvSpPr/>
          <p:nvPr/>
        </p:nvSpPr>
        <p:spPr>
          <a:xfrm>
            <a:off x="2481652" y="4199345"/>
            <a:ext cx="4592367" cy="5218598"/>
          </a:xfrm>
          <a:custGeom>
            <a:avLst/>
            <a:gdLst/>
            <a:ahLst/>
            <a:cxnLst/>
            <a:rect l="l" t="t" r="r" b="b"/>
            <a:pathLst>
              <a:path w="4592367" h="5218598">
                <a:moveTo>
                  <a:pt x="0" y="0"/>
                </a:moveTo>
                <a:lnTo>
                  <a:pt x="4592367" y="0"/>
                </a:lnTo>
                <a:lnTo>
                  <a:pt x="4592367" y="5218598"/>
                </a:lnTo>
                <a:lnTo>
                  <a:pt x="0" y="5218598"/>
                </a:lnTo>
                <a:lnTo>
                  <a:pt x="0" y="0"/>
                </a:lnTo>
                <a:close/>
              </a:path>
            </a:pathLst>
          </a:custGeom>
          <a:blipFill>
            <a:blip r:embed="rId3"/>
            <a:stretch>
              <a:fillRect/>
            </a:stretch>
          </a:blipFill>
        </p:spPr>
        <p:txBody>
          <a:bodyPr/>
          <a:lstStyle/>
          <a:p>
            <a:endParaRPr lang="es-CO"/>
          </a:p>
        </p:txBody>
      </p:sp>
      <p:sp>
        <p:nvSpPr>
          <p:cNvPr id="8" name="Freeform 8"/>
          <p:cNvSpPr/>
          <p:nvPr/>
        </p:nvSpPr>
        <p:spPr>
          <a:xfrm>
            <a:off x="8638887" y="4092830"/>
            <a:ext cx="7911874" cy="5564685"/>
          </a:xfrm>
          <a:custGeom>
            <a:avLst/>
            <a:gdLst/>
            <a:ahLst/>
            <a:cxnLst/>
            <a:rect l="l" t="t" r="r" b="b"/>
            <a:pathLst>
              <a:path w="7911874" h="5564685">
                <a:moveTo>
                  <a:pt x="0" y="0"/>
                </a:moveTo>
                <a:lnTo>
                  <a:pt x="7911874" y="0"/>
                </a:lnTo>
                <a:lnTo>
                  <a:pt x="7911874" y="5564685"/>
                </a:lnTo>
                <a:lnTo>
                  <a:pt x="0" y="5564685"/>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083578" y="3121522"/>
            <a:ext cx="16613442" cy="466483"/>
          </a:xfrm>
          <a:prstGeom prst="rect">
            <a:avLst/>
          </a:prstGeom>
        </p:spPr>
        <p:txBody>
          <a:bodyPr lIns="0" tIns="0" rIns="0" bIns="0" rtlCol="0" anchor="t">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
        <p:nvSpPr>
          <p:cNvPr id="10" name="Freeform 10"/>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781153" y="1850399"/>
            <a:ext cx="10944428" cy="857781"/>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ESTRUCTURAL - BRIDGE</a:t>
            </a:r>
          </a:p>
        </p:txBody>
      </p:sp>
      <p:pic>
        <p:nvPicPr>
          <p:cNvPr id="7" name="Picture 7"/>
          <p:cNvPicPr>
            <a:picLocks noChangeAspect="1"/>
          </p:cNvPicPr>
          <p:nvPr/>
        </p:nvPicPr>
        <p:blipFill>
          <a:blip r:embed="rId3"/>
          <a:stretch>
            <a:fillRect/>
          </a:stretch>
        </p:blipFill>
        <p:spPr>
          <a:xfrm>
            <a:off x="8332988" y="4833672"/>
            <a:ext cx="884789" cy="885324"/>
          </a:xfrm>
          <a:prstGeom prst="rect">
            <a:avLst/>
          </a:prstGeom>
        </p:spPr>
      </p:pic>
      <p:pic>
        <p:nvPicPr>
          <p:cNvPr id="8" name="Picture 8"/>
          <p:cNvPicPr>
            <a:picLocks noChangeAspect="1"/>
          </p:cNvPicPr>
          <p:nvPr/>
        </p:nvPicPr>
        <p:blipFill>
          <a:blip r:embed="rId4"/>
          <a:stretch>
            <a:fillRect/>
          </a:stretch>
        </p:blipFill>
        <p:spPr>
          <a:xfrm>
            <a:off x="8442355" y="7569079"/>
            <a:ext cx="884789" cy="885324"/>
          </a:xfrm>
          <a:prstGeom prst="rect">
            <a:avLst/>
          </a:prstGeom>
        </p:spPr>
      </p:pic>
      <p:sp>
        <p:nvSpPr>
          <p:cNvPr id="9" name="Freeform 9"/>
          <p:cNvSpPr/>
          <p:nvPr/>
        </p:nvSpPr>
        <p:spPr>
          <a:xfrm>
            <a:off x="778979" y="4625978"/>
            <a:ext cx="6737682" cy="4421604"/>
          </a:xfrm>
          <a:custGeom>
            <a:avLst/>
            <a:gdLst/>
            <a:ahLst/>
            <a:cxnLst/>
            <a:rect l="l" t="t" r="r" b="b"/>
            <a:pathLst>
              <a:path w="6737682" h="4421604">
                <a:moveTo>
                  <a:pt x="0" y="0"/>
                </a:moveTo>
                <a:lnTo>
                  <a:pt x="6737682" y="0"/>
                </a:lnTo>
                <a:lnTo>
                  <a:pt x="6737682" y="4421604"/>
                </a:lnTo>
                <a:lnTo>
                  <a:pt x="0" y="4421604"/>
                </a:lnTo>
                <a:lnTo>
                  <a:pt x="0" y="0"/>
                </a:lnTo>
                <a:close/>
              </a:path>
            </a:pathLst>
          </a:custGeom>
          <a:blipFill>
            <a:blip r:embed="rId5"/>
            <a:stretch>
              <a:fillRect/>
            </a:stretch>
          </a:blipFill>
        </p:spPr>
        <p:txBody>
          <a:bodyPr/>
          <a:lstStyle/>
          <a:p>
            <a:endParaRPr lang="es-CO"/>
          </a:p>
        </p:txBody>
      </p:sp>
      <p:sp>
        <p:nvSpPr>
          <p:cNvPr id="10" name="TextBox 10"/>
          <p:cNvSpPr txBox="1"/>
          <p:nvPr/>
        </p:nvSpPr>
        <p:spPr>
          <a:xfrm>
            <a:off x="1404371" y="3150901"/>
            <a:ext cx="16001144"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Es un patrón de diseño estructural que te permite dividir una clase grande, o un grupo de clases estrechamente relacionadas, en dos jerarquías separadas (abstracción e implementación) que pueden desarrollarse independientemente la una de la otra.</a:t>
            </a:r>
          </a:p>
        </p:txBody>
      </p:sp>
      <p:sp>
        <p:nvSpPr>
          <p:cNvPr id="11" name="TextBox 11"/>
          <p:cNvSpPr txBox="1"/>
          <p:nvPr/>
        </p:nvSpPr>
        <p:spPr>
          <a:xfrm>
            <a:off x="9253367" y="4850299"/>
            <a:ext cx="8865992" cy="134239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La Abstracción (también llamada interfaz) es una capa de control de alto nivel para una entidad. Esta capa no tiene que hacer ningún trabajo real por su cuenta, sino que debe delegar el trabajo a la capa de implementación (también llamada plataforma).</a:t>
            </a:r>
          </a:p>
        </p:txBody>
      </p:sp>
      <p:sp>
        <p:nvSpPr>
          <p:cNvPr id="12" name="TextBox 12"/>
          <p:cNvSpPr txBox="1"/>
          <p:nvPr/>
        </p:nvSpPr>
        <p:spPr>
          <a:xfrm>
            <a:off x="9559882" y="7704987"/>
            <a:ext cx="8364274"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El código cliente funciona con abstracciones de alto nivel. No está expuesto a los detalles de la plataforma.</a:t>
            </a:r>
          </a:p>
        </p:txBody>
      </p:sp>
      <p:sp>
        <p:nvSpPr>
          <p:cNvPr id="13" name="Freeform 13"/>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6"/>
            <a:stretch>
              <a:fillRect/>
            </a:stretch>
          </a:blipFill>
        </p:spPr>
        <p:txBody>
          <a:bodyPr/>
          <a:lstStyle/>
          <a:p>
            <a:endParaRPr lang="es-CO"/>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315746" y="1747476"/>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COMO IMPLEMENTARLO</a:t>
            </a:r>
          </a:p>
        </p:txBody>
      </p:sp>
      <p:sp>
        <p:nvSpPr>
          <p:cNvPr id="7" name="Freeform 7"/>
          <p:cNvSpPr/>
          <p:nvPr/>
        </p:nvSpPr>
        <p:spPr>
          <a:xfrm>
            <a:off x="4575686" y="3231239"/>
            <a:ext cx="8615302" cy="5847636"/>
          </a:xfrm>
          <a:custGeom>
            <a:avLst/>
            <a:gdLst/>
            <a:ahLst/>
            <a:cxnLst/>
            <a:rect l="l" t="t" r="r" b="b"/>
            <a:pathLst>
              <a:path w="8615302" h="5847636">
                <a:moveTo>
                  <a:pt x="0" y="0"/>
                </a:moveTo>
                <a:lnTo>
                  <a:pt x="8615302" y="0"/>
                </a:lnTo>
                <a:lnTo>
                  <a:pt x="8615302" y="5847637"/>
                </a:lnTo>
                <a:lnTo>
                  <a:pt x="0" y="5847637"/>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2365412" y="4174998"/>
            <a:ext cx="3792469" cy="524983"/>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La abstraccion ofrece logica de control de alto nivel</a:t>
            </a:r>
          </a:p>
        </p:txBody>
      </p:sp>
      <p:sp>
        <p:nvSpPr>
          <p:cNvPr id="9" name="TextBox 9"/>
          <p:cNvSpPr txBox="1"/>
          <p:nvPr/>
        </p:nvSpPr>
        <p:spPr>
          <a:xfrm>
            <a:off x="13466831" y="4174998"/>
            <a:ext cx="3792469" cy="1837169"/>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La implementacion declara la interfaz comun a todas las implementaciones concretas. Una abstraccion solo se puede comunicar con un objeto de implementacion a traves de los metodos que se declaran</a:t>
            </a:r>
          </a:p>
        </p:txBody>
      </p:sp>
      <p:sp>
        <p:nvSpPr>
          <p:cNvPr id="10" name="TextBox 10"/>
          <p:cNvSpPr txBox="1"/>
          <p:nvPr/>
        </p:nvSpPr>
        <p:spPr>
          <a:xfrm>
            <a:off x="10428588" y="8666115"/>
            <a:ext cx="3792469" cy="787421"/>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La implementaciones concretas contienen codigo especifico de plataforma</a:t>
            </a:r>
          </a:p>
        </p:txBody>
      </p:sp>
      <p:sp>
        <p:nvSpPr>
          <p:cNvPr id="11" name="TextBox 11"/>
          <p:cNvSpPr txBox="1"/>
          <p:nvPr/>
        </p:nvSpPr>
        <p:spPr>
          <a:xfrm>
            <a:off x="2898796" y="9133472"/>
            <a:ext cx="3792469" cy="787421"/>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Las abstracciones refinadas proporcionan variantes de logica de control. </a:t>
            </a:r>
          </a:p>
        </p:txBody>
      </p:sp>
      <p:sp>
        <p:nvSpPr>
          <p:cNvPr id="12" name="Freeform 12"/>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315746"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#5</a:t>
            </a:r>
          </a:p>
        </p:txBody>
      </p:sp>
      <p:sp>
        <p:nvSpPr>
          <p:cNvPr id="7" name="Freeform 7"/>
          <p:cNvSpPr/>
          <p:nvPr/>
        </p:nvSpPr>
        <p:spPr>
          <a:xfrm>
            <a:off x="1461675" y="3346589"/>
            <a:ext cx="5514379" cy="3906018"/>
          </a:xfrm>
          <a:custGeom>
            <a:avLst/>
            <a:gdLst/>
            <a:ahLst/>
            <a:cxnLst/>
            <a:rect l="l" t="t" r="r" b="b"/>
            <a:pathLst>
              <a:path w="5514379" h="3906018">
                <a:moveTo>
                  <a:pt x="0" y="0"/>
                </a:moveTo>
                <a:lnTo>
                  <a:pt x="5514379" y="0"/>
                </a:lnTo>
                <a:lnTo>
                  <a:pt x="5514379" y="3906018"/>
                </a:lnTo>
                <a:lnTo>
                  <a:pt x="0" y="3906018"/>
                </a:lnTo>
                <a:lnTo>
                  <a:pt x="0" y="0"/>
                </a:lnTo>
                <a:close/>
              </a:path>
            </a:pathLst>
          </a:custGeom>
          <a:blipFill>
            <a:blip r:embed="rId3"/>
            <a:stretch>
              <a:fillRect/>
            </a:stretch>
          </a:blipFill>
        </p:spPr>
        <p:txBody>
          <a:bodyPr/>
          <a:lstStyle/>
          <a:p>
            <a:endParaRPr lang="es-CO"/>
          </a:p>
        </p:txBody>
      </p:sp>
      <p:sp>
        <p:nvSpPr>
          <p:cNvPr id="8" name="Freeform 8"/>
          <p:cNvSpPr/>
          <p:nvPr/>
        </p:nvSpPr>
        <p:spPr>
          <a:xfrm>
            <a:off x="10387368" y="3898713"/>
            <a:ext cx="7372349" cy="3205369"/>
          </a:xfrm>
          <a:custGeom>
            <a:avLst/>
            <a:gdLst/>
            <a:ahLst/>
            <a:cxnLst/>
            <a:rect l="l" t="t" r="r" b="b"/>
            <a:pathLst>
              <a:path w="7372349" h="3205369">
                <a:moveTo>
                  <a:pt x="0" y="0"/>
                </a:moveTo>
                <a:lnTo>
                  <a:pt x="7372349" y="0"/>
                </a:lnTo>
                <a:lnTo>
                  <a:pt x="7372349" y="3205369"/>
                </a:lnTo>
                <a:lnTo>
                  <a:pt x="0" y="3205369"/>
                </a:lnTo>
                <a:lnTo>
                  <a:pt x="0" y="0"/>
                </a:lnTo>
                <a:close/>
              </a:path>
            </a:pathLst>
          </a:custGeom>
          <a:blipFill>
            <a:blip r:embed="rId4"/>
            <a:stretch>
              <a:fillRect/>
            </a:stretch>
          </a:blipFill>
        </p:spPr>
        <p:txBody>
          <a:bodyPr/>
          <a:lstStyle/>
          <a:p>
            <a:endParaRPr lang="es-CO"/>
          </a:p>
        </p:txBody>
      </p:sp>
      <p:sp>
        <p:nvSpPr>
          <p:cNvPr id="9" name="Freeform 9"/>
          <p:cNvSpPr/>
          <p:nvPr/>
        </p:nvSpPr>
        <p:spPr>
          <a:xfrm>
            <a:off x="8179967" y="4785603"/>
            <a:ext cx="1622197" cy="715795"/>
          </a:xfrm>
          <a:custGeom>
            <a:avLst/>
            <a:gdLst/>
            <a:ahLst/>
            <a:cxnLst/>
            <a:rect l="l" t="t" r="r" b="b"/>
            <a:pathLst>
              <a:path w="1622197" h="715795">
                <a:moveTo>
                  <a:pt x="0" y="0"/>
                </a:moveTo>
                <a:lnTo>
                  <a:pt x="1622198" y="0"/>
                </a:lnTo>
                <a:lnTo>
                  <a:pt x="1622198" y="715794"/>
                </a:lnTo>
                <a:lnTo>
                  <a:pt x="0" y="715794"/>
                </a:lnTo>
                <a:lnTo>
                  <a:pt x="0" y="0"/>
                </a:lnTo>
                <a:close/>
              </a:path>
            </a:pathLst>
          </a:custGeom>
          <a:blipFill>
            <a:blip r:embed="rId5"/>
            <a:stretch>
              <a:fillRect/>
            </a:stretch>
          </a:blipFill>
        </p:spPr>
        <p:txBody>
          <a:bodyPr/>
          <a:lstStyle/>
          <a:p>
            <a:endParaRPr lang="es-CO"/>
          </a:p>
        </p:txBody>
      </p:sp>
      <p:sp>
        <p:nvSpPr>
          <p:cNvPr id="10" name="Freeform 10"/>
          <p:cNvSpPr/>
          <p:nvPr/>
        </p:nvSpPr>
        <p:spPr>
          <a:xfrm>
            <a:off x="6261534" y="8349566"/>
            <a:ext cx="1045615" cy="908734"/>
          </a:xfrm>
          <a:custGeom>
            <a:avLst/>
            <a:gdLst/>
            <a:ahLst/>
            <a:cxnLst/>
            <a:rect l="l" t="t" r="r" b="b"/>
            <a:pathLst>
              <a:path w="1045615" h="908734">
                <a:moveTo>
                  <a:pt x="0" y="0"/>
                </a:moveTo>
                <a:lnTo>
                  <a:pt x="1045615" y="0"/>
                </a:lnTo>
                <a:lnTo>
                  <a:pt x="1045615" y="908734"/>
                </a:lnTo>
                <a:lnTo>
                  <a:pt x="0" y="90873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CO"/>
          </a:p>
        </p:txBody>
      </p:sp>
      <p:sp>
        <p:nvSpPr>
          <p:cNvPr id="11" name="Freeform 11"/>
          <p:cNvSpPr/>
          <p:nvPr/>
        </p:nvSpPr>
        <p:spPr>
          <a:xfrm>
            <a:off x="5315746" y="8349566"/>
            <a:ext cx="728461" cy="742380"/>
          </a:xfrm>
          <a:custGeom>
            <a:avLst/>
            <a:gdLst/>
            <a:ahLst/>
            <a:cxnLst/>
            <a:rect l="l" t="t" r="r" b="b"/>
            <a:pathLst>
              <a:path w="728461" h="742380">
                <a:moveTo>
                  <a:pt x="0" y="0"/>
                </a:moveTo>
                <a:lnTo>
                  <a:pt x="728461" y="0"/>
                </a:lnTo>
                <a:lnTo>
                  <a:pt x="728461" y="742380"/>
                </a:lnTo>
                <a:lnTo>
                  <a:pt x="0" y="742380"/>
                </a:lnTo>
                <a:lnTo>
                  <a:pt x="0" y="0"/>
                </a:lnTo>
                <a:close/>
              </a:path>
            </a:pathLst>
          </a:custGeom>
          <a:blipFill>
            <a:blip r:embed="rId7"/>
            <a:stretch>
              <a:fillRect/>
            </a:stretch>
          </a:blipFill>
        </p:spPr>
        <p:txBody>
          <a:bodyPr/>
          <a:lstStyle/>
          <a:p>
            <a:endParaRPr lang="es-CO"/>
          </a:p>
        </p:txBody>
      </p:sp>
      <p:sp>
        <p:nvSpPr>
          <p:cNvPr id="12" name="TextBox 12"/>
          <p:cNvSpPr txBox="1"/>
          <p:nvPr/>
        </p:nvSpPr>
        <p:spPr>
          <a:xfrm>
            <a:off x="1028700" y="8050328"/>
            <a:ext cx="3792469" cy="1574732"/>
          </a:xfrm>
          <a:prstGeom prst="rect">
            <a:avLst/>
          </a:prstGeom>
        </p:spPr>
        <p:txBody>
          <a:bodyPr lIns="0" tIns="0" rIns="0" bIns="0" rtlCol="0" anchor="t">
            <a:spAutoFit/>
          </a:bodyPr>
          <a:lstStyle/>
          <a:p>
            <a:pPr algn="ctr">
              <a:lnSpc>
                <a:spcPts val="2093"/>
              </a:lnSpc>
              <a:spcBef>
                <a:spcPct val="0"/>
              </a:spcBef>
            </a:pPr>
            <a:r>
              <a:rPr lang="en-US" sz="1495">
                <a:solidFill>
                  <a:srgbClr val="FFFFFF"/>
                </a:solidFill>
                <a:latin typeface="Poppins"/>
                <a:ea typeface="Poppins"/>
                <a:cs typeface="Poppins"/>
                <a:sym typeface="Poppins"/>
              </a:rPr>
              <a:t>Se tiene una clase geometrica Forma con un par de subclases Circulo y Cuadrado, al extender esa jerarquia para que incorpore colores, toca crear las combinaciones de clases, lo que hace que aumente exponencialmente</a:t>
            </a:r>
          </a:p>
        </p:txBody>
      </p:sp>
      <p:sp>
        <p:nvSpPr>
          <p:cNvPr id="13" name="TextBox 13"/>
          <p:cNvSpPr txBox="1"/>
          <p:nvPr/>
        </p:nvSpPr>
        <p:spPr>
          <a:xfrm>
            <a:off x="10753030" y="7946005"/>
            <a:ext cx="6859868" cy="1312295"/>
          </a:xfrm>
          <a:prstGeom prst="rect">
            <a:avLst/>
          </a:prstGeom>
        </p:spPr>
        <p:txBody>
          <a:bodyPr lIns="0" tIns="0" rIns="0" bIns="0" rtlCol="0" anchor="t">
            <a:spAutoFit/>
          </a:bodyPr>
          <a:lstStyle/>
          <a:p>
            <a:pPr algn="ctr">
              <a:lnSpc>
                <a:spcPts val="2093"/>
              </a:lnSpc>
              <a:spcBef>
                <a:spcPct val="0"/>
              </a:spcBef>
            </a:pPr>
            <a:r>
              <a:rPr lang="en-US" sz="1495">
                <a:solidFill>
                  <a:srgbClr val="FFFFFF"/>
                </a:solidFill>
                <a:latin typeface="Poppins"/>
                <a:ea typeface="Poppins"/>
                <a:cs typeface="Poppins"/>
                <a:sym typeface="Poppins"/>
              </a:rPr>
              <a:t>El patrón Bridge intenta resolver este problema pasando de la herencia a la composición del objeto. Esto quiere decir que se extrae una de las dimensiones a una jerarquía de clases separada, de modo que las clases originales referencian un objeto de la nueva jerarquía, en lugar de tener todo su estado y sus funcionalidades dentro de una clase.</a:t>
            </a:r>
          </a:p>
        </p:txBody>
      </p:sp>
      <p:sp>
        <p:nvSpPr>
          <p:cNvPr id="14" name="Freeform 14"/>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8"/>
            <a:stretch>
              <a:fillRect/>
            </a:stretch>
          </a:blipFill>
        </p:spPr>
        <p:txBody>
          <a:bodyPr/>
          <a:lstStyle/>
          <a:p>
            <a:endParaRPr lang="es-CO"/>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#5</a:t>
            </a:r>
          </a:p>
        </p:txBody>
      </p:sp>
      <p:sp>
        <p:nvSpPr>
          <p:cNvPr id="7" name="Freeform 7"/>
          <p:cNvSpPr/>
          <p:nvPr/>
        </p:nvSpPr>
        <p:spPr>
          <a:xfrm>
            <a:off x="2481652" y="4199345"/>
            <a:ext cx="4592367" cy="5218598"/>
          </a:xfrm>
          <a:custGeom>
            <a:avLst/>
            <a:gdLst/>
            <a:ahLst/>
            <a:cxnLst/>
            <a:rect l="l" t="t" r="r" b="b"/>
            <a:pathLst>
              <a:path w="4592367" h="5218598">
                <a:moveTo>
                  <a:pt x="0" y="0"/>
                </a:moveTo>
                <a:lnTo>
                  <a:pt x="4592367" y="0"/>
                </a:lnTo>
                <a:lnTo>
                  <a:pt x="4592367" y="5218598"/>
                </a:lnTo>
                <a:lnTo>
                  <a:pt x="0" y="5218598"/>
                </a:lnTo>
                <a:lnTo>
                  <a:pt x="0" y="0"/>
                </a:lnTo>
                <a:close/>
              </a:path>
            </a:pathLst>
          </a:custGeom>
          <a:blipFill>
            <a:blip r:embed="rId3"/>
            <a:stretch>
              <a:fillRect/>
            </a:stretch>
          </a:blipFill>
        </p:spPr>
        <p:txBody>
          <a:bodyPr/>
          <a:lstStyle/>
          <a:p>
            <a:endParaRPr lang="es-CO"/>
          </a:p>
        </p:txBody>
      </p:sp>
      <p:sp>
        <p:nvSpPr>
          <p:cNvPr id="8" name="Freeform 8"/>
          <p:cNvSpPr/>
          <p:nvPr/>
        </p:nvSpPr>
        <p:spPr>
          <a:xfrm>
            <a:off x="9144000" y="4047461"/>
            <a:ext cx="6790464" cy="5522365"/>
          </a:xfrm>
          <a:custGeom>
            <a:avLst/>
            <a:gdLst/>
            <a:ahLst/>
            <a:cxnLst/>
            <a:rect l="l" t="t" r="r" b="b"/>
            <a:pathLst>
              <a:path w="6790464" h="5522365">
                <a:moveTo>
                  <a:pt x="0" y="0"/>
                </a:moveTo>
                <a:lnTo>
                  <a:pt x="6790464" y="0"/>
                </a:lnTo>
                <a:lnTo>
                  <a:pt x="6790464" y="5522366"/>
                </a:lnTo>
                <a:lnTo>
                  <a:pt x="0" y="5522366"/>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083578" y="3121522"/>
            <a:ext cx="16613442" cy="466483"/>
          </a:xfrm>
          <a:prstGeom prst="rect">
            <a:avLst/>
          </a:prstGeom>
        </p:spPr>
        <p:txBody>
          <a:bodyPr lIns="0" tIns="0" rIns="0" bIns="0" rtlCol="0" anchor="t">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
        <p:nvSpPr>
          <p:cNvPr id="10" name="Freeform 10"/>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935773" y="1932099"/>
            <a:ext cx="12416455" cy="857781"/>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ESTRUCTURAL - COMPOSITE</a:t>
            </a:r>
          </a:p>
        </p:txBody>
      </p:sp>
      <p:pic>
        <p:nvPicPr>
          <p:cNvPr id="7" name="Picture 7"/>
          <p:cNvPicPr>
            <a:picLocks noChangeAspect="1"/>
          </p:cNvPicPr>
          <p:nvPr/>
        </p:nvPicPr>
        <p:blipFill>
          <a:blip r:embed="rId3"/>
          <a:stretch>
            <a:fillRect/>
          </a:stretch>
        </p:blipFill>
        <p:spPr>
          <a:xfrm>
            <a:off x="8106190" y="4331953"/>
            <a:ext cx="884789" cy="885324"/>
          </a:xfrm>
          <a:prstGeom prst="rect">
            <a:avLst/>
          </a:prstGeom>
        </p:spPr>
      </p:pic>
      <p:pic>
        <p:nvPicPr>
          <p:cNvPr id="8" name="Picture 8"/>
          <p:cNvPicPr>
            <a:picLocks noChangeAspect="1"/>
          </p:cNvPicPr>
          <p:nvPr/>
        </p:nvPicPr>
        <p:blipFill>
          <a:blip r:embed="rId4"/>
          <a:stretch>
            <a:fillRect/>
          </a:stretch>
        </p:blipFill>
        <p:spPr>
          <a:xfrm>
            <a:off x="8106190" y="6245431"/>
            <a:ext cx="884789" cy="885324"/>
          </a:xfrm>
          <a:prstGeom prst="rect">
            <a:avLst/>
          </a:prstGeom>
        </p:spPr>
      </p:pic>
      <p:pic>
        <p:nvPicPr>
          <p:cNvPr id="9" name="Picture 9"/>
          <p:cNvPicPr>
            <a:picLocks noChangeAspect="1"/>
          </p:cNvPicPr>
          <p:nvPr/>
        </p:nvPicPr>
        <p:blipFill>
          <a:blip r:embed="rId5"/>
          <a:stretch>
            <a:fillRect/>
          </a:stretch>
        </p:blipFill>
        <p:spPr>
          <a:xfrm>
            <a:off x="8106190" y="8018227"/>
            <a:ext cx="884789" cy="885324"/>
          </a:xfrm>
          <a:prstGeom prst="rect">
            <a:avLst/>
          </a:prstGeom>
        </p:spPr>
      </p:pic>
      <p:sp>
        <p:nvSpPr>
          <p:cNvPr id="10" name="Freeform 10"/>
          <p:cNvSpPr/>
          <p:nvPr/>
        </p:nvSpPr>
        <p:spPr>
          <a:xfrm>
            <a:off x="1976191" y="4079974"/>
            <a:ext cx="5193449" cy="5431424"/>
          </a:xfrm>
          <a:custGeom>
            <a:avLst/>
            <a:gdLst/>
            <a:ahLst/>
            <a:cxnLst/>
            <a:rect l="l" t="t" r="r" b="b"/>
            <a:pathLst>
              <a:path w="5193449" h="5431424">
                <a:moveTo>
                  <a:pt x="0" y="0"/>
                </a:moveTo>
                <a:lnTo>
                  <a:pt x="5193449" y="0"/>
                </a:lnTo>
                <a:lnTo>
                  <a:pt x="5193449" y="5431423"/>
                </a:lnTo>
                <a:lnTo>
                  <a:pt x="0" y="5431423"/>
                </a:lnTo>
                <a:lnTo>
                  <a:pt x="0" y="0"/>
                </a:lnTo>
                <a:close/>
              </a:path>
            </a:pathLst>
          </a:custGeom>
          <a:blipFill>
            <a:blip r:embed="rId6"/>
            <a:stretch>
              <a:fillRect/>
            </a:stretch>
          </a:blipFill>
        </p:spPr>
        <p:txBody>
          <a:bodyPr/>
          <a:lstStyle/>
          <a:p>
            <a:endParaRPr lang="es-CO"/>
          </a:p>
        </p:txBody>
      </p:sp>
      <p:sp>
        <p:nvSpPr>
          <p:cNvPr id="11" name="TextBox 11"/>
          <p:cNvSpPr txBox="1"/>
          <p:nvPr/>
        </p:nvSpPr>
        <p:spPr>
          <a:xfrm>
            <a:off x="1150092" y="3068532"/>
            <a:ext cx="16206550"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Es un patrón de diseño estructural que te permite componer objetos en estructuras de árbol y trabajar con esas estructuras como si fueran objetos individuales.</a:t>
            </a:r>
          </a:p>
        </p:txBody>
      </p:sp>
      <p:sp>
        <p:nvSpPr>
          <p:cNvPr id="12" name="TextBox 12"/>
          <p:cNvSpPr txBox="1"/>
          <p:nvPr/>
        </p:nvSpPr>
        <p:spPr>
          <a:xfrm>
            <a:off x="9082195" y="6466418"/>
            <a:ext cx="8859597"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Puedes trabajar con estructuras de árbol complejas con mayor comodidad: utiliza el polimorfismo y la recursión en tu favor.</a:t>
            </a:r>
          </a:p>
        </p:txBody>
      </p:sp>
      <p:sp>
        <p:nvSpPr>
          <p:cNvPr id="13" name="TextBox 13"/>
          <p:cNvSpPr txBox="1"/>
          <p:nvPr/>
        </p:nvSpPr>
        <p:spPr>
          <a:xfrm>
            <a:off x="9253367" y="4285828"/>
            <a:ext cx="8517253" cy="16567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Canva Sans"/>
                <a:ea typeface="Canva Sans"/>
                <a:cs typeface="Canva Sans"/>
                <a:sym typeface="Canva Sans"/>
              </a:rPr>
              <a:t>El patrón Composite te proporciona dos tipos de elementos básicos que comparten una interfaz común: hojas simples y contenedores complejos. Un contenedor puede estar compuesto por hojas y por otros contenedores. Esto te permite construir una estructura de objetos recursivos anidados parecida a un árbol.</a:t>
            </a:r>
          </a:p>
        </p:txBody>
      </p:sp>
      <p:sp>
        <p:nvSpPr>
          <p:cNvPr id="14" name="TextBox 14"/>
          <p:cNvSpPr txBox="1"/>
          <p:nvPr/>
        </p:nvSpPr>
        <p:spPr>
          <a:xfrm>
            <a:off x="9082195" y="8154134"/>
            <a:ext cx="8859597" cy="10090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Todos los elementos definidos por el patrón Composite comparten una interfaz común. Utilizando esta interfaz, el cliente no tiene que preocuparse por la clase concreta de los objetos con los que funciona.</a:t>
            </a:r>
          </a:p>
        </p:txBody>
      </p:sp>
      <p:sp>
        <p:nvSpPr>
          <p:cNvPr id="15" name="Freeform 15"/>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7"/>
            <a:stretch>
              <a:fillRect/>
            </a:stretch>
          </a:blipFill>
        </p:spPr>
        <p:txBody>
          <a:bodyPr/>
          <a:lstStyle/>
          <a:p>
            <a:endParaRPr lang="es-CO"/>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315746" y="1747476"/>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COMO IMPLEMENTARLO</a:t>
            </a:r>
          </a:p>
        </p:txBody>
      </p:sp>
      <p:sp>
        <p:nvSpPr>
          <p:cNvPr id="7" name="Freeform 7"/>
          <p:cNvSpPr/>
          <p:nvPr/>
        </p:nvSpPr>
        <p:spPr>
          <a:xfrm>
            <a:off x="6957502" y="2901342"/>
            <a:ext cx="5204760" cy="6356958"/>
          </a:xfrm>
          <a:custGeom>
            <a:avLst/>
            <a:gdLst/>
            <a:ahLst/>
            <a:cxnLst/>
            <a:rect l="l" t="t" r="r" b="b"/>
            <a:pathLst>
              <a:path w="5204760" h="6356958">
                <a:moveTo>
                  <a:pt x="0" y="0"/>
                </a:moveTo>
                <a:lnTo>
                  <a:pt x="5204760" y="0"/>
                </a:lnTo>
                <a:lnTo>
                  <a:pt x="5204760" y="6356958"/>
                </a:lnTo>
                <a:lnTo>
                  <a:pt x="0" y="6356958"/>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2621383" y="4311935"/>
            <a:ext cx="3792469" cy="1049858"/>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La interfaz componente describe operaciones que son comunes a elementos simples y complejos del arbol</a:t>
            </a:r>
          </a:p>
        </p:txBody>
      </p:sp>
      <p:sp>
        <p:nvSpPr>
          <p:cNvPr id="9" name="TextBox 9"/>
          <p:cNvSpPr txBox="1"/>
          <p:nvPr/>
        </p:nvSpPr>
        <p:spPr>
          <a:xfrm>
            <a:off x="2621383" y="6466227"/>
            <a:ext cx="3792469" cy="524983"/>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La hoja es un elemento basico de un arbol que no tiene subelementos</a:t>
            </a:r>
          </a:p>
        </p:txBody>
      </p:sp>
      <p:sp>
        <p:nvSpPr>
          <p:cNvPr id="10" name="TextBox 10"/>
          <p:cNvSpPr txBox="1"/>
          <p:nvPr/>
        </p:nvSpPr>
        <p:spPr>
          <a:xfrm>
            <a:off x="12866075" y="6041721"/>
            <a:ext cx="3792469" cy="1312295"/>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El contenedor es un elemento que tiene subelementos: hojas u otros contenedores. Un contenedor no conoce las clases concretas de sus hijos.</a:t>
            </a:r>
          </a:p>
        </p:txBody>
      </p:sp>
      <p:sp>
        <p:nvSpPr>
          <p:cNvPr id="11" name="TextBox 11"/>
          <p:cNvSpPr txBox="1"/>
          <p:nvPr/>
        </p:nvSpPr>
        <p:spPr>
          <a:xfrm>
            <a:off x="12162262" y="8727464"/>
            <a:ext cx="5764368" cy="787421"/>
          </a:xfrm>
          <a:prstGeom prst="rect">
            <a:avLst/>
          </a:prstGeom>
        </p:spPr>
        <p:txBody>
          <a:bodyPr lIns="0" tIns="0" rIns="0" bIns="0" rtlCol="0" anchor="t">
            <a:spAutoFit/>
          </a:bodyPr>
          <a:lstStyle/>
          <a:p>
            <a:pPr algn="ctr">
              <a:lnSpc>
                <a:spcPts val="2093"/>
              </a:lnSpc>
              <a:spcBef>
                <a:spcPct val="0"/>
              </a:spcBef>
            </a:pPr>
            <a:r>
              <a:rPr lang="en-US" sz="1495">
                <a:solidFill>
                  <a:srgbClr val="FFFFFF"/>
                </a:solidFill>
                <a:latin typeface="Poppins"/>
                <a:ea typeface="Poppins"/>
                <a:cs typeface="Poppins"/>
                <a:sym typeface="Poppins"/>
              </a:rPr>
              <a:t>AL RECIBIR UNA SOLICITUD UN CONTENEDOR DELEGA EL TRABAJO A SUS SUBELEMENTOS, PROCESA LOS RESULTADOS INTERMEDIOS Y DEVUELVE EL RESULTADO FINAL AL CLIENTE</a:t>
            </a:r>
          </a:p>
        </p:txBody>
      </p:sp>
      <p:sp>
        <p:nvSpPr>
          <p:cNvPr id="12" name="TextBox 12"/>
          <p:cNvSpPr txBox="1"/>
          <p:nvPr/>
        </p:nvSpPr>
        <p:spPr>
          <a:xfrm>
            <a:off x="9144000" y="3037740"/>
            <a:ext cx="3792469" cy="1837169"/>
          </a:xfrm>
          <a:prstGeom prst="rect">
            <a:avLst/>
          </a:prstGeom>
        </p:spPr>
        <p:txBody>
          <a:bodyPr lIns="0" tIns="0" rIns="0" bIns="0" rtlCol="0" anchor="t">
            <a:spAutoFit/>
          </a:bodyPr>
          <a:lstStyle/>
          <a:p>
            <a:pPr marL="322922" lvl="1" indent="-161461" algn="ctr">
              <a:lnSpc>
                <a:spcPts val="2093"/>
              </a:lnSpc>
              <a:spcBef>
                <a:spcPct val="0"/>
              </a:spcBef>
              <a:buAutoNum type="arabicPeriod"/>
            </a:pPr>
            <a:r>
              <a:rPr lang="en-US" sz="1495">
                <a:solidFill>
                  <a:srgbClr val="FFFFFF"/>
                </a:solidFill>
                <a:latin typeface="Poppins"/>
                <a:ea typeface="Poppins"/>
                <a:cs typeface="Poppins"/>
                <a:sym typeface="Poppins"/>
              </a:rPr>
              <a:t>El cliente funciona con todos los elementos a traves de la interfaz componente. Como resultado el cliente puede funcionar de la misma manera tanto con elementos simples como complejos del arbol</a:t>
            </a:r>
          </a:p>
        </p:txBody>
      </p:sp>
      <p:sp>
        <p:nvSpPr>
          <p:cNvPr id="13" name="Freeform 13"/>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#6</a:t>
            </a:r>
          </a:p>
        </p:txBody>
      </p:sp>
      <p:sp>
        <p:nvSpPr>
          <p:cNvPr id="7" name="Freeform 7"/>
          <p:cNvSpPr/>
          <p:nvPr/>
        </p:nvSpPr>
        <p:spPr>
          <a:xfrm>
            <a:off x="4409236" y="4002779"/>
            <a:ext cx="3503981" cy="3617012"/>
          </a:xfrm>
          <a:custGeom>
            <a:avLst/>
            <a:gdLst/>
            <a:ahLst/>
            <a:cxnLst/>
            <a:rect l="l" t="t" r="r" b="b"/>
            <a:pathLst>
              <a:path w="3503981" h="3617012">
                <a:moveTo>
                  <a:pt x="0" y="0"/>
                </a:moveTo>
                <a:lnTo>
                  <a:pt x="3503981" y="0"/>
                </a:lnTo>
                <a:lnTo>
                  <a:pt x="3503981" y="3617013"/>
                </a:lnTo>
                <a:lnTo>
                  <a:pt x="0" y="3617013"/>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9495622" y="3357758"/>
            <a:ext cx="6238765" cy="5459772"/>
          </a:xfrm>
          <a:prstGeom prst="rect">
            <a:avLst/>
          </a:prstGeom>
        </p:spPr>
        <p:txBody>
          <a:bodyPr lIns="0" tIns="0" rIns="0" bIns="0" rtlCol="0" anchor="t">
            <a:spAutoFit/>
          </a:bodyPr>
          <a:lstStyle/>
          <a:p>
            <a:pPr algn="l">
              <a:lnSpc>
                <a:spcPts val="3402"/>
              </a:lnSpc>
              <a:spcBef>
                <a:spcPct val="0"/>
              </a:spcBef>
            </a:pPr>
            <a:r>
              <a:rPr lang="en-US" sz="2430">
                <a:solidFill>
                  <a:srgbClr val="FFFFFF"/>
                </a:solidFill>
                <a:latin typeface="Canva Sans"/>
                <a:ea typeface="Canva Sans"/>
                <a:cs typeface="Canva Sans"/>
                <a:sym typeface="Canva Sans"/>
              </a:rPr>
              <a:t>Una bodega maneja productos individuales y cajas que pueden contener:</a:t>
            </a:r>
          </a:p>
          <a:p>
            <a:pPr algn="l">
              <a:lnSpc>
                <a:spcPts val="3402"/>
              </a:lnSpc>
              <a:spcBef>
                <a:spcPct val="0"/>
              </a:spcBef>
            </a:pPr>
            <a:r>
              <a:rPr lang="en-US" sz="2430">
                <a:solidFill>
                  <a:srgbClr val="FFFFFF"/>
                </a:solidFill>
                <a:latin typeface="Canva Sans"/>
                <a:ea typeface="Canva Sans"/>
                <a:cs typeface="Canva Sans"/>
                <a:sym typeface="Canva Sans"/>
              </a:rPr>
              <a:t>Productos</a:t>
            </a:r>
          </a:p>
          <a:p>
            <a:pPr algn="l">
              <a:lnSpc>
                <a:spcPts val="3402"/>
              </a:lnSpc>
              <a:spcBef>
                <a:spcPct val="0"/>
              </a:spcBef>
            </a:pPr>
            <a:r>
              <a:rPr lang="en-US" sz="2430">
                <a:solidFill>
                  <a:srgbClr val="FFFFFF"/>
                </a:solidFill>
                <a:latin typeface="Canva Sans"/>
                <a:ea typeface="Canva Sans"/>
                <a:cs typeface="Canva Sans"/>
                <a:sym typeface="Canva Sans"/>
              </a:rPr>
              <a:t>Otras cajas (cajas dentro de cajas)</a:t>
            </a:r>
          </a:p>
          <a:p>
            <a:pPr algn="l">
              <a:lnSpc>
                <a:spcPts val="3402"/>
              </a:lnSpc>
              <a:spcBef>
                <a:spcPct val="0"/>
              </a:spcBef>
            </a:pPr>
            <a:r>
              <a:rPr lang="en-US" sz="2430">
                <a:solidFill>
                  <a:srgbClr val="FFFFFF"/>
                </a:solidFill>
                <a:latin typeface="Canva Sans"/>
                <a:ea typeface="Canva Sans"/>
                <a:cs typeface="Canva Sans"/>
                <a:sym typeface="Canva Sans"/>
              </a:rPr>
              <a:t>El sistema debe poder calcular el precio total de cualquier elemento, sin importar si es un producto simple o una caja compuesta.</a:t>
            </a:r>
          </a:p>
          <a:p>
            <a:pPr algn="l">
              <a:lnSpc>
                <a:spcPts val="3402"/>
              </a:lnSpc>
              <a:spcBef>
                <a:spcPct val="0"/>
              </a:spcBef>
            </a:pPr>
            <a:endParaRPr lang="en-US" sz="2430">
              <a:solidFill>
                <a:srgbClr val="FFFFFF"/>
              </a:solidFill>
              <a:latin typeface="Canva Sans"/>
              <a:ea typeface="Canva Sans"/>
              <a:cs typeface="Canva Sans"/>
              <a:sym typeface="Canva Sans"/>
            </a:endParaRPr>
          </a:p>
          <a:p>
            <a:pPr algn="l">
              <a:lnSpc>
                <a:spcPts val="3402"/>
              </a:lnSpc>
              <a:spcBef>
                <a:spcPct val="0"/>
              </a:spcBef>
            </a:pPr>
            <a:r>
              <a:rPr lang="en-US" sz="2430">
                <a:solidFill>
                  <a:srgbClr val="FFFFFF"/>
                </a:solidFill>
                <a:latin typeface="Canva Sans"/>
                <a:ea typeface="Canva Sans"/>
                <a:cs typeface="Canva Sans"/>
                <a:sym typeface="Canva Sans"/>
              </a:rPr>
              <a:t>Para obtener el valor del precio total es necesario recorrer todos los items y obtener el precio</a:t>
            </a:r>
          </a:p>
          <a:p>
            <a:pPr algn="l">
              <a:lnSpc>
                <a:spcPts val="3402"/>
              </a:lnSpc>
              <a:spcBef>
                <a:spcPct val="0"/>
              </a:spcBef>
            </a:pPr>
            <a:endParaRPr lang="en-US" sz="2430">
              <a:solidFill>
                <a:srgbClr val="FFFFFF"/>
              </a:solidFill>
              <a:latin typeface="Canva Sans"/>
              <a:ea typeface="Canva Sans"/>
              <a:cs typeface="Canva Sans"/>
              <a:sym typeface="Canva Sans"/>
            </a:endParaRPr>
          </a:p>
        </p:txBody>
      </p:sp>
      <p:sp>
        <p:nvSpPr>
          <p:cNvPr id="9" name="Freeform 9"/>
          <p:cNvSpPr/>
          <p:nvPr/>
        </p:nvSpPr>
        <p:spPr>
          <a:xfrm>
            <a:off x="7913217" y="-269770"/>
            <a:ext cx="2461566" cy="2461566"/>
          </a:xfrm>
          <a:custGeom>
            <a:avLst/>
            <a:gdLst/>
            <a:ahLst/>
            <a:cxnLst/>
            <a:rect l="l" t="t" r="r" b="b"/>
            <a:pathLst>
              <a:path w="2461566" h="2461566">
                <a:moveTo>
                  <a:pt x="0" y="0"/>
                </a:moveTo>
                <a:lnTo>
                  <a:pt x="2461566" y="0"/>
                </a:lnTo>
                <a:lnTo>
                  <a:pt x="2461566" y="2461566"/>
                </a:lnTo>
                <a:lnTo>
                  <a:pt x="0" y="2461566"/>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#6</a:t>
            </a:r>
          </a:p>
        </p:txBody>
      </p:sp>
      <p:sp>
        <p:nvSpPr>
          <p:cNvPr id="7" name="Freeform 7"/>
          <p:cNvSpPr/>
          <p:nvPr/>
        </p:nvSpPr>
        <p:spPr>
          <a:xfrm>
            <a:off x="721013" y="4281247"/>
            <a:ext cx="2241485" cy="2313791"/>
          </a:xfrm>
          <a:custGeom>
            <a:avLst/>
            <a:gdLst/>
            <a:ahLst/>
            <a:cxnLst/>
            <a:rect l="l" t="t" r="r" b="b"/>
            <a:pathLst>
              <a:path w="2241485" h="2313791">
                <a:moveTo>
                  <a:pt x="0" y="0"/>
                </a:moveTo>
                <a:lnTo>
                  <a:pt x="2241485" y="0"/>
                </a:lnTo>
                <a:lnTo>
                  <a:pt x="2241485" y="2313790"/>
                </a:lnTo>
                <a:lnTo>
                  <a:pt x="0" y="2313790"/>
                </a:lnTo>
                <a:lnTo>
                  <a:pt x="0" y="0"/>
                </a:lnTo>
                <a:close/>
              </a:path>
            </a:pathLst>
          </a:custGeom>
          <a:blipFill>
            <a:blip r:embed="rId3"/>
            <a:stretch>
              <a:fillRect/>
            </a:stretch>
          </a:blipFill>
        </p:spPr>
        <p:txBody>
          <a:bodyPr/>
          <a:lstStyle/>
          <a:p>
            <a:endParaRPr lang="es-CO"/>
          </a:p>
        </p:txBody>
      </p:sp>
      <p:sp>
        <p:nvSpPr>
          <p:cNvPr id="8" name="Freeform 8"/>
          <p:cNvSpPr/>
          <p:nvPr/>
        </p:nvSpPr>
        <p:spPr>
          <a:xfrm>
            <a:off x="9978786" y="3107559"/>
            <a:ext cx="6698270" cy="6262882"/>
          </a:xfrm>
          <a:custGeom>
            <a:avLst/>
            <a:gdLst/>
            <a:ahLst/>
            <a:cxnLst/>
            <a:rect l="l" t="t" r="r" b="b"/>
            <a:pathLst>
              <a:path w="6698270" h="6262882">
                <a:moveTo>
                  <a:pt x="0" y="0"/>
                </a:moveTo>
                <a:lnTo>
                  <a:pt x="6698270" y="0"/>
                </a:lnTo>
                <a:lnTo>
                  <a:pt x="6698270" y="6262882"/>
                </a:lnTo>
                <a:lnTo>
                  <a:pt x="0" y="6262882"/>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3381637" y="3648059"/>
            <a:ext cx="4798331" cy="4210191"/>
          </a:xfrm>
          <a:prstGeom prst="rect">
            <a:avLst/>
          </a:prstGeom>
        </p:spPr>
        <p:txBody>
          <a:bodyPr lIns="0" tIns="0" rIns="0" bIns="0" rtlCol="0" anchor="t">
            <a:spAutoFit/>
          </a:bodyPr>
          <a:lstStyle/>
          <a:p>
            <a:pPr algn="l">
              <a:lnSpc>
                <a:spcPts val="2617"/>
              </a:lnSpc>
              <a:spcBef>
                <a:spcPct val="0"/>
              </a:spcBef>
            </a:pPr>
            <a:r>
              <a:rPr lang="en-US" sz="1869">
                <a:solidFill>
                  <a:srgbClr val="FFFFFF"/>
                </a:solidFill>
                <a:latin typeface="Canva Sans"/>
                <a:ea typeface="Canva Sans"/>
                <a:cs typeface="Canva Sans"/>
                <a:sym typeface="Canva Sans"/>
              </a:rPr>
              <a:t>Una bodega maneja productos individuales y cajas que pueden contener:</a:t>
            </a:r>
          </a:p>
          <a:p>
            <a:pPr algn="l">
              <a:lnSpc>
                <a:spcPts val="2617"/>
              </a:lnSpc>
              <a:spcBef>
                <a:spcPct val="0"/>
              </a:spcBef>
            </a:pPr>
            <a:r>
              <a:rPr lang="en-US" sz="1869">
                <a:solidFill>
                  <a:srgbClr val="FFFFFF"/>
                </a:solidFill>
                <a:latin typeface="Canva Sans"/>
                <a:ea typeface="Canva Sans"/>
                <a:cs typeface="Canva Sans"/>
                <a:sym typeface="Canva Sans"/>
              </a:rPr>
              <a:t>Productos</a:t>
            </a:r>
          </a:p>
          <a:p>
            <a:pPr algn="l">
              <a:lnSpc>
                <a:spcPts val="2617"/>
              </a:lnSpc>
              <a:spcBef>
                <a:spcPct val="0"/>
              </a:spcBef>
            </a:pPr>
            <a:r>
              <a:rPr lang="en-US" sz="1869">
                <a:solidFill>
                  <a:srgbClr val="FFFFFF"/>
                </a:solidFill>
                <a:latin typeface="Canva Sans"/>
                <a:ea typeface="Canva Sans"/>
                <a:cs typeface="Canva Sans"/>
                <a:sym typeface="Canva Sans"/>
              </a:rPr>
              <a:t>Otras cajas (cajas dentro de cajas)</a:t>
            </a:r>
          </a:p>
          <a:p>
            <a:pPr algn="l">
              <a:lnSpc>
                <a:spcPts val="2617"/>
              </a:lnSpc>
              <a:spcBef>
                <a:spcPct val="0"/>
              </a:spcBef>
            </a:pPr>
            <a:r>
              <a:rPr lang="en-US" sz="1869">
                <a:solidFill>
                  <a:srgbClr val="FFFFFF"/>
                </a:solidFill>
                <a:latin typeface="Canva Sans"/>
                <a:ea typeface="Canva Sans"/>
                <a:cs typeface="Canva Sans"/>
                <a:sym typeface="Canva Sans"/>
              </a:rPr>
              <a:t>El sistema debe poder calcular el precio total de cualquier elemento, sin importar si es un producto simple o una caja compuesta.</a:t>
            </a:r>
          </a:p>
          <a:p>
            <a:pPr algn="l">
              <a:lnSpc>
                <a:spcPts val="2617"/>
              </a:lnSpc>
              <a:spcBef>
                <a:spcPct val="0"/>
              </a:spcBef>
            </a:pPr>
            <a:endParaRPr lang="en-US" sz="1869">
              <a:solidFill>
                <a:srgbClr val="FFFFFF"/>
              </a:solidFill>
              <a:latin typeface="Canva Sans"/>
              <a:ea typeface="Canva Sans"/>
              <a:cs typeface="Canva Sans"/>
              <a:sym typeface="Canva Sans"/>
            </a:endParaRPr>
          </a:p>
          <a:p>
            <a:pPr algn="l">
              <a:lnSpc>
                <a:spcPts val="2617"/>
              </a:lnSpc>
              <a:spcBef>
                <a:spcPct val="0"/>
              </a:spcBef>
            </a:pPr>
            <a:r>
              <a:rPr lang="en-US" sz="1869">
                <a:solidFill>
                  <a:srgbClr val="FFFFFF"/>
                </a:solidFill>
                <a:latin typeface="Canva Sans"/>
                <a:ea typeface="Canva Sans"/>
                <a:cs typeface="Canva Sans"/>
                <a:sym typeface="Canva Sans"/>
              </a:rPr>
              <a:t>Para obtener el valor del precio total es necesario recorrer todos los items y obtener el precio</a:t>
            </a:r>
          </a:p>
          <a:p>
            <a:pPr algn="l">
              <a:lnSpc>
                <a:spcPts val="2617"/>
              </a:lnSpc>
              <a:spcBef>
                <a:spcPct val="0"/>
              </a:spcBef>
            </a:pPr>
            <a:endParaRPr lang="en-US" sz="1869">
              <a:solidFill>
                <a:srgbClr val="FFFFFF"/>
              </a:solidFill>
              <a:latin typeface="Canva Sans"/>
              <a:ea typeface="Canva Sans"/>
              <a:cs typeface="Canva Sans"/>
              <a:sym typeface="Canva Sans"/>
            </a:endParaRPr>
          </a:p>
        </p:txBody>
      </p:sp>
      <p:sp>
        <p:nvSpPr>
          <p:cNvPr id="10" name="Freeform 10"/>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#6</a:t>
            </a:r>
          </a:p>
        </p:txBody>
      </p:sp>
      <p:sp>
        <p:nvSpPr>
          <p:cNvPr id="7" name="Freeform 7"/>
          <p:cNvSpPr/>
          <p:nvPr/>
        </p:nvSpPr>
        <p:spPr>
          <a:xfrm>
            <a:off x="2481652" y="4199345"/>
            <a:ext cx="4592367" cy="5218598"/>
          </a:xfrm>
          <a:custGeom>
            <a:avLst/>
            <a:gdLst/>
            <a:ahLst/>
            <a:cxnLst/>
            <a:rect l="l" t="t" r="r" b="b"/>
            <a:pathLst>
              <a:path w="4592367" h="5218598">
                <a:moveTo>
                  <a:pt x="0" y="0"/>
                </a:moveTo>
                <a:lnTo>
                  <a:pt x="4592367" y="0"/>
                </a:lnTo>
                <a:lnTo>
                  <a:pt x="4592367" y="5218598"/>
                </a:lnTo>
                <a:lnTo>
                  <a:pt x="0" y="5218598"/>
                </a:lnTo>
                <a:lnTo>
                  <a:pt x="0" y="0"/>
                </a:lnTo>
                <a:close/>
              </a:path>
            </a:pathLst>
          </a:custGeom>
          <a:blipFill>
            <a:blip r:embed="rId3"/>
            <a:stretch>
              <a:fillRect/>
            </a:stretch>
          </a:blipFill>
        </p:spPr>
        <p:txBody>
          <a:bodyPr/>
          <a:lstStyle/>
          <a:p>
            <a:endParaRPr lang="es-CO"/>
          </a:p>
        </p:txBody>
      </p:sp>
      <p:sp>
        <p:nvSpPr>
          <p:cNvPr id="8" name="Freeform 8"/>
          <p:cNvSpPr/>
          <p:nvPr/>
        </p:nvSpPr>
        <p:spPr>
          <a:xfrm>
            <a:off x="8958253" y="3978994"/>
            <a:ext cx="7218368" cy="5659299"/>
          </a:xfrm>
          <a:custGeom>
            <a:avLst/>
            <a:gdLst/>
            <a:ahLst/>
            <a:cxnLst/>
            <a:rect l="l" t="t" r="r" b="b"/>
            <a:pathLst>
              <a:path w="7218368" h="5659299">
                <a:moveTo>
                  <a:pt x="0" y="0"/>
                </a:moveTo>
                <a:lnTo>
                  <a:pt x="7218368" y="0"/>
                </a:lnTo>
                <a:lnTo>
                  <a:pt x="7218368" y="5659299"/>
                </a:lnTo>
                <a:lnTo>
                  <a:pt x="0" y="5659299"/>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083578" y="3121522"/>
            <a:ext cx="16613442" cy="466483"/>
          </a:xfrm>
          <a:prstGeom prst="rect">
            <a:avLst/>
          </a:prstGeom>
        </p:spPr>
        <p:txBody>
          <a:bodyPr lIns="0" tIns="0" rIns="0" bIns="0" rtlCol="0" anchor="t">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
        <p:nvSpPr>
          <p:cNvPr id="10" name="Freeform 10"/>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2935773" y="1932099"/>
            <a:ext cx="12416455" cy="857781"/>
          </a:xfrm>
          <a:prstGeom prst="rect">
            <a:avLst/>
          </a:prstGeom>
        </p:spPr>
        <p:txBody>
          <a:bodyPr lIns="0" tIns="0" rIns="0" bIns="0" rtlCol="0" anchor="t">
            <a:spAutoFit/>
          </a:bodyPr>
          <a:lstStyle/>
          <a:p>
            <a:pPr algn="ctr">
              <a:lnSpc>
                <a:spcPts val="7012"/>
              </a:lnSpc>
              <a:spcBef>
                <a:spcPct val="0"/>
              </a:spcBef>
            </a:pPr>
            <a:r>
              <a:rPr lang="en-US" sz="5008">
                <a:solidFill>
                  <a:srgbClr val="F800C0"/>
                </a:solidFill>
                <a:latin typeface="HK Modular"/>
                <a:ea typeface="HK Modular"/>
                <a:cs typeface="HK Modular"/>
                <a:sym typeface="HK Modular"/>
              </a:rPr>
              <a:t>ESTRUCTURAL - DECORATOR</a:t>
            </a:r>
          </a:p>
        </p:txBody>
      </p:sp>
      <p:pic>
        <p:nvPicPr>
          <p:cNvPr id="7" name="Picture 7"/>
          <p:cNvPicPr>
            <a:picLocks noChangeAspect="1"/>
          </p:cNvPicPr>
          <p:nvPr/>
        </p:nvPicPr>
        <p:blipFill>
          <a:blip r:embed="rId3"/>
          <a:stretch>
            <a:fillRect/>
          </a:stretch>
        </p:blipFill>
        <p:spPr>
          <a:xfrm>
            <a:off x="8332988" y="4331953"/>
            <a:ext cx="884789" cy="885324"/>
          </a:xfrm>
          <a:prstGeom prst="rect">
            <a:avLst/>
          </a:prstGeom>
        </p:spPr>
      </p:pic>
      <p:pic>
        <p:nvPicPr>
          <p:cNvPr id="8" name="Picture 8"/>
          <p:cNvPicPr>
            <a:picLocks noChangeAspect="1"/>
          </p:cNvPicPr>
          <p:nvPr/>
        </p:nvPicPr>
        <p:blipFill>
          <a:blip r:embed="rId4"/>
          <a:stretch>
            <a:fillRect/>
          </a:stretch>
        </p:blipFill>
        <p:spPr>
          <a:xfrm>
            <a:off x="8332988" y="6204350"/>
            <a:ext cx="884789" cy="885324"/>
          </a:xfrm>
          <a:prstGeom prst="rect">
            <a:avLst/>
          </a:prstGeom>
        </p:spPr>
      </p:pic>
      <p:pic>
        <p:nvPicPr>
          <p:cNvPr id="9" name="Picture 9"/>
          <p:cNvPicPr>
            <a:picLocks noChangeAspect="1"/>
          </p:cNvPicPr>
          <p:nvPr/>
        </p:nvPicPr>
        <p:blipFill>
          <a:blip r:embed="rId5"/>
          <a:stretch>
            <a:fillRect/>
          </a:stretch>
        </p:blipFill>
        <p:spPr>
          <a:xfrm>
            <a:off x="8332988" y="8445812"/>
            <a:ext cx="884789" cy="885324"/>
          </a:xfrm>
          <a:prstGeom prst="rect">
            <a:avLst/>
          </a:prstGeom>
        </p:spPr>
      </p:pic>
      <p:sp>
        <p:nvSpPr>
          <p:cNvPr id="10" name="Freeform 10"/>
          <p:cNvSpPr/>
          <p:nvPr/>
        </p:nvSpPr>
        <p:spPr>
          <a:xfrm>
            <a:off x="764322" y="4585055"/>
            <a:ext cx="6879388" cy="4566194"/>
          </a:xfrm>
          <a:custGeom>
            <a:avLst/>
            <a:gdLst/>
            <a:ahLst/>
            <a:cxnLst/>
            <a:rect l="l" t="t" r="r" b="b"/>
            <a:pathLst>
              <a:path w="6879388" h="4566194">
                <a:moveTo>
                  <a:pt x="0" y="0"/>
                </a:moveTo>
                <a:lnTo>
                  <a:pt x="6879388" y="0"/>
                </a:lnTo>
                <a:lnTo>
                  <a:pt x="6879388" y="4566194"/>
                </a:lnTo>
                <a:lnTo>
                  <a:pt x="0" y="4566194"/>
                </a:lnTo>
                <a:lnTo>
                  <a:pt x="0" y="0"/>
                </a:lnTo>
                <a:close/>
              </a:path>
            </a:pathLst>
          </a:custGeom>
          <a:blipFill>
            <a:blip r:embed="rId6"/>
            <a:stretch>
              <a:fillRect/>
            </a:stretch>
          </a:blipFill>
        </p:spPr>
        <p:txBody>
          <a:bodyPr/>
          <a:lstStyle/>
          <a:p>
            <a:endParaRPr lang="es-CO"/>
          </a:p>
        </p:txBody>
      </p:sp>
      <p:sp>
        <p:nvSpPr>
          <p:cNvPr id="11" name="TextBox 11"/>
          <p:cNvSpPr txBox="1"/>
          <p:nvPr/>
        </p:nvSpPr>
        <p:spPr>
          <a:xfrm>
            <a:off x="781876" y="3040777"/>
            <a:ext cx="16477424"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Es un patrón de diseño estructural que te permite añadir funcionalidades a objetos colocando estos objetos dentro de objetos encapsuladores especiales que contienen estas funcionalidades.</a:t>
            </a:r>
          </a:p>
        </p:txBody>
      </p:sp>
      <p:sp>
        <p:nvSpPr>
          <p:cNvPr id="12" name="TextBox 12"/>
          <p:cNvSpPr txBox="1"/>
          <p:nvPr/>
        </p:nvSpPr>
        <p:spPr>
          <a:xfrm>
            <a:off x="9397005" y="4348580"/>
            <a:ext cx="8389486" cy="134239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Cuando tenemos que alterar la funcionalidad de un objeto, lo primero que se viene a la mente es extender una clase. No obstante, la herencia tiene varias limitaciones importantes de las que debes ser consciente</a:t>
            </a:r>
          </a:p>
        </p:txBody>
      </p:sp>
      <p:sp>
        <p:nvSpPr>
          <p:cNvPr id="13" name="TextBox 13"/>
          <p:cNvSpPr txBox="1"/>
          <p:nvPr/>
        </p:nvSpPr>
        <p:spPr>
          <a:xfrm>
            <a:off x="9397005" y="5982752"/>
            <a:ext cx="8636082" cy="20091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Vestir ropa es un ejemplo del uso de decoradores. Cuando tienes frío, te cubres con un suéter. Si sigues teniendo frío a pesar del suéter, puedes ponerte una chaqueta encima. Si está lloviendo, puedes ponerte un impermeable. Todas estas prendas “extienden” tu comportamiento básico pero no son parte de ti, y puedes quitarte fácilmente cualquier prenda cuando lo desees.</a:t>
            </a:r>
          </a:p>
        </p:txBody>
      </p:sp>
      <p:sp>
        <p:nvSpPr>
          <p:cNvPr id="14" name="TextBox 14"/>
          <p:cNvSpPr txBox="1"/>
          <p:nvPr/>
        </p:nvSpPr>
        <p:spPr>
          <a:xfrm>
            <a:off x="9881235" y="8451479"/>
            <a:ext cx="7378065" cy="134239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Utiliza el patrón Decorator cuando necesites asignar funcionalidades adicionales a objetos durante el tiempo de ejecución sin descomponer el código que utiliza esos objetos.</a:t>
            </a:r>
          </a:p>
        </p:txBody>
      </p:sp>
      <p:sp>
        <p:nvSpPr>
          <p:cNvPr id="15" name="Freeform 15"/>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7"/>
            <a:stretch>
              <a:fillRect/>
            </a:stretch>
          </a:blipFill>
        </p:spPr>
        <p:txBody>
          <a:bodyPr/>
          <a:lstStyle/>
          <a:p>
            <a:endParaRPr lang="es-CO"/>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315746" y="1747476"/>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COMO IMPLEMENTARLO</a:t>
            </a:r>
          </a:p>
        </p:txBody>
      </p:sp>
      <p:sp>
        <p:nvSpPr>
          <p:cNvPr id="7" name="Freeform 7"/>
          <p:cNvSpPr/>
          <p:nvPr/>
        </p:nvSpPr>
        <p:spPr>
          <a:xfrm>
            <a:off x="6321220" y="2901342"/>
            <a:ext cx="5864294" cy="6356958"/>
          </a:xfrm>
          <a:custGeom>
            <a:avLst/>
            <a:gdLst/>
            <a:ahLst/>
            <a:cxnLst/>
            <a:rect l="l" t="t" r="r" b="b"/>
            <a:pathLst>
              <a:path w="5864294" h="6356958">
                <a:moveTo>
                  <a:pt x="0" y="0"/>
                </a:moveTo>
                <a:lnTo>
                  <a:pt x="5864294" y="0"/>
                </a:lnTo>
                <a:lnTo>
                  <a:pt x="5864294" y="6356958"/>
                </a:lnTo>
                <a:lnTo>
                  <a:pt x="0" y="6356958"/>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1871845" y="2996630"/>
            <a:ext cx="4060098" cy="1342390"/>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 El Componente declara la interfaz común tanto para wrappers como para objetos envueltos.</a:t>
            </a:r>
          </a:p>
        </p:txBody>
      </p:sp>
      <p:sp>
        <p:nvSpPr>
          <p:cNvPr id="9" name="TextBox 9"/>
          <p:cNvSpPr txBox="1"/>
          <p:nvPr/>
        </p:nvSpPr>
        <p:spPr>
          <a:xfrm>
            <a:off x="1476515" y="5511119"/>
            <a:ext cx="4624945" cy="1342390"/>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El componente concreto es una clase de objetos envueltos, define el comportamiento basico que los decoradores pueden alterar</a:t>
            </a:r>
          </a:p>
        </p:txBody>
      </p:sp>
      <p:sp>
        <p:nvSpPr>
          <p:cNvPr id="10" name="TextBox 10"/>
          <p:cNvSpPr txBox="1"/>
          <p:nvPr/>
        </p:nvSpPr>
        <p:spPr>
          <a:xfrm>
            <a:off x="12404589" y="4510994"/>
            <a:ext cx="4624945" cy="3342640"/>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La clase decoradora Base tiene un campo para referenciar un objeto envuelto, el tipo del campo debe declararse como la interfaz del componente para que pueda contener tanto los componentes concretos como los decoradores, la clase decoradora base delega todas las operaciones al objeto envuelto</a:t>
            </a:r>
          </a:p>
        </p:txBody>
      </p:sp>
      <p:sp>
        <p:nvSpPr>
          <p:cNvPr id="11" name="TextBox 11"/>
          <p:cNvSpPr txBox="1"/>
          <p:nvPr/>
        </p:nvSpPr>
        <p:spPr>
          <a:xfrm>
            <a:off x="1216982" y="8377693"/>
            <a:ext cx="7151267" cy="1009015"/>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Los decoradores concretos definen funcionalidades que se pueden añadir dinamicamente a los componentes</a:t>
            </a:r>
          </a:p>
        </p:txBody>
      </p:sp>
      <p:sp>
        <p:nvSpPr>
          <p:cNvPr id="12" name="Freeform 12"/>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#7</a:t>
            </a:r>
          </a:p>
        </p:txBody>
      </p:sp>
      <p:sp>
        <p:nvSpPr>
          <p:cNvPr id="7" name="Freeform 7"/>
          <p:cNvSpPr/>
          <p:nvPr/>
        </p:nvSpPr>
        <p:spPr>
          <a:xfrm>
            <a:off x="8455222" y="3172660"/>
            <a:ext cx="9383313" cy="6263361"/>
          </a:xfrm>
          <a:custGeom>
            <a:avLst/>
            <a:gdLst/>
            <a:ahLst/>
            <a:cxnLst/>
            <a:rect l="l" t="t" r="r" b="b"/>
            <a:pathLst>
              <a:path w="9383313" h="6263361">
                <a:moveTo>
                  <a:pt x="0" y="0"/>
                </a:moveTo>
                <a:lnTo>
                  <a:pt x="9383314" y="0"/>
                </a:lnTo>
                <a:lnTo>
                  <a:pt x="9383314" y="6263361"/>
                </a:lnTo>
                <a:lnTo>
                  <a:pt x="0" y="6263361"/>
                </a:lnTo>
                <a:lnTo>
                  <a:pt x="0" y="0"/>
                </a:lnTo>
                <a:close/>
              </a:path>
            </a:pathLst>
          </a:custGeom>
          <a:blipFill>
            <a:blip r:embed="rId3"/>
            <a:stretch>
              <a:fillRect/>
            </a:stretch>
          </a:blipFill>
        </p:spPr>
        <p:txBody>
          <a:bodyPr/>
          <a:lstStyle/>
          <a:p>
            <a:endParaRPr lang="es-CO"/>
          </a:p>
        </p:txBody>
      </p:sp>
      <p:sp>
        <p:nvSpPr>
          <p:cNvPr id="8" name="Freeform 8"/>
          <p:cNvSpPr/>
          <p:nvPr/>
        </p:nvSpPr>
        <p:spPr>
          <a:xfrm>
            <a:off x="2012057" y="2520319"/>
            <a:ext cx="2778713" cy="1580393"/>
          </a:xfrm>
          <a:custGeom>
            <a:avLst/>
            <a:gdLst/>
            <a:ahLst/>
            <a:cxnLst/>
            <a:rect l="l" t="t" r="r" b="b"/>
            <a:pathLst>
              <a:path w="2778713" h="1580393">
                <a:moveTo>
                  <a:pt x="0" y="0"/>
                </a:moveTo>
                <a:lnTo>
                  <a:pt x="2778713" y="0"/>
                </a:lnTo>
                <a:lnTo>
                  <a:pt x="2778713" y="1580393"/>
                </a:lnTo>
                <a:lnTo>
                  <a:pt x="0" y="1580393"/>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531494" y="4612500"/>
            <a:ext cx="7426522" cy="4460674"/>
          </a:xfrm>
          <a:prstGeom prst="rect">
            <a:avLst/>
          </a:prstGeom>
        </p:spPr>
        <p:txBody>
          <a:bodyPr lIns="0" tIns="0" rIns="0" bIns="0" rtlCol="0" anchor="t">
            <a:spAutoFit/>
          </a:bodyPr>
          <a:lstStyle/>
          <a:p>
            <a:pPr algn="l">
              <a:lnSpc>
                <a:spcPts val="2560"/>
              </a:lnSpc>
              <a:spcBef>
                <a:spcPct val="0"/>
              </a:spcBef>
            </a:pPr>
            <a:r>
              <a:rPr lang="en-US" sz="1829">
                <a:solidFill>
                  <a:srgbClr val="FFFFFF"/>
                </a:solidFill>
                <a:latin typeface="Canva Sans"/>
                <a:ea typeface="Canva Sans"/>
                <a:cs typeface="Canva Sans"/>
                <a:sym typeface="Canva Sans"/>
              </a:rPr>
              <a:t>Estás desarrollando un simulador naval.</a:t>
            </a:r>
          </a:p>
          <a:p>
            <a:pPr algn="l">
              <a:lnSpc>
                <a:spcPts val="2560"/>
              </a:lnSpc>
              <a:spcBef>
                <a:spcPct val="0"/>
              </a:spcBef>
            </a:pPr>
            <a:r>
              <a:rPr lang="en-US" sz="1829">
                <a:solidFill>
                  <a:srgbClr val="FFFFFF"/>
                </a:solidFill>
                <a:latin typeface="Canva Sans"/>
                <a:ea typeface="Canva Sans"/>
                <a:cs typeface="Canva Sans"/>
                <a:sym typeface="Canva Sans"/>
              </a:rPr>
              <a:t>Cada barco tiene capacidades básicas como ataque, defensa y una descripcion del tipo de barco, pero puede ser equipado con módulos adicionales sin modificar su clase original:</a:t>
            </a:r>
          </a:p>
          <a:p>
            <a:pPr algn="l">
              <a:lnSpc>
                <a:spcPts val="2560"/>
              </a:lnSpc>
              <a:spcBef>
                <a:spcPct val="0"/>
              </a:spcBef>
            </a:pPr>
            <a:endParaRPr lang="en-US" sz="1829">
              <a:solidFill>
                <a:srgbClr val="FFFFFF"/>
              </a:solidFill>
              <a:latin typeface="Canva Sans"/>
              <a:ea typeface="Canva Sans"/>
              <a:cs typeface="Canva Sans"/>
              <a:sym typeface="Canva Sans"/>
            </a:endParaRPr>
          </a:p>
          <a:p>
            <a:pPr marL="394886" lvl="1" indent="-197443" algn="l">
              <a:lnSpc>
                <a:spcPts val="2560"/>
              </a:lnSpc>
              <a:buFont typeface="Arial"/>
              <a:buChar char="•"/>
            </a:pPr>
            <a:r>
              <a:rPr lang="en-US" sz="1829">
                <a:solidFill>
                  <a:srgbClr val="FFFFFF"/>
                </a:solidFill>
                <a:latin typeface="Canva Sans"/>
                <a:ea typeface="Canva Sans"/>
                <a:cs typeface="Canva Sans"/>
                <a:sym typeface="Canva Sans"/>
              </a:rPr>
              <a:t>Blindaje reforzado →  + 30 en defensa</a:t>
            </a:r>
          </a:p>
          <a:p>
            <a:pPr marL="394886" lvl="1" indent="-197443" algn="l">
              <a:lnSpc>
                <a:spcPts val="2560"/>
              </a:lnSpc>
              <a:buFont typeface="Arial"/>
              <a:buChar char="•"/>
            </a:pPr>
            <a:r>
              <a:rPr lang="en-US" sz="1829">
                <a:solidFill>
                  <a:srgbClr val="FFFFFF"/>
                </a:solidFill>
                <a:latin typeface="Canva Sans"/>
                <a:ea typeface="Canva Sans"/>
                <a:cs typeface="Canva Sans"/>
                <a:sym typeface="Canva Sans"/>
              </a:rPr>
              <a:t>Radar avanzado → +10 en ataque</a:t>
            </a:r>
          </a:p>
          <a:p>
            <a:pPr marL="394886" lvl="1" indent="-197443" algn="l">
              <a:lnSpc>
                <a:spcPts val="2560"/>
              </a:lnSpc>
              <a:buFont typeface="Arial"/>
              <a:buChar char="•"/>
            </a:pPr>
            <a:r>
              <a:rPr lang="en-US" sz="1829">
                <a:solidFill>
                  <a:srgbClr val="FFFFFF"/>
                </a:solidFill>
                <a:latin typeface="Canva Sans"/>
                <a:ea typeface="Canva Sans"/>
                <a:cs typeface="Canva Sans"/>
                <a:sym typeface="Canva Sans"/>
              </a:rPr>
              <a:t>Misiles → +40 en ataque</a:t>
            </a:r>
          </a:p>
          <a:p>
            <a:pPr marL="394886" lvl="1" indent="-197443" algn="l">
              <a:lnSpc>
                <a:spcPts val="2560"/>
              </a:lnSpc>
              <a:buFont typeface="Arial"/>
              <a:buChar char="•"/>
            </a:pPr>
            <a:r>
              <a:rPr lang="en-US" sz="1829">
                <a:solidFill>
                  <a:srgbClr val="FFFFFF"/>
                </a:solidFill>
                <a:latin typeface="Canva Sans"/>
                <a:ea typeface="Canva Sans"/>
                <a:cs typeface="Canva Sans"/>
                <a:sym typeface="Canva Sans"/>
              </a:rPr>
              <a:t>Sistema antitorpedos → +20 de ataque</a:t>
            </a:r>
          </a:p>
          <a:p>
            <a:pPr algn="l">
              <a:lnSpc>
                <a:spcPts val="2560"/>
              </a:lnSpc>
            </a:pPr>
            <a:endParaRPr lang="en-US" sz="1829">
              <a:solidFill>
                <a:srgbClr val="FFFFFF"/>
              </a:solidFill>
              <a:latin typeface="Canva Sans"/>
              <a:ea typeface="Canva Sans"/>
              <a:cs typeface="Canva Sans"/>
              <a:sym typeface="Canva Sans"/>
            </a:endParaRPr>
          </a:p>
          <a:p>
            <a:pPr algn="l">
              <a:lnSpc>
                <a:spcPts val="2560"/>
              </a:lnSpc>
              <a:spcBef>
                <a:spcPct val="0"/>
              </a:spcBef>
            </a:pPr>
            <a:r>
              <a:rPr lang="en-US" sz="1829">
                <a:solidFill>
                  <a:srgbClr val="FFFFFF"/>
                </a:solidFill>
                <a:latin typeface="Canva Sans"/>
                <a:ea typeface="Canva Sans"/>
                <a:cs typeface="Canva Sans"/>
                <a:sym typeface="Canva Sans"/>
              </a:rPr>
              <a:t>Un mismo barco puede tener múltiples mejoras</a:t>
            </a:r>
          </a:p>
          <a:p>
            <a:pPr marL="394886" lvl="1" indent="-197443" algn="l">
              <a:lnSpc>
                <a:spcPts val="2560"/>
              </a:lnSpc>
              <a:buFont typeface="Arial"/>
              <a:buChar char="•"/>
            </a:pPr>
            <a:r>
              <a:rPr lang="en-US" sz="1829">
                <a:solidFill>
                  <a:srgbClr val="FFFFFF"/>
                </a:solidFill>
                <a:latin typeface="Canva Sans"/>
                <a:ea typeface="Canva Sans"/>
                <a:cs typeface="Canva Sans"/>
                <a:sym typeface="Canva Sans"/>
              </a:rPr>
              <a:t>combinar módulos dinámicamente</a:t>
            </a:r>
          </a:p>
          <a:p>
            <a:pPr marL="394886" lvl="1" indent="-197443" algn="l">
              <a:lnSpc>
                <a:spcPts val="2560"/>
              </a:lnSpc>
              <a:buFont typeface="Arial"/>
              <a:buChar char="•"/>
            </a:pPr>
            <a:r>
              <a:rPr lang="en-US" sz="1829">
                <a:solidFill>
                  <a:srgbClr val="FFFFFF"/>
                </a:solidFill>
                <a:latin typeface="Canva Sans"/>
                <a:ea typeface="Canva Sans"/>
                <a:cs typeface="Canva Sans"/>
                <a:sym typeface="Canva Sans"/>
              </a:rPr>
              <a:t>cambiar su configuración en tiempo de ejecución</a:t>
            </a:r>
          </a:p>
          <a:p>
            <a:pPr marL="394886" lvl="1" indent="-197443" algn="l">
              <a:lnSpc>
                <a:spcPts val="2560"/>
              </a:lnSpc>
              <a:buFont typeface="Arial"/>
              <a:buChar char="•"/>
            </a:pPr>
            <a:r>
              <a:rPr lang="en-US" sz="1829">
                <a:solidFill>
                  <a:srgbClr val="FFFFFF"/>
                </a:solidFill>
                <a:latin typeface="Canva Sans"/>
                <a:ea typeface="Canva Sans"/>
                <a:cs typeface="Canva Sans"/>
                <a:sym typeface="Canva Sans"/>
              </a:rPr>
              <a:t>No se permite crear subclases como BarcoConRadarYMisiles</a:t>
            </a:r>
          </a:p>
        </p:txBody>
      </p:sp>
      <p:sp>
        <p:nvSpPr>
          <p:cNvPr id="10" name="Freeform 10"/>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#7</a:t>
            </a:r>
          </a:p>
        </p:txBody>
      </p:sp>
      <p:sp>
        <p:nvSpPr>
          <p:cNvPr id="7" name="Freeform 7"/>
          <p:cNvSpPr/>
          <p:nvPr/>
        </p:nvSpPr>
        <p:spPr>
          <a:xfrm>
            <a:off x="1028700" y="4092830"/>
            <a:ext cx="4592367" cy="5218598"/>
          </a:xfrm>
          <a:custGeom>
            <a:avLst/>
            <a:gdLst/>
            <a:ahLst/>
            <a:cxnLst/>
            <a:rect l="l" t="t" r="r" b="b"/>
            <a:pathLst>
              <a:path w="4592367" h="5218598">
                <a:moveTo>
                  <a:pt x="0" y="0"/>
                </a:moveTo>
                <a:lnTo>
                  <a:pt x="4592367" y="0"/>
                </a:lnTo>
                <a:lnTo>
                  <a:pt x="4592367" y="5218598"/>
                </a:lnTo>
                <a:lnTo>
                  <a:pt x="0" y="5218598"/>
                </a:lnTo>
                <a:lnTo>
                  <a:pt x="0" y="0"/>
                </a:lnTo>
                <a:close/>
              </a:path>
            </a:pathLst>
          </a:custGeom>
          <a:blipFill>
            <a:blip r:embed="rId3"/>
            <a:stretch>
              <a:fillRect/>
            </a:stretch>
          </a:blipFill>
        </p:spPr>
        <p:txBody>
          <a:bodyPr/>
          <a:lstStyle/>
          <a:p>
            <a:endParaRPr lang="es-CO"/>
          </a:p>
        </p:txBody>
      </p:sp>
      <p:sp>
        <p:nvSpPr>
          <p:cNvPr id="8" name="Freeform 8"/>
          <p:cNvSpPr/>
          <p:nvPr/>
        </p:nvSpPr>
        <p:spPr>
          <a:xfrm>
            <a:off x="6387250" y="3990720"/>
            <a:ext cx="5513500" cy="5422818"/>
          </a:xfrm>
          <a:custGeom>
            <a:avLst/>
            <a:gdLst/>
            <a:ahLst/>
            <a:cxnLst/>
            <a:rect l="l" t="t" r="r" b="b"/>
            <a:pathLst>
              <a:path w="5513500" h="5422818">
                <a:moveTo>
                  <a:pt x="0" y="0"/>
                </a:moveTo>
                <a:lnTo>
                  <a:pt x="5513500" y="0"/>
                </a:lnTo>
                <a:lnTo>
                  <a:pt x="5513500" y="5422818"/>
                </a:lnTo>
                <a:lnTo>
                  <a:pt x="0" y="5422818"/>
                </a:lnTo>
                <a:lnTo>
                  <a:pt x="0" y="0"/>
                </a:lnTo>
                <a:close/>
              </a:path>
            </a:pathLst>
          </a:custGeom>
          <a:blipFill>
            <a:blip r:embed="rId4"/>
            <a:stretch>
              <a:fillRect/>
            </a:stretch>
          </a:blipFill>
        </p:spPr>
        <p:txBody>
          <a:bodyPr/>
          <a:lstStyle/>
          <a:p>
            <a:endParaRPr lang="es-CO"/>
          </a:p>
        </p:txBody>
      </p:sp>
      <p:sp>
        <p:nvSpPr>
          <p:cNvPr id="9" name="Freeform 9"/>
          <p:cNvSpPr/>
          <p:nvPr/>
        </p:nvSpPr>
        <p:spPr>
          <a:xfrm>
            <a:off x="12269598" y="4752517"/>
            <a:ext cx="5427423" cy="3899224"/>
          </a:xfrm>
          <a:custGeom>
            <a:avLst/>
            <a:gdLst/>
            <a:ahLst/>
            <a:cxnLst/>
            <a:rect l="l" t="t" r="r" b="b"/>
            <a:pathLst>
              <a:path w="5427423" h="3899224">
                <a:moveTo>
                  <a:pt x="0" y="0"/>
                </a:moveTo>
                <a:lnTo>
                  <a:pt x="5427423" y="0"/>
                </a:lnTo>
                <a:lnTo>
                  <a:pt x="5427423" y="3899224"/>
                </a:lnTo>
                <a:lnTo>
                  <a:pt x="0" y="3899224"/>
                </a:lnTo>
                <a:lnTo>
                  <a:pt x="0" y="0"/>
                </a:lnTo>
                <a:close/>
              </a:path>
            </a:pathLst>
          </a:custGeom>
          <a:blipFill>
            <a:blip r:embed="rId5"/>
            <a:stretch>
              <a:fillRect/>
            </a:stretch>
          </a:blipFill>
        </p:spPr>
        <p:txBody>
          <a:bodyPr/>
          <a:lstStyle/>
          <a:p>
            <a:endParaRPr lang="es-CO"/>
          </a:p>
        </p:txBody>
      </p:sp>
      <p:sp>
        <p:nvSpPr>
          <p:cNvPr id="10" name="TextBox 10"/>
          <p:cNvSpPr txBox="1"/>
          <p:nvPr/>
        </p:nvSpPr>
        <p:spPr>
          <a:xfrm>
            <a:off x="1083578" y="3121522"/>
            <a:ext cx="16613442" cy="466483"/>
          </a:xfrm>
          <a:prstGeom prst="rect">
            <a:avLst/>
          </a:prstGeom>
        </p:spPr>
        <p:txBody>
          <a:bodyPr lIns="0" tIns="0" rIns="0" bIns="0" rtlCol="0" anchor="t">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
        <p:nvSpPr>
          <p:cNvPr id="11" name="Freeform 11"/>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6"/>
            <a:stretch>
              <a:fillRect/>
            </a:stretch>
          </a:blipFill>
        </p:spPr>
        <p:txBody>
          <a:bodyPr/>
          <a:lstStyle/>
          <a:p>
            <a:endParaRPr lang="es-CO"/>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8700" y="1960674"/>
            <a:ext cx="16651383" cy="603570"/>
          </a:xfrm>
          <a:prstGeom prst="rect">
            <a:avLst/>
          </a:prstGeom>
        </p:spPr>
        <p:txBody>
          <a:bodyPr lIns="0" tIns="0" rIns="0" bIns="0" rtlCol="0" anchor="t">
            <a:spAutoFit/>
          </a:bodyPr>
          <a:lstStyle/>
          <a:p>
            <a:pPr algn="ctr">
              <a:lnSpc>
                <a:spcPts val="4937"/>
              </a:lnSpc>
              <a:spcBef>
                <a:spcPct val="0"/>
              </a:spcBef>
            </a:pPr>
            <a:r>
              <a:rPr lang="en-US" sz="3526">
                <a:solidFill>
                  <a:srgbClr val="F800C0"/>
                </a:solidFill>
                <a:latin typeface="HK Modular"/>
                <a:ea typeface="HK Modular"/>
                <a:cs typeface="HK Modular"/>
                <a:sym typeface="HK Modular"/>
              </a:rPr>
              <a:t>COMPORTAMIENTO - CHAIN OF RESPONSABILITY</a:t>
            </a:r>
          </a:p>
        </p:txBody>
      </p:sp>
      <p:pic>
        <p:nvPicPr>
          <p:cNvPr id="7" name="Picture 7"/>
          <p:cNvPicPr>
            <a:picLocks noChangeAspect="1"/>
          </p:cNvPicPr>
          <p:nvPr/>
        </p:nvPicPr>
        <p:blipFill>
          <a:blip r:embed="rId3"/>
          <a:stretch>
            <a:fillRect/>
          </a:stretch>
        </p:blipFill>
        <p:spPr>
          <a:xfrm>
            <a:off x="8332988" y="4006128"/>
            <a:ext cx="884789" cy="885324"/>
          </a:xfrm>
          <a:prstGeom prst="rect">
            <a:avLst/>
          </a:prstGeom>
        </p:spPr>
      </p:pic>
      <p:pic>
        <p:nvPicPr>
          <p:cNvPr id="8" name="Picture 8"/>
          <p:cNvPicPr>
            <a:picLocks noChangeAspect="1"/>
          </p:cNvPicPr>
          <p:nvPr/>
        </p:nvPicPr>
        <p:blipFill>
          <a:blip r:embed="rId4"/>
          <a:stretch>
            <a:fillRect/>
          </a:stretch>
        </p:blipFill>
        <p:spPr>
          <a:xfrm>
            <a:off x="8332988" y="6204350"/>
            <a:ext cx="884789" cy="885324"/>
          </a:xfrm>
          <a:prstGeom prst="rect">
            <a:avLst/>
          </a:prstGeom>
        </p:spPr>
      </p:pic>
      <p:pic>
        <p:nvPicPr>
          <p:cNvPr id="9" name="Picture 9"/>
          <p:cNvPicPr>
            <a:picLocks noChangeAspect="1"/>
          </p:cNvPicPr>
          <p:nvPr/>
        </p:nvPicPr>
        <p:blipFill>
          <a:blip r:embed="rId5"/>
          <a:stretch>
            <a:fillRect/>
          </a:stretch>
        </p:blipFill>
        <p:spPr>
          <a:xfrm>
            <a:off x="8332988" y="8445812"/>
            <a:ext cx="884789" cy="885324"/>
          </a:xfrm>
          <a:prstGeom prst="rect">
            <a:avLst/>
          </a:prstGeom>
        </p:spPr>
      </p:pic>
      <p:sp>
        <p:nvSpPr>
          <p:cNvPr id="10" name="Freeform 10"/>
          <p:cNvSpPr/>
          <p:nvPr/>
        </p:nvSpPr>
        <p:spPr>
          <a:xfrm>
            <a:off x="740937" y="4774615"/>
            <a:ext cx="6965270" cy="3482635"/>
          </a:xfrm>
          <a:custGeom>
            <a:avLst/>
            <a:gdLst/>
            <a:ahLst/>
            <a:cxnLst/>
            <a:rect l="l" t="t" r="r" b="b"/>
            <a:pathLst>
              <a:path w="6965270" h="3482635">
                <a:moveTo>
                  <a:pt x="0" y="0"/>
                </a:moveTo>
                <a:lnTo>
                  <a:pt x="6965270" y="0"/>
                </a:lnTo>
                <a:lnTo>
                  <a:pt x="6965270" y="3482635"/>
                </a:lnTo>
                <a:lnTo>
                  <a:pt x="0" y="3482635"/>
                </a:lnTo>
                <a:lnTo>
                  <a:pt x="0" y="0"/>
                </a:lnTo>
                <a:close/>
              </a:path>
            </a:pathLst>
          </a:custGeom>
          <a:blipFill>
            <a:blip r:embed="rId6"/>
            <a:stretch>
              <a:fillRect/>
            </a:stretch>
          </a:blipFill>
        </p:spPr>
        <p:txBody>
          <a:bodyPr/>
          <a:lstStyle/>
          <a:p>
            <a:endParaRPr lang="es-CO"/>
          </a:p>
        </p:txBody>
      </p:sp>
      <p:sp>
        <p:nvSpPr>
          <p:cNvPr id="11" name="TextBox 11"/>
          <p:cNvSpPr txBox="1"/>
          <p:nvPr/>
        </p:nvSpPr>
        <p:spPr>
          <a:xfrm>
            <a:off x="1548826" y="2894381"/>
            <a:ext cx="15710474" cy="652124"/>
          </a:xfrm>
          <a:prstGeom prst="rect">
            <a:avLst/>
          </a:prstGeom>
        </p:spPr>
        <p:txBody>
          <a:bodyPr lIns="0" tIns="0" rIns="0" bIns="0" rtlCol="0" anchor="t">
            <a:spAutoFit/>
          </a:bodyPr>
          <a:lstStyle/>
          <a:p>
            <a:pPr algn="ctr">
              <a:lnSpc>
                <a:spcPts val="2599"/>
              </a:lnSpc>
              <a:spcBef>
                <a:spcPct val="0"/>
              </a:spcBef>
            </a:pPr>
            <a:r>
              <a:rPr lang="en-US" sz="1857">
                <a:solidFill>
                  <a:srgbClr val="FFFFFF"/>
                </a:solidFill>
                <a:latin typeface="Poppins"/>
                <a:ea typeface="Poppins"/>
                <a:cs typeface="Poppins"/>
                <a:sym typeface="Poppins"/>
              </a:rPr>
              <a:t>Es un patrón de diseño de comportamiento que te permite pasar solicitudes a lo largo de una cadena de manejadores. Al recibir una solicitud, cada manejador decide si la procesa o si la pasa al siguiente manejador de la cadena.</a:t>
            </a:r>
          </a:p>
        </p:txBody>
      </p:sp>
      <p:sp>
        <p:nvSpPr>
          <p:cNvPr id="12" name="TextBox 12"/>
          <p:cNvSpPr txBox="1"/>
          <p:nvPr/>
        </p:nvSpPr>
        <p:spPr>
          <a:xfrm>
            <a:off x="9848850" y="4032280"/>
            <a:ext cx="7699418" cy="1867547"/>
          </a:xfrm>
          <a:prstGeom prst="rect">
            <a:avLst/>
          </a:prstGeom>
        </p:spPr>
        <p:txBody>
          <a:bodyPr lIns="0" tIns="0" rIns="0" bIns="0" rtlCol="0" anchor="t">
            <a:spAutoFit/>
          </a:bodyPr>
          <a:lstStyle/>
          <a:p>
            <a:pPr algn="ctr">
              <a:lnSpc>
                <a:spcPts val="2480"/>
              </a:lnSpc>
              <a:spcBef>
                <a:spcPct val="0"/>
              </a:spcBef>
            </a:pPr>
            <a:r>
              <a:rPr lang="en-US" sz="1771">
                <a:solidFill>
                  <a:srgbClr val="FFFFFF"/>
                </a:solidFill>
                <a:latin typeface="Poppins"/>
                <a:ea typeface="Poppins"/>
                <a:cs typeface="Poppins"/>
                <a:sym typeface="Poppins"/>
              </a:rPr>
              <a:t>El Chain of Responsibility se basa en transformar comportamientos particulares en objetos autónomos llamados manejadores. En nuestro caso, cada comprobación debe ponerse dentro de su propia clase con un único método que realice la comprobación. La solicitud, junto con su información, se pasa a este método como argumento.</a:t>
            </a:r>
          </a:p>
        </p:txBody>
      </p:sp>
      <p:sp>
        <p:nvSpPr>
          <p:cNvPr id="13" name="TextBox 13"/>
          <p:cNvSpPr txBox="1"/>
          <p:nvPr/>
        </p:nvSpPr>
        <p:spPr>
          <a:xfrm>
            <a:off x="10137818" y="6385602"/>
            <a:ext cx="7410450" cy="1244417"/>
          </a:xfrm>
          <a:prstGeom prst="rect">
            <a:avLst/>
          </a:prstGeom>
        </p:spPr>
        <p:txBody>
          <a:bodyPr lIns="0" tIns="0" rIns="0" bIns="0" rtlCol="0" anchor="t">
            <a:spAutoFit/>
          </a:bodyPr>
          <a:lstStyle/>
          <a:p>
            <a:pPr algn="ctr">
              <a:lnSpc>
                <a:spcPts val="2476"/>
              </a:lnSpc>
              <a:spcBef>
                <a:spcPct val="0"/>
              </a:spcBef>
            </a:pPr>
            <a:r>
              <a:rPr lang="en-US" sz="1769">
                <a:solidFill>
                  <a:srgbClr val="FFFFFF"/>
                </a:solidFill>
                <a:latin typeface="Poppins"/>
                <a:ea typeface="Poppins"/>
                <a:cs typeface="Poppins"/>
                <a:sym typeface="Poppins"/>
              </a:rPr>
              <a:t>Utiliza el patrón Chain of Responsibility cuando tu programa deba procesar distintos tipos de solicitudes de varias maneras, pero los tipos exactos de solicitudes y sus secuencias no se conozcan de antemano.</a:t>
            </a:r>
          </a:p>
        </p:txBody>
      </p:sp>
      <p:sp>
        <p:nvSpPr>
          <p:cNvPr id="14" name="TextBox 14"/>
          <p:cNvSpPr txBox="1"/>
          <p:nvPr/>
        </p:nvSpPr>
        <p:spPr>
          <a:xfrm>
            <a:off x="10137818" y="8688767"/>
            <a:ext cx="6162303" cy="3422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Puedes controlar el orden de control de solicitudes.</a:t>
            </a:r>
          </a:p>
        </p:txBody>
      </p:sp>
      <p:sp>
        <p:nvSpPr>
          <p:cNvPr id="15" name="Freeform 15"/>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7"/>
            <a:stretch>
              <a:fillRect/>
            </a:stretch>
          </a:blipFill>
        </p:spPr>
        <p:txBody>
          <a:bodyPr/>
          <a:lstStyle/>
          <a:p>
            <a:endParaRPr lang="es-CO"/>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315746" y="1747476"/>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COMO IMPLEMENTARLO</a:t>
            </a:r>
          </a:p>
        </p:txBody>
      </p:sp>
      <p:sp>
        <p:nvSpPr>
          <p:cNvPr id="7" name="Freeform 7"/>
          <p:cNvSpPr/>
          <p:nvPr/>
        </p:nvSpPr>
        <p:spPr>
          <a:xfrm>
            <a:off x="6199934" y="2901342"/>
            <a:ext cx="5888133" cy="6356958"/>
          </a:xfrm>
          <a:custGeom>
            <a:avLst/>
            <a:gdLst/>
            <a:ahLst/>
            <a:cxnLst/>
            <a:rect l="l" t="t" r="r" b="b"/>
            <a:pathLst>
              <a:path w="5888133" h="6356958">
                <a:moveTo>
                  <a:pt x="0" y="0"/>
                </a:moveTo>
                <a:lnTo>
                  <a:pt x="5888132" y="0"/>
                </a:lnTo>
                <a:lnTo>
                  <a:pt x="5888132" y="6356958"/>
                </a:lnTo>
                <a:lnTo>
                  <a:pt x="0" y="6356958"/>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605175" y="3238528"/>
            <a:ext cx="5133600" cy="1009015"/>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La clase manejadora declara la interfaz comun a todos los manejadores concretos</a:t>
            </a:r>
          </a:p>
        </p:txBody>
      </p:sp>
      <p:sp>
        <p:nvSpPr>
          <p:cNvPr id="9" name="TextBox 9"/>
          <p:cNvSpPr txBox="1"/>
          <p:nvPr/>
        </p:nvSpPr>
        <p:spPr>
          <a:xfrm>
            <a:off x="740430" y="5123843"/>
            <a:ext cx="5133600" cy="2009140"/>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La clase manejadora base es opcional y es donde puedes colocar el codigo comun para todas las clases manejadoras, normalmente esta clase define un campo para almacenar una referencia al siguiente manejador</a:t>
            </a:r>
          </a:p>
        </p:txBody>
      </p:sp>
      <p:sp>
        <p:nvSpPr>
          <p:cNvPr id="10" name="TextBox 10"/>
          <p:cNvSpPr txBox="1"/>
          <p:nvPr/>
        </p:nvSpPr>
        <p:spPr>
          <a:xfrm>
            <a:off x="12654328" y="6287800"/>
            <a:ext cx="5133600" cy="3009265"/>
          </a:xfrm>
          <a:prstGeom prst="rect">
            <a:avLst/>
          </a:prstGeom>
        </p:spPr>
        <p:txBody>
          <a:bodyPr lIns="0" tIns="0" rIns="0" bIns="0" rtlCol="0" anchor="t">
            <a:spAutoFit/>
          </a:bodyPr>
          <a:lstStyle/>
          <a:p>
            <a:pPr marL="410209" lvl="1" indent="-205105" algn="ctr">
              <a:lnSpc>
                <a:spcPts val="2659"/>
              </a:lnSpc>
              <a:buAutoNum type="arabicPeriod"/>
            </a:pPr>
            <a:r>
              <a:rPr lang="en-US" sz="1899">
                <a:solidFill>
                  <a:srgbClr val="FFFFFF"/>
                </a:solidFill>
                <a:latin typeface="Poppins"/>
                <a:ea typeface="Poppins"/>
                <a:cs typeface="Poppins"/>
                <a:sym typeface="Poppins"/>
              </a:rPr>
              <a:t>Los manejadores concretos contienen el codigo para procesar las solicitudes. Al recibir una solicitud cada manejador debe decidir si procesarla y ademas si la pasa a lo largo de la cadena.</a:t>
            </a:r>
          </a:p>
          <a:p>
            <a:pPr algn="ctr">
              <a:lnSpc>
                <a:spcPts val="2659"/>
              </a:lnSpc>
            </a:pPr>
            <a:endParaRPr lang="en-US" sz="1899">
              <a:solidFill>
                <a:srgbClr val="FFFFFF"/>
              </a:solidFill>
              <a:latin typeface="Poppins"/>
              <a:ea typeface="Poppins"/>
              <a:cs typeface="Poppins"/>
              <a:sym typeface="Poppins"/>
            </a:endParaRPr>
          </a:p>
          <a:p>
            <a:pPr algn="ctr">
              <a:lnSpc>
                <a:spcPts val="2659"/>
              </a:lnSpc>
              <a:spcBef>
                <a:spcPct val="0"/>
              </a:spcBef>
            </a:pPr>
            <a:r>
              <a:rPr lang="en-US" sz="1899">
                <a:solidFill>
                  <a:srgbClr val="FFFFFF"/>
                </a:solidFill>
                <a:latin typeface="Poppins"/>
                <a:ea typeface="Poppins"/>
                <a:cs typeface="Poppins"/>
                <a:sym typeface="Poppins"/>
              </a:rPr>
              <a:t>LOS MANEJADORES SON AUTONOMOS E INMUTABLES</a:t>
            </a:r>
          </a:p>
        </p:txBody>
      </p:sp>
      <p:sp>
        <p:nvSpPr>
          <p:cNvPr id="11" name="TextBox 11"/>
          <p:cNvSpPr txBox="1"/>
          <p:nvPr/>
        </p:nvSpPr>
        <p:spPr>
          <a:xfrm>
            <a:off x="12545266" y="3030882"/>
            <a:ext cx="5133600" cy="1009015"/>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El cliente puede componer cadenas una sola vez o componerlas dinamicamente</a:t>
            </a:r>
          </a:p>
        </p:txBody>
      </p:sp>
      <p:sp>
        <p:nvSpPr>
          <p:cNvPr id="12" name="Freeform 12"/>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#8</a:t>
            </a:r>
          </a:p>
        </p:txBody>
      </p:sp>
      <p:sp>
        <p:nvSpPr>
          <p:cNvPr id="7" name="Freeform 7"/>
          <p:cNvSpPr/>
          <p:nvPr/>
        </p:nvSpPr>
        <p:spPr>
          <a:xfrm>
            <a:off x="2560138" y="2682961"/>
            <a:ext cx="2499260" cy="1596402"/>
          </a:xfrm>
          <a:custGeom>
            <a:avLst/>
            <a:gdLst/>
            <a:ahLst/>
            <a:cxnLst/>
            <a:rect l="l" t="t" r="r" b="b"/>
            <a:pathLst>
              <a:path w="2499260" h="1596402">
                <a:moveTo>
                  <a:pt x="0" y="0"/>
                </a:moveTo>
                <a:lnTo>
                  <a:pt x="2499260" y="0"/>
                </a:lnTo>
                <a:lnTo>
                  <a:pt x="2499260" y="1596402"/>
                </a:lnTo>
                <a:lnTo>
                  <a:pt x="0" y="1596402"/>
                </a:lnTo>
                <a:lnTo>
                  <a:pt x="0" y="0"/>
                </a:lnTo>
                <a:close/>
              </a:path>
            </a:pathLst>
          </a:custGeom>
          <a:blipFill>
            <a:blip r:embed="rId3"/>
            <a:stretch>
              <a:fillRect/>
            </a:stretch>
          </a:blipFill>
        </p:spPr>
        <p:txBody>
          <a:bodyPr/>
          <a:lstStyle/>
          <a:p>
            <a:endParaRPr lang="es-CO"/>
          </a:p>
        </p:txBody>
      </p:sp>
      <p:sp>
        <p:nvSpPr>
          <p:cNvPr id="8" name="Freeform 8"/>
          <p:cNvSpPr/>
          <p:nvPr/>
        </p:nvSpPr>
        <p:spPr>
          <a:xfrm>
            <a:off x="7728196" y="3834709"/>
            <a:ext cx="9834550" cy="5212312"/>
          </a:xfrm>
          <a:custGeom>
            <a:avLst/>
            <a:gdLst/>
            <a:ahLst/>
            <a:cxnLst/>
            <a:rect l="l" t="t" r="r" b="b"/>
            <a:pathLst>
              <a:path w="9834550" h="5212312">
                <a:moveTo>
                  <a:pt x="0" y="0"/>
                </a:moveTo>
                <a:lnTo>
                  <a:pt x="9834550" y="0"/>
                </a:lnTo>
                <a:lnTo>
                  <a:pt x="9834550" y="5212312"/>
                </a:lnTo>
                <a:lnTo>
                  <a:pt x="0" y="5212312"/>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183005" y="4763773"/>
            <a:ext cx="6369731" cy="4009390"/>
          </a:xfrm>
          <a:prstGeom prst="rect">
            <a:avLst/>
          </a:prstGeom>
        </p:spPr>
        <p:txBody>
          <a:bodyPr lIns="0" tIns="0" rIns="0" bIns="0" rtlCol="0" anchor="t">
            <a:spAutoFit/>
          </a:bodyPr>
          <a:lstStyle/>
          <a:p>
            <a:pPr algn="l">
              <a:lnSpc>
                <a:spcPts val="2659"/>
              </a:lnSpc>
              <a:spcBef>
                <a:spcPct val="0"/>
              </a:spcBef>
            </a:pPr>
            <a:r>
              <a:rPr lang="en-US" sz="1899">
                <a:solidFill>
                  <a:srgbClr val="FFFFFF"/>
                </a:solidFill>
                <a:latin typeface="Poppins"/>
                <a:ea typeface="Poppins"/>
                <a:cs typeface="Poppins"/>
                <a:sym typeface="Poppins"/>
              </a:rPr>
              <a:t>Una persona intenta ingresar a Estados Unidos.</a:t>
            </a:r>
          </a:p>
          <a:p>
            <a:pPr algn="l">
              <a:lnSpc>
                <a:spcPts val="2659"/>
              </a:lnSpc>
              <a:spcBef>
                <a:spcPct val="0"/>
              </a:spcBef>
            </a:pPr>
            <a:r>
              <a:rPr lang="en-US" sz="1899">
                <a:solidFill>
                  <a:srgbClr val="FFFFFF"/>
                </a:solidFill>
                <a:latin typeface="Poppins"/>
                <a:ea typeface="Poppins"/>
                <a:cs typeface="Poppins"/>
                <a:sym typeface="Poppins"/>
              </a:rPr>
              <a:t>Antes de permitir la entrada, debe pasar por una cadena de controles migratorios:</a:t>
            </a:r>
          </a:p>
          <a:p>
            <a:pPr marL="410209" lvl="1" indent="-205105" algn="l">
              <a:lnSpc>
                <a:spcPts val="2659"/>
              </a:lnSpc>
              <a:buFont typeface="Arial"/>
              <a:buChar char="•"/>
            </a:pPr>
            <a:r>
              <a:rPr lang="en-US" sz="1899">
                <a:solidFill>
                  <a:srgbClr val="FFFFFF"/>
                </a:solidFill>
                <a:latin typeface="Poppins"/>
                <a:ea typeface="Poppins"/>
                <a:cs typeface="Poppins"/>
                <a:sym typeface="Poppins"/>
              </a:rPr>
              <a:t>Revisión de pasaporte y visa</a:t>
            </a:r>
          </a:p>
          <a:p>
            <a:pPr marL="410209" lvl="1" indent="-205105" algn="l">
              <a:lnSpc>
                <a:spcPts val="2659"/>
              </a:lnSpc>
              <a:buFont typeface="Arial"/>
              <a:buChar char="•"/>
            </a:pPr>
            <a:r>
              <a:rPr lang="en-US" sz="1899">
                <a:solidFill>
                  <a:srgbClr val="FFFFFF"/>
                </a:solidFill>
                <a:latin typeface="Poppins"/>
                <a:ea typeface="Poppins"/>
                <a:cs typeface="Poppins"/>
                <a:sym typeface="Poppins"/>
              </a:rPr>
              <a:t>Control de antecedentes</a:t>
            </a:r>
          </a:p>
          <a:p>
            <a:pPr marL="410209" lvl="1" indent="-205105" algn="l">
              <a:lnSpc>
                <a:spcPts val="2659"/>
              </a:lnSpc>
              <a:buFont typeface="Arial"/>
              <a:buChar char="•"/>
            </a:pPr>
            <a:r>
              <a:rPr lang="en-US" sz="1899">
                <a:solidFill>
                  <a:srgbClr val="FFFFFF"/>
                </a:solidFill>
                <a:latin typeface="Poppins"/>
                <a:ea typeface="Poppins"/>
                <a:cs typeface="Poppins"/>
                <a:sym typeface="Poppins"/>
              </a:rPr>
              <a:t>Revisión de motivos del viaje</a:t>
            </a:r>
          </a:p>
          <a:p>
            <a:pPr marL="410209" lvl="1" indent="-205105" algn="l">
              <a:lnSpc>
                <a:spcPts val="2659"/>
              </a:lnSpc>
              <a:buFont typeface="Arial"/>
              <a:buChar char="•"/>
            </a:pPr>
            <a:r>
              <a:rPr lang="en-US" sz="1899">
                <a:solidFill>
                  <a:srgbClr val="FFFFFF"/>
                </a:solidFill>
                <a:latin typeface="Poppins"/>
                <a:ea typeface="Poppins"/>
                <a:cs typeface="Poppins"/>
                <a:sym typeface="Poppins"/>
              </a:rPr>
              <a:t>Aprobación final por migración</a:t>
            </a:r>
          </a:p>
          <a:p>
            <a:pPr algn="l">
              <a:lnSpc>
                <a:spcPts val="2659"/>
              </a:lnSpc>
              <a:spcBef>
                <a:spcPct val="0"/>
              </a:spcBef>
            </a:pPr>
            <a:r>
              <a:rPr lang="en-US" sz="1899">
                <a:solidFill>
                  <a:srgbClr val="FFFFFF"/>
                </a:solidFill>
                <a:latin typeface="Poppins"/>
                <a:ea typeface="Poppins"/>
                <a:cs typeface="Poppins"/>
                <a:sym typeface="Poppins"/>
              </a:rPr>
              <a:t>Cada control:</a:t>
            </a:r>
          </a:p>
          <a:p>
            <a:pPr marL="410209" lvl="1" indent="-205105" algn="l">
              <a:lnSpc>
                <a:spcPts val="2659"/>
              </a:lnSpc>
              <a:buFont typeface="Arial"/>
              <a:buChar char="•"/>
            </a:pPr>
            <a:r>
              <a:rPr lang="en-US" sz="1899">
                <a:solidFill>
                  <a:srgbClr val="FFFFFF"/>
                </a:solidFill>
                <a:latin typeface="Poppins"/>
                <a:ea typeface="Poppins"/>
                <a:cs typeface="Poppins"/>
                <a:sym typeface="Poppins"/>
              </a:rPr>
              <a:t>Puede aprobar y pasar al siguiente</a:t>
            </a:r>
          </a:p>
          <a:p>
            <a:pPr marL="410209" lvl="1" indent="-205105" algn="l">
              <a:lnSpc>
                <a:spcPts val="2659"/>
              </a:lnSpc>
              <a:buFont typeface="Arial"/>
              <a:buChar char="•"/>
            </a:pPr>
            <a:r>
              <a:rPr lang="en-US" sz="1899">
                <a:solidFill>
                  <a:srgbClr val="FFFFFF"/>
                </a:solidFill>
                <a:latin typeface="Poppins"/>
                <a:ea typeface="Poppins"/>
                <a:cs typeface="Poppins"/>
                <a:sym typeface="Poppins"/>
              </a:rPr>
              <a:t>O rechazar el ingreso y detener el proceso</a:t>
            </a:r>
          </a:p>
          <a:p>
            <a:pPr marL="410209" lvl="1" indent="-205105" algn="l">
              <a:lnSpc>
                <a:spcPts val="2659"/>
              </a:lnSpc>
              <a:buFont typeface="Arial"/>
              <a:buChar char="•"/>
            </a:pPr>
            <a:r>
              <a:rPr lang="en-US" sz="1899">
                <a:solidFill>
                  <a:srgbClr val="FFFFFF"/>
                </a:solidFill>
                <a:latin typeface="Poppins"/>
                <a:ea typeface="Poppins"/>
                <a:cs typeface="Poppins"/>
                <a:sym typeface="Poppins"/>
              </a:rPr>
              <a:t>La persona no conoce qué control la rechaza ni cuántos controles existen.</a:t>
            </a:r>
          </a:p>
        </p:txBody>
      </p:sp>
      <p:sp>
        <p:nvSpPr>
          <p:cNvPr id="10" name="Freeform 10"/>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#8</a:t>
            </a:r>
          </a:p>
        </p:txBody>
      </p:sp>
      <p:sp>
        <p:nvSpPr>
          <p:cNvPr id="7" name="Freeform 7"/>
          <p:cNvSpPr/>
          <p:nvPr/>
        </p:nvSpPr>
        <p:spPr>
          <a:xfrm>
            <a:off x="2424554" y="4216490"/>
            <a:ext cx="4592367" cy="5218598"/>
          </a:xfrm>
          <a:custGeom>
            <a:avLst/>
            <a:gdLst/>
            <a:ahLst/>
            <a:cxnLst/>
            <a:rect l="l" t="t" r="r" b="b"/>
            <a:pathLst>
              <a:path w="4592367" h="5218598">
                <a:moveTo>
                  <a:pt x="0" y="0"/>
                </a:moveTo>
                <a:lnTo>
                  <a:pt x="4592366" y="0"/>
                </a:lnTo>
                <a:lnTo>
                  <a:pt x="4592366" y="5218598"/>
                </a:lnTo>
                <a:lnTo>
                  <a:pt x="0" y="5218598"/>
                </a:lnTo>
                <a:lnTo>
                  <a:pt x="0" y="0"/>
                </a:lnTo>
                <a:close/>
              </a:path>
            </a:pathLst>
          </a:custGeom>
          <a:blipFill>
            <a:blip r:embed="rId3"/>
            <a:stretch>
              <a:fillRect/>
            </a:stretch>
          </a:blipFill>
        </p:spPr>
        <p:txBody>
          <a:bodyPr/>
          <a:lstStyle/>
          <a:p>
            <a:endParaRPr lang="es-CO"/>
          </a:p>
        </p:txBody>
      </p:sp>
      <p:sp>
        <p:nvSpPr>
          <p:cNvPr id="8" name="Freeform 8"/>
          <p:cNvSpPr/>
          <p:nvPr/>
        </p:nvSpPr>
        <p:spPr>
          <a:xfrm>
            <a:off x="9253367" y="3901971"/>
            <a:ext cx="6483015" cy="5847636"/>
          </a:xfrm>
          <a:custGeom>
            <a:avLst/>
            <a:gdLst/>
            <a:ahLst/>
            <a:cxnLst/>
            <a:rect l="l" t="t" r="r" b="b"/>
            <a:pathLst>
              <a:path w="6483015" h="5847636">
                <a:moveTo>
                  <a:pt x="0" y="0"/>
                </a:moveTo>
                <a:lnTo>
                  <a:pt x="6483015" y="0"/>
                </a:lnTo>
                <a:lnTo>
                  <a:pt x="6483015" y="5847636"/>
                </a:lnTo>
                <a:lnTo>
                  <a:pt x="0" y="5847636"/>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083578" y="3121522"/>
            <a:ext cx="16613442" cy="466483"/>
          </a:xfrm>
          <a:prstGeom prst="rect">
            <a:avLst/>
          </a:prstGeom>
        </p:spPr>
        <p:txBody>
          <a:bodyPr lIns="0" tIns="0" rIns="0" bIns="0" rtlCol="0" anchor="t">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
        <p:nvSpPr>
          <p:cNvPr id="10" name="Freeform 10"/>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8700" y="1960674"/>
            <a:ext cx="16651383" cy="603570"/>
          </a:xfrm>
          <a:prstGeom prst="rect">
            <a:avLst/>
          </a:prstGeom>
        </p:spPr>
        <p:txBody>
          <a:bodyPr lIns="0" tIns="0" rIns="0" bIns="0" rtlCol="0" anchor="t">
            <a:spAutoFit/>
          </a:bodyPr>
          <a:lstStyle/>
          <a:p>
            <a:pPr algn="ctr">
              <a:lnSpc>
                <a:spcPts val="4937"/>
              </a:lnSpc>
              <a:spcBef>
                <a:spcPct val="0"/>
              </a:spcBef>
            </a:pPr>
            <a:r>
              <a:rPr lang="en-US" sz="3526">
                <a:solidFill>
                  <a:srgbClr val="F800C0"/>
                </a:solidFill>
                <a:latin typeface="HK Modular"/>
                <a:ea typeface="HK Modular"/>
                <a:cs typeface="HK Modular"/>
                <a:sym typeface="HK Modular"/>
              </a:rPr>
              <a:t>COMPORTAMIENTO - COMMAND</a:t>
            </a:r>
          </a:p>
        </p:txBody>
      </p:sp>
      <p:pic>
        <p:nvPicPr>
          <p:cNvPr id="7" name="Picture 7"/>
          <p:cNvPicPr>
            <a:picLocks noChangeAspect="1"/>
          </p:cNvPicPr>
          <p:nvPr/>
        </p:nvPicPr>
        <p:blipFill>
          <a:blip r:embed="rId3"/>
          <a:stretch>
            <a:fillRect/>
          </a:stretch>
        </p:blipFill>
        <p:spPr>
          <a:xfrm>
            <a:off x="8332988" y="4331953"/>
            <a:ext cx="884789" cy="885324"/>
          </a:xfrm>
          <a:prstGeom prst="rect">
            <a:avLst/>
          </a:prstGeom>
        </p:spPr>
      </p:pic>
      <p:pic>
        <p:nvPicPr>
          <p:cNvPr id="8" name="Picture 8"/>
          <p:cNvPicPr>
            <a:picLocks noChangeAspect="1"/>
          </p:cNvPicPr>
          <p:nvPr/>
        </p:nvPicPr>
        <p:blipFill>
          <a:blip r:embed="rId4"/>
          <a:stretch>
            <a:fillRect/>
          </a:stretch>
        </p:blipFill>
        <p:spPr>
          <a:xfrm>
            <a:off x="8332988" y="6693414"/>
            <a:ext cx="884789" cy="885324"/>
          </a:xfrm>
          <a:prstGeom prst="rect">
            <a:avLst/>
          </a:prstGeom>
        </p:spPr>
      </p:pic>
      <p:pic>
        <p:nvPicPr>
          <p:cNvPr id="9" name="Picture 9"/>
          <p:cNvPicPr>
            <a:picLocks noChangeAspect="1"/>
          </p:cNvPicPr>
          <p:nvPr/>
        </p:nvPicPr>
        <p:blipFill>
          <a:blip r:embed="rId5"/>
          <a:stretch>
            <a:fillRect/>
          </a:stretch>
        </p:blipFill>
        <p:spPr>
          <a:xfrm>
            <a:off x="8332988" y="8445812"/>
            <a:ext cx="884789" cy="885324"/>
          </a:xfrm>
          <a:prstGeom prst="rect">
            <a:avLst/>
          </a:prstGeom>
        </p:spPr>
      </p:pic>
      <p:sp>
        <p:nvSpPr>
          <p:cNvPr id="10" name="Freeform 10"/>
          <p:cNvSpPr/>
          <p:nvPr/>
        </p:nvSpPr>
        <p:spPr>
          <a:xfrm>
            <a:off x="570371" y="4405730"/>
            <a:ext cx="7402530" cy="5079986"/>
          </a:xfrm>
          <a:custGeom>
            <a:avLst/>
            <a:gdLst/>
            <a:ahLst/>
            <a:cxnLst/>
            <a:rect l="l" t="t" r="r" b="b"/>
            <a:pathLst>
              <a:path w="7402530" h="5079986">
                <a:moveTo>
                  <a:pt x="0" y="0"/>
                </a:moveTo>
                <a:lnTo>
                  <a:pt x="7402530" y="0"/>
                </a:lnTo>
                <a:lnTo>
                  <a:pt x="7402530" y="5079986"/>
                </a:lnTo>
                <a:lnTo>
                  <a:pt x="0" y="5079986"/>
                </a:lnTo>
                <a:lnTo>
                  <a:pt x="0" y="0"/>
                </a:lnTo>
                <a:close/>
              </a:path>
            </a:pathLst>
          </a:custGeom>
          <a:blipFill>
            <a:blip r:embed="rId6"/>
            <a:stretch>
              <a:fillRect/>
            </a:stretch>
          </a:blipFill>
        </p:spPr>
        <p:txBody>
          <a:bodyPr/>
          <a:lstStyle/>
          <a:p>
            <a:endParaRPr lang="es-CO"/>
          </a:p>
        </p:txBody>
      </p:sp>
      <p:sp>
        <p:nvSpPr>
          <p:cNvPr id="11" name="TextBox 11"/>
          <p:cNvSpPr txBox="1"/>
          <p:nvPr/>
        </p:nvSpPr>
        <p:spPr>
          <a:xfrm>
            <a:off x="906611" y="2916024"/>
            <a:ext cx="16474777" cy="934671"/>
          </a:xfrm>
          <a:prstGeom prst="rect">
            <a:avLst/>
          </a:prstGeom>
        </p:spPr>
        <p:txBody>
          <a:bodyPr lIns="0" tIns="0" rIns="0" bIns="0" rtlCol="0" anchor="t">
            <a:spAutoFit/>
          </a:bodyPr>
          <a:lstStyle/>
          <a:p>
            <a:pPr algn="ctr">
              <a:lnSpc>
                <a:spcPts val="2478"/>
              </a:lnSpc>
              <a:spcBef>
                <a:spcPct val="0"/>
              </a:spcBef>
            </a:pPr>
            <a:r>
              <a:rPr lang="en-US" sz="1770">
                <a:solidFill>
                  <a:srgbClr val="FFFFFF"/>
                </a:solidFill>
                <a:latin typeface="Poppins"/>
                <a:ea typeface="Poppins"/>
                <a:cs typeface="Poppins"/>
                <a:sym typeface="Poppins"/>
              </a:rPr>
              <a:t>Es un patrón de diseño de comportamiento que convierte una solicitud en un objeto independiente que contiene toda la información sobre la solicitud. Esta transformación te permite parametrizar los métodos con diferentes solicitudes, retrasar o poner en cola la ejecución de una solicitud y soportar operaciones que no se pueden realizar.</a:t>
            </a:r>
          </a:p>
        </p:txBody>
      </p:sp>
      <p:sp>
        <p:nvSpPr>
          <p:cNvPr id="12" name="TextBox 12"/>
          <p:cNvSpPr txBox="1"/>
          <p:nvPr/>
        </p:nvSpPr>
        <p:spPr>
          <a:xfrm>
            <a:off x="9442694" y="4348580"/>
            <a:ext cx="8237389" cy="16757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El patrón Command puede convertir una llamada a un método específico en un objeto autónomo. Este cambio abre la puerta a muchos usos interesantes: puedes pasar comandos como argumentos de método, almacenarlos dentro de otros objetos, cambiar comandos vinculados durante el tiempo de ejecución, etc.</a:t>
            </a:r>
          </a:p>
        </p:txBody>
      </p:sp>
      <p:sp>
        <p:nvSpPr>
          <p:cNvPr id="13" name="TextBox 13"/>
          <p:cNvSpPr txBox="1"/>
          <p:nvPr/>
        </p:nvSpPr>
        <p:spPr>
          <a:xfrm>
            <a:off x="9582150" y="6888573"/>
            <a:ext cx="7992067"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Utiliza el patrón Command cuando quieras poner operaciones en cola, programar su ejecución, o ejecutarlas de forma remota.</a:t>
            </a:r>
          </a:p>
        </p:txBody>
      </p:sp>
      <p:sp>
        <p:nvSpPr>
          <p:cNvPr id="14" name="TextBox 14"/>
          <p:cNvSpPr txBox="1"/>
          <p:nvPr/>
        </p:nvSpPr>
        <p:spPr>
          <a:xfrm>
            <a:off x="9582150" y="8582660"/>
            <a:ext cx="7992067"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Utiliza el patrón Command cuando quieras implementar operaciones reversibles.</a:t>
            </a:r>
          </a:p>
        </p:txBody>
      </p:sp>
      <p:sp>
        <p:nvSpPr>
          <p:cNvPr id="15" name="Freeform 15"/>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7"/>
            <a:stretch>
              <a:fillRect/>
            </a:stretch>
          </a:blipFill>
        </p:spPr>
        <p:txBody>
          <a:bodyPr/>
          <a:lstStyle/>
          <a:p>
            <a:endParaRPr lang="es-CO"/>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315746" y="1747476"/>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COMO IMPLEMENTARLO</a:t>
            </a:r>
          </a:p>
        </p:txBody>
      </p:sp>
      <p:sp>
        <p:nvSpPr>
          <p:cNvPr id="7" name="Freeform 7"/>
          <p:cNvSpPr/>
          <p:nvPr/>
        </p:nvSpPr>
        <p:spPr>
          <a:xfrm>
            <a:off x="5426875" y="4123959"/>
            <a:ext cx="7652984" cy="4496128"/>
          </a:xfrm>
          <a:custGeom>
            <a:avLst/>
            <a:gdLst/>
            <a:ahLst/>
            <a:cxnLst/>
            <a:rect l="l" t="t" r="r" b="b"/>
            <a:pathLst>
              <a:path w="7652984" h="4496128">
                <a:moveTo>
                  <a:pt x="0" y="0"/>
                </a:moveTo>
                <a:lnTo>
                  <a:pt x="7652984" y="0"/>
                </a:lnTo>
                <a:lnTo>
                  <a:pt x="7652984" y="4496129"/>
                </a:lnTo>
                <a:lnTo>
                  <a:pt x="0" y="4496129"/>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1107115" y="2889583"/>
            <a:ext cx="7615585" cy="1169272"/>
          </a:xfrm>
          <a:prstGeom prst="rect">
            <a:avLst/>
          </a:prstGeom>
        </p:spPr>
        <p:txBody>
          <a:bodyPr lIns="0" tIns="0" rIns="0" bIns="0" rtlCol="0" anchor="t">
            <a:spAutoFit/>
          </a:bodyPr>
          <a:lstStyle/>
          <a:p>
            <a:pPr marL="357995" lvl="1" indent="-178998" algn="ctr">
              <a:lnSpc>
                <a:spcPts val="2321"/>
              </a:lnSpc>
              <a:spcBef>
                <a:spcPct val="0"/>
              </a:spcBef>
              <a:buAutoNum type="arabicPeriod"/>
            </a:pPr>
            <a:r>
              <a:rPr lang="en-US" sz="1658">
                <a:solidFill>
                  <a:srgbClr val="FFFFFF"/>
                </a:solidFill>
                <a:latin typeface="Poppins"/>
                <a:ea typeface="Poppins"/>
                <a:cs typeface="Poppins"/>
                <a:sym typeface="Poppins"/>
              </a:rPr>
              <a:t>La clase Emisora es responsable de inicializar las solicitudes. Esta clase debe tener un campo para almacenar una referencia a un objeto de comando. El emisor activa este comando en lugar de enviar la solicitud directamente al receptor</a:t>
            </a:r>
          </a:p>
        </p:txBody>
      </p:sp>
      <p:sp>
        <p:nvSpPr>
          <p:cNvPr id="9" name="TextBox 9"/>
          <p:cNvSpPr txBox="1"/>
          <p:nvPr/>
        </p:nvSpPr>
        <p:spPr>
          <a:xfrm>
            <a:off x="11602238" y="3516193"/>
            <a:ext cx="6174073" cy="607766"/>
          </a:xfrm>
          <a:prstGeom prst="rect">
            <a:avLst/>
          </a:prstGeom>
        </p:spPr>
        <p:txBody>
          <a:bodyPr lIns="0" tIns="0" rIns="0" bIns="0" rtlCol="0" anchor="t">
            <a:spAutoFit/>
          </a:bodyPr>
          <a:lstStyle/>
          <a:p>
            <a:pPr marL="371510" lvl="1" indent="-185755" algn="ctr">
              <a:lnSpc>
                <a:spcPts val="2409"/>
              </a:lnSpc>
              <a:spcBef>
                <a:spcPct val="0"/>
              </a:spcBef>
              <a:buAutoNum type="arabicPeriod"/>
            </a:pPr>
            <a:r>
              <a:rPr lang="en-US" sz="1720">
                <a:solidFill>
                  <a:srgbClr val="FFFFFF"/>
                </a:solidFill>
                <a:latin typeface="Poppins"/>
                <a:ea typeface="Poppins"/>
                <a:cs typeface="Poppins"/>
                <a:sym typeface="Poppins"/>
              </a:rPr>
              <a:t>La interfaz comando normalmente declara un unico metodo para ejecutar el comando</a:t>
            </a:r>
          </a:p>
        </p:txBody>
      </p:sp>
      <p:sp>
        <p:nvSpPr>
          <p:cNvPr id="10" name="TextBox 10"/>
          <p:cNvSpPr txBox="1"/>
          <p:nvPr/>
        </p:nvSpPr>
        <p:spPr>
          <a:xfrm>
            <a:off x="13606302" y="4815804"/>
            <a:ext cx="4356699" cy="1513539"/>
          </a:xfrm>
          <a:prstGeom prst="rect">
            <a:avLst/>
          </a:prstGeom>
        </p:spPr>
        <p:txBody>
          <a:bodyPr lIns="0" tIns="0" rIns="0" bIns="0" rtlCol="0" anchor="t">
            <a:spAutoFit/>
          </a:bodyPr>
          <a:lstStyle/>
          <a:p>
            <a:pPr marL="371510" lvl="1" indent="-185755" algn="ctr">
              <a:lnSpc>
                <a:spcPts val="2409"/>
              </a:lnSpc>
              <a:spcBef>
                <a:spcPct val="0"/>
              </a:spcBef>
              <a:buAutoNum type="arabicPeriod"/>
            </a:pPr>
            <a:r>
              <a:rPr lang="en-US" sz="1720">
                <a:solidFill>
                  <a:srgbClr val="FFFFFF"/>
                </a:solidFill>
                <a:latin typeface="Poppins"/>
                <a:ea typeface="Poppins"/>
                <a:cs typeface="Poppins"/>
                <a:sym typeface="Poppins"/>
              </a:rPr>
              <a:t>Los comandos concretos implementan varios tipos de solicitudes, un comando concreto no se supone que tenga que realizar el trabajo por su cuenta </a:t>
            </a:r>
          </a:p>
        </p:txBody>
      </p:sp>
      <p:sp>
        <p:nvSpPr>
          <p:cNvPr id="11" name="TextBox 11"/>
          <p:cNvSpPr txBox="1"/>
          <p:nvPr/>
        </p:nvSpPr>
        <p:spPr>
          <a:xfrm>
            <a:off x="10501144" y="8200287"/>
            <a:ext cx="6877020" cy="1513539"/>
          </a:xfrm>
          <a:prstGeom prst="rect">
            <a:avLst/>
          </a:prstGeom>
        </p:spPr>
        <p:txBody>
          <a:bodyPr lIns="0" tIns="0" rIns="0" bIns="0" rtlCol="0" anchor="t">
            <a:spAutoFit/>
          </a:bodyPr>
          <a:lstStyle/>
          <a:p>
            <a:pPr marL="371510" lvl="1" indent="-185755" algn="ctr">
              <a:lnSpc>
                <a:spcPts val="2409"/>
              </a:lnSpc>
              <a:spcBef>
                <a:spcPct val="0"/>
              </a:spcBef>
              <a:buAutoNum type="arabicPeriod"/>
            </a:pPr>
            <a:r>
              <a:rPr lang="en-US" sz="1720">
                <a:solidFill>
                  <a:srgbClr val="FFFFFF"/>
                </a:solidFill>
                <a:latin typeface="Poppins"/>
                <a:ea typeface="Poppins"/>
                <a:cs typeface="Poppins"/>
                <a:sym typeface="Poppins"/>
              </a:rPr>
              <a:t>La clase Receptora contiene cierta lógica de negocio. Casi cualquier objeto puede actuar como receptor. La mayoría de los comandos solo gestiona los detalles sobre cómo se pasa una solicitud al receptor, mientras que el propio receptor hace el trabajo real.</a:t>
            </a:r>
          </a:p>
        </p:txBody>
      </p:sp>
      <p:sp>
        <p:nvSpPr>
          <p:cNvPr id="12" name="TextBox 12"/>
          <p:cNvSpPr txBox="1"/>
          <p:nvPr/>
        </p:nvSpPr>
        <p:spPr>
          <a:xfrm>
            <a:off x="726565" y="5397799"/>
            <a:ext cx="5471126" cy="1513539"/>
          </a:xfrm>
          <a:prstGeom prst="rect">
            <a:avLst/>
          </a:prstGeom>
        </p:spPr>
        <p:txBody>
          <a:bodyPr lIns="0" tIns="0" rIns="0" bIns="0" rtlCol="0" anchor="t">
            <a:spAutoFit/>
          </a:bodyPr>
          <a:lstStyle/>
          <a:p>
            <a:pPr marL="371510" lvl="1" indent="-185755" algn="ctr">
              <a:lnSpc>
                <a:spcPts val="2409"/>
              </a:lnSpc>
              <a:spcBef>
                <a:spcPct val="0"/>
              </a:spcBef>
              <a:buAutoNum type="arabicPeriod"/>
            </a:pPr>
            <a:r>
              <a:rPr lang="en-US" sz="1720">
                <a:solidFill>
                  <a:srgbClr val="FFFFFF"/>
                </a:solidFill>
                <a:latin typeface="Poppins"/>
                <a:ea typeface="Poppins"/>
                <a:cs typeface="Poppins"/>
                <a:sym typeface="Poppins"/>
              </a:rPr>
              <a:t>El cliente crea y configura los objetos de comando concretos. El cliente debe pasar todos los parametros de la solicitud, incluyendo una instancia del receptor, dentro del constructor del comando</a:t>
            </a:r>
          </a:p>
        </p:txBody>
      </p:sp>
      <p:sp>
        <p:nvSpPr>
          <p:cNvPr id="13" name="Freeform 13"/>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#9</a:t>
            </a:r>
          </a:p>
        </p:txBody>
      </p:sp>
      <p:sp>
        <p:nvSpPr>
          <p:cNvPr id="7" name="Freeform 7"/>
          <p:cNvSpPr/>
          <p:nvPr/>
        </p:nvSpPr>
        <p:spPr>
          <a:xfrm>
            <a:off x="2585606" y="2408615"/>
            <a:ext cx="2733466" cy="2330280"/>
          </a:xfrm>
          <a:custGeom>
            <a:avLst/>
            <a:gdLst/>
            <a:ahLst/>
            <a:cxnLst/>
            <a:rect l="l" t="t" r="r" b="b"/>
            <a:pathLst>
              <a:path w="2733466" h="2330280">
                <a:moveTo>
                  <a:pt x="0" y="0"/>
                </a:moveTo>
                <a:lnTo>
                  <a:pt x="2733466" y="0"/>
                </a:lnTo>
                <a:lnTo>
                  <a:pt x="2733466" y="2330280"/>
                </a:lnTo>
                <a:lnTo>
                  <a:pt x="0" y="2330280"/>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1474471" y="5114925"/>
            <a:ext cx="5669548" cy="3606378"/>
          </a:xfrm>
          <a:prstGeom prst="rect">
            <a:avLst/>
          </a:prstGeom>
        </p:spPr>
        <p:txBody>
          <a:bodyPr lIns="0" tIns="0" rIns="0" bIns="0" rtlCol="0" anchor="t">
            <a:spAutoFit/>
          </a:bodyPr>
          <a:lstStyle/>
          <a:p>
            <a:pPr algn="l">
              <a:lnSpc>
                <a:spcPts val="2896"/>
              </a:lnSpc>
            </a:pPr>
            <a:r>
              <a:rPr lang="en-US" sz="2069">
                <a:solidFill>
                  <a:srgbClr val="FFFFFF"/>
                </a:solidFill>
                <a:latin typeface="Canva Sans"/>
                <a:ea typeface="Canva Sans"/>
                <a:cs typeface="Canva Sans"/>
                <a:sym typeface="Canva Sans"/>
              </a:rPr>
              <a:t>Un personaje de videojuego puede ejecutar diferentes acciones mediante comandos:</a:t>
            </a:r>
          </a:p>
          <a:p>
            <a:pPr marL="446706" lvl="1" indent="-223353" algn="l">
              <a:lnSpc>
                <a:spcPts val="2896"/>
              </a:lnSpc>
              <a:buFont typeface="Arial"/>
              <a:buChar char="•"/>
            </a:pPr>
            <a:r>
              <a:rPr lang="en-US" sz="2069">
                <a:solidFill>
                  <a:srgbClr val="FFFFFF"/>
                </a:solidFill>
                <a:latin typeface="Canva Sans"/>
                <a:ea typeface="Canva Sans"/>
                <a:cs typeface="Canva Sans"/>
                <a:sym typeface="Canva Sans"/>
              </a:rPr>
              <a:t>Caminar</a:t>
            </a:r>
          </a:p>
          <a:p>
            <a:pPr marL="446706" lvl="1" indent="-223353" algn="l">
              <a:lnSpc>
                <a:spcPts val="2896"/>
              </a:lnSpc>
              <a:buFont typeface="Arial"/>
              <a:buChar char="•"/>
            </a:pPr>
            <a:r>
              <a:rPr lang="en-US" sz="2069">
                <a:solidFill>
                  <a:srgbClr val="FFFFFF"/>
                </a:solidFill>
                <a:latin typeface="Canva Sans"/>
                <a:ea typeface="Canva Sans"/>
                <a:cs typeface="Canva Sans"/>
                <a:sym typeface="Canva Sans"/>
              </a:rPr>
              <a:t>Saltar</a:t>
            </a:r>
          </a:p>
          <a:p>
            <a:pPr marL="446706" lvl="1" indent="-223353" algn="l">
              <a:lnSpc>
                <a:spcPts val="2896"/>
              </a:lnSpc>
              <a:buFont typeface="Arial"/>
              <a:buChar char="•"/>
            </a:pPr>
            <a:r>
              <a:rPr lang="en-US" sz="2069">
                <a:solidFill>
                  <a:srgbClr val="FFFFFF"/>
                </a:solidFill>
                <a:latin typeface="Canva Sans"/>
                <a:ea typeface="Canva Sans"/>
                <a:cs typeface="Canva Sans"/>
                <a:sym typeface="Canva Sans"/>
              </a:rPr>
              <a:t>Atacar</a:t>
            </a:r>
          </a:p>
          <a:p>
            <a:pPr marL="446706" lvl="1" indent="-223353" algn="l">
              <a:lnSpc>
                <a:spcPts val="2896"/>
              </a:lnSpc>
              <a:buFont typeface="Arial"/>
              <a:buChar char="•"/>
            </a:pPr>
            <a:r>
              <a:rPr lang="en-US" sz="2069">
                <a:solidFill>
                  <a:srgbClr val="FFFFFF"/>
                </a:solidFill>
                <a:latin typeface="Canva Sans"/>
                <a:ea typeface="Canva Sans"/>
                <a:cs typeface="Canva Sans"/>
                <a:sym typeface="Canva Sans"/>
              </a:rPr>
              <a:t>Defenderse</a:t>
            </a:r>
          </a:p>
          <a:p>
            <a:pPr algn="l">
              <a:lnSpc>
                <a:spcPts val="2896"/>
              </a:lnSpc>
            </a:pPr>
            <a:r>
              <a:rPr lang="en-US" sz="2069">
                <a:solidFill>
                  <a:srgbClr val="FFFFFF"/>
                </a:solidFill>
                <a:latin typeface="Canva Sans"/>
                <a:ea typeface="Canva Sans"/>
                <a:cs typeface="Canva Sans"/>
                <a:sym typeface="Canva Sans"/>
              </a:rPr>
              <a:t>Cada acción se encapsula como un comando, de modo que el control del juego pueda ejecutar cualquier acción sin conocer su implementación interna.</a:t>
            </a:r>
          </a:p>
        </p:txBody>
      </p:sp>
      <p:sp>
        <p:nvSpPr>
          <p:cNvPr id="9" name="Freeform 9"/>
          <p:cNvSpPr/>
          <p:nvPr/>
        </p:nvSpPr>
        <p:spPr>
          <a:xfrm>
            <a:off x="7968986" y="3338108"/>
            <a:ext cx="9290314" cy="5736769"/>
          </a:xfrm>
          <a:custGeom>
            <a:avLst/>
            <a:gdLst/>
            <a:ahLst/>
            <a:cxnLst/>
            <a:rect l="l" t="t" r="r" b="b"/>
            <a:pathLst>
              <a:path w="9290314" h="5736769">
                <a:moveTo>
                  <a:pt x="0" y="0"/>
                </a:moveTo>
                <a:lnTo>
                  <a:pt x="9290314" y="0"/>
                </a:lnTo>
                <a:lnTo>
                  <a:pt x="9290314" y="5736769"/>
                </a:lnTo>
                <a:lnTo>
                  <a:pt x="0" y="5736769"/>
                </a:lnTo>
                <a:lnTo>
                  <a:pt x="0" y="0"/>
                </a:lnTo>
                <a:close/>
              </a:path>
            </a:pathLst>
          </a:custGeom>
          <a:blipFill>
            <a:blip r:embed="rId4"/>
            <a:stretch>
              <a:fillRect/>
            </a:stretch>
          </a:blipFill>
        </p:spPr>
        <p:txBody>
          <a:bodyPr/>
          <a:lstStyle/>
          <a:p>
            <a:endParaRPr lang="es-CO"/>
          </a:p>
        </p:txBody>
      </p:sp>
      <p:sp>
        <p:nvSpPr>
          <p:cNvPr id="10" name="Freeform 10"/>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#9</a:t>
            </a:r>
          </a:p>
        </p:txBody>
      </p:sp>
      <p:sp>
        <p:nvSpPr>
          <p:cNvPr id="7" name="Freeform 7"/>
          <p:cNvSpPr/>
          <p:nvPr/>
        </p:nvSpPr>
        <p:spPr>
          <a:xfrm>
            <a:off x="2481652" y="4199345"/>
            <a:ext cx="4592367" cy="5218598"/>
          </a:xfrm>
          <a:custGeom>
            <a:avLst/>
            <a:gdLst/>
            <a:ahLst/>
            <a:cxnLst/>
            <a:rect l="l" t="t" r="r" b="b"/>
            <a:pathLst>
              <a:path w="4592367" h="5218598">
                <a:moveTo>
                  <a:pt x="0" y="0"/>
                </a:moveTo>
                <a:lnTo>
                  <a:pt x="4592367" y="0"/>
                </a:lnTo>
                <a:lnTo>
                  <a:pt x="4592367" y="5218598"/>
                </a:lnTo>
                <a:lnTo>
                  <a:pt x="0" y="5218598"/>
                </a:lnTo>
                <a:lnTo>
                  <a:pt x="0" y="0"/>
                </a:lnTo>
                <a:close/>
              </a:path>
            </a:pathLst>
          </a:custGeom>
          <a:blipFill>
            <a:blip r:embed="rId3"/>
            <a:stretch>
              <a:fillRect/>
            </a:stretch>
          </a:blipFill>
        </p:spPr>
        <p:txBody>
          <a:bodyPr/>
          <a:lstStyle/>
          <a:p>
            <a:endParaRPr lang="es-CO"/>
          </a:p>
        </p:txBody>
      </p:sp>
      <p:sp>
        <p:nvSpPr>
          <p:cNvPr id="8" name="Freeform 8"/>
          <p:cNvSpPr/>
          <p:nvPr/>
        </p:nvSpPr>
        <p:spPr>
          <a:xfrm>
            <a:off x="8954501" y="3999407"/>
            <a:ext cx="6516922" cy="5618473"/>
          </a:xfrm>
          <a:custGeom>
            <a:avLst/>
            <a:gdLst/>
            <a:ahLst/>
            <a:cxnLst/>
            <a:rect l="l" t="t" r="r" b="b"/>
            <a:pathLst>
              <a:path w="6516922" h="5618473">
                <a:moveTo>
                  <a:pt x="0" y="0"/>
                </a:moveTo>
                <a:lnTo>
                  <a:pt x="6516923" y="0"/>
                </a:lnTo>
                <a:lnTo>
                  <a:pt x="6516923" y="5618473"/>
                </a:lnTo>
                <a:lnTo>
                  <a:pt x="0" y="5618473"/>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083578" y="3121522"/>
            <a:ext cx="16613442" cy="466483"/>
          </a:xfrm>
          <a:prstGeom prst="rect">
            <a:avLst/>
          </a:prstGeom>
        </p:spPr>
        <p:txBody>
          <a:bodyPr lIns="0" tIns="0" rIns="0" bIns="0" rtlCol="0" anchor="t">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8700" y="1960674"/>
            <a:ext cx="16651383" cy="603570"/>
          </a:xfrm>
          <a:prstGeom prst="rect">
            <a:avLst/>
          </a:prstGeom>
        </p:spPr>
        <p:txBody>
          <a:bodyPr lIns="0" tIns="0" rIns="0" bIns="0" rtlCol="0" anchor="t">
            <a:spAutoFit/>
          </a:bodyPr>
          <a:lstStyle/>
          <a:p>
            <a:pPr algn="ctr">
              <a:lnSpc>
                <a:spcPts val="4937"/>
              </a:lnSpc>
              <a:spcBef>
                <a:spcPct val="0"/>
              </a:spcBef>
            </a:pPr>
            <a:r>
              <a:rPr lang="en-US" sz="3526">
                <a:solidFill>
                  <a:srgbClr val="F800C0"/>
                </a:solidFill>
                <a:latin typeface="HK Modular"/>
                <a:ea typeface="HK Modular"/>
                <a:cs typeface="HK Modular"/>
                <a:sym typeface="HK Modular"/>
              </a:rPr>
              <a:t>COMPORTAMIENTO - ITERATOR</a:t>
            </a:r>
          </a:p>
        </p:txBody>
      </p:sp>
      <p:pic>
        <p:nvPicPr>
          <p:cNvPr id="7" name="Picture 7"/>
          <p:cNvPicPr>
            <a:picLocks noChangeAspect="1"/>
          </p:cNvPicPr>
          <p:nvPr/>
        </p:nvPicPr>
        <p:blipFill>
          <a:blip r:embed="rId3"/>
          <a:stretch>
            <a:fillRect/>
          </a:stretch>
        </p:blipFill>
        <p:spPr>
          <a:xfrm>
            <a:off x="8332988" y="4331953"/>
            <a:ext cx="884789" cy="885324"/>
          </a:xfrm>
          <a:prstGeom prst="rect">
            <a:avLst/>
          </a:prstGeom>
        </p:spPr>
      </p:pic>
      <p:pic>
        <p:nvPicPr>
          <p:cNvPr id="8" name="Picture 8"/>
          <p:cNvPicPr>
            <a:picLocks noChangeAspect="1"/>
          </p:cNvPicPr>
          <p:nvPr/>
        </p:nvPicPr>
        <p:blipFill>
          <a:blip r:embed="rId4"/>
          <a:stretch>
            <a:fillRect/>
          </a:stretch>
        </p:blipFill>
        <p:spPr>
          <a:xfrm>
            <a:off x="8332988" y="6204350"/>
            <a:ext cx="884789" cy="885324"/>
          </a:xfrm>
          <a:prstGeom prst="rect">
            <a:avLst/>
          </a:prstGeom>
        </p:spPr>
      </p:pic>
      <p:pic>
        <p:nvPicPr>
          <p:cNvPr id="9" name="Picture 9"/>
          <p:cNvPicPr>
            <a:picLocks noChangeAspect="1"/>
          </p:cNvPicPr>
          <p:nvPr/>
        </p:nvPicPr>
        <p:blipFill>
          <a:blip r:embed="rId5"/>
          <a:stretch>
            <a:fillRect/>
          </a:stretch>
        </p:blipFill>
        <p:spPr>
          <a:xfrm>
            <a:off x="8332988" y="8445812"/>
            <a:ext cx="884789" cy="885324"/>
          </a:xfrm>
          <a:prstGeom prst="rect">
            <a:avLst/>
          </a:prstGeom>
        </p:spPr>
      </p:pic>
      <p:sp>
        <p:nvSpPr>
          <p:cNvPr id="10" name="Freeform 10"/>
          <p:cNvSpPr/>
          <p:nvPr/>
        </p:nvSpPr>
        <p:spPr>
          <a:xfrm>
            <a:off x="797148" y="4472085"/>
            <a:ext cx="7170359" cy="4786215"/>
          </a:xfrm>
          <a:custGeom>
            <a:avLst/>
            <a:gdLst/>
            <a:ahLst/>
            <a:cxnLst/>
            <a:rect l="l" t="t" r="r" b="b"/>
            <a:pathLst>
              <a:path w="7170359" h="4786215">
                <a:moveTo>
                  <a:pt x="0" y="0"/>
                </a:moveTo>
                <a:lnTo>
                  <a:pt x="7170359" y="0"/>
                </a:lnTo>
                <a:lnTo>
                  <a:pt x="7170359" y="4786215"/>
                </a:lnTo>
                <a:lnTo>
                  <a:pt x="0" y="4786215"/>
                </a:lnTo>
                <a:lnTo>
                  <a:pt x="0" y="0"/>
                </a:lnTo>
                <a:close/>
              </a:path>
            </a:pathLst>
          </a:custGeom>
          <a:blipFill>
            <a:blip r:embed="rId6"/>
            <a:stretch>
              <a:fillRect/>
            </a:stretch>
          </a:blipFill>
        </p:spPr>
        <p:txBody>
          <a:bodyPr/>
          <a:lstStyle/>
          <a:p>
            <a:endParaRPr lang="es-CO"/>
          </a:p>
        </p:txBody>
      </p:sp>
      <p:sp>
        <p:nvSpPr>
          <p:cNvPr id="11" name="TextBox 11"/>
          <p:cNvSpPr txBox="1"/>
          <p:nvPr/>
        </p:nvSpPr>
        <p:spPr>
          <a:xfrm>
            <a:off x="743396" y="2929989"/>
            <a:ext cx="16801207" cy="3422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Es un patrón de diseño de comportamiento que te permite recorrer elementos de una colección sin exponer su representación subyacente</a:t>
            </a:r>
          </a:p>
        </p:txBody>
      </p:sp>
      <p:sp>
        <p:nvSpPr>
          <p:cNvPr id="12" name="TextBox 12"/>
          <p:cNvSpPr txBox="1"/>
          <p:nvPr/>
        </p:nvSpPr>
        <p:spPr>
          <a:xfrm>
            <a:off x="860621" y="3344962"/>
            <a:ext cx="16566758" cy="625299"/>
          </a:xfrm>
          <a:prstGeom prst="rect">
            <a:avLst/>
          </a:prstGeom>
        </p:spPr>
        <p:txBody>
          <a:bodyPr lIns="0" tIns="0" rIns="0" bIns="0" rtlCol="0" anchor="t">
            <a:spAutoFit/>
          </a:bodyPr>
          <a:lstStyle/>
          <a:p>
            <a:pPr algn="ctr">
              <a:lnSpc>
                <a:spcPts val="2484"/>
              </a:lnSpc>
              <a:spcBef>
                <a:spcPct val="0"/>
              </a:spcBef>
            </a:pPr>
            <a:r>
              <a:rPr lang="en-US" sz="1774">
                <a:solidFill>
                  <a:srgbClr val="FFFFFF"/>
                </a:solidFill>
                <a:latin typeface="Poppins"/>
                <a:ea typeface="Poppins"/>
                <a:cs typeface="Poppins"/>
                <a:sym typeface="Poppins"/>
              </a:rPr>
              <a:t>Las colecciones son de los tipos de datos más utilizados en programación. Sin embargo, una colección tan solo es un contenedor para un grupo de objetos.</a:t>
            </a:r>
          </a:p>
        </p:txBody>
      </p:sp>
      <p:sp>
        <p:nvSpPr>
          <p:cNvPr id="13" name="TextBox 13"/>
          <p:cNvSpPr txBox="1"/>
          <p:nvPr/>
        </p:nvSpPr>
        <p:spPr>
          <a:xfrm>
            <a:off x="9700725" y="4414935"/>
            <a:ext cx="7726654" cy="10090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La idea central del patrón Iterator es extraer el comportamiento de recorrido de una colección y colocarlo en un objeto independiente llamado iterador.</a:t>
            </a:r>
          </a:p>
        </p:txBody>
      </p:sp>
      <p:sp>
        <p:nvSpPr>
          <p:cNvPr id="14" name="TextBox 14"/>
          <p:cNvSpPr txBox="1"/>
          <p:nvPr/>
        </p:nvSpPr>
        <p:spPr>
          <a:xfrm>
            <a:off x="9582150" y="6149439"/>
            <a:ext cx="8179967" cy="16757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Además de implementar el propio algoritmo, un objeto iterador encapsula todos los detalles del recorrido, como la posición actual y cuántos elementos quedan hasta el final. Debido a esto, varios iteradores pueden recorrer la misma colección al mismo tiempo, independientemente los unos de los otros.</a:t>
            </a:r>
          </a:p>
        </p:txBody>
      </p:sp>
      <p:sp>
        <p:nvSpPr>
          <p:cNvPr id="15" name="TextBox 15"/>
          <p:cNvSpPr txBox="1"/>
          <p:nvPr/>
        </p:nvSpPr>
        <p:spPr>
          <a:xfrm>
            <a:off x="9700725" y="8834855"/>
            <a:ext cx="8061392"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Utiliza el patrón para reducir la duplicación en el código de recorrido a lo largo de tu aplicación.</a:t>
            </a:r>
          </a:p>
        </p:txBody>
      </p:sp>
      <p:sp>
        <p:nvSpPr>
          <p:cNvPr id="16" name="Freeform 16"/>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7"/>
            <a:stretch>
              <a:fillRect/>
            </a:stretch>
          </a:blipFill>
        </p:spPr>
        <p:txBody>
          <a:bodyPr/>
          <a:lstStyle/>
          <a:p>
            <a:endParaRPr lang="es-CO"/>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315746" y="1747476"/>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COMO IMPLEMENTARLO</a:t>
            </a:r>
          </a:p>
        </p:txBody>
      </p:sp>
      <p:sp>
        <p:nvSpPr>
          <p:cNvPr id="7" name="Freeform 7"/>
          <p:cNvSpPr/>
          <p:nvPr/>
        </p:nvSpPr>
        <p:spPr>
          <a:xfrm>
            <a:off x="5682494" y="2864087"/>
            <a:ext cx="6923012" cy="6204749"/>
          </a:xfrm>
          <a:custGeom>
            <a:avLst/>
            <a:gdLst/>
            <a:ahLst/>
            <a:cxnLst/>
            <a:rect l="l" t="t" r="r" b="b"/>
            <a:pathLst>
              <a:path w="6923012" h="6204749">
                <a:moveTo>
                  <a:pt x="0" y="0"/>
                </a:moveTo>
                <a:lnTo>
                  <a:pt x="6923012" y="0"/>
                </a:lnTo>
                <a:lnTo>
                  <a:pt x="6923012" y="6204750"/>
                </a:lnTo>
                <a:lnTo>
                  <a:pt x="0" y="6204750"/>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874397" y="2806937"/>
            <a:ext cx="4983448" cy="1675765"/>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La interfaz Iteradora declara las operaciones necesarias para recorrer una colección: extraer el siguiente elemento, recuperar la posición actual, reiniciar la iteración, etc.</a:t>
            </a:r>
          </a:p>
        </p:txBody>
      </p:sp>
      <p:sp>
        <p:nvSpPr>
          <p:cNvPr id="9" name="TextBox 9"/>
          <p:cNvSpPr txBox="1"/>
          <p:nvPr/>
        </p:nvSpPr>
        <p:spPr>
          <a:xfrm>
            <a:off x="512446" y="6354056"/>
            <a:ext cx="4983448" cy="1675765"/>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Los Iteradores Concretos implementan algoritmos específicos para recorrer una colección. El objeto iterador debe controlar el progreso del recorrido por su cuenta.</a:t>
            </a:r>
          </a:p>
        </p:txBody>
      </p:sp>
      <p:sp>
        <p:nvSpPr>
          <p:cNvPr id="10" name="TextBox 10"/>
          <p:cNvSpPr txBox="1"/>
          <p:nvPr/>
        </p:nvSpPr>
        <p:spPr>
          <a:xfrm>
            <a:off x="12734955" y="2806937"/>
            <a:ext cx="4983448" cy="1342390"/>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La interfaz Colección declara uno o varios métodos para obtener iteradores compatibles con la colección. </a:t>
            </a:r>
          </a:p>
        </p:txBody>
      </p:sp>
      <p:sp>
        <p:nvSpPr>
          <p:cNvPr id="11" name="TextBox 11"/>
          <p:cNvSpPr txBox="1"/>
          <p:nvPr/>
        </p:nvSpPr>
        <p:spPr>
          <a:xfrm>
            <a:off x="12796006" y="5591420"/>
            <a:ext cx="4983448" cy="1342390"/>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Las Colecciones Concretas devuelven nuevas instancias de una clase iteradora concreta particular cada vez que el cliente solicita una.</a:t>
            </a:r>
          </a:p>
        </p:txBody>
      </p:sp>
      <p:sp>
        <p:nvSpPr>
          <p:cNvPr id="12" name="TextBox 12"/>
          <p:cNvSpPr txBox="1"/>
          <p:nvPr/>
        </p:nvSpPr>
        <p:spPr>
          <a:xfrm>
            <a:off x="9810863" y="8558530"/>
            <a:ext cx="7332318" cy="1342390"/>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El Cliente debe funcionar con colecciones e iteradores a través de sus interfaces. De este modo, el cliente no se acopla a clases concretas, permitiéndote utilizar varias colecciones e iteradores con el mismo código cliente.</a:t>
            </a:r>
          </a:p>
        </p:txBody>
      </p:sp>
      <p:sp>
        <p:nvSpPr>
          <p:cNvPr id="13" name="Freeform 13"/>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#10</a:t>
            </a:r>
          </a:p>
        </p:txBody>
      </p:sp>
      <p:sp>
        <p:nvSpPr>
          <p:cNvPr id="7" name="Freeform 7"/>
          <p:cNvSpPr/>
          <p:nvPr/>
        </p:nvSpPr>
        <p:spPr>
          <a:xfrm>
            <a:off x="6577993" y="3145877"/>
            <a:ext cx="5132014" cy="2527517"/>
          </a:xfrm>
          <a:custGeom>
            <a:avLst/>
            <a:gdLst/>
            <a:ahLst/>
            <a:cxnLst/>
            <a:rect l="l" t="t" r="r" b="b"/>
            <a:pathLst>
              <a:path w="5132014" h="2527517">
                <a:moveTo>
                  <a:pt x="0" y="0"/>
                </a:moveTo>
                <a:lnTo>
                  <a:pt x="5132014" y="0"/>
                </a:lnTo>
                <a:lnTo>
                  <a:pt x="5132014" y="2527517"/>
                </a:lnTo>
                <a:lnTo>
                  <a:pt x="0" y="252751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8" name="TextBox 8"/>
          <p:cNvSpPr txBox="1"/>
          <p:nvPr/>
        </p:nvSpPr>
        <p:spPr>
          <a:xfrm>
            <a:off x="5802952" y="6073444"/>
            <a:ext cx="6900829" cy="3441067"/>
          </a:xfrm>
          <a:prstGeom prst="rect">
            <a:avLst/>
          </a:prstGeom>
        </p:spPr>
        <p:txBody>
          <a:bodyPr lIns="0" tIns="0" rIns="0" bIns="0" rtlCol="0" anchor="t">
            <a:spAutoFit/>
          </a:bodyPr>
          <a:lstStyle/>
          <a:p>
            <a:pPr algn="l">
              <a:lnSpc>
                <a:spcPts val="3009"/>
              </a:lnSpc>
              <a:spcBef>
                <a:spcPct val="0"/>
              </a:spcBef>
            </a:pPr>
            <a:r>
              <a:rPr lang="en-US" sz="2149">
                <a:solidFill>
                  <a:srgbClr val="FFFFFF"/>
                </a:solidFill>
                <a:latin typeface="Poppins"/>
                <a:ea typeface="Poppins"/>
                <a:cs typeface="Poppins"/>
                <a:sym typeface="Poppins"/>
              </a:rPr>
              <a:t>Un turista quiere explorar distintos lugares emblemáticos de Roma:</a:t>
            </a:r>
          </a:p>
          <a:p>
            <a:pPr marL="464171" lvl="1" indent="-232085" algn="l">
              <a:lnSpc>
                <a:spcPts val="3009"/>
              </a:lnSpc>
              <a:buFont typeface="Arial"/>
              <a:buChar char="•"/>
            </a:pPr>
            <a:r>
              <a:rPr lang="en-US" sz="2149">
                <a:solidFill>
                  <a:srgbClr val="FFFFFF"/>
                </a:solidFill>
                <a:latin typeface="Poppins"/>
                <a:ea typeface="Poppins"/>
                <a:cs typeface="Poppins"/>
                <a:sym typeface="Poppins"/>
              </a:rPr>
              <a:t>Coliseo</a:t>
            </a:r>
          </a:p>
          <a:p>
            <a:pPr marL="464171" lvl="1" indent="-232085" algn="l">
              <a:lnSpc>
                <a:spcPts val="3009"/>
              </a:lnSpc>
              <a:buFont typeface="Arial"/>
              <a:buChar char="•"/>
            </a:pPr>
            <a:r>
              <a:rPr lang="en-US" sz="2149">
                <a:solidFill>
                  <a:srgbClr val="FFFFFF"/>
                </a:solidFill>
                <a:latin typeface="Poppins"/>
                <a:ea typeface="Poppins"/>
                <a:cs typeface="Poppins"/>
                <a:sym typeface="Poppins"/>
              </a:rPr>
              <a:t>Foro Romano</a:t>
            </a:r>
          </a:p>
          <a:p>
            <a:pPr marL="464171" lvl="1" indent="-232085" algn="l">
              <a:lnSpc>
                <a:spcPts val="3009"/>
              </a:lnSpc>
              <a:buFont typeface="Arial"/>
              <a:buChar char="•"/>
            </a:pPr>
            <a:r>
              <a:rPr lang="en-US" sz="2149">
                <a:solidFill>
                  <a:srgbClr val="FFFFFF"/>
                </a:solidFill>
                <a:latin typeface="Poppins"/>
                <a:ea typeface="Poppins"/>
                <a:cs typeface="Poppins"/>
                <a:sym typeface="Poppins"/>
              </a:rPr>
              <a:t>Fontana di Trevi</a:t>
            </a:r>
          </a:p>
          <a:p>
            <a:pPr marL="464171" lvl="1" indent="-232085" algn="l">
              <a:lnSpc>
                <a:spcPts val="3009"/>
              </a:lnSpc>
              <a:buFont typeface="Arial"/>
              <a:buChar char="•"/>
            </a:pPr>
            <a:r>
              <a:rPr lang="en-US" sz="2149">
                <a:solidFill>
                  <a:srgbClr val="FFFFFF"/>
                </a:solidFill>
                <a:latin typeface="Poppins"/>
                <a:ea typeface="Poppins"/>
                <a:cs typeface="Poppins"/>
                <a:sym typeface="Poppins"/>
              </a:rPr>
              <a:t>Panteón</a:t>
            </a:r>
          </a:p>
          <a:p>
            <a:pPr marL="464171" lvl="1" indent="-232085" algn="l">
              <a:lnSpc>
                <a:spcPts val="3009"/>
              </a:lnSpc>
              <a:buFont typeface="Arial"/>
              <a:buChar char="•"/>
            </a:pPr>
            <a:r>
              <a:rPr lang="en-US" sz="2149">
                <a:solidFill>
                  <a:srgbClr val="FFFFFF"/>
                </a:solidFill>
                <a:latin typeface="Poppins"/>
                <a:ea typeface="Poppins"/>
                <a:cs typeface="Poppins"/>
                <a:sym typeface="Poppins"/>
              </a:rPr>
              <a:t>Plaza de España</a:t>
            </a:r>
          </a:p>
          <a:p>
            <a:pPr algn="l">
              <a:lnSpc>
                <a:spcPts val="3009"/>
              </a:lnSpc>
              <a:spcBef>
                <a:spcPct val="0"/>
              </a:spcBef>
            </a:pPr>
            <a:r>
              <a:rPr lang="en-US" sz="2149">
                <a:solidFill>
                  <a:srgbClr val="FFFFFF"/>
                </a:solidFill>
                <a:latin typeface="Poppins"/>
                <a:ea typeface="Poppins"/>
                <a:cs typeface="Poppins"/>
                <a:sym typeface="Poppins"/>
              </a:rPr>
              <a:t>El recorrido debe poder iterarse sin exponer la estructura interna que almacena los lugares.</a:t>
            </a:r>
          </a:p>
        </p:txBody>
      </p:sp>
      <p:sp>
        <p:nvSpPr>
          <p:cNvPr id="9" name="Freeform 9"/>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#10</a:t>
            </a:r>
          </a:p>
        </p:txBody>
      </p:sp>
      <p:sp>
        <p:nvSpPr>
          <p:cNvPr id="7" name="Freeform 7"/>
          <p:cNvSpPr/>
          <p:nvPr/>
        </p:nvSpPr>
        <p:spPr>
          <a:xfrm>
            <a:off x="2016533" y="3417560"/>
            <a:ext cx="4699367" cy="1907492"/>
          </a:xfrm>
          <a:custGeom>
            <a:avLst/>
            <a:gdLst/>
            <a:ahLst/>
            <a:cxnLst/>
            <a:rect l="l" t="t" r="r" b="b"/>
            <a:pathLst>
              <a:path w="4699367" h="1907492">
                <a:moveTo>
                  <a:pt x="0" y="0"/>
                </a:moveTo>
                <a:lnTo>
                  <a:pt x="4699368" y="0"/>
                </a:lnTo>
                <a:lnTo>
                  <a:pt x="4699368" y="1907493"/>
                </a:lnTo>
                <a:lnTo>
                  <a:pt x="0" y="1907493"/>
                </a:lnTo>
                <a:lnTo>
                  <a:pt x="0" y="0"/>
                </a:lnTo>
                <a:close/>
              </a:path>
            </a:pathLst>
          </a:custGeom>
          <a:blipFill>
            <a:blip r:embed="rId3"/>
            <a:stretch>
              <a:fillRect/>
            </a:stretch>
          </a:blipFill>
        </p:spPr>
        <p:txBody>
          <a:bodyPr/>
          <a:lstStyle/>
          <a:p>
            <a:endParaRPr lang="es-CO"/>
          </a:p>
        </p:txBody>
      </p:sp>
      <p:sp>
        <p:nvSpPr>
          <p:cNvPr id="8" name="Freeform 8"/>
          <p:cNvSpPr/>
          <p:nvPr/>
        </p:nvSpPr>
        <p:spPr>
          <a:xfrm>
            <a:off x="2016533" y="6058478"/>
            <a:ext cx="4699367" cy="1311451"/>
          </a:xfrm>
          <a:custGeom>
            <a:avLst/>
            <a:gdLst/>
            <a:ahLst/>
            <a:cxnLst/>
            <a:rect l="l" t="t" r="r" b="b"/>
            <a:pathLst>
              <a:path w="4699367" h="1311451">
                <a:moveTo>
                  <a:pt x="0" y="0"/>
                </a:moveTo>
                <a:lnTo>
                  <a:pt x="4699368" y="0"/>
                </a:lnTo>
                <a:lnTo>
                  <a:pt x="4699368" y="1311451"/>
                </a:lnTo>
                <a:lnTo>
                  <a:pt x="0" y="1311451"/>
                </a:lnTo>
                <a:lnTo>
                  <a:pt x="0" y="0"/>
                </a:lnTo>
                <a:close/>
              </a:path>
            </a:pathLst>
          </a:custGeom>
          <a:blipFill>
            <a:blip r:embed="rId4"/>
            <a:stretch>
              <a:fillRect/>
            </a:stretch>
          </a:blipFill>
        </p:spPr>
        <p:txBody>
          <a:bodyPr/>
          <a:lstStyle/>
          <a:p>
            <a:endParaRPr lang="es-CO"/>
          </a:p>
        </p:txBody>
      </p:sp>
      <p:sp>
        <p:nvSpPr>
          <p:cNvPr id="9" name="Freeform 9"/>
          <p:cNvSpPr/>
          <p:nvPr/>
        </p:nvSpPr>
        <p:spPr>
          <a:xfrm>
            <a:off x="10939797" y="3691771"/>
            <a:ext cx="5527507" cy="5166604"/>
          </a:xfrm>
          <a:custGeom>
            <a:avLst/>
            <a:gdLst/>
            <a:ahLst/>
            <a:cxnLst/>
            <a:rect l="l" t="t" r="r" b="b"/>
            <a:pathLst>
              <a:path w="5527507" h="5166604">
                <a:moveTo>
                  <a:pt x="0" y="0"/>
                </a:moveTo>
                <a:lnTo>
                  <a:pt x="5527507" y="0"/>
                </a:lnTo>
                <a:lnTo>
                  <a:pt x="5527507" y="5166604"/>
                </a:lnTo>
                <a:lnTo>
                  <a:pt x="0" y="5166604"/>
                </a:lnTo>
                <a:lnTo>
                  <a:pt x="0" y="0"/>
                </a:lnTo>
                <a:close/>
              </a:path>
            </a:pathLst>
          </a:custGeom>
          <a:blipFill>
            <a:blip r:embed="rId5"/>
            <a:stretch>
              <a:fillRect/>
            </a:stretch>
          </a:blipFill>
        </p:spPr>
        <p:txBody>
          <a:bodyPr/>
          <a:lstStyle/>
          <a:p>
            <a:endParaRPr lang="es-CO"/>
          </a:p>
        </p:txBody>
      </p:sp>
      <p:sp>
        <p:nvSpPr>
          <p:cNvPr id="10" name="Freeform 10"/>
          <p:cNvSpPr/>
          <p:nvPr/>
        </p:nvSpPr>
        <p:spPr>
          <a:xfrm>
            <a:off x="707065" y="3417560"/>
            <a:ext cx="880730" cy="880730"/>
          </a:xfrm>
          <a:custGeom>
            <a:avLst/>
            <a:gdLst/>
            <a:ahLst/>
            <a:cxnLst/>
            <a:rect l="l" t="t" r="r" b="b"/>
            <a:pathLst>
              <a:path w="880730" h="880730">
                <a:moveTo>
                  <a:pt x="0" y="0"/>
                </a:moveTo>
                <a:lnTo>
                  <a:pt x="880730" y="0"/>
                </a:lnTo>
                <a:lnTo>
                  <a:pt x="880730" y="880731"/>
                </a:lnTo>
                <a:lnTo>
                  <a:pt x="0" y="88073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CO"/>
          </a:p>
        </p:txBody>
      </p:sp>
      <p:sp>
        <p:nvSpPr>
          <p:cNvPr id="11" name="Freeform 11"/>
          <p:cNvSpPr/>
          <p:nvPr/>
        </p:nvSpPr>
        <p:spPr>
          <a:xfrm>
            <a:off x="9559882" y="3298187"/>
            <a:ext cx="1119476" cy="1119476"/>
          </a:xfrm>
          <a:custGeom>
            <a:avLst/>
            <a:gdLst/>
            <a:ahLst/>
            <a:cxnLst/>
            <a:rect l="l" t="t" r="r" b="b"/>
            <a:pathLst>
              <a:path w="1119476" h="1119476">
                <a:moveTo>
                  <a:pt x="0" y="0"/>
                </a:moveTo>
                <a:lnTo>
                  <a:pt x="1119476" y="0"/>
                </a:lnTo>
                <a:lnTo>
                  <a:pt x="1119476" y="1119477"/>
                </a:lnTo>
                <a:lnTo>
                  <a:pt x="0" y="111947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CO"/>
          </a:p>
        </p:txBody>
      </p:sp>
      <p:sp>
        <p:nvSpPr>
          <p:cNvPr id="12" name="TextBox 12"/>
          <p:cNvSpPr txBox="1"/>
          <p:nvPr/>
        </p:nvSpPr>
        <p:spPr>
          <a:xfrm>
            <a:off x="1293806" y="7822238"/>
            <a:ext cx="5700676" cy="774067"/>
          </a:xfrm>
          <a:prstGeom prst="rect">
            <a:avLst/>
          </a:prstGeom>
        </p:spPr>
        <p:txBody>
          <a:bodyPr lIns="0" tIns="0" rIns="0" bIns="0" rtlCol="0" anchor="t">
            <a:spAutoFit/>
          </a:bodyPr>
          <a:lstStyle/>
          <a:p>
            <a:pPr algn="l">
              <a:lnSpc>
                <a:spcPts val="3009"/>
              </a:lnSpc>
              <a:spcBef>
                <a:spcPct val="0"/>
              </a:spcBef>
            </a:pPr>
            <a:r>
              <a:rPr lang="en-US" sz="2149">
                <a:solidFill>
                  <a:srgbClr val="FFFFFF"/>
                </a:solidFill>
                <a:latin typeface="Poppins"/>
                <a:ea typeface="Poppins"/>
                <a:cs typeface="Poppins"/>
                <a:sym typeface="Poppins"/>
              </a:rPr>
              <a:t>Esto representa cualquier coleccion que pueda producir un iterador</a:t>
            </a:r>
          </a:p>
        </p:txBody>
      </p:sp>
      <p:sp>
        <p:nvSpPr>
          <p:cNvPr id="13" name="Freeform 13"/>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8"/>
            <a:stretch>
              <a:fillRect/>
            </a:stretch>
          </a:blipFill>
        </p:spPr>
        <p:txBody>
          <a:bodyPr/>
          <a:lstStyle/>
          <a:p>
            <a:endParaRPr lang="es-CO"/>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#10</a:t>
            </a:r>
          </a:p>
        </p:txBody>
      </p:sp>
      <p:sp>
        <p:nvSpPr>
          <p:cNvPr id="7" name="Freeform 7"/>
          <p:cNvSpPr/>
          <p:nvPr/>
        </p:nvSpPr>
        <p:spPr>
          <a:xfrm>
            <a:off x="1309929" y="3189919"/>
            <a:ext cx="6870039" cy="5574546"/>
          </a:xfrm>
          <a:custGeom>
            <a:avLst/>
            <a:gdLst/>
            <a:ahLst/>
            <a:cxnLst/>
            <a:rect l="l" t="t" r="r" b="b"/>
            <a:pathLst>
              <a:path w="6870039" h="5574546">
                <a:moveTo>
                  <a:pt x="0" y="0"/>
                </a:moveTo>
                <a:lnTo>
                  <a:pt x="6870038" y="0"/>
                </a:lnTo>
                <a:lnTo>
                  <a:pt x="6870038" y="5574545"/>
                </a:lnTo>
                <a:lnTo>
                  <a:pt x="0" y="5574545"/>
                </a:lnTo>
                <a:lnTo>
                  <a:pt x="0" y="0"/>
                </a:lnTo>
                <a:close/>
              </a:path>
            </a:pathLst>
          </a:custGeom>
          <a:blipFill>
            <a:blip r:embed="rId3"/>
            <a:stretch>
              <a:fillRect/>
            </a:stretch>
          </a:blipFill>
        </p:spPr>
        <p:txBody>
          <a:bodyPr/>
          <a:lstStyle/>
          <a:p>
            <a:endParaRPr lang="es-CO"/>
          </a:p>
        </p:txBody>
      </p:sp>
      <p:sp>
        <p:nvSpPr>
          <p:cNvPr id="8" name="Freeform 8"/>
          <p:cNvSpPr/>
          <p:nvPr/>
        </p:nvSpPr>
        <p:spPr>
          <a:xfrm>
            <a:off x="8740991" y="3450595"/>
            <a:ext cx="8894600" cy="5313870"/>
          </a:xfrm>
          <a:custGeom>
            <a:avLst/>
            <a:gdLst/>
            <a:ahLst/>
            <a:cxnLst/>
            <a:rect l="l" t="t" r="r" b="b"/>
            <a:pathLst>
              <a:path w="8894600" h="5313870">
                <a:moveTo>
                  <a:pt x="0" y="0"/>
                </a:moveTo>
                <a:lnTo>
                  <a:pt x="8894600" y="0"/>
                </a:lnTo>
                <a:lnTo>
                  <a:pt x="8894600" y="5313869"/>
                </a:lnTo>
                <a:lnTo>
                  <a:pt x="0" y="5313869"/>
                </a:lnTo>
                <a:lnTo>
                  <a:pt x="0" y="0"/>
                </a:lnTo>
                <a:close/>
              </a:path>
            </a:pathLst>
          </a:custGeom>
          <a:blipFill>
            <a:blip r:embed="rId4"/>
            <a:stretch>
              <a:fillRect/>
            </a:stretch>
          </a:blipFill>
        </p:spPr>
        <p:txBody>
          <a:bodyPr/>
          <a:lstStyle/>
          <a:p>
            <a:endParaRPr lang="es-CO"/>
          </a:p>
        </p:txBody>
      </p:sp>
      <p:sp>
        <p:nvSpPr>
          <p:cNvPr id="9" name="Freeform 9"/>
          <p:cNvSpPr/>
          <p:nvPr/>
        </p:nvSpPr>
        <p:spPr>
          <a:xfrm>
            <a:off x="77573" y="2975031"/>
            <a:ext cx="951127" cy="951127"/>
          </a:xfrm>
          <a:custGeom>
            <a:avLst/>
            <a:gdLst/>
            <a:ahLst/>
            <a:cxnLst/>
            <a:rect l="l" t="t" r="r" b="b"/>
            <a:pathLst>
              <a:path w="951127" h="951127">
                <a:moveTo>
                  <a:pt x="0" y="0"/>
                </a:moveTo>
                <a:lnTo>
                  <a:pt x="951127" y="0"/>
                </a:lnTo>
                <a:lnTo>
                  <a:pt x="951127" y="951127"/>
                </a:lnTo>
                <a:lnTo>
                  <a:pt x="0" y="9511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0" name="Freeform 10"/>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6"/>
            <a:stretch>
              <a:fillRect/>
            </a:stretch>
          </a:blipFill>
        </p:spPr>
        <p:txBody>
          <a:bodyPr/>
          <a:lstStyle/>
          <a:p>
            <a:endParaRPr lang="es-CO"/>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#10</a:t>
            </a:r>
          </a:p>
        </p:txBody>
      </p:sp>
      <p:sp>
        <p:nvSpPr>
          <p:cNvPr id="7" name="Freeform 7"/>
          <p:cNvSpPr/>
          <p:nvPr/>
        </p:nvSpPr>
        <p:spPr>
          <a:xfrm>
            <a:off x="922271" y="4101211"/>
            <a:ext cx="7677818" cy="3874389"/>
          </a:xfrm>
          <a:custGeom>
            <a:avLst/>
            <a:gdLst/>
            <a:ahLst/>
            <a:cxnLst/>
            <a:rect l="l" t="t" r="r" b="b"/>
            <a:pathLst>
              <a:path w="7677818" h="3874389">
                <a:moveTo>
                  <a:pt x="0" y="0"/>
                </a:moveTo>
                <a:lnTo>
                  <a:pt x="7677818" y="0"/>
                </a:lnTo>
                <a:lnTo>
                  <a:pt x="7677818" y="3874388"/>
                </a:lnTo>
                <a:lnTo>
                  <a:pt x="0" y="3874388"/>
                </a:lnTo>
                <a:lnTo>
                  <a:pt x="0" y="0"/>
                </a:lnTo>
                <a:close/>
              </a:path>
            </a:pathLst>
          </a:custGeom>
          <a:blipFill>
            <a:blip r:embed="rId3"/>
            <a:stretch>
              <a:fillRect/>
            </a:stretch>
          </a:blipFill>
        </p:spPr>
        <p:txBody>
          <a:bodyPr/>
          <a:lstStyle/>
          <a:p>
            <a:endParaRPr lang="es-CO"/>
          </a:p>
        </p:txBody>
      </p:sp>
      <p:sp>
        <p:nvSpPr>
          <p:cNvPr id="8" name="Freeform 8"/>
          <p:cNvSpPr/>
          <p:nvPr/>
        </p:nvSpPr>
        <p:spPr>
          <a:xfrm>
            <a:off x="10157287" y="3806592"/>
            <a:ext cx="7527728" cy="4778306"/>
          </a:xfrm>
          <a:custGeom>
            <a:avLst/>
            <a:gdLst/>
            <a:ahLst/>
            <a:cxnLst/>
            <a:rect l="l" t="t" r="r" b="b"/>
            <a:pathLst>
              <a:path w="7527728" h="4778306">
                <a:moveTo>
                  <a:pt x="0" y="0"/>
                </a:moveTo>
                <a:lnTo>
                  <a:pt x="7527728" y="0"/>
                </a:lnTo>
                <a:lnTo>
                  <a:pt x="7527728" y="4778306"/>
                </a:lnTo>
                <a:lnTo>
                  <a:pt x="0" y="4778306"/>
                </a:lnTo>
                <a:lnTo>
                  <a:pt x="0" y="0"/>
                </a:lnTo>
                <a:close/>
              </a:path>
            </a:pathLst>
          </a:custGeom>
          <a:blipFill>
            <a:blip r:embed="rId4"/>
            <a:stretch>
              <a:fillRect/>
            </a:stretch>
          </a:blipFill>
        </p:spPr>
        <p:txBody>
          <a:bodyPr/>
          <a:lstStyle/>
          <a:p>
            <a:endParaRPr lang="es-CO"/>
          </a:p>
        </p:txBody>
      </p:sp>
      <p:sp>
        <p:nvSpPr>
          <p:cNvPr id="9" name="Freeform 9"/>
          <p:cNvSpPr/>
          <p:nvPr/>
        </p:nvSpPr>
        <p:spPr>
          <a:xfrm>
            <a:off x="375588" y="3007843"/>
            <a:ext cx="1093367" cy="1093367"/>
          </a:xfrm>
          <a:custGeom>
            <a:avLst/>
            <a:gdLst/>
            <a:ahLst/>
            <a:cxnLst/>
            <a:rect l="l" t="t" r="r" b="b"/>
            <a:pathLst>
              <a:path w="1093367" h="1093367">
                <a:moveTo>
                  <a:pt x="0" y="0"/>
                </a:moveTo>
                <a:lnTo>
                  <a:pt x="1093367" y="0"/>
                </a:lnTo>
                <a:lnTo>
                  <a:pt x="1093367" y="1093368"/>
                </a:lnTo>
                <a:lnTo>
                  <a:pt x="0" y="10933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CO"/>
          </a:p>
        </p:txBody>
      </p:sp>
      <p:sp>
        <p:nvSpPr>
          <p:cNvPr id="10" name="Freeform 10"/>
          <p:cNvSpPr/>
          <p:nvPr/>
        </p:nvSpPr>
        <p:spPr>
          <a:xfrm>
            <a:off x="8923050" y="3007843"/>
            <a:ext cx="1093367" cy="1093367"/>
          </a:xfrm>
          <a:custGeom>
            <a:avLst/>
            <a:gdLst/>
            <a:ahLst/>
            <a:cxnLst/>
            <a:rect l="l" t="t" r="r" b="b"/>
            <a:pathLst>
              <a:path w="1093367" h="1093367">
                <a:moveTo>
                  <a:pt x="0" y="0"/>
                </a:moveTo>
                <a:lnTo>
                  <a:pt x="1093367" y="0"/>
                </a:lnTo>
                <a:lnTo>
                  <a:pt x="1093367" y="1093368"/>
                </a:lnTo>
                <a:lnTo>
                  <a:pt x="0" y="109336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s-CO"/>
          </a:p>
        </p:txBody>
      </p:sp>
      <p:sp>
        <p:nvSpPr>
          <p:cNvPr id="11" name="Freeform 11"/>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7"/>
            <a:stretch>
              <a:fillRect/>
            </a:stretch>
          </a:blipFill>
        </p:spPr>
        <p:txBody>
          <a:bodyPr/>
          <a:lstStyle/>
          <a:p>
            <a:endParaRPr lang="es-CO"/>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8700" y="1960674"/>
            <a:ext cx="16651383" cy="603570"/>
          </a:xfrm>
          <a:prstGeom prst="rect">
            <a:avLst/>
          </a:prstGeom>
        </p:spPr>
        <p:txBody>
          <a:bodyPr lIns="0" tIns="0" rIns="0" bIns="0" rtlCol="0" anchor="t">
            <a:spAutoFit/>
          </a:bodyPr>
          <a:lstStyle/>
          <a:p>
            <a:pPr algn="ctr">
              <a:lnSpc>
                <a:spcPts val="4937"/>
              </a:lnSpc>
              <a:spcBef>
                <a:spcPct val="0"/>
              </a:spcBef>
            </a:pPr>
            <a:r>
              <a:rPr lang="en-US" sz="3526">
                <a:solidFill>
                  <a:srgbClr val="F800C0"/>
                </a:solidFill>
                <a:latin typeface="HK Modular"/>
                <a:ea typeface="HK Modular"/>
                <a:cs typeface="HK Modular"/>
                <a:sym typeface="HK Modular"/>
              </a:rPr>
              <a:t>COMPORTAMIENTO - STRATEGY</a:t>
            </a:r>
          </a:p>
        </p:txBody>
      </p:sp>
      <p:pic>
        <p:nvPicPr>
          <p:cNvPr id="7" name="Picture 7"/>
          <p:cNvPicPr>
            <a:picLocks noChangeAspect="1"/>
          </p:cNvPicPr>
          <p:nvPr/>
        </p:nvPicPr>
        <p:blipFill>
          <a:blip r:embed="rId3"/>
          <a:stretch>
            <a:fillRect/>
          </a:stretch>
        </p:blipFill>
        <p:spPr>
          <a:xfrm>
            <a:off x="8332988" y="4331953"/>
            <a:ext cx="884789" cy="885324"/>
          </a:xfrm>
          <a:prstGeom prst="rect">
            <a:avLst/>
          </a:prstGeom>
        </p:spPr>
      </p:pic>
      <p:pic>
        <p:nvPicPr>
          <p:cNvPr id="8" name="Picture 8"/>
          <p:cNvPicPr>
            <a:picLocks noChangeAspect="1"/>
          </p:cNvPicPr>
          <p:nvPr/>
        </p:nvPicPr>
        <p:blipFill>
          <a:blip r:embed="rId4"/>
          <a:stretch>
            <a:fillRect/>
          </a:stretch>
        </p:blipFill>
        <p:spPr>
          <a:xfrm>
            <a:off x="8332988" y="6204350"/>
            <a:ext cx="884789" cy="885324"/>
          </a:xfrm>
          <a:prstGeom prst="rect">
            <a:avLst/>
          </a:prstGeom>
        </p:spPr>
      </p:pic>
      <p:pic>
        <p:nvPicPr>
          <p:cNvPr id="9" name="Picture 9"/>
          <p:cNvPicPr>
            <a:picLocks noChangeAspect="1"/>
          </p:cNvPicPr>
          <p:nvPr/>
        </p:nvPicPr>
        <p:blipFill>
          <a:blip r:embed="rId5"/>
          <a:stretch>
            <a:fillRect/>
          </a:stretch>
        </p:blipFill>
        <p:spPr>
          <a:xfrm>
            <a:off x="8332988" y="8445812"/>
            <a:ext cx="884789" cy="885324"/>
          </a:xfrm>
          <a:prstGeom prst="rect">
            <a:avLst/>
          </a:prstGeom>
        </p:spPr>
      </p:pic>
      <p:sp>
        <p:nvSpPr>
          <p:cNvPr id="10" name="Freeform 10"/>
          <p:cNvSpPr/>
          <p:nvPr/>
        </p:nvSpPr>
        <p:spPr>
          <a:xfrm>
            <a:off x="487324" y="4262269"/>
            <a:ext cx="7568319" cy="4995091"/>
          </a:xfrm>
          <a:custGeom>
            <a:avLst/>
            <a:gdLst/>
            <a:ahLst/>
            <a:cxnLst/>
            <a:rect l="l" t="t" r="r" b="b"/>
            <a:pathLst>
              <a:path w="7568319" h="4995091">
                <a:moveTo>
                  <a:pt x="0" y="0"/>
                </a:moveTo>
                <a:lnTo>
                  <a:pt x="7568319" y="0"/>
                </a:lnTo>
                <a:lnTo>
                  <a:pt x="7568319" y="4995090"/>
                </a:lnTo>
                <a:lnTo>
                  <a:pt x="0" y="4995090"/>
                </a:lnTo>
                <a:lnTo>
                  <a:pt x="0" y="0"/>
                </a:lnTo>
                <a:close/>
              </a:path>
            </a:pathLst>
          </a:custGeom>
          <a:blipFill>
            <a:blip r:embed="rId6"/>
            <a:stretch>
              <a:fillRect/>
            </a:stretch>
          </a:blipFill>
        </p:spPr>
        <p:txBody>
          <a:bodyPr/>
          <a:lstStyle/>
          <a:p>
            <a:endParaRPr lang="es-CO"/>
          </a:p>
        </p:txBody>
      </p:sp>
      <p:sp>
        <p:nvSpPr>
          <p:cNvPr id="11" name="TextBox 11"/>
          <p:cNvSpPr txBox="1"/>
          <p:nvPr/>
        </p:nvSpPr>
        <p:spPr>
          <a:xfrm>
            <a:off x="1697927" y="2825912"/>
            <a:ext cx="14496975"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Es un patrón de diseño de comportamiento que te permite definir una familia de algoritmos, colocar cada uno de ellos en una clase separada y hacer sus objetos intercambiables.</a:t>
            </a:r>
          </a:p>
        </p:txBody>
      </p:sp>
      <p:sp>
        <p:nvSpPr>
          <p:cNvPr id="12" name="TextBox 12"/>
          <p:cNvSpPr txBox="1"/>
          <p:nvPr/>
        </p:nvSpPr>
        <p:spPr>
          <a:xfrm>
            <a:off x="9354391" y="4443730"/>
            <a:ext cx="8448277" cy="134239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El patrón Strategy sugiere que tomes esa clase que hace algo específico de muchas formas diferentes y extraigas todos esos algoritmos para colocarlos en clases separadas llamadas estrategias.</a:t>
            </a:r>
          </a:p>
        </p:txBody>
      </p:sp>
      <p:sp>
        <p:nvSpPr>
          <p:cNvPr id="13" name="TextBox 13"/>
          <p:cNvSpPr txBox="1"/>
          <p:nvPr/>
        </p:nvSpPr>
        <p:spPr>
          <a:xfrm>
            <a:off x="9496425" y="6316127"/>
            <a:ext cx="8183658" cy="10090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Utiliza el patrón Strategy cuando quieras utiliza distintas variantes de un algoritmo dentro de un objeto y poder cambiar de un algoritmo a otro durante el tiempo de ejecución.</a:t>
            </a:r>
          </a:p>
        </p:txBody>
      </p:sp>
      <p:sp>
        <p:nvSpPr>
          <p:cNvPr id="14" name="TextBox 14"/>
          <p:cNvSpPr txBox="1"/>
          <p:nvPr/>
        </p:nvSpPr>
        <p:spPr>
          <a:xfrm>
            <a:off x="10408105" y="8355392"/>
            <a:ext cx="6360298" cy="10090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Poppins"/>
                <a:ea typeface="Poppins"/>
                <a:cs typeface="Poppins"/>
                <a:sym typeface="Poppins"/>
              </a:rPr>
              <a:t>Utiliza el patrón Strategy cuando tengas muchas clases similares que sólo se diferencien en la forma en que ejecutan cierto comportamiento.</a:t>
            </a:r>
          </a:p>
        </p:txBody>
      </p:sp>
      <p:sp>
        <p:nvSpPr>
          <p:cNvPr id="15" name="Freeform 15"/>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7"/>
            <a:stretch>
              <a:fillRect/>
            </a:stretch>
          </a:blipFill>
        </p:spPr>
        <p:txBody>
          <a:bodyPr/>
          <a:lstStyle/>
          <a:p>
            <a:endParaRPr lang="es-CO"/>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315746" y="1747476"/>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COMO IMPLEMENTARLO</a:t>
            </a:r>
          </a:p>
        </p:txBody>
      </p:sp>
      <p:sp>
        <p:nvSpPr>
          <p:cNvPr id="7" name="Freeform 7"/>
          <p:cNvSpPr/>
          <p:nvPr/>
        </p:nvSpPr>
        <p:spPr>
          <a:xfrm>
            <a:off x="5506849" y="2975289"/>
            <a:ext cx="7274302" cy="6119507"/>
          </a:xfrm>
          <a:custGeom>
            <a:avLst/>
            <a:gdLst/>
            <a:ahLst/>
            <a:cxnLst/>
            <a:rect l="l" t="t" r="r" b="b"/>
            <a:pathLst>
              <a:path w="7274302" h="6119507">
                <a:moveTo>
                  <a:pt x="0" y="0"/>
                </a:moveTo>
                <a:lnTo>
                  <a:pt x="7274302" y="0"/>
                </a:lnTo>
                <a:lnTo>
                  <a:pt x="7274302" y="6119506"/>
                </a:lnTo>
                <a:lnTo>
                  <a:pt x="0" y="6119506"/>
                </a:lnTo>
                <a:lnTo>
                  <a:pt x="0" y="0"/>
                </a:lnTo>
                <a:close/>
              </a:path>
            </a:pathLst>
          </a:custGeom>
          <a:blipFill>
            <a:blip r:embed="rId3"/>
            <a:stretch>
              <a:fillRect/>
            </a:stretch>
          </a:blipFill>
        </p:spPr>
        <p:txBody>
          <a:bodyPr/>
          <a:lstStyle/>
          <a:p>
            <a:endParaRPr lang="es-CO"/>
          </a:p>
        </p:txBody>
      </p:sp>
      <p:sp>
        <p:nvSpPr>
          <p:cNvPr id="8" name="TextBox 8"/>
          <p:cNvSpPr txBox="1"/>
          <p:nvPr/>
        </p:nvSpPr>
        <p:spPr>
          <a:xfrm>
            <a:off x="904199" y="2918139"/>
            <a:ext cx="4843397" cy="1675765"/>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La clase Contexto mantiene una referencia a una de las estrategias concretas y se comunica con este objeto únicamente a través de la interfaz estrategia.</a:t>
            </a:r>
          </a:p>
        </p:txBody>
      </p:sp>
      <p:sp>
        <p:nvSpPr>
          <p:cNvPr id="9" name="TextBox 9"/>
          <p:cNvSpPr txBox="1"/>
          <p:nvPr/>
        </p:nvSpPr>
        <p:spPr>
          <a:xfrm>
            <a:off x="13190988" y="2804467"/>
            <a:ext cx="4843397" cy="1675765"/>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La interfaz Estrategia es común a todas las estrategias concretas. Declara un método que la clase contexto utiliza para ejecutar una estrategia.</a:t>
            </a:r>
          </a:p>
        </p:txBody>
      </p:sp>
      <p:sp>
        <p:nvSpPr>
          <p:cNvPr id="10" name="TextBox 10"/>
          <p:cNvSpPr txBox="1"/>
          <p:nvPr/>
        </p:nvSpPr>
        <p:spPr>
          <a:xfrm>
            <a:off x="13190988" y="5511156"/>
            <a:ext cx="4843397" cy="1342390"/>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Las Estrategias Concretas implementan distintas variaciones de un algoritmo que la clase contexto utiliza.</a:t>
            </a:r>
          </a:p>
        </p:txBody>
      </p:sp>
      <p:sp>
        <p:nvSpPr>
          <p:cNvPr id="11" name="TextBox 11"/>
          <p:cNvSpPr txBox="1"/>
          <p:nvPr/>
        </p:nvSpPr>
        <p:spPr>
          <a:xfrm>
            <a:off x="10061836" y="7943112"/>
            <a:ext cx="6120541" cy="2009140"/>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La clase contexto invoca el método de ejecución en el objeto de estrategia vinculado cada vez que necesita ejecutar el algoritmo. La clase contexto no sabe con qué tipo de estrategia funciona o cómo se ejecuta el algoritmo.</a:t>
            </a:r>
          </a:p>
        </p:txBody>
      </p:sp>
      <p:sp>
        <p:nvSpPr>
          <p:cNvPr id="12" name="TextBox 12"/>
          <p:cNvSpPr txBox="1"/>
          <p:nvPr/>
        </p:nvSpPr>
        <p:spPr>
          <a:xfrm>
            <a:off x="1206637" y="6582410"/>
            <a:ext cx="4540958" cy="2675890"/>
          </a:xfrm>
          <a:prstGeom prst="rect">
            <a:avLst/>
          </a:prstGeom>
        </p:spPr>
        <p:txBody>
          <a:bodyPr lIns="0" tIns="0" rIns="0" bIns="0" rtlCol="0" anchor="t">
            <a:spAutoFit/>
          </a:bodyPr>
          <a:lstStyle/>
          <a:p>
            <a:pPr marL="410209" lvl="1" indent="-205105" algn="ctr">
              <a:lnSpc>
                <a:spcPts val="2659"/>
              </a:lnSpc>
              <a:spcBef>
                <a:spcPct val="0"/>
              </a:spcBef>
              <a:buAutoNum type="arabicPeriod"/>
            </a:pPr>
            <a:r>
              <a:rPr lang="en-US" sz="1899">
                <a:solidFill>
                  <a:srgbClr val="FFFFFF"/>
                </a:solidFill>
                <a:latin typeface="Poppins"/>
                <a:ea typeface="Poppins"/>
                <a:cs typeface="Poppins"/>
                <a:sym typeface="Poppins"/>
              </a:rPr>
              <a:t>El Cliente crea un objeto de estrategia específico y lo pasa a la clase contexto. La clase contexto expone un modificador set que permite a los clientes sustituir la estrategia asociada al contexto durante el tiempo de ejecución.</a:t>
            </a:r>
          </a:p>
        </p:txBody>
      </p:sp>
      <p:sp>
        <p:nvSpPr>
          <p:cNvPr id="13" name="Freeform 13"/>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4"/>
            <a:stretch>
              <a:fillRect/>
            </a:stretch>
          </a:blipFill>
        </p:spPr>
        <p:txBody>
          <a:bodyPr/>
          <a:lstStyle/>
          <a:p>
            <a:endParaRPr lang="es-CO"/>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#11</a:t>
            </a:r>
          </a:p>
        </p:txBody>
      </p:sp>
      <p:sp>
        <p:nvSpPr>
          <p:cNvPr id="7" name="Freeform 7"/>
          <p:cNvSpPr/>
          <p:nvPr/>
        </p:nvSpPr>
        <p:spPr>
          <a:xfrm>
            <a:off x="1584014" y="2983328"/>
            <a:ext cx="4205689" cy="1987188"/>
          </a:xfrm>
          <a:custGeom>
            <a:avLst/>
            <a:gdLst/>
            <a:ahLst/>
            <a:cxnLst/>
            <a:rect l="l" t="t" r="r" b="b"/>
            <a:pathLst>
              <a:path w="4205689" h="1987188">
                <a:moveTo>
                  <a:pt x="0" y="0"/>
                </a:moveTo>
                <a:lnTo>
                  <a:pt x="4205689" y="0"/>
                </a:lnTo>
                <a:lnTo>
                  <a:pt x="4205689" y="1987188"/>
                </a:lnTo>
                <a:lnTo>
                  <a:pt x="0" y="198718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O"/>
          </a:p>
        </p:txBody>
      </p:sp>
      <p:sp>
        <p:nvSpPr>
          <p:cNvPr id="8" name="Freeform 8"/>
          <p:cNvSpPr/>
          <p:nvPr/>
        </p:nvSpPr>
        <p:spPr>
          <a:xfrm>
            <a:off x="7330934" y="4751466"/>
            <a:ext cx="10416888" cy="3268298"/>
          </a:xfrm>
          <a:custGeom>
            <a:avLst/>
            <a:gdLst/>
            <a:ahLst/>
            <a:cxnLst/>
            <a:rect l="l" t="t" r="r" b="b"/>
            <a:pathLst>
              <a:path w="10416888" h="3268298">
                <a:moveTo>
                  <a:pt x="0" y="0"/>
                </a:moveTo>
                <a:lnTo>
                  <a:pt x="10416888" y="0"/>
                </a:lnTo>
                <a:lnTo>
                  <a:pt x="10416888" y="3268298"/>
                </a:lnTo>
                <a:lnTo>
                  <a:pt x="0" y="3268298"/>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028700" y="5564482"/>
            <a:ext cx="6178068" cy="2342515"/>
          </a:xfrm>
          <a:prstGeom prst="rect">
            <a:avLst/>
          </a:prstGeom>
        </p:spPr>
        <p:txBody>
          <a:bodyPr lIns="0" tIns="0" rIns="0" bIns="0" rtlCol="0" anchor="t">
            <a:spAutoFit/>
          </a:bodyPr>
          <a:lstStyle/>
          <a:p>
            <a:pPr algn="l">
              <a:lnSpc>
                <a:spcPts val="2659"/>
              </a:lnSpc>
              <a:spcBef>
                <a:spcPct val="0"/>
              </a:spcBef>
            </a:pPr>
            <a:r>
              <a:rPr lang="en-US" sz="1899">
                <a:solidFill>
                  <a:srgbClr val="FFFFFF"/>
                </a:solidFill>
                <a:latin typeface="Poppins"/>
                <a:ea typeface="Poppins"/>
                <a:cs typeface="Poppins"/>
                <a:sym typeface="Poppins"/>
              </a:rPr>
              <a:t>Una aplicación de navegación puede calcular rutas de distintas maneras.</a:t>
            </a:r>
          </a:p>
          <a:p>
            <a:pPr algn="l">
              <a:lnSpc>
                <a:spcPts val="2659"/>
              </a:lnSpc>
              <a:spcBef>
                <a:spcPct val="0"/>
              </a:spcBef>
            </a:pPr>
            <a:r>
              <a:rPr lang="en-US" sz="1899">
                <a:solidFill>
                  <a:srgbClr val="FFFFFF"/>
                </a:solidFill>
                <a:latin typeface="Poppins"/>
                <a:ea typeface="Poppins"/>
                <a:cs typeface="Poppins"/>
                <a:sym typeface="Poppins"/>
              </a:rPr>
              <a:t> El algoritmo de cálculo de ruta no debe estar acoplado a la aplicación, ya que puede cambiar según la preferencia del usuario.</a:t>
            </a:r>
          </a:p>
          <a:p>
            <a:pPr algn="l">
              <a:lnSpc>
                <a:spcPts val="2659"/>
              </a:lnSpc>
              <a:spcBef>
                <a:spcPct val="0"/>
              </a:spcBef>
            </a:pPr>
            <a:r>
              <a:rPr lang="en-US" sz="1899">
                <a:solidFill>
                  <a:srgbClr val="FFFFFF"/>
                </a:solidFill>
                <a:latin typeface="Poppins"/>
                <a:ea typeface="Poppins"/>
                <a:cs typeface="Poppins"/>
                <a:sym typeface="Poppins"/>
              </a:rPr>
              <a:t>Permitir cambiar cómo se calcula la ruta sin modificar la app.</a:t>
            </a:r>
          </a:p>
        </p:txBody>
      </p:sp>
      <p:sp>
        <p:nvSpPr>
          <p:cNvPr id="10" name="Freeform 10"/>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5"/>
            <a:stretch>
              <a:fillRect/>
            </a:stretch>
          </a:blipFill>
        </p:spPr>
        <p:txBody>
          <a:bodyPr/>
          <a:lstStyle/>
          <a:p>
            <a:endParaRPr lang="es-CO"/>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s-CO"/>
          </a:p>
        </p:txBody>
      </p:sp>
      <p:grpSp>
        <p:nvGrpSpPr>
          <p:cNvPr id="3" name="Group 3"/>
          <p:cNvGrpSpPr/>
          <p:nvPr/>
        </p:nvGrpSpPr>
        <p:grpSpPr>
          <a:xfrm rot="-5400000">
            <a:off x="3940201" y="-7697568"/>
            <a:ext cx="10626331" cy="19778728"/>
            <a:chOff x="0" y="0"/>
            <a:chExt cx="2798705" cy="5209212"/>
          </a:xfrm>
        </p:grpSpPr>
        <p:sp>
          <p:nvSpPr>
            <p:cNvPr id="4" name="Freeform 4"/>
            <p:cNvSpPr/>
            <p:nvPr/>
          </p:nvSpPr>
          <p:spPr>
            <a:xfrm>
              <a:off x="0" y="0"/>
              <a:ext cx="2798705" cy="5209212"/>
            </a:xfrm>
            <a:custGeom>
              <a:avLst/>
              <a:gdLst/>
              <a:ahLst/>
              <a:cxnLst/>
              <a:rect l="l" t="t" r="r" b="b"/>
              <a:pathLst>
                <a:path w="2798705" h="5209212">
                  <a:moveTo>
                    <a:pt x="0" y="0"/>
                  </a:moveTo>
                  <a:lnTo>
                    <a:pt x="2798705" y="0"/>
                  </a:lnTo>
                  <a:lnTo>
                    <a:pt x="2798705" y="5209212"/>
                  </a:lnTo>
                  <a:lnTo>
                    <a:pt x="0" y="5209212"/>
                  </a:lnTo>
                  <a:close/>
                </a:path>
              </a:pathLst>
            </a:custGeom>
            <a:gradFill rotWithShape="1">
              <a:gsLst>
                <a:gs pos="0">
                  <a:srgbClr val="000000">
                    <a:alpha val="0"/>
                  </a:srgbClr>
                </a:gs>
                <a:gs pos="100000">
                  <a:srgbClr val="FF00BF">
                    <a:alpha val="52000"/>
                  </a:srgbClr>
                </a:gs>
              </a:gsLst>
              <a:lin ang="0"/>
            </a:gradFill>
          </p:spPr>
          <p:txBody>
            <a:bodyPr/>
            <a:lstStyle/>
            <a:p>
              <a:endParaRPr lang="es-CO"/>
            </a:p>
          </p:txBody>
        </p:sp>
        <p:sp>
          <p:nvSpPr>
            <p:cNvPr id="5" name="TextBox 5"/>
            <p:cNvSpPr txBox="1"/>
            <p:nvPr/>
          </p:nvSpPr>
          <p:spPr>
            <a:xfrm>
              <a:off x="0" y="-38100"/>
              <a:ext cx="2798705" cy="52473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52679" y="2067594"/>
            <a:ext cx="7875242" cy="615367"/>
          </a:xfrm>
          <a:prstGeom prst="rect">
            <a:avLst/>
          </a:prstGeom>
        </p:spPr>
        <p:txBody>
          <a:bodyPr lIns="0" tIns="0" rIns="0" bIns="0" rtlCol="0" anchor="t">
            <a:spAutoFit/>
          </a:bodyPr>
          <a:lstStyle/>
          <a:p>
            <a:pPr algn="ctr">
              <a:lnSpc>
                <a:spcPts val="5045"/>
              </a:lnSpc>
              <a:spcBef>
                <a:spcPct val="0"/>
              </a:spcBef>
            </a:pPr>
            <a:r>
              <a:rPr lang="en-US" sz="3604">
                <a:solidFill>
                  <a:srgbClr val="F800C0"/>
                </a:solidFill>
                <a:latin typeface="HK Modular"/>
                <a:ea typeface="HK Modular"/>
                <a:cs typeface="HK Modular"/>
                <a:sym typeface="HK Modular"/>
              </a:rPr>
              <a:t>EJERCICIO #11</a:t>
            </a:r>
          </a:p>
        </p:txBody>
      </p:sp>
      <p:sp>
        <p:nvSpPr>
          <p:cNvPr id="7" name="Freeform 7"/>
          <p:cNvSpPr/>
          <p:nvPr/>
        </p:nvSpPr>
        <p:spPr>
          <a:xfrm>
            <a:off x="2481652" y="4199345"/>
            <a:ext cx="4592367" cy="5218598"/>
          </a:xfrm>
          <a:custGeom>
            <a:avLst/>
            <a:gdLst/>
            <a:ahLst/>
            <a:cxnLst/>
            <a:rect l="l" t="t" r="r" b="b"/>
            <a:pathLst>
              <a:path w="4592367" h="5218598">
                <a:moveTo>
                  <a:pt x="0" y="0"/>
                </a:moveTo>
                <a:lnTo>
                  <a:pt x="4592367" y="0"/>
                </a:lnTo>
                <a:lnTo>
                  <a:pt x="4592367" y="5218598"/>
                </a:lnTo>
                <a:lnTo>
                  <a:pt x="0" y="5218598"/>
                </a:lnTo>
                <a:lnTo>
                  <a:pt x="0" y="0"/>
                </a:lnTo>
                <a:close/>
              </a:path>
            </a:pathLst>
          </a:custGeom>
          <a:blipFill>
            <a:blip r:embed="rId3"/>
            <a:stretch>
              <a:fillRect/>
            </a:stretch>
          </a:blipFill>
        </p:spPr>
        <p:txBody>
          <a:bodyPr/>
          <a:lstStyle/>
          <a:p>
            <a:endParaRPr lang="es-CO"/>
          </a:p>
        </p:txBody>
      </p:sp>
      <p:sp>
        <p:nvSpPr>
          <p:cNvPr id="8" name="Freeform 8"/>
          <p:cNvSpPr/>
          <p:nvPr/>
        </p:nvSpPr>
        <p:spPr>
          <a:xfrm>
            <a:off x="7834536" y="4305436"/>
            <a:ext cx="9270557" cy="5006417"/>
          </a:xfrm>
          <a:custGeom>
            <a:avLst/>
            <a:gdLst/>
            <a:ahLst/>
            <a:cxnLst/>
            <a:rect l="l" t="t" r="r" b="b"/>
            <a:pathLst>
              <a:path w="9270557" h="5006417">
                <a:moveTo>
                  <a:pt x="0" y="0"/>
                </a:moveTo>
                <a:lnTo>
                  <a:pt x="9270557" y="0"/>
                </a:lnTo>
                <a:lnTo>
                  <a:pt x="9270557" y="5006416"/>
                </a:lnTo>
                <a:lnTo>
                  <a:pt x="0" y="5006416"/>
                </a:lnTo>
                <a:lnTo>
                  <a:pt x="0" y="0"/>
                </a:lnTo>
                <a:close/>
              </a:path>
            </a:pathLst>
          </a:custGeom>
          <a:blipFill>
            <a:blip r:embed="rId4"/>
            <a:stretch>
              <a:fillRect/>
            </a:stretch>
          </a:blipFill>
        </p:spPr>
        <p:txBody>
          <a:bodyPr/>
          <a:lstStyle/>
          <a:p>
            <a:endParaRPr lang="es-CO"/>
          </a:p>
        </p:txBody>
      </p:sp>
      <p:sp>
        <p:nvSpPr>
          <p:cNvPr id="9" name="TextBox 9"/>
          <p:cNvSpPr txBox="1"/>
          <p:nvPr/>
        </p:nvSpPr>
        <p:spPr>
          <a:xfrm>
            <a:off x="1083578" y="3121522"/>
            <a:ext cx="16613442" cy="466483"/>
          </a:xfrm>
          <a:prstGeom prst="rect">
            <a:avLst/>
          </a:prstGeom>
        </p:spPr>
        <p:txBody>
          <a:bodyPr lIns="0" tIns="0" rIns="0" bIns="0" rtlCol="0" anchor="t">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
        <p:nvSpPr>
          <p:cNvPr id="10" name="Freeform 10"/>
          <p:cNvSpPr/>
          <p:nvPr/>
        </p:nvSpPr>
        <p:spPr>
          <a:xfrm>
            <a:off x="7774731" y="-548656"/>
            <a:ext cx="2957271" cy="2957271"/>
          </a:xfrm>
          <a:custGeom>
            <a:avLst/>
            <a:gdLst/>
            <a:ahLst/>
            <a:cxnLst/>
            <a:rect l="l" t="t" r="r" b="b"/>
            <a:pathLst>
              <a:path w="2957271" h="2957271">
                <a:moveTo>
                  <a:pt x="0" y="0"/>
                </a:moveTo>
                <a:lnTo>
                  <a:pt x="2957272" y="0"/>
                </a:lnTo>
                <a:lnTo>
                  <a:pt x="2957272" y="2957271"/>
                </a:lnTo>
                <a:lnTo>
                  <a:pt x="0" y="2957271"/>
                </a:lnTo>
                <a:lnTo>
                  <a:pt x="0" y="0"/>
                </a:lnTo>
                <a:close/>
              </a:path>
            </a:pathLst>
          </a:custGeom>
          <a:blipFill>
            <a:blip r:embed="rId5"/>
            <a:stretch>
              <a:fillRect/>
            </a:stretch>
          </a:blipFill>
        </p:spPr>
        <p:txBody>
          <a:bodyPr/>
          <a:lstStyle/>
          <a:p>
            <a:endParaRPr lang="es-CO"/>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2B5BAC97FAEABB4E9C157EE386378C88" ma:contentTypeVersion="3" ma:contentTypeDescription="Crear nuevo documento." ma:contentTypeScope="" ma:versionID="a485e506546b9dc49e4f01043526fcc8">
  <xsd:schema xmlns:xsd="http://www.w3.org/2001/XMLSchema" xmlns:xs="http://www.w3.org/2001/XMLSchema" xmlns:p="http://schemas.microsoft.com/office/2006/metadata/properties" xmlns:ns2="a4ca1935-4d02-4ee2-b565-35cc2fa3819b" targetNamespace="http://schemas.microsoft.com/office/2006/metadata/properties" ma:root="true" ma:fieldsID="869b673358c31917cf7b18db7e5787e9" ns2:_="">
    <xsd:import namespace="a4ca1935-4d02-4ee2-b565-35cc2fa3819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ca1935-4d02-4ee2-b565-35cc2fa381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37A98F-B29F-49A9-A8FD-5CB6A7855D9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46067BF-D1EE-43B5-A661-0B538A6737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ca1935-4d02-4ee2-b565-35cc2fa381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60009B7-FC32-4200-9D2C-7301C30875E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3793</Words>
  <Application>Microsoft Office PowerPoint</Application>
  <PresentationFormat>Personalizado</PresentationFormat>
  <Paragraphs>279</Paragraphs>
  <Slides>50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50</vt:i4>
      </vt:variant>
    </vt:vector>
  </HeadingPairs>
  <TitlesOfParts>
    <vt:vector size="56" baseType="lpstr">
      <vt:lpstr>Calibri</vt:lpstr>
      <vt:lpstr>Canva Sans</vt:lpstr>
      <vt:lpstr>Poppins</vt:lpstr>
      <vt:lpstr>HK Modular</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DOSW 1 - S03</dc:title>
  <cp:lastModifiedBy>Sebastián Granados</cp:lastModifiedBy>
  <cp:revision>2</cp:revision>
  <dcterms:created xsi:type="dcterms:W3CDTF">2006-08-16T00:00:00Z</dcterms:created>
  <dcterms:modified xsi:type="dcterms:W3CDTF">2026-08-31T19:55:46Z</dcterms:modified>
  <dc:identifier>DAHAPI8NkbM</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0x0101002B5BAC97FAEABB4E9C157EE386378C88</vt:lpwstr>
  </property>
</Properties>
</file>