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Lst>
  <p:sldSz cx="18288000" cy="10287000"/>
  <p:notesSz cx="6858000" cy="9144000"/>
  <p:embeddedFontLst>
    <p:embeddedFont>
      <p:font typeface="HK Modular" charset="1" panose="00000800000000000000"/>
      <p:regular r:id="rId81"/>
    </p:embeddedFont>
    <p:embeddedFont>
      <p:font typeface="RQND Pro" charset="1" panose="00000500000000000000"/>
      <p:regular r:id="rId82"/>
    </p:embeddedFont>
    <p:embeddedFont>
      <p:font typeface="Poppins" charset="1" panose="00000500000000000000"/>
      <p:regular r:id="rId83"/>
    </p:embeddedFont>
    <p:embeddedFont>
      <p:font typeface="Canva Sans Bold" charset="1" panose="020B0803030501040103"/>
      <p:regular r:id="rId84"/>
    </p:embeddedFont>
    <p:embeddedFont>
      <p:font typeface="Canva Sans" charset="1" panose="020B0503030501040103"/>
      <p:regular r:id="rId85"/>
    </p:embeddedFont>
    <p:embeddedFont>
      <p:font typeface="Poppins Bold" charset="1" panose="00000800000000000000"/>
      <p:regular r:id="rId86"/>
    </p:embeddedFont>
    <p:embeddedFont>
      <p:font typeface="Arimo" charset="1" panose="020B0604020202020204"/>
      <p:regular r:id="rId87"/>
    </p:embeddedFont>
    <p:embeddedFont>
      <p:font typeface="Poppins Italics" charset="1" panose="00000500000000000000"/>
      <p:regular r:id="rId8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font" Target="fonts/font84.fntdata"/><Relationship Id="rId89" Type="http://schemas.openxmlformats.org/officeDocument/2006/relationships/customXml" Target="../customXml/item1.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tableStyles" Target="tableStyles.xml"/><Relationship Id="rId90" Type="http://schemas.openxmlformats.org/officeDocument/2006/relationships/customXml" Target="../customXml/item2.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51" Type="http://schemas.openxmlformats.org/officeDocument/2006/relationships/slide" Target="slides/slide46.xml"/><Relationship Id="rId72" Type="http://schemas.openxmlformats.org/officeDocument/2006/relationships/slide" Target="slides/slide67.xml"/><Relationship Id="rId8" Type="http://schemas.openxmlformats.org/officeDocument/2006/relationships/slide" Target="slides/slide3.xml"/><Relationship Id="rId80" Type="http://schemas.openxmlformats.org/officeDocument/2006/relationships/slide" Target="slides/slide75.xml"/><Relationship Id="rId85" Type="http://schemas.openxmlformats.org/officeDocument/2006/relationships/font" Target="fonts/font85.fntdata"/><Relationship Id="rId3" Type="http://schemas.openxmlformats.org/officeDocument/2006/relationships/viewProps" Target="viewProps.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font" Target="fonts/font83.fntdata"/><Relationship Id="rId88" Type="http://schemas.openxmlformats.org/officeDocument/2006/relationships/font" Target="fonts/font88.fntdata"/><Relationship Id="rId9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font" Target="fonts/font81.fntdata"/><Relationship Id="rId86" Type="http://schemas.openxmlformats.org/officeDocument/2006/relationships/font" Target="fonts/font86.fntdata"/><Relationship Id="rId4" Type="http://schemas.openxmlformats.org/officeDocument/2006/relationships/theme" Target="theme/theme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presProps" Target="presProps.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font" Target="fonts/font87.fntdata"/><Relationship Id="rId61" Type="http://schemas.openxmlformats.org/officeDocument/2006/relationships/slide" Target="slides/slide56.xml"/><Relationship Id="rId82" Type="http://schemas.openxmlformats.org/officeDocument/2006/relationships/font" Target="fonts/font82.fntdata"/><Relationship Id="rId19" Type="http://schemas.openxmlformats.org/officeDocument/2006/relationships/slide" Target="slides/slide14.xml"/></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 Id="rId4"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6.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22.png" Type="http://schemas.openxmlformats.org/officeDocument/2006/relationships/image"/><Relationship Id="rId4"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22.png" Type="http://schemas.openxmlformats.org/officeDocument/2006/relationships/image"/><Relationship Id="rId4" Target="../media/image6.png" Type="http://schemas.openxmlformats.org/officeDocument/2006/relationships/image"/><Relationship Id="rId5" Target="../media/image2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26.png" Type="http://schemas.openxmlformats.org/officeDocument/2006/relationships/image"/><Relationship Id="rId4"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26.png" Type="http://schemas.openxmlformats.org/officeDocument/2006/relationships/image"/><Relationship Id="rId4"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27.pn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 Id="rId4" Target="../media/image23.png" Type="http://schemas.openxmlformats.org/officeDocument/2006/relationships/image"/><Relationship Id="rId5" Target="../media/image3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 Id="rId4" Target="../media/image2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33.jpe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 Id="rId5" Target="../media/image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38.png" Type="http://schemas.openxmlformats.org/officeDocument/2006/relationships/image"/><Relationship Id="rId4" Target="../media/image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39.png" Type="http://schemas.openxmlformats.org/officeDocument/2006/relationships/image"/><Relationship Id="rId4" Target="../media/image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40.png" Type="http://schemas.openxmlformats.org/officeDocument/2006/relationships/image"/><Relationship Id="rId4" Target="../media/image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 Id="rId4" Target="../media/image3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41.png" Type="http://schemas.openxmlformats.org/officeDocument/2006/relationships/image"/><Relationship Id="rId4" Target="../media/image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42.png" Type="http://schemas.openxmlformats.org/officeDocument/2006/relationships/image"/><Relationship Id="rId4" Target="../media/image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43.png" Type="http://schemas.openxmlformats.org/officeDocument/2006/relationships/image"/><Relationship Id="rId4" Target="../media/image44.png" Type="http://schemas.openxmlformats.org/officeDocument/2006/relationships/image"/><Relationship Id="rId5" Target="../media/image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45.jpeg" Type="http://schemas.openxmlformats.org/officeDocument/2006/relationships/image"/><Relationship Id="rId4" Target="../media/image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46.pn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 Id="rId6" Target="../media/image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49.png" Type="http://schemas.openxmlformats.org/officeDocument/2006/relationships/image"/><Relationship Id="rId4" Target="../media/image50.png" Type="http://schemas.openxmlformats.org/officeDocument/2006/relationships/image"/><Relationship Id="rId5" Target="../media/image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51.png" Type="http://schemas.openxmlformats.org/officeDocument/2006/relationships/image"/><Relationship Id="rId4" Target="https://www.figma.com/community/file/1052832340031141040/spotify-mobile-ui-kit" TargetMode="External" Type="http://schemas.openxmlformats.org/officeDocument/2006/relationships/hyperlink"/><Relationship Id="rId5" Target="../media/image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52.png" Type="http://schemas.openxmlformats.org/officeDocument/2006/relationships/image"/><Relationship Id="rId4" Target="../media/image6.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50.png" Type="http://schemas.openxmlformats.org/officeDocument/2006/relationships/image"/><Relationship Id="rId4" Target="../media/image6.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53.png" Type="http://schemas.openxmlformats.org/officeDocument/2006/relationships/image"/><Relationship Id="rId4" Target="../media/image54.png" Type="http://schemas.openxmlformats.org/officeDocument/2006/relationships/image"/><Relationship Id="rId5" Target="../media/image6.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55.png" Type="http://schemas.openxmlformats.org/officeDocument/2006/relationships/image"/><Relationship Id="rId4" Target="../media/image56.svg" Type="http://schemas.openxmlformats.org/officeDocument/2006/relationships/image"/><Relationship Id="rId5" Target="../media/image6.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55.png" Type="http://schemas.openxmlformats.org/officeDocument/2006/relationships/image"/><Relationship Id="rId4" Target="../media/image56.svg" Type="http://schemas.openxmlformats.org/officeDocument/2006/relationships/image"/><Relationship Id="rId5" Target="../media/image6.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57.png" Type="http://schemas.openxmlformats.org/officeDocument/2006/relationships/image"/><Relationship Id="rId4" Target="../media/image6.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58.png" Type="http://schemas.openxmlformats.org/officeDocument/2006/relationships/image"/><Relationship Id="rId4" Target="../media/image6.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59.png" Type="http://schemas.openxmlformats.org/officeDocument/2006/relationships/image"/><Relationship Id="rId4" Target="../media/image6.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0.png" Type="http://schemas.openxmlformats.org/officeDocument/2006/relationships/image"/><Relationship Id="rId4" Target="../media/image6.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1.png" Type="http://schemas.openxmlformats.org/officeDocument/2006/relationships/image"/><Relationship Id="rId4" Target="../media/image6.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2.png" Type="http://schemas.openxmlformats.org/officeDocument/2006/relationships/image"/><Relationship Id="rId4" Target="../media/image6.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3.png" Type="http://schemas.openxmlformats.org/officeDocument/2006/relationships/image"/><Relationship Id="rId4" Target="../media/image6.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4.png" Type="http://schemas.openxmlformats.org/officeDocument/2006/relationships/image"/><Relationship Id="rId4" Target="../media/image6.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5.png" Type="http://schemas.openxmlformats.org/officeDocument/2006/relationships/image"/><Relationship Id="rId4" Target="../media/image6.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6.png" Type="http://schemas.openxmlformats.org/officeDocument/2006/relationships/image"/><Relationship Id="rId4" Target="../media/image6.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7.png" Type="http://schemas.openxmlformats.org/officeDocument/2006/relationships/image"/><Relationship Id="rId4" Target="../media/image6.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8.png" Type="http://schemas.openxmlformats.org/officeDocument/2006/relationships/image"/><Relationship Id="rId4" Target="../media/image69.png" Type="http://schemas.openxmlformats.org/officeDocument/2006/relationships/image"/><Relationship Id="rId5" Target="../media/image70.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71.png" Type="http://schemas.openxmlformats.org/officeDocument/2006/relationships/image"/><Relationship Id="rId4" Target="../media/image72.svg" Type="http://schemas.openxmlformats.org/officeDocument/2006/relationships/image"/><Relationship Id="rId5" Target="../media/image6.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73.png" Type="http://schemas.openxmlformats.org/officeDocument/2006/relationships/image"/><Relationship Id="rId4" Target="../media/image74.png" Type="http://schemas.openxmlformats.org/officeDocument/2006/relationships/image"/><Relationship Id="rId5" Target="../media/image75.png" Type="http://schemas.openxmlformats.org/officeDocument/2006/relationships/image"/><Relationship Id="rId6" Target="../media/image6.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76.png" Type="http://schemas.openxmlformats.org/officeDocument/2006/relationships/image"/><Relationship Id="rId4" Target="../media/image77.png" Type="http://schemas.openxmlformats.org/officeDocument/2006/relationships/image"/><Relationship Id="rId5" Target="../media/image78.png" Type="http://schemas.openxmlformats.org/officeDocument/2006/relationships/image"/><Relationship Id="rId6" Target="../media/image6.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 Id="rId4" Target="../media/image79.pn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 Id="rId4" Target="../media/image80.jpe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 Id="rId4" Target="../media/image81.png" Type="http://schemas.openxmlformats.org/officeDocument/2006/relationships/image"/><Relationship Id="rId5" Target="../media/image82.png" Type="http://schemas.openxmlformats.org/officeDocument/2006/relationships/image"/><Relationship Id="rId6" Target="../media/image83.png" Type="http://schemas.openxmlformats.org/officeDocument/2006/relationships/image"/><Relationship Id="rId7" Target="../media/image84.png" Type="http://schemas.openxmlformats.org/officeDocument/2006/relationships/image"/></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 Id="rId4" Target="../media/image85.png" Type="http://schemas.openxmlformats.org/officeDocument/2006/relationships/image"/></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 Id="rId4" Target="../media/image86.jpeg" Type="http://schemas.openxmlformats.org/officeDocument/2006/relationships/image"/></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 Id="rId4" Target="../media/image87.png" Type="http://schemas.openxmlformats.org/officeDocument/2006/relationships/image"/></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 Id="rId4" Target="../media/image88.png" Type="http://schemas.openxmlformats.org/officeDocument/2006/relationships/image"/></Relationships>
</file>

<file path=ppt/slides/_rels/slide7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s>
</file>

<file path=ppt/slides/_rels/slide7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89.png" Type="http://schemas.openxmlformats.org/officeDocument/2006/relationships/image"/><Relationship Id="rId4"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3"/>
            <a:stretch>
              <a:fillRect l="0" t="0" r="0" b="0"/>
            </a:stretch>
          </a:blipFill>
        </p:spPr>
      </p:sp>
      <p:sp>
        <p:nvSpPr>
          <p:cNvPr name="Freeform 7" id="7"/>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304904" y="2295809"/>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6"/>
            <a:stretch>
              <a:fillRect l="0" t="0" r="0" b="0"/>
            </a:stretch>
          </a:blipFill>
        </p:spPr>
      </p:sp>
      <p:sp>
        <p:nvSpPr>
          <p:cNvPr name="Freeform 9" id="9"/>
          <p:cNvSpPr/>
          <p:nvPr/>
        </p:nvSpPr>
        <p:spPr>
          <a:xfrm flipH="false" flipV="false" rot="0">
            <a:off x="1302528" y="2191796"/>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7"/>
            <a:stretch>
              <a:fillRect l="0" t="0" r="0" b="0"/>
            </a:stretch>
          </a:blipFill>
        </p:spPr>
      </p:sp>
      <p:sp>
        <p:nvSpPr>
          <p:cNvPr name="TextBox 10" id="10"/>
          <p:cNvSpPr txBox="true"/>
          <p:nvPr/>
        </p:nvSpPr>
        <p:spPr>
          <a:xfrm rot="0">
            <a:off x="8304904" y="4523757"/>
            <a:ext cx="8271372" cy="1115662"/>
          </a:xfrm>
          <a:prstGeom prst="rect">
            <a:avLst/>
          </a:prstGeom>
        </p:spPr>
        <p:txBody>
          <a:bodyPr anchor="t" rtlCol="false" tIns="0" lIns="0" bIns="0" rIns="0">
            <a:spAutoFit/>
          </a:bodyPr>
          <a:lstStyle/>
          <a:p>
            <a:pPr algn="l">
              <a:lnSpc>
                <a:spcPts val="9165"/>
              </a:lnSpc>
              <a:spcBef>
                <a:spcPct val="0"/>
              </a:spcBef>
            </a:pPr>
            <a:r>
              <a:rPr lang="en-US" sz="6546">
                <a:solidFill>
                  <a:srgbClr val="F800C0"/>
                </a:solidFill>
                <a:latin typeface="HK Modular"/>
                <a:ea typeface="HK Modular"/>
                <a:cs typeface="HK Modular"/>
                <a:sym typeface="HK Modular"/>
              </a:rPr>
              <a:t>SEMANA 4</a:t>
            </a:r>
          </a:p>
        </p:txBody>
      </p:sp>
      <p:sp>
        <p:nvSpPr>
          <p:cNvPr name="TextBox 11" id="11"/>
          <p:cNvSpPr txBox="true"/>
          <p:nvPr/>
        </p:nvSpPr>
        <p:spPr>
          <a:xfrm rot="0">
            <a:off x="8304904" y="5852826"/>
            <a:ext cx="8494866" cy="892949"/>
          </a:xfrm>
          <a:prstGeom prst="rect">
            <a:avLst/>
          </a:prstGeom>
        </p:spPr>
        <p:txBody>
          <a:bodyPr anchor="t" rtlCol="false" tIns="0" lIns="0" bIns="0" rIns="0">
            <a:spAutoFit/>
          </a:bodyPr>
          <a:lstStyle/>
          <a:p>
            <a:pPr algn="l">
              <a:lnSpc>
                <a:spcPts val="7267"/>
              </a:lnSpc>
              <a:spcBef>
                <a:spcPct val="0"/>
              </a:spcBef>
            </a:pPr>
            <a:r>
              <a:rPr lang="en-US" sz="5191">
                <a:solidFill>
                  <a:srgbClr val="FF914D"/>
                </a:solidFill>
                <a:latin typeface="HK Modular"/>
                <a:ea typeface="HK Modular"/>
                <a:cs typeface="HK Modular"/>
                <a:sym typeface="HK Modular"/>
              </a:rPr>
              <a:t>GRUPO 1</a:t>
            </a:r>
          </a:p>
        </p:txBody>
      </p:sp>
      <p:sp>
        <p:nvSpPr>
          <p:cNvPr name="TextBox 12" id="12"/>
          <p:cNvSpPr txBox="true"/>
          <p:nvPr/>
        </p:nvSpPr>
        <p:spPr>
          <a:xfrm rot="0">
            <a:off x="8906723" y="2356120"/>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10800000">
            <a:off x="-1787219" y="2807845"/>
            <a:ext cx="7553143" cy="9506253"/>
            <a:chOff x="0" y="0"/>
            <a:chExt cx="2170403" cy="2731631"/>
          </a:xfrm>
        </p:grpSpPr>
        <p:sp>
          <p:nvSpPr>
            <p:cNvPr name="Freeform 4" id="4"/>
            <p:cNvSpPr/>
            <p:nvPr/>
          </p:nvSpPr>
          <p:spPr>
            <a:xfrm flipH="false" flipV="false" rot="0">
              <a:off x="0" y="0"/>
              <a:ext cx="2170403" cy="2731631"/>
            </a:xfrm>
            <a:custGeom>
              <a:avLst/>
              <a:gdLst/>
              <a:ahLst/>
              <a:cxnLst/>
              <a:rect r="r" b="b" t="t" l="l"/>
              <a:pathLst>
                <a:path h="2731631" w="2170403">
                  <a:moveTo>
                    <a:pt x="29725" y="0"/>
                  </a:moveTo>
                  <a:lnTo>
                    <a:pt x="2140678" y="0"/>
                  </a:lnTo>
                  <a:cubicBezTo>
                    <a:pt x="2148561" y="0"/>
                    <a:pt x="2156122" y="3132"/>
                    <a:pt x="2161696" y="8706"/>
                  </a:cubicBezTo>
                  <a:cubicBezTo>
                    <a:pt x="2167271" y="14281"/>
                    <a:pt x="2170403" y="21841"/>
                    <a:pt x="2170403" y="29725"/>
                  </a:cubicBezTo>
                  <a:lnTo>
                    <a:pt x="2170403" y="2701906"/>
                  </a:lnTo>
                  <a:cubicBezTo>
                    <a:pt x="2170403" y="2718322"/>
                    <a:pt x="2157094" y="2731631"/>
                    <a:pt x="2140678" y="2731631"/>
                  </a:cubicBezTo>
                  <a:lnTo>
                    <a:pt x="29725" y="2731631"/>
                  </a:lnTo>
                  <a:cubicBezTo>
                    <a:pt x="21841" y="2731631"/>
                    <a:pt x="14281" y="2728499"/>
                    <a:pt x="8706" y="2722924"/>
                  </a:cubicBezTo>
                  <a:cubicBezTo>
                    <a:pt x="3132" y="2717350"/>
                    <a:pt x="0" y="2709789"/>
                    <a:pt x="0" y="2701906"/>
                  </a:cubicBezTo>
                  <a:lnTo>
                    <a:pt x="0" y="29725"/>
                  </a:lnTo>
                  <a:cubicBezTo>
                    <a:pt x="0" y="21841"/>
                    <a:pt x="3132" y="14281"/>
                    <a:pt x="8706" y="8706"/>
                  </a:cubicBezTo>
                  <a:cubicBezTo>
                    <a:pt x="14281" y="3132"/>
                    <a:pt x="21841" y="0"/>
                    <a:pt x="29725" y="0"/>
                  </a:cubicBezTo>
                  <a:close/>
                </a:path>
              </a:pathLst>
            </a:custGeom>
            <a:gradFill rotWithShape="true">
              <a:gsLst>
                <a:gs pos="0">
                  <a:srgbClr val="000000">
                    <a:alpha val="0"/>
                  </a:srgbClr>
                </a:gs>
                <a:gs pos="100000">
                  <a:srgbClr val="FF00BF">
                    <a:alpha val="100000"/>
                  </a:srgbClr>
                </a:gs>
              </a:gsLst>
              <a:lin ang="0"/>
            </a:gradFill>
          </p:spPr>
        </p:sp>
        <p:sp>
          <p:nvSpPr>
            <p:cNvPr name="TextBox 5" id="5"/>
            <p:cNvSpPr txBox="true"/>
            <p:nvPr/>
          </p:nvSpPr>
          <p:spPr>
            <a:xfrm>
              <a:off x="0" y="-38100"/>
              <a:ext cx="2170403" cy="27697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5400000">
            <a:off x="3940201" y="-7697568"/>
            <a:ext cx="10626331" cy="19778728"/>
            <a:chOff x="0" y="0"/>
            <a:chExt cx="2798705" cy="5209212"/>
          </a:xfrm>
        </p:grpSpPr>
        <p:sp>
          <p:nvSpPr>
            <p:cNvPr name="Freeform 7" id="7"/>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8" id="8"/>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649828" y="2684020"/>
            <a:ext cx="12450321" cy="2102454"/>
          </a:xfrm>
          <a:prstGeom prst="rect">
            <a:avLst/>
          </a:prstGeom>
        </p:spPr>
        <p:txBody>
          <a:bodyPr anchor="t" rtlCol="false" tIns="0" lIns="0" bIns="0" rIns="0">
            <a:spAutoFit/>
          </a:bodyPr>
          <a:lstStyle/>
          <a:p>
            <a:pPr algn="ctr">
              <a:lnSpc>
                <a:spcPts val="8397"/>
              </a:lnSpc>
              <a:spcBef>
                <a:spcPct val="0"/>
              </a:spcBef>
            </a:pPr>
            <a:r>
              <a:rPr lang="en-US" sz="5997">
                <a:solidFill>
                  <a:srgbClr val="FF914D"/>
                </a:solidFill>
                <a:latin typeface="HK Modular"/>
                <a:ea typeface="HK Modular"/>
                <a:cs typeface="HK Modular"/>
                <a:sym typeface="HK Modular"/>
              </a:rPr>
              <a:t>TALLER SOLID Y PATRONES</a:t>
            </a:r>
          </a:p>
        </p:txBody>
      </p:sp>
      <p:grpSp>
        <p:nvGrpSpPr>
          <p:cNvPr name="Group 10" id="10"/>
          <p:cNvGrpSpPr/>
          <p:nvPr/>
        </p:nvGrpSpPr>
        <p:grpSpPr>
          <a:xfrm rot="0">
            <a:off x="572768" y="3822181"/>
            <a:ext cx="4125543" cy="412554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5960DC">
                      <a:alpha val="100000"/>
                    </a:srgbClr>
                  </a:gs>
                  <a:gs pos="100000">
                    <a:srgbClr val="FF99FF">
                      <a:alpha val="100000"/>
                    </a:srgbClr>
                  </a:gs>
                </a:gsLst>
                <a:lin ang="0"/>
              </a:gra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a:grpSpLocks noChangeAspect="true"/>
          </p:cNvGrpSpPr>
          <p:nvPr/>
        </p:nvGrpSpPr>
        <p:grpSpPr>
          <a:xfrm rot="0">
            <a:off x="902350" y="4151763"/>
            <a:ext cx="3466379" cy="3466379"/>
            <a:chOff x="0" y="0"/>
            <a:chExt cx="14840029" cy="14840029"/>
          </a:xfrm>
        </p:grpSpPr>
        <p:sp>
          <p:nvSpPr>
            <p:cNvPr name="Freeform 14" id="14"/>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C4459F"/>
            </a:solidFill>
          </p:spPr>
        </p:sp>
        <p:sp>
          <p:nvSpPr>
            <p:cNvPr name="Freeform 15" id="15"/>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6" id="16"/>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3"/>
              <a:stretch>
                <a:fillRect l="-24712" t="0" r="-24712" b="0"/>
              </a:stretch>
            </a:blipFill>
          </p:spPr>
        </p:sp>
      </p:grpSp>
      <p:sp>
        <p:nvSpPr>
          <p:cNvPr name="TextBox 17" id="17"/>
          <p:cNvSpPr txBox="true"/>
          <p:nvPr/>
        </p:nvSpPr>
        <p:spPr>
          <a:xfrm rot="0">
            <a:off x="5106066" y="6527546"/>
            <a:ext cx="11651029"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El taller #4 Ya esta disponible en Teams - recuerden es taller de la bitacora</a:t>
            </a:r>
          </a:p>
        </p:txBody>
      </p:sp>
      <p:sp>
        <p:nvSpPr>
          <p:cNvPr name="TextBox 18" id="18"/>
          <p:cNvSpPr txBox="true"/>
          <p:nvPr/>
        </p:nvSpPr>
        <p:spPr>
          <a:xfrm rot="0">
            <a:off x="5106066" y="7881049"/>
            <a:ext cx="11651029"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Los estudiantes que estan exonerados pueden presentarlo ya que les sirve para afianzar conocimientos</a:t>
            </a:r>
          </a:p>
        </p:txBody>
      </p:sp>
      <p:sp>
        <p:nvSpPr>
          <p:cNvPr name="Freeform 19" id="19"/>
          <p:cNvSpPr/>
          <p:nvPr/>
        </p:nvSpPr>
        <p:spPr>
          <a:xfrm flipH="false" flipV="false" rot="0">
            <a:off x="7356419" y="-431934"/>
            <a:ext cx="3575162" cy="3575162"/>
          </a:xfrm>
          <a:custGeom>
            <a:avLst/>
            <a:gdLst/>
            <a:ahLst/>
            <a:cxnLst/>
            <a:rect r="r" b="b" t="t" l="l"/>
            <a:pathLst>
              <a:path h="3575162" w="3575162">
                <a:moveTo>
                  <a:pt x="0" y="0"/>
                </a:moveTo>
                <a:lnTo>
                  <a:pt x="3575162" y="0"/>
                </a:lnTo>
                <a:lnTo>
                  <a:pt x="3575162" y="3575162"/>
                </a:lnTo>
                <a:lnTo>
                  <a:pt x="0" y="3575162"/>
                </a:lnTo>
                <a:lnTo>
                  <a:pt x="0" y="0"/>
                </a:lnTo>
                <a:close/>
              </a:path>
            </a:pathLst>
          </a:custGeom>
          <a:blipFill>
            <a:blip r:embed="rId4"/>
            <a:stretch>
              <a:fillRect l="0" t="0" r="0" b="0"/>
            </a:stretch>
          </a:blipFill>
        </p:spPr>
      </p:sp>
      <p:sp>
        <p:nvSpPr>
          <p:cNvPr name="TextBox 20" id="20"/>
          <p:cNvSpPr txBox="true"/>
          <p:nvPr/>
        </p:nvSpPr>
        <p:spPr>
          <a:xfrm rot="0">
            <a:off x="5213548" y="5427117"/>
            <a:ext cx="11651029"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El taller que se les mando en la ultima sesion porfavor entregarlo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085699" y="1809394"/>
            <a:ext cx="9389196" cy="1115662"/>
          </a:xfrm>
          <a:prstGeom prst="rect">
            <a:avLst/>
          </a:prstGeom>
        </p:spPr>
        <p:txBody>
          <a:bodyPr anchor="t" rtlCol="false" tIns="0" lIns="0" bIns="0" rIns="0">
            <a:spAutoFit/>
          </a:bodyPr>
          <a:lstStyle/>
          <a:p>
            <a:pPr algn="l">
              <a:lnSpc>
                <a:spcPts val="9165"/>
              </a:lnSpc>
              <a:spcBef>
                <a:spcPct val="0"/>
              </a:spcBef>
            </a:pPr>
            <a:r>
              <a:rPr lang="en-US" sz="6546">
                <a:solidFill>
                  <a:srgbClr val="F800C0"/>
                </a:solidFill>
                <a:latin typeface="HK Modular"/>
                <a:ea typeface="HK Modular"/>
                <a:cs typeface="HK Modular"/>
                <a:sym typeface="HK Modular"/>
              </a:rPr>
              <a:t>AGENDA</a:t>
            </a:r>
          </a:p>
        </p:txBody>
      </p:sp>
      <p:sp>
        <p:nvSpPr>
          <p:cNvPr name="Freeform 8" id="8"/>
          <p:cNvSpPr/>
          <p:nvPr/>
        </p:nvSpPr>
        <p:spPr>
          <a:xfrm flipH="false" flipV="false" rot="0">
            <a:off x="8304904" y="437716"/>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5"/>
            <a:stretch>
              <a:fillRect l="0" t="0" r="0" b="0"/>
            </a:stretch>
          </a:blipFill>
        </p:spPr>
      </p:sp>
      <p:sp>
        <p:nvSpPr>
          <p:cNvPr name="TextBox 9" id="9"/>
          <p:cNvSpPr txBox="true"/>
          <p:nvPr/>
        </p:nvSpPr>
        <p:spPr>
          <a:xfrm rot="0">
            <a:off x="8906723" y="498026"/>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TextBox 10" id="10"/>
          <p:cNvSpPr txBox="true"/>
          <p:nvPr/>
        </p:nvSpPr>
        <p:spPr>
          <a:xfrm rot="0">
            <a:off x="8164587" y="5262578"/>
            <a:ext cx="7936061"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ANALISIS DE REQUERIMIENTOS</a:t>
            </a:r>
          </a:p>
        </p:txBody>
      </p:sp>
      <p:sp>
        <p:nvSpPr>
          <p:cNvPr name="TextBox 11" id="11"/>
          <p:cNvSpPr txBox="true"/>
          <p:nvPr/>
        </p:nvSpPr>
        <p:spPr>
          <a:xfrm rot="0">
            <a:off x="8164587" y="3650157"/>
            <a:ext cx="7778286"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MODELO DE CONTEXTO</a:t>
            </a:r>
          </a:p>
        </p:txBody>
      </p:sp>
      <p:sp>
        <p:nvSpPr>
          <p:cNvPr name="TextBox 12" id="12"/>
          <p:cNvSpPr txBox="true"/>
          <p:nvPr/>
        </p:nvSpPr>
        <p:spPr>
          <a:xfrm rot="0">
            <a:off x="8164587" y="4456368"/>
            <a:ext cx="9094713"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LEVANTAMIENTO DE REQUERIMIENTOS</a:t>
            </a:r>
          </a:p>
        </p:txBody>
      </p:sp>
      <p:sp>
        <p:nvSpPr>
          <p:cNvPr name="TextBox 13" id="13"/>
          <p:cNvSpPr txBox="true"/>
          <p:nvPr/>
        </p:nvSpPr>
        <p:spPr>
          <a:xfrm rot="0">
            <a:off x="8164587" y="5975602"/>
            <a:ext cx="9094713"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DIAGRAMA DE CASOS DE USO</a:t>
            </a:r>
          </a:p>
        </p:txBody>
      </p:sp>
      <p:sp>
        <p:nvSpPr>
          <p:cNvPr name="TextBox 14" id="14"/>
          <p:cNvSpPr txBox="true"/>
          <p:nvPr/>
        </p:nvSpPr>
        <p:spPr>
          <a:xfrm rot="0">
            <a:off x="8164587" y="6784448"/>
            <a:ext cx="9094713"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UX - UI</a:t>
            </a:r>
          </a:p>
        </p:txBody>
      </p:sp>
      <p:sp>
        <p:nvSpPr>
          <p:cNvPr name="TextBox 15" id="15"/>
          <p:cNvSpPr txBox="true"/>
          <p:nvPr/>
        </p:nvSpPr>
        <p:spPr>
          <a:xfrm rot="0">
            <a:off x="8164587" y="7598957"/>
            <a:ext cx="9094713"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MOCKUPS Y FLUJOS DE NAVEGACION</a:t>
            </a:r>
          </a:p>
        </p:txBody>
      </p:sp>
      <p:sp>
        <p:nvSpPr>
          <p:cNvPr name="Freeform 16" id="16"/>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6"/>
            <a:stretch>
              <a:fillRect l="0" t="0" r="0" b="0"/>
            </a:stretch>
          </a:blipFill>
        </p:spPr>
      </p:sp>
      <p:sp>
        <p:nvSpPr>
          <p:cNvPr name="Freeform 17" id="17"/>
          <p:cNvSpPr/>
          <p:nvPr/>
        </p:nvSpPr>
        <p:spPr>
          <a:xfrm flipH="false" flipV="false" rot="0">
            <a:off x="1302528" y="2191796"/>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7"/>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F800C0"/>
                </a:solidFill>
                <a:latin typeface="HK Modular"/>
                <a:ea typeface="HK Modular"/>
                <a:cs typeface="HK Modular"/>
                <a:sym typeface="HK Modular"/>
              </a:rPr>
              <a:t>DIAGRAMA DE CONTEXTO</a:t>
            </a:r>
          </a:p>
        </p:txBody>
      </p:sp>
      <p:sp>
        <p:nvSpPr>
          <p:cNvPr name="Freeform 13" id="13"/>
          <p:cNvSpPr/>
          <p:nvPr/>
        </p:nvSpPr>
        <p:spPr>
          <a:xfrm flipH="false" flipV="false" rot="0">
            <a:off x="7311501" y="-669589"/>
            <a:ext cx="3575162" cy="3575162"/>
          </a:xfrm>
          <a:custGeom>
            <a:avLst/>
            <a:gdLst/>
            <a:ahLst/>
            <a:cxnLst/>
            <a:rect r="r" b="b" t="t" l="l"/>
            <a:pathLst>
              <a:path h="3575162" w="3575162">
                <a:moveTo>
                  <a:pt x="0" y="0"/>
                </a:moveTo>
                <a:lnTo>
                  <a:pt x="3575162" y="0"/>
                </a:lnTo>
                <a:lnTo>
                  <a:pt x="3575162" y="3575162"/>
                </a:lnTo>
                <a:lnTo>
                  <a:pt x="0" y="3575162"/>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4368136" y="7619943"/>
            <a:ext cx="2500687" cy="1385516"/>
          </a:xfrm>
          <a:custGeom>
            <a:avLst/>
            <a:gdLst/>
            <a:ahLst/>
            <a:cxnLst/>
            <a:rect r="r" b="b" t="t" l="l"/>
            <a:pathLst>
              <a:path h="1385516" w="2500687">
                <a:moveTo>
                  <a:pt x="0" y="0"/>
                </a:moveTo>
                <a:lnTo>
                  <a:pt x="2500687" y="0"/>
                </a:lnTo>
                <a:lnTo>
                  <a:pt x="2500687" y="1385516"/>
                </a:lnTo>
                <a:lnTo>
                  <a:pt x="0" y="1385516"/>
                </a:lnTo>
                <a:lnTo>
                  <a:pt x="0" y="0"/>
                </a:lnTo>
                <a:close/>
              </a:path>
            </a:pathLst>
          </a:custGeom>
          <a:blipFill>
            <a:blip r:embed="rId3"/>
            <a:stretch>
              <a:fillRect l="0" t="0" r="0" b="0"/>
            </a:stretch>
          </a:blipFill>
        </p:spPr>
      </p:sp>
      <p:sp>
        <p:nvSpPr>
          <p:cNvPr name="Freeform 7" id="7"/>
          <p:cNvSpPr/>
          <p:nvPr/>
        </p:nvSpPr>
        <p:spPr>
          <a:xfrm flipH="false" flipV="false" rot="0">
            <a:off x="10170348" y="7619943"/>
            <a:ext cx="2400487" cy="1385516"/>
          </a:xfrm>
          <a:custGeom>
            <a:avLst/>
            <a:gdLst/>
            <a:ahLst/>
            <a:cxnLst/>
            <a:rect r="r" b="b" t="t" l="l"/>
            <a:pathLst>
              <a:path h="1385516" w="2400487">
                <a:moveTo>
                  <a:pt x="0" y="0"/>
                </a:moveTo>
                <a:lnTo>
                  <a:pt x="2400487" y="0"/>
                </a:lnTo>
                <a:lnTo>
                  <a:pt x="2400487" y="1385516"/>
                </a:lnTo>
                <a:lnTo>
                  <a:pt x="0" y="1385516"/>
                </a:lnTo>
                <a:lnTo>
                  <a:pt x="0" y="0"/>
                </a:lnTo>
                <a:close/>
              </a:path>
            </a:pathLst>
          </a:custGeom>
          <a:blipFill>
            <a:blip r:embed="rId4"/>
            <a:stretch>
              <a:fillRect l="0" t="0" r="0" b="0"/>
            </a:stretch>
          </a:blipFill>
        </p:spPr>
      </p:sp>
      <p:sp>
        <p:nvSpPr>
          <p:cNvPr name="Freeform 8" id="8"/>
          <p:cNvSpPr/>
          <p:nvPr/>
        </p:nvSpPr>
        <p:spPr>
          <a:xfrm flipH="false" flipV="false" rot="0">
            <a:off x="6141306" y="7619943"/>
            <a:ext cx="2412428" cy="1385516"/>
          </a:xfrm>
          <a:custGeom>
            <a:avLst/>
            <a:gdLst/>
            <a:ahLst/>
            <a:cxnLst/>
            <a:rect r="r" b="b" t="t" l="l"/>
            <a:pathLst>
              <a:path h="1385516" w="2412428">
                <a:moveTo>
                  <a:pt x="0" y="0"/>
                </a:moveTo>
                <a:lnTo>
                  <a:pt x="2412428" y="0"/>
                </a:lnTo>
                <a:lnTo>
                  <a:pt x="2412428" y="1385516"/>
                </a:lnTo>
                <a:lnTo>
                  <a:pt x="0" y="1385516"/>
                </a:lnTo>
                <a:lnTo>
                  <a:pt x="0" y="0"/>
                </a:lnTo>
                <a:close/>
              </a:path>
            </a:pathLst>
          </a:custGeom>
          <a:blipFill>
            <a:blip r:embed="rId5"/>
            <a:stretch>
              <a:fillRect l="0" t="0" r="0" b="0"/>
            </a:stretch>
          </a:blipFill>
        </p:spPr>
      </p:sp>
      <p:sp>
        <p:nvSpPr>
          <p:cNvPr name="Freeform 9" id="9"/>
          <p:cNvSpPr/>
          <p:nvPr/>
        </p:nvSpPr>
        <p:spPr>
          <a:xfrm flipH="false" flipV="false" rot="0">
            <a:off x="1753410" y="7619943"/>
            <a:ext cx="2418435" cy="1363413"/>
          </a:xfrm>
          <a:custGeom>
            <a:avLst/>
            <a:gdLst/>
            <a:ahLst/>
            <a:cxnLst/>
            <a:rect r="r" b="b" t="t" l="l"/>
            <a:pathLst>
              <a:path h="1363413" w="2418435">
                <a:moveTo>
                  <a:pt x="0" y="0"/>
                </a:moveTo>
                <a:lnTo>
                  <a:pt x="2418435" y="0"/>
                </a:lnTo>
                <a:lnTo>
                  <a:pt x="2418435" y="1363413"/>
                </a:lnTo>
                <a:lnTo>
                  <a:pt x="0" y="1363413"/>
                </a:lnTo>
                <a:lnTo>
                  <a:pt x="0" y="0"/>
                </a:lnTo>
                <a:close/>
              </a:path>
            </a:pathLst>
          </a:custGeom>
          <a:blipFill>
            <a:blip r:embed="rId6"/>
            <a:stretch>
              <a:fillRect l="0" t="0" r="0" b="0"/>
            </a:stretch>
          </a:blipFill>
        </p:spPr>
      </p:sp>
      <p:sp>
        <p:nvSpPr>
          <p:cNvPr name="Freeform 10" id="10"/>
          <p:cNvSpPr/>
          <p:nvPr/>
        </p:nvSpPr>
        <p:spPr>
          <a:xfrm flipH="false" flipV="false" rot="0">
            <a:off x="4721790" y="7885962"/>
            <a:ext cx="869571" cy="869571"/>
          </a:xfrm>
          <a:custGeom>
            <a:avLst/>
            <a:gdLst/>
            <a:ahLst/>
            <a:cxnLst/>
            <a:rect r="r" b="b" t="t" l="l"/>
            <a:pathLst>
              <a:path h="869571" w="869571">
                <a:moveTo>
                  <a:pt x="0" y="0"/>
                </a:moveTo>
                <a:lnTo>
                  <a:pt x="869571" y="0"/>
                </a:lnTo>
                <a:lnTo>
                  <a:pt x="869571" y="869571"/>
                </a:lnTo>
                <a:lnTo>
                  <a:pt x="0" y="8695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2962627" y="1688238"/>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EL MODELO C4</a:t>
            </a:r>
          </a:p>
        </p:txBody>
      </p:sp>
      <p:sp>
        <p:nvSpPr>
          <p:cNvPr name="TextBox 12" id="12"/>
          <p:cNvSpPr txBox="true"/>
          <p:nvPr/>
        </p:nvSpPr>
        <p:spPr>
          <a:xfrm rot="0">
            <a:off x="4362522" y="5257987"/>
            <a:ext cx="10005614" cy="599701"/>
          </a:xfrm>
          <a:prstGeom prst="rect">
            <a:avLst/>
          </a:prstGeom>
        </p:spPr>
        <p:txBody>
          <a:bodyPr anchor="t" rtlCol="false" tIns="0" lIns="0" bIns="0" rIns="0">
            <a:spAutoFit/>
          </a:bodyPr>
          <a:lstStyle/>
          <a:p>
            <a:pPr algn="ctr">
              <a:lnSpc>
                <a:spcPts val="4927"/>
              </a:lnSpc>
              <a:spcBef>
                <a:spcPct val="0"/>
              </a:spcBef>
            </a:pPr>
            <a:r>
              <a:rPr lang="en-US" sz="3519">
                <a:solidFill>
                  <a:srgbClr val="FF914D"/>
                </a:solidFill>
                <a:latin typeface="HK Modular"/>
                <a:ea typeface="HK Modular"/>
                <a:cs typeface="HK Modular"/>
                <a:sym typeface="HK Modular"/>
              </a:rPr>
              <a:t>PARA QUE SIRVE?</a:t>
            </a:r>
          </a:p>
        </p:txBody>
      </p:sp>
      <p:sp>
        <p:nvSpPr>
          <p:cNvPr name="TextBox 13" id="13"/>
          <p:cNvSpPr txBox="true"/>
          <p:nvPr/>
        </p:nvSpPr>
        <p:spPr>
          <a:xfrm rot="0">
            <a:off x="3071536" y="2837366"/>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 un estandar para elaborar diagramas de arquitectura</a:t>
            </a:r>
          </a:p>
        </p:txBody>
      </p:sp>
      <p:sp>
        <p:nvSpPr>
          <p:cNvPr name="TextBox 14" id="14"/>
          <p:cNvSpPr txBox="true"/>
          <p:nvPr/>
        </p:nvSpPr>
        <p:spPr>
          <a:xfrm rot="0">
            <a:off x="2850208" y="6343463"/>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Describir la arquitectura del software que vamos a construir en diferentes niveles de “zoom” lo cual va a ser util para diferentes tipos de audiencias</a:t>
            </a:r>
          </a:p>
        </p:txBody>
      </p:sp>
      <p:sp>
        <p:nvSpPr>
          <p:cNvPr name="TextBox 15" id="15"/>
          <p:cNvSpPr txBox="true"/>
          <p:nvPr/>
        </p:nvSpPr>
        <p:spPr>
          <a:xfrm rot="0">
            <a:off x="2959575" y="3590477"/>
            <a:ext cx="12587585"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Proveen un conjunto de abstracciones jerarquicas, son una manera fantastica de comunicar como se planea construir un sistema de software o como funciona un sistema ya existente</a:t>
            </a:r>
          </a:p>
        </p:txBody>
      </p:sp>
      <p:sp>
        <p:nvSpPr>
          <p:cNvPr name="Freeform 16" id="16"/>
          <p:cNvSpPr/>
          <p:nvPr/>
        </p:nvSpPr>
        <p:spPr>
          <a:xfrm flipH="false" flipV="false" rot="0">
            <a:off x="8930543" y="7885962"/>
            <a:ext cx="869571" cy="869571"/>
          </a:xfrm>
          <a:custGeom>
            <a:avLst/>
            <a:gdLst/>
            <a:ahLst/>
            <a:cxnLst/>
            <a:rect r="r" b="b" t="t" l="l"/>
            <a:pathLst>
              <a:path h="869571" w="869571">
                <a:moveTo>
                  <a:pt x="0" y="0"/>
                </a:moveTo>
                <a:lnTo>
                  <a:pt x="869571" y="0"/>
                </a:lnTo>
                <a:lnTo>
                  <a:pt x="869571" y="869571"/>
                </a:lnTo>
                <a:lnTo>
                  <a:pt x="0" y="8695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13123285" y="7809762"/>
            <a:ext cx="869571" cy="869571"/>
          </a:xfrm>
          <a:custGeom>
            <a:avLst/>
            <a:gdLst/>
            <a:ahLst/>
            <a:cxnLst/>
            <a:rect r="r" b="b" t="t" l="l"/>
            <a:pathLst>
              <a:path h="869571" w="869571">
                <a:moveTo>
                  <a:pt x="0" y="0"/>
                </a:moveTo>
                <a:lnTo>
                  <a:pt x="869571" y="0"/>
                </a:lnTo>
                <a:lnTo>
                  <a:pt x="869571" y="869571"/>
                </a:lnTo>
                <a:lnTo>
                  <a:pt x="0" y="8695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9"/>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783256" y="5651869"/>
            <a:ext cx="5874452" cy="3311772"/>
          </a:xfrm>
          <a:custGeom>
            <a:avLst/>
            <a:gdLst/>
            <a:ahLst/>
            <a:cxnLst/>
            <a:rect r="r" b="b" t="t" l="l"/>
            <a:pathLst>
              <a:path h="3311772" w="5874452">
                <a:moveTo>
                  <a:pt x="0" y="0"/>
                </a:moveTo>
                <a:lnTo>
                  <a:pt x="5874452" y="0"/>
                </a:lnTo>
                <a:lnTo>
                  <a:pt x="5874452" y="3311772"/>
                </a:lnTo>
                <a:lnTo>
                  <a:pt x="0" y="3311772"/>
                </a:lnTo>
                <a:lnTo>
                  <a:pt x="0" y="0"/>
                </a:lnTo>
                <a:close/>
              </a:path>
            </a:pathLst>
          </a:custGeom>
          <a:blipFill>
            <a:blip r:embed="rId3"/>
            <a:stretch>
              <a:fillRect l="0" t="0" r="0" b="0"/>
            </a:stretch>
          </a:blipFill>
        </p:spPr>
      </p:sp>
      <p:sp>
        <p:nvSpPr>
          <p:cNvPr name="TextBox 7" id="7"/>
          <p:cNvSpPr txBox="true"/>
          <p:nvPr/>
        </p:nvSpPr>
        <p:spPr>
          <a:xfrm rot="0">
            <a:off x="2959575" y="1555523"/>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NIVEL 1: DIAGRAMA DE CONTEXTO DEL SISTEMA</a:t>
            </a:r>
          </a:p>
        </p:txBody>
      </p:sp>
      <p:sp>
        <p:nvSpPr>
          <p:cNvPr name="Freeform 8" id="8"/>
          <p:cNvSpPr/>
          <p:nvPr/>
        </p:nvSpPr>
        <p:spPr>
          <a:xfrm flipH="false" flipV="false" rot="0">
            <a:off x="11139990" y="5143500"/>
            <a:ext cx="5574342" cy="4612768"/>
          </a:xfrm>
          <a:custGeom>
            <a:avLst/>
            <a:gdLst/>
            <a:ahLst/>
            <a:cxnLst/>
            <a:rect r="r" b="b" t="t" l="l"/>
            <a:pathLst>
              <a:path h="4612768" w="5574342">
                <a:moveTo>
                  <a:pt x="0" y="0"/>
                </a:moveTo>
                <a:lnTo>
                  <a:pt x="5574342" y="0"/>
                </a:lnTo>
                <a:lnTo>
                  <a:pt x="5574342" y="4612768"/>
                </a:lnTo>
                <a:lnTo>
                  <a:pt x="0" y="4612768"/>
                </a:lnTo>
                <a:lnTo>
                  <a:pt x="0" y="0"/>
                </a:lnTo>
                <a:close/>
              </a:path>
            </a:pathLst>
          </a:custGeom>
          <a:blipFill>
            <a:blip r:embed="rId4"/>
            <a:stretch>
              <a:fillRect l="0" t="0" r="0" b="0"/>
            </a:stretch>
          </a:blipFill>
        </p:spPr>
      </p:sp>
      <p:sp>
        <p:nvSpPr>
          <p:cNvPr name="Freeform 9" id="9"/>
          <p:cNvSpPr/>
          <p:nvPr/>
        </p:nvSpPr>
        <p:spPr>
          <a:xfrm flipH="false" flipV="false" rot="0">
            <a:off x="8682416" y="6775644"/>
            <a:ext cx="1719954" cy="1064222"/>
          </a:xfrm>
          <a:custGeom>
            <a:avLst/>
            <a:gdLst/>
            <a:ahLst/>
            <a:cxnLst/>
            <a:rect r="r" b="b" t="t" l="l"/>
            <a:pathLst>
              <a:path h="1064222" w="1719954">
                <a:moveTo>
                  <a:pt x="0" y="0"/>
                </a:moveTo>
                <a:lnTo>
                  <a:pt x="1719955" y="0"/>
                </a:lnTo>
                <a:lnTo>
                  <a:pt x="1719955" y="1064222"/>
                </a:lnTo>
                <a:lnTo>
                  <a:pt x="0" y="10642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2959575" y="3590477"/>
            <a:ext cx="12587585"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El Nivel 1 muestra el sistema de software que se esta construyendo y como encaja en el mundo en terminos de las personas que lo utilizan y los otros sistemas de software con los que interactua</a:t>
            </a:r>
          </a:p>
        </p:txBody>
      </p:sp>
      <p:sp>
        <p:nvSpPr>
          <p:cNvPr name="Freeform 11" id="11"/>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7"/>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59575" y="1555523"/>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NIVEL 1: DIAGRAMA DE CONTEXTO DEL SISTEMA</a:t>
            </a:r>
          </a:p>
        </p:txBody>
      </p:sp>
      <p:sp>
        <p:nvSpPr>
          <p:cNvPr name="Freeform 7" id="7"/>
          <p:cNvSpPr/>
          <p:nvPr/>
        </p:nvSpPr>
        <p:spPr>
          <a:xfrm flipH="false" flipV="false" rot="0">
            <a:off x="2137457" y="4105975"/>
            <a:ext cx="14013086" cy="2802617"/>
          </a:xfrm>
          <a:custGeom>
            <a:avLst/>
            <a:gdLst/>
            <a:ahLst/>
            <a:cxnLst/>
            <a:rect r="r" b="b" t="t" l="l"/>
            <a:pathLst>
              <a:path h="2802617" w="14013086">
                <a:moveTo>
                  <a:pt x="0" y="0"/>
                </a:moveTo>
                <a:lnTo>
                  <a:pt x="14013086" y="0"/>
                </a:lnTo>
                <a:lnTo>
                  <a:pt x="14013086" y="2802617"/>
                </a:lnTo>
                <a:lnTo>
                  <a:pt x="0" y="2802617"/>
                </a:lnTo>
                <a:lnTo>
                  <a:pt x="0" y="0"/>
                </a:lnTo>
                <a:close/>
              </a:path>
            </a:pathLst>
          </a:custGeom>
          <a:blipFill>
            <a:blip r:embed="rId3"/>
            <a:stretch>
              <a:fillRect l="0" t="0" r="0" b="0"/>
            </a:stretch>
          </a:blipFill>
        </p:spPr>
      </p:sp>
      <p:sp>
        <p:nvSpPr>
          <p:cNvPr name="TextBox 8" id="8"/>
          <p:cNvSpPr txBox="true"/>
          <p:nvPr/>
        </p:nvSpPr>
        <p:spPr>
          <a:xfrm rot="0">
            <a:off x="2959575" y="7596415"/>
            <a:ext cx="12587585" cy="18294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El componente de color azul y amarillo en el diagrama representa los sistemas de software que se van a construir - Aveces solo se representa en uno, el componente rojo es todo sistema de software que ya existe y es externo a la implementacion </a:t>
            </a:r>
          </a:p>
        </p:txBody>
      </p:sp>
      <p:sp>
        <p:nvSpPr>
          <p:cNvPr name="Freeform 9" id="9"/>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59575" y="1555523"/>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EJERCICIO</a:t>
            </a:r>
          </a:p>
        </p:txBody>
      </p:sp>
      <p:sp>
        <p:nvSpPr>
          <p:cNvPr name="Freeform 7" id="7"/>
          <p:cNvSpPr/>
          <p:nvPr/>
        </p:nvSpPr>
        <p:spPr>
          <a:xfrm flipH="false" flipV="false" rot="0">
            <a:off x="3750875" y="6533015"/>
            <a:ext cx="11653651" cy="2330730"/>
          </a:xfrm>
          <a:custGeom>
            <a:avLst/>
            <a:gdLst/>
            <a:ahLst/>
            <a:cxnLst/>
            <a:rect r="r" b="b" t="t" l="l"/>
            <a:pathLst>
              <a:path h="2330730" w="11653651">
                <a:moveTo>
                  <a:pt x="0" y="0"/>
                </a:moveTo>
                <a:lnTo>
                  <a:pt x="11653652" y="0"/>
                </a:lnTo>
                <a:lnTo>
                  <a:pt x="11653652" y="2330731"/>
                </a:lnTo>
                <a:lnTo>
                  <a:pt x="0" y="2330731"/>
                </a:lnTo>
                <a:lnTo>
                  <a:pt x="0" y="0"/>
                </a:lnTo>
                <a:close/>
              </a:path>
            </a:pathLst>
          </a:custGeom>
          <a:blipFill>
            <a:blip r:embed="rId3"/>
            <a:stretch>
              <a:fillRect l="0" t="0" r="0" b="0"/>
            </a:stretch>
          </a:blipFill>
        </p:spPr>
      </p:sp>
      <p:sp>
        <p:nvSpPr>
          <p:cNvPr name="TextBox 8" id="8"/>
          <p:cNvSpPr txBox="true"/>
          <p:nvPr/>
        </p:nvSpPr>
        <p:spPr>
          <a:xfrm rot="0">
            <a:off x="1963883" y="3909774"/>
            <a:ext cx="10131992"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¿Como seria el diagrama de contexto de TechCup?</a:t>
            </a:r>
          </a:p>
        </p:txBody>
      </p:sp>
      <p:sp>
        <p:nvSpPr>
          <p:cNvPr name="Freeform 9" id="9"/>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
        <p:nvSpPr>
          <p:cNvPr name="Freeform 10" id="10"/>
          <p:cNvSpPr/>
          <p:nvPr/>
        </p:nvSpPr>
        <p:spPr>
          <a:xfrm flipH="false" flipV="false" rot="0">
            <a:off x="12257532" y="2794112"/>
            <a:ext cx="3146995" cy="3146995"/>
          </a:xfrm>
          <a:custGeom>
            <a:avLst/>
            <a:gdLst/>
            <a:ahLst/>
            <a:cxnLst/>
            <a:rect r="r" b="b" t="t" l="l"/>
            <a:pathLst>
              <a:path h="3146995" w="3146995">
                <a:moveTo>
                  <a:pt x="0" y="0"/>
                </a:moveTo>
                <a:lnTo>
                  <a:pt x="3146995" y="0"/>
                </a:lnTo>
                <a:lnTo>
                  <a:pt x="3146995" y="3146994"/>
                </a:lnTo>
                <a:lnTo>
                  <a:pt x="0" y="3146994"/>
                </a:lnTo>
                <a:lnTo>
                  <a:pt x="0" y="0"/>
                </a:lnTo>
                <a:close/>
              </a:path>
            </a:pathLst>
          </a:custGeom>
          <a:blipFill>
            <a:blip r:embed="rId5"/>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FF751F"/>
                </a:solidFill>
                <a:latin typeface="HK Modular"/>
                <a:ea typeface="HK Modular"/>
                <a:cs typeface="HK Modular"/>
                <a:sym typeface="HK Modular"/>
              </a:rPr>
              <a:t>ANALISIS DE REQUERIMIENTOS</a:t>
            </a:r>
          </a:p>
        </p:txBody>
      </p:sp>
      <p:sp>
        <p:nvSpPr>
          <p:cNvPr name="Freeform 13" id="13"/>
          <p:cNvSpPr/>
          <p:nvPr/>
        </p:nvSpPr>
        <p:spPr>
          <a:xfrm flipH="false" flipV="false" rot="0">
            <a:off x="7463585" y="-324908"/>
            <a:ext cx="3751832" cy="3751832"/>
          </a:xfrm>
          <a:custGeom>
            <a:avLst/>
            <a:gdLst/>
            <a:ahLst/>
            <a:cxnLst/>
            <a:rect r="r" b="b" t="t" l="l"/>
            <a:pathLst>
              <a:path h="3751832" w="3751832">
                <a:moveTo>
                  <a:pt x="0" y="0"/>
                </a:moveTo>
                <a:lnTo>
                  <a:pt x="3751832" y="0"/>
                </a:lnTo>
                <a:lnTo>
                  <a:pt x="3751832" y="3751832"/>
                </a:lnTo>
                <a:lnTo>
                  <a:pt x="0" y="3751832"/>
                </a:lnTo>
                <a:lnTo>
                  <a:pt x="0" y="0"/>
                </a:lnTo>
                <a:close/>
              </a:path>
            </a:pathLst>
          </a:custGeom>
          <a:blipFill>
            <a:blip r:embed="rId3"/>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412038" y="6881211"/>
            <a:ext cx="728468" cy="623751"/>
          </a:xfrm>
          <a:custGeom>
            <a:avLst/>
            <a:gdLst/>
            <a:ahLst/>
            <a:cxnLst/>
            <a:rect r="r" b="b" t="t" l="l"/>
            <a:pathLst>
              <a:path h="623751" w="728468">
                <a:moveTo>
                  <a:pt x="0" y="0"/>
                </a:moveTo>
                <a:lnTo>
                  <a:pt x="728468" y="0"/>
                </a:lnTo>
                <a:lnTo>
                  <a:pt x="728468" y="623751"/>
                </a:lnTo>
                <a:lnTo>
                  <a:pt x="0" y="6237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964154" y="19612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REQUERIMIENTO</a:t>
            </a:r>
          </a:p>
        </p:txBody>
      </p:sp>
      <p:sp>
        <p:nvSpPr>
          <p:cNvPr name="TextBox 8" id="8"/>
          <p:cNvSpPr txBox="true"/>
          <p:nvPr/>
        </p:nvSpPr>
        <p:spPr>
          <a:xfrm rot="0">
            <a:off x="4418353" y="5967730"/>
            <a:ext cx="10005614" cy="599701"/>
          </a:xfrm>
          <a:prstGeom prst="rect">
            <a:avLst/>
          </a:prstGeom>
        </p:spPr>
        <p:txBody>
          <a:bodyPr anchor="t" rtlCol="false" tIns="0" lIns="0" bIns="0" rIns="0">
            <a:spAutoFit/>
          </a:bodyPr>
          <a:lstStyle/>
          <a:p>
            <a:pPr algn="ctr">
              <a:lnSpc>
                <a:spcPts val="4927"/>
              </a:lnSpc>
              <a:spcBef>
                <a:spcPct val="0"/>
              </a:spcBef>
            </a:pPr>
            <a:r>
              <a:rPr lang="en-US" sz="3519">
                <a:solidFill>
                  <a:srgbClr val="FF914D"/>
                </a:solidFill>
                <a:latin typeface="HK Modular"/>
                <a:ea typeface="HK Modular"/>
                <a:cs typeface="HK Modular"/>
                <a:sym typeface="HK Modular"/>
              </a:rPr>
              <a:t>CONDICIONES</a:t>
            </a:r>
          </a:p>
        </p:txBody>
      </p:sp>
      <p:sp>
        <p:nvSpPr>
          <p:cNvPr name="TextBox 9" id="9"/>
          <p:cNvSpPr txBox="true"/>
          <p:nvPr/>
        </p:nvSpPr>
        <p:spPr>
          <a:xfrm rot="0">
            <a:off x="2964154" y="2875852"/>
            <a:ext cx="12587585" cy="1372236"/>
          </a:xfrm>
          <a:prstGeom prst="rect">
            <a:avLst/>
          </a:prstGeom>
        </p:spPr>
        <p:txBody>
          <a:bodyPr anchor="t" rtlCol="false" tIns="0" lIns="0" bIns="0" rIns="0">
            <a:spAutoFit/>
          </a:bodyPr>
          <a:lstStyle/>
          <a:p>
            <a:pPr algn="ctr">
              <a:lnSpc>
                <a:spcPts val="3639"/>
              </a:lnSpc>
            </a:pPr>
          </a:p>
          <a:p>
            <a:pPr algn="ctr">
              <a:lnSpc>
                <a:spcPts val="3639"/>
              </a:lnSpc>
              <a:spcBef>
                <a:spcPct val="0"/>
              </a:spcBef>
            </a:pPr>
            <a:r>
              <a:rPr lang="en-US" sz="2599">
                <a:solidFill>
                  <a:srgbClr val="FFFFFF"/>
                </a:solidFill>
                <a:latin typeface="Poppins"/>
                <a:ea typeface="Poppins"/>
                <a:cs typeface="Poppins"/>
                <a:sym typeface="Poppins"/>
              </a:rPr>
              <a:t>Condicion o capacidad que debe cumplir un sistema, bien, resultado o servicio para satisfacer una necesidad</a:t>
            </a:r>
          </a:p>
        </p:txBody>
      </p:sp>
      <p:sp>
        <p:nvSpPr>
          <p:cNvPr name="TextBox 10" id="10"/>
          <p:cNvSpPr txBox="true"/>
          <p:nvPr/>
        </p:nvSpPr>
        <p:spPr>
          <a:xfrm rot="0">
            <a:off x="2964154" y="7054587"/>
            <a:ext cx="12587585" cy="27438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Debe estar bien escrito</a:t>
            </a:r>
          </a:p>
          <a:p>
            <a:pPr algn="ctr">
              <a:lnSpc>
                <a:spcPts val="3639"/>
              </a:lnSpc>
            </a:pPr>
            <a:r>
              <a:rPr lang="en-US" sz="2599">
                <a:solidFill>
                  <a:srgbClr val="FFFFFF"/>
                </a:solidFill>
                <a:latin typeface="Poppins"/>
                <a:ea typeface="Poppins"/>
                <a:cs typeface="Poppins"/>
                <a:sym typeface="Poppins"/>
              </a:rPr>
              <a:t>Deben tener una dedicacion de tiempo para su identificacion y entendimiento</a:t>
            </a:r>
          </a:p>
          <a:p>
            <a:pPr algn="ctr">
              <a:lnSpc>
                <a:spcPts val="3639"/>
              </a:lnSpc>
            </a:pPr>
            <a:r>
              <a:rPr lang="en-US" sz="2599">
                <a:solidFill>
                  <a:srgbClr val="FFFFFF"/>
                </a:solidFill>
                <a:latin typeface="Poppins"/>
                <a:ea typeface="Poppins"/>
                <a:cs typeface="Poppins"/>
                <a:sym typeface="Poppins"/>
              </a:rPr>
              <a:t>Deben ser coherentes</a:t>
            </a:r>
          </a:p>
          <a:p>
            <a:pPr algn="ctr">
              <a:lnSpc>
                <a:spcPts val="3639"/>
              </a:lnSpc>
            </a:pPr>
            <a:r>
              <a:rPr lang="en-US" sz="2599">
                <a:solidFill>
                  <a:srgbClr val="FFFFFF"/>
                </a:solidFill>
                <a:latin typeface="Poppins"/>
                <a:ea typeface="Poppins"/>
                <a:cs typeface="Poppins"/>
                <a:sym typeface="Poppins"/>
              </a:rPr>
              <a:t>No deben ser ambiguos</a:t>
            </a:r>
          </a:p>
          <a:p>
            <a:pPr algn="ctr">
              <a:lnSpc>
                <a:spcPts val="3639"/>
              </a:lnSpc>
            </a:pPr>
            <a:r>
              <a:rPr lang="en-US" sz="2599">
                <a:solidFill>
                  <a:srgbClr val="FFFFFF"/>
                </a:solidFill>
                <a:latin typeface="Poppins"/>
                <a:ea typeface="Poppins"/>
                <a:cs typeface="Poppins"/>
                <a:sym typeface="Poppins"/>
              </a:rPr>
              <a:t>Deben ser medibles y Verificables</a:t>
            </a:r>
          </a:p>
        </p:txBody>
      </p:sp>
      <p:sp>
        <p:nvSpPr>
          <p:cNvPr name="TextBox 11" id="11"/>
          <p:cNvSpPr txBox="true"/>
          <p:nvPr/>
        </p:nvSpPr>
        <p:spPr>
          <a:xfrm rot="0">
            <a:off x="2964154" y="4652645"/>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 algo que el producto debe hacer o una cualidad que el producto debe tener”</a:t>
            </a:r>
          </a:p>
        </p:txBody>
      </p:sp>
      <p:sp>
        <p:nvSpPr>
          <p:cNvPr name="Freeform 12" id="12"/>
          <p:cNvSpPr/>
          <p:nvPr/>
        </p:nvSpPr>
        <p:spPr>
          <a:xfrm flipH="false" flipV="false" rot="0">
            <a:off x="3214524" y="7472680"/>
            <a:ext cx="728468" cy="623751"/>
          </a:xfrm>
          <a:custGeom>
            <a:avLst/>
            <a:gdLst/>
            <a:ahLst/>
            <a:cxnLst/>
            <a:rect r="r" b="b" t="t" l="l"/>
            <a:pathLst>
              <a:path h="623751" w="728468">
                <a:moveTo>
                  <a:pt x="0" y="0"/>
                </a:moveTo>
                <a:lnTo>
                  <a:pt x="728468" y="0"/>
                </a:lnTo>
                <a:lnTo>
                  <a:pt x="728468" y="623751"/>
                </a:lnTo>
                <a:lnTo>
                  <a:pt x="0" y="6237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6412038" y="8275871"/>
            <a:ext cx="728468" cy="623751"/>
          </a:xfrm>
          <a:custGeom>
            <a:avLst/>
            <a:gdLst/>
            <a:ahLst/>
            <a:cxnLst/>
            <a:rect r="r" b="b" t="t" l="l"/>
            <a:pathLst>
              <a:path h="623751" w="728468">
                <a:moveTo>
                  <a:pt x="0" y="0"/>
                </a:moveTo>
                <a:lnTo>
                  <a:pt x="728468" y="0"/>
                </a:lnTo>
                <a:lnTo>
                  <a:pt x="728468" y="623750"/>
                </a:lnTo>
                <a:lnTo>
                  <a:pt x="0" y="623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5683570" y="8778358"/>
            <a:ext cx="728468" cy="623751"/>
          </a:xfrm>
          <a:custGeom>
            <a:avLst/>
            <a:gdLst/>
            <a:ahLst/>
            <a:cxnLst/>
            <a:rect r="r" b="b" t="t" l="l"/>
            <a:pathLst>
              <a:path h="623751" w="728468">
                <a:moveTo>
                  <a:pt x="0" y="0"/>
                </a:moveTo>
                <a:lnTo>
                  <a:pt x="728468" y="0"/>
                </a:lnTo>
                <a:lnTo>
                  <a:pt x="728468" y="623751"/>
                </a:lnTo>
                <a:lnTo>
                  <a:pt x="0" y="6237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4955102" y="9295662"/>
            <a:ext cx="728468" cy="623751"/>
          </a:xfrm>
          <a:custGeom>
            <a:avLst/>
            <a:gdLst/>
            <a:ahLst/>
            <a:cxnLst/>
            <a:rect r="r" b="b" t="t" l="l"/>
            <a:pathLst>
              <a:path h="623751" w="728468">
                <a:moveTo>
                  <a:pt x="0" y="0"/>
                </a:moveTo>
                <a:lnTo>
                  <a:pt x="728468" y="0"/>
                </a:lnTo>
                <a:lnTo>
                  <a:pt x="728468" y="623750"/>
                </a:lnTo>
                <a:lnTo>
                  <a:pt x="0" y="6237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5"/>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2623" y="3870363"/>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FF751F"/>
                </a:solidFill>
                <a:latin typeface="HK Modular"/>
                <a:ea typeface="HK Modular"/>
                <a:cs typeface="HK Modular"/>
                <a:sym typeface="HK Modular"/>
              </a:rPr>
              <a:t>TIPOS DE REQUERIMIENTOS</a:t>
            </a:r>
          </a:p>
        </p:txBody>
      </p:sp>
      <p:sp>
        <p:nvSpPr>
          <p:cNvPr name="Freeform 13" id="13"/>
          <p:cNvSpPr/>
          <p:nvPr/>
        </p:nvSpPr>
        <p:spPr>
          <a:xfrm flipH="false" flipV="false" rot="0">
            <a:off x="7544941" y="-362513"/>
            <a:ext cx="3589120" cy="3589120"/>
          </a:xfrm>
          <a:custGeom>
            <a:avLst/>
            <a:gdLst/>
            <a:ahLst/>
            <a:cxnLst/>
            <a:rect r="r" b="b" t="t" l="l"/>
            <a:pathLst>
              <a:path h="3589120" w="3589120">
                <a:moveTo>
                  <a:pt x="0" y="0"/>
                </a:moveTo>
                <a:lnTo>
                  <a:pt x="3589120" y="0"/>
                </a:lnTo>
                <a:lnTo>
                  <a:pt x="3589120" y="3589120"/>
                </a:lnTo>
                <a:lnTo>
                  <a:pt x="0" y="3589120"/>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64154" y="19612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FUNCIONALES</a:t>
            </a:r>
          </a:p>
        </p:txBody>
      </p:sp>
      <p:sp>
        <p:nvSpPr>
          <p:cNvPr name="TextBox 7" id="7"/>
          <p:cNvSpPr txBox="true"/>
          <p:nvPr/>
        </p:nvSpPr>
        <p:spPr>
          <a:xfrm rot="0">
            <a:off x="7142277" y="4067001"/>
            <a:ext cx="10372957" cy="9150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Muestran las acciones o actividades que el producto debe realizar para satisfacer las razones de su existerncia</a:t>
            </a:r>
          </a:p>
        </p:txBody>
      </p:sp>
      <p:sp>
        <p:nvSpPr>
          <p:cNvPr name="TextBox 8" id="8"/>
          <p:cNvSpPr txBox="true"/>
          <p:nvPr/>
        </p:nvSpPr>
        <p:spPr>
          <a:xfrm rot="0">
            <a:off x="7658722" y="3282212"/>
            <a:ext cx="9600578"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Especifican lo que el producto debe hacer</a:t>
            </a:r>
          </a:p>
        </p:txBody>
      </p:sp>
      <p:sp>
        <p:nvSpPr>
          <p:cNvPr name="TextBox 9" id="9"/>
          <p:cNvSpPr txBox="true"/>
          <p:nvPr/>
        </p:nvSpPr>
        <p:spPr>
          <a:xfrm rot="0">
            <a:off x="10504030" y="5669852"/>
            <a:ext cx="4320865" cy="599701"/>
          </a:xfrm>
          <a:prstGeom prst="rect">
            <a:avLst/>
          </a:prstGeom>
        </p:spPr>
        <p:txBody>
          <a:bodyPr anchor="t" rtlCol="false" tIns="0" lIns="0" bIns="0" rIns="0">
            <a:spAutoFit/>
          </a:bodyPr>
          <a:lstStyle/>
          <a:p>
            <a:pPr algn="ctr">
              <a:lnSpc>
                <a:spcPts val="4927"/>
              </a:lnSpc>
              <a:spcBef>
                <a:spcPct val="0"/>
              </a:spcBef>
            </a:pPr>
            <a:r>
              <a:rPr lang="en-US" sz="3519">
                <a:solidFill>
                  <a:srgbClr val="FF914D"/>
                </a:solidFill>
                <a:latin typeface="HK Modular"/>
                <a:ea typeface="HK Modular"/>
                <a:cs typeface="HK Modular"/>
                <a:sym typeface="HK Modular"/>
              </a:rPr>
              <a:t>EJEMPLO</a:t>
            </a:r>
          </a:p>
        </p:txBody>
      </p:sp>
      <p:sp>
        <p:nvSpPr>
          <p:cNvPr name="TextBox 10" id="10"/>
          <p:cNvSpPr txBox="true"/>
          <p:nvPr/>
        </p:nvSpPr>
        <p:spPr>
          <a:xfrm rot="0">
            <a:off x="7473351" y="6593403"/>
            <a:ext cx="10382225" cy="13722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Enlace academico debe tener la capacidad de permitir registrar la nota de cada tercio para cada estudiante de DOSW</a:t>
            </a:r>
          </a:p>
        </p:txBody>
      </p:sp>
      <p:sp>
        <p:nvSpPr>
          <p:cNvPr name="Freeform 11" id="11"/>
          <p:cNvSpPr/>
          <p:nvPr/>
        </p:nvSpPr>
        <p:spPr>
          <a:xfrm flipH="false" flipV="false" rot="0">
            <a:off x="1262545" y="3239774"/>
            <a:ext cx="4088321" cy="6059557"/>
          </a:xfrm>
          <a:custGeom>
            <a:avLst/>
            <a:gdLst/>
            <a:ahLst/>
            <a:cxnLst/>
            <a:rect r="r" b="b" t="t" l="l"/>
            <a:pathLst>
              <a:path h="6059557" w="4088321">
                <a:moveTo>
                  <a:pt x="0" y="0"/>
                </a:moveTo>
                <a:lnTo>
                  <a:pt x="4088321" y="0"/>
                </a:lnTo>
                <a:lnTo>
                  <a:pt x="4088321" y="6059558"/>
                </a:lnTo>
                <a:lnTo>
                  <a:pt x="0" y="6059558"/>
                </a:lnTo>
                <a:lnTo>
                  <a:pt x="0" y="0"/>
                </a:lnTo>
                <a:close/>
              </a:path>
            </a:pathLst>
          </a:custGeom>
          <a:blipFill>
            <a:blip r:embed="rId3"/>
            <a:stretch>
              <a:fillRect l="-17163" t="-27942" r="-145632" b="-1490"/>
            </a:stretch>
          </a:blipFill>
        </p:spPr>
      </p:sp>
      <p:sp>
        <p:nvSpPr>
          <p:cNvPr name="TextBox 12" id="12"/>
          <p:cNvSpPr txBox="true"/>
          <p:nvPr/>
        </p:nvSpPr>
        <p:spPr>
          <a:xfrm rot="0">
            <a:off x="7473351" y="8289489"/>
            <a:ext cx="10382225" cy="13722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Enlace academico debe tener la capacidad de permitir buscar un estudiante de la clase de DOSW y mostrar su informacion</a:t>
            </a:r>
          </a:p>
        </p:txBody>
      </p:sp>
      <p:sp>
        <p:nvSpPr>
          <p:cNvPr name="Freeform 13" id="13"/>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64154" y="19612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NO FUNCIONALES</a:t>
            </a:r>
          </a:p>
        </p:txBody>
      </p:sp>
      <p:sp>
        <p:nvSpPr>
          <p:cNvPr name="TextBox 7" id="7"/>
          <p:cNvSpPr txBox="true"/>
          <p:nvPr/>
        </p:nvSpPr>
        <p:spPr>
          <a:xfrm rot="0">
            <a:off x="7142277" y="4067001"/>
            <a:ext cx="10372957" cy="9150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Las propiedades o caracteristicas que debe tener el producto para hacer atractivo, util, rapido y versatil para el consumidor</a:t>
            </a:r>
          </a:p>
        </p:txBody>
      </p:sp>
      <p:sp>
        <p:nvSpPr>
          <p:cNvPr name="TextBox 8" id="8"/>
          <p:cNvSpPr txBox="true"/>
          <p:nvPr/>
        </p:nvSpPr>
        <p:spPr>
          <a:xfrm rot="0">
            <a:off x="7658722" y="3282212"/>
            <a:ext cx="9600578"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Propiedad que el producto debe tener</a:t>
            </a:r>
          </a:p>
        </p:txBody>
      </p:sp>
      <p:sp>
        <p:nvSpPr>
          <p:cNvPr name="TextBox 9" id="9"/>
          <p:cNvSpPr txBox="true"/>
          <p:nvPr/>
        </p:nvSpPr>
        <p:spPr>
          <a:xfrm rot="0">
            <a:off x="10504030" y="5669852"/>
            <a:ext cx="4320865" cy="599701"/>
          </a:xfrm>
          <a:prstGeom prst="rect">
            <a:avLst/>
          </a:prstGeom>
        </p:spPr>
        <p:txBody>
          <a:bodyPr anchor="t" rtlCol="false" tIns="0" lIns="0" bIns="0" rIns="0">
            <a:spAutoFit/>
          </a:bodyPr>
          <a:lstStyle/>
          <a:p>
            <a:pPr algn="ctr">
              <a:lnSpc>
                <a:spcPts val="4927"/>
              </a:lnSpc>
              <a:spcBef>
                <a:spcPct val="0"/>
              </a:spcBef>
            </a:pPr>
            <a:r>
              <a:rPr lang="en-US" sz="3519">
                <a:solidFill>
                  <a:srgbClr val="FF914D"/>
                </a:solidFill>
                <a:latin typeface="HK Modular"/>
                <a:ea typeface="HK Modular"/>
                <a:cs typeface="HK Modular"/>
                <a:sym typeface="HK Modular"/>
              </a:rPr>
              <a:t>EJEMPLO</a:t>
            </a:r>
          </a:p>
        </p:txBody>
      </p:sp>
      <p:sp>
        <p:nvSpPr>
          <p:cNvPr name="Freeform 10" id="10"/>
          <p:cNvSpPr/>
          <p:nvPr/>
        </p:nvSpPr>
        <p:spPr>
          <a:xfrm flipH="false" flipV="false" rot="0">
            <a:off x="1697361" y="3159882"/>
            <a:ext cx="4082949" cy="5849062"/>
          </a:xfrm>
          <a:custGeom>
            <a:avLst/>
            <a:gdLst/>
            <a:ahLst/>
            <a:cxnLst/>
            <a:rect r="r" b="b" t="t" l="l"/>
            <a:pathLst>
              <a:path h="5849062" w="4082949">
                <a:moveTo>
                  <a:pt x="0" y="0"/>
                </a:moveTo>
                <a:lnTo>
                  <a:pt x="4082949" y="0"/>
                </a:lnTo>
                <a:lnTo>
                  <a:pt x="4082949" y="5849062"/>
                </a:lnTo>
                <a:lnTo>
                  <a:pt x="0" y="5849062"/>
                </a:lnTo>
                <a:lnTo>
                  <a:pt x="0" y="0"/>
                </a:lnTo>
                <a:close/>
              </a:path>
            </a:pathLst>
          </a:custGeom>
          <a:blipFill>
            <a:blip r:embed="rId3"/>
            <a:stretch>
              <a:fillRect l="-134339" t="-27000" r="-17537" b="-1350"/>
            </a:stretch>
          </a:blipFill>
        </p:spPr>
      </p:sp>
      <p:sp>
        <p:nvSpPr>
          <p:cNvPr name="TextBox 11" id="11"/>
          <p:cNvSpPr txBox="true"/>
          <p:nvPr/>
        </p:nvSpPr>
        <p:spPr>
          <a:xfrm rot="0">
            <a:off x="6657438" y="6736278"/>
            <a:ext cx="11342635" cy="1827276"/>
          </a:xfrm>
          <a:prstGeom prst="rect">
            <a:avLst/>
          </a:prstGeom>
        </p:spPr>
        <p:txBody>
          <a:bodyPr anchor="t" rtlCol="false" tIns="0" lIns="0" bIns="0" rIns="0">
            <a:spAutoFit/>
          </a:bodyPr>
          <a:lstStyle/>
          <a:p>
            <a:pPr algn="ctr">
              <a:lnSpc>
                <a:spcPts val="3643"/>
              </a:lnSpc>
              <a:spcBef>
                <a:spcPct val="0"/>
              </a:spcBef>
            </a:pPr>
            <a:r>
              <a:rPr lang="en-US" sz="2602">
                <a:solidFill>
                  <a:srgbClr val="FFFFFF"/>
                </a:solidFill>
                <a:latin typeface="Poppins"/>
                <a:ea typeface="Poppins"/>
                <a:cs typeface="Poppins"/>
                <a:sym typeface="Poppins"/>
              </a:rPr>
              <a:t>El sistema deberá procesar y responder cualquier solicitud de consulta o navegación en un tiempo máximo de 2 segundos para el 95% de las peticiones bajo condiciones normales de operación (hasta 300 usuarios concurrentes).</a:t>
            </a:r>
          </a:p>
        </p:txBody>
      </p:sp>
      <p:sp>
        <p:nvSpPr>
          <p:cNvPr name="Freeform 12" id="12"/>
          <p:cNvSpPr/>
          <p:nvPr/>
        </p:nvSpPr>
        <p:spPr>
          <a:xfrm flipH="false" flipV="false" rot="0">
            <a:off x="7994053"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41593" y="1807708"/>
            <a:ext cx="17804814" cy="1739679"/>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TECNICAS PARA RECOLECTAR REQUERIMIENTOS</a:t>
            </a:r>
          </a:p>
        </p:txBody>
      </p:sp>
      <p:sp>
        <p:nvSpPr>
          <p:cNvPr name="Freeform 7" id="7"/>
          <p:cNvSpPr/>
          <p:nvPr/>
        </p:nvSpPr>
        <p:spPr>
          <a:xfrm flipH="false" flipV="false" rot="0">
            <a:off x="1153969" y="4294866"/>
            <a:ext cx="3786898" cy="2660296"/>
          </a:xfrm>
          <a:custGeom>
            <a:avLst/>
            <a:gdLst/>
            <a:ahLst/>
            <a:cxnLst/>
            <a:rect r="r" b="b" t="t" l="l"/>
            <a:pathLst>
              <a:path h="2660296" w="3786898">
                <a:moveTo>
                  <a:pt x="0" y="0"/>
                </a:moveTo>
                <a:lnTo>
                  <a:pt x="3786899" y="0"/>
                </a:lnTo>
                <a:lnTo>
                  <a:pt x="3786899" y="2660296"/>
                </a:lnTo>
                <a:lnTo>
                  <a:pt x="0" y="2660296"/>
                </a:lnTo>
                <a:lnTo>
                  <a:pt x="0" y="0"/>
                </a:lnTo>
                <a:close/>
              </a:path>
            </a:pathLst>
          </a:custGeom>
          <a:blipFill>
            <a:blip r:embed="rId3"/>
            <a:stretch>
              <a:fillRect l="0" t="0" r="0" b="0"/>
            </a:stretch>
          </a:blipFill>
        </p:spPr>
      </p:sp>
      <p:sp>
        <p:nvSpPr>
          <p:cNvPr name="Freeform 8" id="8"/>
          <p:cNvSpPr/>
          <p:nvPr/>
        </p:nvSpPr>
        <p:spPr>
          <a:xfrm flipH="false" flipV="false" rot="0">
            <a:off x="6884544" y="4634021"/>
            <a:ext cx="2058631" cy="2233229"/>
          </a:xfrm>
          <a:custGeom>
            <a:avLst/>
            <a:gdLst/>
            <a:ahLst/>
            <a:cxnLst/>
            <a:rect r="r" b="b" t="t" l="l"/>
            <a:pathLst>
              <a:path h="2233229" w="2058631">
                <a:moveTo>
                  <a:pt x="0" y="0"/>
                </a:moveTo>
                <a:lnTo>
                  <a:pt x="2058631" y="0"/>
                </a:lnTo>
                <a:lnTo>
                  <a:pt x="2058631" y="2233229"/>
                </a:lnTo>
                <a:lnTo>
                  <a:pt x="0" y="22332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0978942" y="5006258"/>
            <a:ext cx="1865657" cy="1860993"/>
          </a:xfrm>
          <a:custGeom>
            <a:avLst/>
            <a:gdLst/>
            <a:ahLst/>
            <a:cxnLst/>
            <a:rect r="r" b="b" t="t" l="l"/>
            <a:pathLst>
              <a:path h="1860993" w="1865657">
                <a:moveTo>
                  <a:pt x="0" y="0"/>
                </a:moveTo>
                <a:lnTo>
                  <a:pt x="1865657" y="0"/>
                </a:lnTo>
                <a:lnTo>
                  <a:pt x="1865657" y="1860992"/>
                </a:lnTo>
                <a:lnTo>
                  <a:pt x="0" y="1860992"/>
                </a:lnTo>
                <a:lnTo>
                  <a:pt x="0" y="0"/>
                </a:lnTo>
                <a:close/>
              </a:path>
            </a:pathLst>
          </a:custGeom>
          <a:blipFill>
            <a:blip r:embed="rId6"/>
            <a:stretch>
              <a:fillRect l="0" t="0" r="0" b="0"/>
            </a:stretch>
          </a:blipFill>
        </p:spPr>
      </p:sp>
      <p:sp>
        <p:nvSpPr>
          <p:cNvPr name="TextBox 10" id="10"/>
          <p:cNvSpPr txBox="true"/>
          <p:nvPr/>
        </p:nvSpPr>
        <p:spPr>
          <a:xfrm rot="0">
            <a:off x="1153969" y="7457337"/>
            <a:ext cx="3630943" cy="402560"/>
          </a:xfrm>
          <a:prstGeom prst="rect">
            <a:avLst/>
          </a:prstGeom>
        </p:spPr>
        <p:txBody>
          <a:bodyPr anchor="t" rtlCol="false" tIns="0" lIns="0" bIns="0" rIns="0">
            <a:spAutoFit/>
          </a:bodyPr>
          <a:lstStyle/>
          <a:p>
            <a:pPr algn="ctr">
              <a:lnSpc>
                <a:spcPts val="3280"/>
              </a:lnSpc>
              <a:spcBef>
                <a:spcPct val="0"/>
              </a:spcBef>
            </a:pPr>
            <a:r>
              <a:rPr lang="en-US" sz="2343">
                <a:solidFill>
                  <a:srgbClr val="FF914D"/>
                </a:solidFill>
                <a:latin typeface="HK Modular"/>
                <a:ea typeface="HK Modular"/>
                <a:cs typeface="HK Modular"/>
                <a:sym typeface="HK Modular"/>
              </a:rPr>
              <a:t>ENTREVISTAS</a:t>
            </a:r>
          </a:p>
        </p:txBody>
      </p:sp>
      <p:sp>
        <p:nvSpPr>
          <p:cNvPr name="TextBox 11" id="11"/>
          <p:cNvSpPr txBox="true"/>
          <p:nvPr/>
        </p:nvSpPr>
        <p:spPr>
          <a:xfrm rot="0">
            <a:off x="5944850" y="7457337"/>
            <a:ext cx="3630943" cy="817020"/>
          </a:xfrm>
          <a:prstGeom prst="rect">
            <a:avLst/>
          </a:prstGeom>
        </p:spPr>
        <p:txBody>
          <a:bodyPr anchor="t" rtlCol="false" tIns="0" lIns="0" bIns="0" rIns="0">
            <a:spAutoFit/>
          </a:bodyPr>
          <a:lstStyle/>
          <a:p>
            <a:pPr algn="ctr">
              <a:lnSpc>
                <a:spcPts val="3280"/>
              </a:lnSpc>
              <a:spcBef>
                <a:spcPct val="0"/>
              </a:spcBef>
            </a:pPr>
            <a:r>
              <a:rPr lang="en-US" sz="2343">
                <a:solidFill>
                  <a:srgbClr val="FFFFFF"/>
                </a:solidFill>
                <a:latin typeface="HK Modular"/>
                <a:ea typeface="HK Modular"/>
                <a:cs typeface="HK Modular"/>
                <a:sym typeface="HK Modular"/>
              </a:rPr>
              <a:t>ENCUESTAS Y CUESTIONARIOS</a:t>
            </a:r>
          </a:p>
        </p:txBody>
      </p:sp>
      <p:sp>
        <p:nvSpPr>
          <p:cNvPr name="TextBox 12" id="12"/>
          <p:cNvSpPr txBox="true"/>
          <p:nvPr/>
        </p:nvSpPr>
        <p:spPr>
          <a:xfrm rot="0">
            <a:off x="10096299" y="7457337"/>
            <a:ext cx="3630943" cy="402560"/>
          </a:xfrm>
          <a:prstGeom prst="rect">
            <a:avLst/>
          </a:prstGeom>
        </p:spPr>
        <p:txBody>
          <a:bodyPr anchor="t" rtlCol="false" tIns="0" lIns="0" bIns="0" rIns="0">
            <a:spAutoFit/>
          </a:bodyPr>
          <a:lstStyle/>
          <a:p>
            <a:pPr algn="ctr">
              <a:lnSpc>
                <a:spcPts val="3280"/>
              </a:lnSpc>
              <a:spcBef>
                <a:spcPct val="0"/>
              </a:spcBef>
            </a:pPr>
            <a:r>
              <a:rPr lang="en-US" sz="2343">
                <a:solidFill>
                  <a:srgbClr val="FF914D"/>
                </a:solidFill>
                <a:latin typeface="HK Modular"/>
                <a:ea typeface="HK Modular"/>
                <a:cs typeface="HK Modular"/>
                <a:sym typeface="HK Modular"/>
              </a:rPr>
              <a:t>OBSERVACION</a:t>
            </a:r>
          </a:p>
        </p:txBody>
      </p:sp>
      <p:sp>
        <p:nvSpPr>
          <p:cNvPr name="Freeform 13" id="13"/>
          <p:cNvSpPr/>
          <p:nvPr/>
        </p:nvSpPr>
        <p:spPr>
          <a:xfrm flipH="false" flipV="false" rot="0">
            <a:off x="14167686" y="4502285"/>
            <a:ext cx="3527087" cy="2496702"/>
          </a:xfrm>
          <a:custGeom>
            <a:avLst/>
            <a:gdLst/>
            <a:ahLst/>
            <a:cxnLst/>
            <a:rect r="r" b="b" t="t" l="l"/>
            <a:pathLst>
              <a:path h="2496702" w="3527087">
                <a:moveTo>
                  <a:pt x="0" y="0"/>
                </a:moveTo>
                <a:lnTo>
                  <a:pt x="3527087" y="0"/>
                </a:lnTo>
                <a:lnTo>
                  <a:pt x="3527087" y="2496702"/>
                </a:lnTo>
                <a:lnTo>
                  <a:pt x="0" y="2496702"/>
                </a:lnTo>
                <a:lnTo>
                  <a:pt x="0" y="0"/>
                </a:lnTo>
                <a:close/>
              </a:path>
            </a:pathLst>
          </a:custGeom>
          <a:blipFill>
            <a:blip r:embed="rId7"/>
            <a:stretch>
              <a:fillRect l="0" t="0" r="0" b="0"/>
            </a:stretch>
          </a:blipFill>
        </p:spPr>
      </p:sp>
      <p:sp>
        <p:nvSpPr>
          <p:cNvPr name="TextBox 14" id="14"/>
          <p:cNvSpPr txBox="true"/>
          <p:nvPr/>
        </p:nvSpPr>
        <p:spPr>
          <a:xfrm rot="0">
            <a:off x="14167686" y="7457337"/>
            <a:ext cx="3630943" cy="402560"/>
          </a:xfrm>
          <a:prstGeom prst="rect">
            <a:avLst/>
          </a:prstGeom>
        </p:spPr>
        <p:txBody>
          <a:bodyPr anchor="t" rtlCol="false" tIns="0" lIns="0" bIns="0" rIns="0">
            <a:spAutoFit/>
          </a:bodyPr>
          <a:lstStyle/>
          <a:p>
            <a:pPr algn="ctr">
              <a:lnSpc>
                <a:spcPts val="3280"/>
              </a:lnSpc>
              <a:spcBef>
                <a:spcPct val="0"/>
              </a:spcBef>
            </a:pPr>
            <a:r>
              <a:rPr lang="en-US" sz="2343">
                <a:solidFill>
                  <a:srgbClr val="FFFFFF"/>
                </a:solidFill>
                <a:latin typeface="HK Modular"/>
                <a:ea typeface="HK Modular"/>
                <a:cs typeface="HK Modular"/>
                <a:sym typeface="HK Modular"/>
              </a:rPr>
              <a:t>WORKSHOPS</a:t>
            </a:r>
          </a:p>
        </p:txBody>
      </p:sp>
      <p:sp>
        <p:nvSpPr>
          <p:cNvPr name="Freeform 15" id="15"/>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8"/>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12789" y="8085896"/>
            <a:ext cx="1586363" cy="1358323"/>
          </a:xfrm>
          <a:custGeom>
            <a:avLst/>
            <a:gdLst/>
            <a:ahLst/>
            <a:cxnLst/>
            <a:rect r="r" b="b" t="t" l="l"/>
            <a:pathLst>
              <a:path h="1358323" w="1586363">
                <a:moveTo>
                  <a:pt x="0" y="0"/>
                </a:moveTo>
                <a:lnTo>
                  <a:pt x="1586363" y="0"/>
                </a:lnTo>
                <a:lnTo>
                  <a:pt x="1586363" y="1358324"/>
                </a:lnTo>
                <a:lnTo>
                  <a:pt x="0" y="13583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964154" y="19612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ANALISIS DE REQUERIMIENTOS</a:t>
            </a:r>
          </a:p>
        </p:txBody>
      </p:sp>
      <p:sp>
        <p:nvSpPr>
          <p:cNvPr name="TextBox 8" id="8"/>
          <p:cNvSpPr txBox="true"/>
          <p:nvPr/>
        </p:nvSpPr>
        <p:spPr>
          <a:xfrm rot="0">
            <a:off x="4390437" y="7171774"/>
            <a:ext cx="10005614" cy="599701"/>
          </a:xfrm>
          <a:prstGeom prst="rect">
            <a:avLst/>
          </a:prstGeom>
        </p:spPr>
        <p:txBody>
          <a:bodyPr anchor="t" rtlCol="false" tIns="0" lIns="0" bIns="0" rIns="0">
            <a:spAutoFit/>
          </a:bodyPr>
          <a:lstStyle/>
          <a:p>
            <a:pPr algn="ctr">
              <a:lnSpc>
                <a:spcPts val="4927"/>
              </a:lnSpc>
              <a:spcBef>
                <a:spcPct val="0"/>
              </a:spcBef>
            </a:pPr>
            <a:r>
              <a:rPr lang="en-US" sz="3519">
                <a:solidFill>
                  <a:srgbClr val="FF914D"/>
                </a:solidFill>
                <a:latin typeface="HK Modular"/>
                <a:ea typeface="HK Modular"/>
                <a:cs typeface="HK Modular"/>
                <a:sym typeface="HK Modular"/>
              </a:rPr>
              <a:t>PARA QUE SIRVE?</a:t>
            </a:r>
          </a:p>
        </p:txBody>
      </p:sp>
      <p:sp>
        <p:nvSpPr>
          <p:cNvPr name="TextBox 9" id="9"/>
          <p:cNvSpPr txBox="true"/>
          <p:nvPr/>
        </p:nvSpPr>
        <p:spPr>
          <a:xfrm rot="0">
            <a:off x="2850208" y="4467061"/>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Consiste en la recopilacion de las necesidades de un cliente para proponer una solucion</a:t>
            </a:r>
          </a:p>
        </p:txBody>
      </p:sp>
      <p:sp>
        <p:nvSpPr>
          <p:cNvPr name="TextBox 10" id="10"/>
          <p:cNvSpPr txBox="true"/>
          <p:nvPr/>
        </p:nvSpPr>
        <p:spPr>
          <a:xfrm rot="0">
            <a:off x="3266648" y="8171224"/>
            <a:ext cx="12587585"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Con este analisis se reconoce como se puede mejorar las funcionalidades planteadas para solucionar un determinado problema, asi se busca una solucion mas efectiva que ataque las necesidades</a:t>
            </a:r>
          </a:p>
        </p:txBody>
      </p:sp>
      <p:sp>
        <p:nvSpPr>
          <p:cNvPr name="TextBox 11" id="11"/>
          <p:cNvSpPr txBox="true"/>
          <p:nvPr/>
        </p:nvSpPr>
        <p:spPr>
          <a:xfrm rot="0">
            <a:off x="2964154" y="5665948"/>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Dependiendo del conocimiento e indagacion que se realice del problema sera mas o menos complicado el analisis</a:t>
            </a:r>
          </a:p>
        </p:txBody>
      </p:sp>
      <p:sp>
        <p:nvSpPr>
          <p:cNvPr name="Freeform 12" id="12"/>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5"/>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695207" y="3976805"/>
            <a:ext cx="972287" cy="832520"/>
          </a:xfrm>
          <a:custGeom>
            <a:avLst/>
            <a:gdLst/>
            <a:ahLst/>
            <a:cxnLst/>
            <a:rect r="r" b="b" t="t" l="l"/>
            <a:pathLst>
              <a:path h="832520" w="972287">
                <a:moveTo>
                  <a:pt x="0" y="0"/>
                </a:moveTo>
                <a:lnTo>
                  <a:pt x="972286" y="0"/>
                </a:lnTo>
                <a:lnTo>
                  <a:pt x="972286" y="832520"/>
                </a:lnTo>
                <a:lnTo>
                  <a:pt x="0" y="832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961101" y="158942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ANALISIS DE REQUERIMIENTOS</a:t>
            </a:r>
          </a:p>
        </p:txBody>
      </p:sp>
      <p:sp>
        <p:nvSpPr>
          <p:cNvPr name="TextBox 8" id="8"/>
          <p:cNvSpPr txBox="true"/>
          <p:nvPr/>
        </p:nvSpPr>
        <p:spPr>
          <a:xfrm rot="0">
            <a:off x="2850208" y="4132070"/>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Lista los requerimientos de alto nivel</a:t>
            </a:r>
          </a:p>
        </p:txBody>
      </p:sp>
      <p:sp>
        <p:nvSpPr>
          <p:cNvPr name="TextBox 9" id="9"/>
          <p:cNvSpPr txBox="true"/>
          <p:nvPr/>
        </p:nvSpPr>
        <p:spPr>
          <a:xfrm rot="0">
            <a:off x="3099152" y="6516892"/>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Se detalla cada requerimiento</a:t>
            </a:r>
          </a:p>
        </p:txBody>
      </p:sp>
      <p:sp>
        <p:nvSpPr>
          <p:cNvPr name="TextBox 10" id="10"/>
          <p:cNvSpPr txBox="true"/>
          <p:nvPr/>
        </p:nvSpPr>
        <p:spPr>
          <a:xfrm rot="0">
            <a:off x="2850208" y="5018530"/>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Se agrupan los requerimientos por modulos y por categoria - funcionales y no funcionales</a:t>
            </a:r>
          </a:p>
        </p:txBody>
      </p:sp>
      <p:sp>
        <p:nvSpPr>
          <p:cNvPr name="TextBox 11" id="11"/>
          <p:cNvSpPr txBox="true"/>
          <p:nvPr/>
        </p:nvSpPr>
        <p:spPr>
          <a:xfrm rot="0">
            <a:off x="3099152" y="7628061"/>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Identifican relaciones, ambiguedades, contradiciones y preguntas</a:t>
            </a:r>
          </a:p>
        </p:txBody>
      </p:sp>
      <p:sp>
        <p:nvSpPr>
          <p:cNvPr name="Freeform 12" id="12"/>
          <p:cNvSpPr/>
          <p:nvPr/>
        </p:nvSpPr>
        <p:spPr>
          <a:xfrm flipH="false" flipV="false" rot="0">
            <a:off x="1748936" y="4966683"/>
            <a:ext cx="972287" cy="832520"/>
          </a:xfrm>
          <a:custGeom>
            <a:avLst/>
            <a:gdLst/>
            <a:ahLst/>
            <a:cxnLst/>
            <a:rect r="r" b="b" t="t" l="l"/>
            <a:pathLst>
              <a:path h="832520" w="972287">
                <a:moveTo>
                  <a:pt x="0" y="0"/>
                </a:moveTo>
                <a:lnTo>
                  <a:pt x="972287" y="0"/>
                </a:lnTo>
                <a:lnTo>
                  <a:pt x="972287" y="832520"/>
                </a:lnTo>
                <a:lnTo>
                  <a:pt x="0" y="832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5667493" y="6362887"/>
            <a:ext cx="972287" cy="832520"/>
          </a:xfrm>
          <a:custGeom>
            <a:avLst/>
            <a:gdLst/>
            <a:ahLst/>
            <a:cxnLst/>
            <a:rect r="r" b="b" t="t" l="l"/>
            <a:pathLst>
              <a:path h="832520" w="972287">
                <a:moveTo>
                  <a:pt x="0" y="0"/>
                </a:moveTo>
                <a:lnTo>
                  <a:pt x="972287" y="0"/>
                </a:lnTo>
                <a:lnTo>
                  <a:pt x="972287" y="832520"/>
                </a:lnTo>
                <a:lnTo>
                  <a:pt x="0" y="832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613009" y="7470027"/>
            <a:ext cx="972287" cy="832520"/>
          </a:xfrm>
          <a:custGeom>
            <a:avLst/>
            <a:gdLst/>
            <a:ahLst/>
            <a:cxnLst/>
            <a:rect r="r" b="b" t="t" l="l"/>
            <a:pathLst>
              <a:path h="832520" w="972287">
                <a:moveTo>
                  <a:pt x="0" y="0"/>
                </a:moveTo>
                <a:lnTo>
                  <a:pt x="972286" y="0"/>
                </a:lnTo>
                <a:lnTo>
                  <a:pt x="972286" y="832521"/>
                </a:lnTo>
                <a:lnTo>
                  <a:pt x="0" y="8325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3237594" y="8800464"/>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Se consolidan en la matriz de trazabilidad</a:t>
            </a:r>
          </a:p>
        </p:txBody>
      </p:sp>
      <p:sp>
        <p:nvSpPr>
          <p:cNvPr name="Freeform 16" id="16"/>
          <p:cNvSpPr/>
          <p:nvPr/>
        </p:nvSpPr>
        <p:spPr>
          <a:xfrm flipH="false" flipV="false" rot="0">
            <a:off x="4831263" y="8646460"/>
            <a:ext cx="972287" cy="832520"/>
          </a:xfrm>
          <a:custGeom>
            <a:avLst/>
            <a:gdLst/>
            <a:ahLst/>
            <a:cxnLst/>
            <a:rect r="r" b="b" t="t" l="l"/>
            <a:pathLst>
              <a:path h="832520" w="972287">
                <a:moveTo>
                  <a:pt x="0" y="0"/>
                </a:moveTo>
                <a:lnTo>
                  <a:pt x="972287" y="0"/>
                </a:lnTo>
                <a:lnTo>
                  <a:pt x="972287" y="832520"/>
                </a:lnTo>
                <a:lnTo>
                  <a:pt x="0" y="8325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5"/>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90928" y="1428681"/>
            <a:ext cx="15468372" cy="1479312"/>
          </a:xfrm>
          <a:prstGeom prst="rect">
            <a:avLst/>
          </a:prstGeom>
        </p:spPr>
        <p:txBody>
          <a:bodyPr anchor="t" rtlCol="false" tIns="0" lIns="0" bIns="0" rIns="0">
            <a:spAutoFit/>
          </a:bodyPr>
          <a:lstStyle/>
          <a:p>
            <a:pPr algn="ctr">
              <a:lnSpc>
                <a:spcPts val="5942"/>
              </a:lnSpc>
              <a:spcBef>
                <a:spcPct val="0"/>
              </a:spcBef>
            </a:pPr>
            <a:r>
              <a:rPr lang="en-US" sz="4244">
                <a:solidFill>
                  <a:srgbClr val="F800C0"/>
                </a:solidFill>
                <a:latin typeface="HK Modular"/>
                <a:ea typeface="HK Modular"/>
                <a:cs typeface="HK Modular"/>
                <a:sym typeface="HK Modular"/>
              </a:rPr>
              <a:t>ANALISIS DE REQUERIMIENTOS - EJERCICIO</a:t>
            </a:r>
          </a:p>
        </p:txBody>
      </p:sp>
      <p:grpSp>
        <p:nvGrpSpPr>
          <p:cNvPr name="Group 7" id="7"/>
          <p:cNvGrpSpPr/>
          <p:nvPr/>
        </p:nvGrpSpPr>
        <p:grpSpPr>
          <a:xfrm rot="0">
            <a:off x="5238209" y="2966948"/>
            <a:ext cx="840973" cy="8409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4339"/>
                </a:lnSpc>
              </a:pPr>
              <a:r>
                <a:rPr lang="en-US" b="true" sz="3099">
                  <a:solidFill>
                    <a:srgbClr val="FFFFFF"/>
                  </a:solidFill>
                  <a:latin typeface="Canva Sans Bold"/>
                  <a:ea typeface="Canva Sans Bold"/>
                  <a:cs typeface="Canva Sans Bold"/>
                  <a:sym typeface="Canva Sans Bold"/>
                </a:rPr>
                <a:t>1</a:t>
              </a:r>
            </a:p>
          </p:txBody>
        </p:sp>
      </p:grpSp>
      <p:sp>
        <p:nvSpPr>
          <p:cNvPr name="Freeform 10" id="10"/>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3"/>
            <a:stretch>
              <a:fillRect l="0" t="0" r="0" b="0"/>
            </a:stretch>
          </a:blipFill>
        </p:spPr>
      </p:sp>
      <p:sp>
        <p:nvSpPr>
          <p:cNvPr name="Freeform 11" id="11"/>
          <p:cNvSpPr/>
          <p:nvPr/>
        </p:nvSpPr>
        <p:spPr>
          <a:xfrm flipH="false" flipV="false" rot="0">
            <a:off x="1577733" y="4477492"/>
            <a:ext cx="4966350" cy="4966350"/>
          </a:xfrm>
          <a:custGeom>
            <a:avLst/>
            <a:gdLst/>
            <a:ahLst/>
            <a:cxnLst/>
            <a:rect r="r" b="b" t="t" l="l"/>
            <a:pathLst>
              <a:path h="4966350" w="4966350">
                <a:moveTo>
                  <a:pt x="0" y="0"/>
                </a:moveTo>
                <a:lnTo>
                  <a:pt x="4966350" y="0"/>
                </a:lnTo>
                <a:lnTo>
                  <a:pt x="4966350" y="4966350"/>
                </a:lnTo>
                <a:lnTo>
                  <a:pt x="0" y="4966350"/>
                </a:lnTo>
                <a:lnTo>
                  <a:pt x="0" y="0"/>
                </a:lnTo>
                <a:close/>
              </a:path>
            </a:pathLst>
          </a:custGeom>
          <a:blipFill>
            <a:blip r:embed="rId4"/>
            <a:stretch>
              <a:fillRect l="0" t="0" r="0" b="0"/>
            </a:stretch>
          </a:blipFill>
        </p:spPr>
      </p:sp>
      <p:sp>
        <p:nvSpPr>
          <p:cNvPr name="Freeform 12" id="12"/>
          <p:cNvSpPr/>
          <p:nvPr/>
        </p:nvSpPr>
        <p:spPr>
          <a:xfrm flipH="false" flipV="false" rot="0">
            <a:off x="8009756" y="4003502"/>
            <a:ext cx="8852132" cy="5914331"/>
          </a:xfrm>
          <a:custGeom>
            <a:avLst/>
            <a:gdLst/>
            <a:ahLst/>
            <a:cxnLst/>
            <a:rect r="r" b="b" t="t" l="l"/>
            <a:pathLst>
              <a:path h="5914331" w="8852132">
                <a:moveTo>
                  <a:pt x="0" y="0"/>
                </a:moveTo>
                <a:lnTo>
                  <a:pt x="8852132" y="0"/>
                </a:lnTo>
                <a:lnTo>
                  <a:pt x="8852132" y="5914331"/>
                </a:lnTo>
                <a:lnTo>
                  <a:pt x="0" y="5914331"/>
                </a:lnTo>
                <a:lnTo>
                  <a:pt x="0" y="0"/>
                </a:lnTo>
                <a:close/>
              </a:path>
            </a:pathLst>
          </a:custGeom>
          <a:blipFill>
            <a:blip r:embed="rId5"/>
            <a:stretch>
              <a:fillRect l="0" t="0" r="0" b="0"/>
            </a:stretch>
          </a:blipFill>
        </p:spPr>
      </p:sp>
      <p:sp>
        <p:nvSpPr>
          <p:cNvPr name="TextBox 13" id="13"/>
          <p:cNvSpPr txBox="true"/>
          <p:nvPr/>
        </p:nvSpPr>
        <p:spPr>
          <a:xfrm rot="0">
            <a:off x="6079182" y="3125180"/>
            <a:ext cx="6348370"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Lista los requerimientos de alto nivel</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90928" y="1513226"/>
            <a:ext cx="14706144" cy="1739679"/>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ANALISIS DE REQUERIMIENTOS - EJERCICIO</a:t>
            </a:r>
          </a:p>
        </p:txBody>
      </p:sp>
      <p:sp>
        <p:nvSpPr>
          <p:cNvPr name="TextBox 7" id="7"/>
          <p:cNvSpPr txBox="true"/>
          <p:nvPr/>
        </p:nvSpPr>
        <p:spPr>
          <a:xfrm rot="0">
            <a:off x="3966726" y="3629583"/>
            <a:ext cx="112894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Agrupar los requerimientos por modulos y por categoria</a:t>
            </a:r>
          </a:p>
        </p:txBody>
      </p:sp>
      <p:grpSp>
        <p:nvGrpSpPr>
          <p:cNvPr name="Group 8" id="8"/>
          <p:cNvGrpSpPr/>
          <p:nvPr/>
        </p:nvGrpSpPr>
        <p:grpSpPr>
          <a:xfrm rot="0">
            <a:off x="2518795" y="3471351"/>
            <a:ext cx="840973" cy="84097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4339"/>
                </a:lnSpc>
              </a:pPr>
              <a:r>
                <a:rPr lang="en-US" b="true" sz="3099">
                  <a:solidFill>
                    <a:srgbClr val="FFFFFF"/>
                  </a:solidFill>
                  <a:latin typeface="Canva Sans Bold"/>
                  <a:ea typeface="Canva Sans Bold"/>
                  <a:cs typeface="Canva Sans Bold"/>
                  <a:sym typeface="Canva Sans Bold"/>
                </a:rPr>
                <a:t>2</a:t>
              </a:r>
            </a:p>
          </p:txBody>
        </p:sp>
      </p:grpSp>
      <p:sp>
        <p:nvSpPr>
          <p:cNvPr name="TextBox 11" id="11"/>
          <p:cNvSpPr txBox="true"/>
          <p:nvPr/>
        </p:nvSpPr>
        <p:spPr>
          <a:xfrm rot="0">
            <a:off x="2518795" y="9393467"/>
            <a:ext cx="6348370"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FUNCIONALES</a:t>
            </a:r>
          </a:p>
        </p:txBody>
      </p:sp>
      <p:sp>
        <p:nvSpPr>
          <p:cNvPr name="TextBox 12" id="12"/>
          <p:cNvSpPr txBox="true"/>
          <p:nvPr/>
        </p:nvSpPr>
        <p:spPr>
          <a:xfrm rot="0">
            <a:off x="9863021" y="9393467"/>
            <a:ext cx="6348370"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NO FUNCIONALES</a:t>
            </a:r>
          </a:p>
        </p:txBody>
      </p:sp>
      <p:sp>
        <p:nvSpPr>
          <p:cNvPr name="Freeform 13" id="13"/>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3"/>
            <a:stretch>
              <a:fillRect l="0" t="0" r="0" b="0"/>
            </a:stretch>
          </a:blipFill>
        </p:spPr>
      </p:sp>
      <p:sp>
        <p:nvSpPr>
          <p:cNvPr name="Freeform 14" id="14"/>
          <p:cNvSpPr/>
          <p:nvPr/>
        </p:nvSpPr>
        <p:spPr>
          <a:xfrm flipH="false" flipV="false" rot="0">
            <a:off x="4161660" y="4718968"/>
            <a:ext cx="3062641" cy="4539332"/>
          </a:xfrm>
          <a:custGeom>
            <a:avLst/>
            <a:gdLst/>
            <a:ahLst/>
            <a:cxnLst/>
            <a:rect r="r" b="b" t="t" l="l"/>
            <a:pathLst>
              <a:path h="4539332" w="3062641">
                <a:moveTo>
                  <a:pt x="0" y="0"/>
                </a:moveTo>
                <a:lnTo>
                  <a:pt x="3062641" y="0"/>
                </a:lnTo>
                <a:lnTo>
                  <a:pt x="3062641" y="4539332"/>
                </a:lnTo>
                <a:lnTo>
                  <a:pt x="0" y="4539332"/>
                </a:lnTo>
                <a:lnTo>
                  <a:pt x="0" y="0"/>
                </a:lnTo>
                <a:close/>
              </a:path>
            </a:pathLst>
          </a:custGeom>
          <a:blipFill>
            <a:blip r:embed="rId4"/>
            <a:stretch>
              <a:fillRect l="-17163" t="-27942" r="-145632" b="-1490"/>
            </a:stretch>
          </a:blipFill>
        </p:spPr>
      </p:sp>
      <p:sp>
        <p:nvSpPr>
          <p:cNvPr name="Freeform 15" id="15"/>
          <p:cNvSpPr/>
          <p:nvPr/>
        </p:nvSpPr>
        <p:spPr>
          <a:xfrm flipH="false" flipV="false" rot="0">
            <a:off x="11458176" y="4718968"/>
            <a:ext cx="3158059" cy="4524104"/>
          </a:xfrm>
          <a:custGeom>
            <a:avLst/>
            <a:gdLst/>
            <a:ahLst/>
            <a:cxnLst/>
            <a:rect r="r" b="b" t="t" l="l"/>
            <a:pathLst>
              <a:path h="4524104" w="3158059">
                <a:moveTo>
                  <a:pt x="0" y="0"/>
                </a:moveTo>
                <a:lnTo>
                  <a:pt x="3158059" y="0"/>
                </a:lnTo>
                <a:lnTo>
                  <a:pt x="3158059" y="4524103"/>
                </a:lnTo>
                <a:lnTo>
                  <a:pt x="0" y="4524103"/>
                </a:lnTo>
                <a:lnTo>
                  <a:pt x="0" y="0"/>
                </a:lnTo>
                <a:close/>
              </a:path>
            </a:pathLst>
          </a:custGeom>
          <a:blipFill>
            <a:blip r:embed="rId4"/>
            <a:stretch>
              <a:fillRect l="-134339" t="-27000" r="-17537" b="-135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90928" y="1513226"/>
            <a:ext cx="14706144" cy="1739679"/>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ANALISIS DE REQUERIMIENTOS - EJERCICIO</a:t>
            </a:r>
          </a:p>
        </p:txBody>
      </p:sp>
      <p:sp>
        <p:nvSpPr>
          <p:cNvPr name="TextBox 7" id="7"/>
          <p:cNvSpPr txBox="true"/>
          <p:nvPr/>
        </p:nvSpPr>
        <p:spPr>
          <a:xfrm rot="0">
            <a:off x="5969815" y="3741246"/>
            <a:ext cx="6348370"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Detallar cada requerimiento</a:t>
            </a:r>
          </a:p>
        </p:txBody>
      </p:sp>
      <p:grpSp>
        <p:nvGrpSpPr>
          <p:cNvPr name="Group 8" id="8"/>
          <p:cNvGrpSpPr/>
          <p:nvPr/>
        </p:nvGrpSpPr>
        <p:grpSpPr>
          <a:xfrm rot="0">
            <a:off x="5549329" y="3583015"/>
            <a:ext cx="840973" cy="84097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4339"/>
                </a:lnSpc>
              </a:pPr>
              <a:r>
                <a:rPr lang="en-US" b="true" sz="3099">
                  <a:solidFill>
                    <a:srgbClr val="FFFFFF"/>
                  </a:solidFill>
                  <a:latin typeface="Canva Sans Bold"/>
                  <a:ea typeface="Canva Sans Bold"/>
                  <a:cs typeface="Canva Sans Bold"/>
                  <a:sym typeface="Canva Sans Bold"/>
                </a:rPr>
                <a:t>3</a:t>
              </a:r>
            </a:p>
          </p:txBody>
        </p:sp>
      </p:grpSp>
      <p:sp>
        <p:nvSpPr>
          <p:cNvPr name="Freeform 11" id="11"/>
          <p:cNvSpPr/>
          <p:nvPr/>
        </p:nvSpPr>
        <p:spPr>
          <a:xfrm flipH="false" flipV="false" rot="0">
            <a:off x="5696461" y="4664455"/>
            <a:ext cx="6895078" cy="4593845"/>
          </a:xfrm>
          <a:custGeom>
            <a:avLst/>
            <a:gdLst/>
            <a:ahLst/>
            <a:cxnLst/>
            <a:rect r="r" b="b" t="t" l="l"/>
            <a:pathLst>
              <a:path h="4593845" w="6895078">
                <a:moveTo>
                  <a:pt x="0" y="0"/>
                </a:moveTo>
                <a:lnTo>
                  <a:pt x="6895078" y="0"/>
                </a:lnTo>
                <a:lnTo>
                  <a:pt x="6895078" y="4593845"/>
                </a:lnTo>
                <a:lnTo>
                  <a:pt x="0" y="4593845"/>
                </a:lnTo>
                <a:lnTo>
                  <a:pt x="0" y="0"/>
                </a:lnTo>
                <a:close/>
              </a:path>
            </a:pathLst>
          </a:custGeom>
          <a:blipFill>
            <a:blip r:embed="rId3"/>
            <a:stretch>
              <a:fillRect l="0" t="0" r="0" b="0"/>
            </a:stretch>
          </a:blipFill>
        </p:spPr>
      </p:sp>
      <p:sp>
        <p:nvSpPr>
          <p:cNvPr name="Freeform 12" id="12"/>
          <p:cNvSpPr/>
          <p:nvPr/>
        </p:nvSpPr>
        <p:spPr>
          <a:xfrm flipH="false" flipV="false" rot="0">
            <a:off x="13522761" y="4664455"/>
            <a:ext cx="3497580" cy="4114800"/>
          </a:xfrm>
          <a:custGeom>
            <a:avLst/>
            <a:gdLst/>
            <a:ahLst/>
            <a:cxnLst/>
            <a:rect r="r" b="b" t="t" l="l"/>
            <a:pathLst>
              <a:path h="4114800" w="3497580">
                <a:moveTo>
                  <a:pt x="0" y="0"/>
                </a:moveTo>
                <a:lnTo>
                  <a:pt x="3497580" y="0"/>
                </a:lnTo>
                <a:lnTo>
                  <a:pt x="349758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10738637">
            <a:off x="1028700" y="4664455"/>
            <a:ext cx="3497580" cy="4114800"/>
          </a:xfrm>
          <a:custGeom>
            <a:avLst/>
            <a:gdLst/>
            <a:ahLst/>
            <a:cxnLst/>
            <a:rect r="r" b="b" t="t" l="l"/>
            <a:pathLst>
              <a:path h="4114800" w="3497580">
                <a:moveTo>
                  <a:pt x="0" y="0"/>
                </a:moveTo>
                <a:lnTo>
                  <a:pt x="3497580" y="0"/>
                </a:lnTo>
                <a:lnTo>
                  <a:pt x="349758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6"/>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64154" y="1810188"/>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DOCUMENTO DE ANALISIS DE REQUERIMIENTOS</a:t>
            </a:r>
          </a:p>
        </p:txBody>
      </p:sp>
      <p:sp>
        <p:nvSpPr>
          <p:cNvPr name="Freeform 7" id="7"/>
          <p:cNvSpPr/>
          <p:nvPr/>
        </p:nvSpPr>
        <p:spPr>
          <a:xfrm flipH="false" flipV="false" rot="0">
            <a:off x="6197296" y="4105406"/>
            <a:ext cx="11301259" cy="1864708"/>
          </a:xfrm>
          <a:custGeom>
            <a:avLst/>
            <a:gdLst/>
            <a:ahLst/>
            <a:cxnLst/>
            <a:rect r="r" b="b" t="t" l="l"/>
            <a:pathLst>
              <a:path h="1864708" w="11301259">
                <a:moveTo>
                  <a:pt x="0" y="0"/>
                </a:moveTo>
                <a:lnTo>
                  <a:pt x="11301259" y="0"/>
                </a:lnTo>
                <a:lnTo>
                  <a:pt x="11301259" y="1864708"/>
                </a:lnTo>
                <a:lnTo>
                  <a:pt x="0" y="1864708"/>
                </a:lnTo>
                <a:lnTo>
                  <a:pt x="0" y="0"/>
                </a:lnTo>
                <a:close/>
              </a:path>
            </a:pathLst>
          </a:custGeom>
          <a:blipFill>
            <a:blip r:embed="rId3"/>
            <a:stretch>
              <a:fillRect l="0" t="0" r="0" b="0"/>
            </a:stretch>
          </a:blipFill>
        </p:spPr>
      </p:sp>
      <p:sp>
        <p:nvSpPr>
          <p:cNvPr name="Freeform 8" id="8"/>
          <p:cNvSpPr/>
          <p:nvPr/>
        </p:nvSpPr>
        <p:spPr>
          <a:xfrm flipH="false" flipV="false" rot="0">
            <a:off x="6197296" y="6839333"/>
            <a:ext cx="11301259" cy="2076606"/>
          </a:xfrm>
          <a:custGeom>
            <a:avLst/>
            <a:gdLst/>
            <a:ahLst/>
            <a:cxnLst/>
            <a:rect r="r" b="b" t="t" l="l"/>
            <a:pathLst>
              <a:path h="2076606" w="11301259">
                <a:moveTo>
                  <a:pt x="0" y="0"/>
                </a:moveTo>
                <a:lnTo>
                  <a:pt x="11301259" y="0"/>
                </a:lnTo>
                <a:lnTo>
                  <a:pt x="11301259" y="2076607"/>
                </a:lnTo>
                <a:lnTo>
                  <a:pt x="0" y="2076607"/>
                </a:lnTo>
                <a:lnTo>
                  <a:pt x="0" y="0"/>
                </a:lnTo>
                <a:close/>
              </a:path>
            </a:pathLst>
          </a:custGeom>
          <a:blipFill>
            <a:blip r:embed="rId4"/>
            <a:stretch>
              <a:fillRect l="0" t="0" r="0" b="0"/>
            </a:stretch>
          </a:blipFill>
        </p:spPr>
      </p:sp>
      <p:sp>
        <p:nvSpPr>
          <p:cNvPr name="TextBox 9" id="9"/>
          <p:cNvSpPr txBox="true"/>
          <p:nvPr/>
        </p:nvSpPr>
        <p:spPr>
          <a:xfrm rot="0">
            <a:off x="1291010" y="4937532"/>
            <a:ext cx="2599633" cy="625074"/>
          </a:xfrm>
          <a:prstGeom prst="rect">
            <a:avLst/>
          </a:prstGeom>
        </p:spPr>
        <p:txBody>
          <a:bodyPr anchor="t" rtlCol="false" tIns="0" lIns="0" bIns="0" rIns="0">
            <a:spAutoFit/>
          </a:bodyPr>
          <a:lstStyle/>
          <a:p>
            <a:pPr algn="ctr">
              <a:lnSpc>
                <a:spcPts val="2477"/>
              </a:lnSpc>
              <a:spcBef>
                <a:spcPct val="0"/>
              </a:spcBef>
            </a:pPr>
            <a:r>
              <a:rPr lang="en-US" sz="1769">
                <a:solidFill>
                  <a:srgbClr val="FFFFFF"/>
                </a:solidFill>
                <a:latin typeface="Poppins"/>
                <a:ea typeface="Poppins"/>
                <a:cs typeface="Poppins"/>
                <a:sym typeface="Poppins"/>
              </a:rPr>
              <a:t>Nombre del requerimiento</a:t>
            </a:r>
          </a:p>
        </p:txBody>
      </p:sp>
      <p:sp>
        <p:nvSpPr>
          <p:cNvPr name="TextBox 10" id="10"/>
          <p:cNvSpPr txBox="true"/>
          <p:nvPr/>
        </p:nvSpPr>
        <p:spPr>
          <a:xfrm rot="0">
            <a:off x="1458528" y="3818356"/>
            <a:ext cx="2432115" cy="879010"/>
          </a:xfrm>
          <a:prstGeom prst="rect">
            <a:avLst/>
          </a:prstGeom>
        </p:spPr>
        <p:txBody>
          <a:bodyPr anchor="t" rtlCol="false" tIns="0" lIns="0" bIns="0" rIns="0">
            <a:spAutoFit/>
          </a:bodyPr>
          <a:lstStyle/>
          <a:p>
            <a:pPr algn="ctr">
              <a:lnSpc>
                <a:spcPts val="2317"/>
              </a:lnSpc>
              <a:spcBef>
                <a:spcPct val="0"/>
              </a:spcBef>
            </a:pPr>
            <a:r>
              <a:rPr lang="en-US" sz="1655">
                <a:solidFill>
                  <a:srgbClr val="FFFFFF"/>
                </a:solidFill>
                <a:latin typeface="Poppins"/>
                <a:ea typeface="Poppins"/>
                <a:cs typeface="Poppins"/>
                <a:sym typeface="Poppins"/>
              </a:rPr>
              <a:t>Identificador unico para cada requerimiento</a:t>
            </a:r>
          </a:p>
        </p:txBody>
      </p:sp>
      <p:sp>
        <p:nvSpPr>
          <p:cNvPr name="TextBox 11" id="11"/>
          <p:cNvSpPr txBox="true"/>
          <p:nvPr/>
        </p:nvSpPr>
        <p:spPr>
          <a:xfrm rot="0">
            <a:off x="958220" y="5922489"/>
            <a:ext cx="3265213" cy="336937"/>
          </a:xfrm>
          <a:prstGeom prst="rect">
            <a:avLst/>
          </a:prstGeom>
        </p:spPr>
        <p:txBody>
          <a:bodyPr anchor="t" rtlCol="false" tIns="0" lIns="0" bIns="0" rIns="0">
            <a:spAutoFit/>
          </a:bodyPr>
          <a:lstStyle/>
          <a:p>
            <a:pPr algn="ctr">
              <a:lnSpc>
                <a:spcPts val="2692"/>
              </a:lnSpc>
              <a:spcBef>
                <a:spcPct val="0"/>
              </a:spcBef>
            </a:pPr>
            <a:r>
              <a:rPr lang="en-US" sz="1923">
                <a:solidFill>
                  <a:srgbClr val="FFFFFF"/>
                </a:solidFill>
                <a:latin typeface="Poppins"/>
                <a:ea typeface="Poppins"/>
                <a:cs typeface="Poppins"/>
                <a:sym typeface="Poppins"/>
              </a:rPr>
              <a:t>Detalle del requerimiento</a:t>
            </a:r>
          </a:p>
        </p:txBody>
      </p:sp>
      <p:sp>
        <p:nvSpPr>
          <p:cNvPr name="AutoShape 12" id="12"/>
          <p:cNvSpPr/>
          <p:nvPr/>
        </p:nvSpPr>
        <p:spPr>
          <a:xfrm>
            <a:off x="3890643" y="4281674"/>
            <a:ext cx="2472342" cy="861826"/>
          </a:xfrm>
          <a:prstGeom prst="line">
            <a:avLst/>
          </a:prstGeom>
          <a:ln cap="flat" w="38100">
            <a:solidFill>
              <a:srgbClr val="FF914D"/>
            </a:solidFill>
            <a:prstDash val="solid"/>
            <a:headEnd type="none" len="sm" w="sm"/>
            <a:tailEnd type="triangle" len="med" w="lg"/>
          </a:ln>
        </p:spPr>
      </p:sp>
      <p:sp>
        <p:nvSpPr>
          <p:cNvPr name="AutoShape 13" id="13"/>
          <p:cNvSpPr/>
          <p:nvPr/>
        </p:nvSpPr>
        <p:spPr>
          <a:xfrm>
            <a:off x="3890643" y="5273882"/>
            <a:ext cx="2474194" cy="288724"/>
          </a:xfrm>
          <a:prstGeom prst="line">
            <a:avLst/>
          </a:prstGeom>
          <a:ln cap="flat" w="38100">
            <a:solidFill>
              <a:srgbClr val="FF914D"/>
            </a:solidFill>
            <a:prstDash val="solid"/>
            <a:headEnd type="none" len="sm" w="sm"/>
            <a:tailEnd type="triangle" len="med" w="lg"/>
          </a:ln>
        </p:spPr>
      </p:sp>
      <p:sp>
        <p:nvSpPr>
          <p:cNvPr name="AutoShape 14" id="14"/>
          <p:cNvSpPr/>
          <p:nvPr/>
        </p:nvSpPr>
        <p:spPr>
          <a:xfrm>
            <a:off x="4315002" y="6259426"/>
            <a:ext cx="2139959" cy="1245536"/>
          </a:xfrm>
          <a:prstGeom prst="line">
            <a:avLst/>
          </a:prstGeom>
          <a:ln cap="flat" w="38100">
            <a:solidFill>
              <a:srgbClr val="FF914D"/>
            </a:solidFill>
            <a:prstDash val="solid"/>
            <a:headEnd type="none" len="sm" w="sm"/>
            <a:tailEnd type="triangle" len="med" w="lg"/>
          </a:ln>
        </p:spPr>
      </p:sp>
      <p:sp>
        <p:nvSpPr>
          <p:cNvPr name="TextBox 15" id="15"/>
          <p:cNvSpPr txBox="true"/>
          <p:nvPr/>
        </p:nvSpPr>
        <p:spPr>
          <a:xfrm rot="0">
            <a:off x="0" y="6935701"/>
            <a:ext cx="4959941" cy="284557"/>
          </a:xfrm>
          <a:prstGeom prst="rect">
            <a:avLst/>
          </a:prstGeom>
        </p:spPr>
        <p:txBody>
          <a:bodyPr anchor="t" rtlCol="false" tIns="0" lIns="0" bIns="0" rIns="0">
            <a:spAutoFit/>
          </a:bodyPr>
          <a:lstStyle/>
          <a:p>
            <a:pPr algn="ctr">
              <a:lnSpc>
                <a:spcPts val="2293"/>
              </a:lnSpc>
              <a:spcBef>
                <a:spcPct val="0"/>
              </a:spcBef>
            </a:pPr>
            <a:r>
              <a:rPr lang="en-US" sz="1638">
                <a:solidFill>
                  <a:srgbClr val="FFFFFF"/>
                </a:solidFill>
                <a:latin typeface="Poppins"/>
                <a:ea typeface="Poppins"/>
                <a:cs typeface="Poppins"/>
                <a:sym typeface="Poppins"/>
              </a:rPr>
              <a:t>Como se ejecutara este requerimiento</a:t>
            </a:r>
          </a:p>
        </p:txBody>
      </p:sp>
      <p:sp>
        <p:nvSpPr>
          <p:cNvPr name="AutoShape 16" id="16"/>
          <p:cNvSpPr/>
          <p:nvPr/>
        </p:nvSpPr>
        <p:spPr>
          <a:xfrm>
            <a:off x="4736968" y="7220258"/>
            <a:ext cx="1840182" cy="635317"/>
          </a:xfrm>
          <a:prstGeom prst="line">
            <a:avLst/>
          </a:prstGeom>
          <a:ln cap="flat" w="38100">
            <a:solidFill>
              <a:srgbClr val="FF914D"/>
            </a:solidFill>
            <a:prstDash val="solid"/>
            <a:headEnd type="none" len="sm" w="sm"/>
            <a:tailEnd type="triangle" len="med" w="lg"/>
          </a:ln>
        </p:spPr>
      </p:sp>
      <p:sp>
        <p:nvSpPr>
          <p:cNvPr name="TextBox 17" id="17"/>
          <p:cNvSpPr txBox="true"/>
          <p:nvPr/>
        </p:nvSpPr>
        <p:spPr>
          <a:xfrm rot="0">
            <a:off x="0" y="8121780"/>
            <a:ext cx="4959941" cy="284557"/>
          </a:xfrm>
          <a:prstGeom prst="rect">
            <a:avLst/>
          </a:prstGeom>
        </p:spPr>
        <p:txBody>
          <a:bodyPr anchor="t" rtlCol="false" tIns="0" lIns="0" bIns="0" rIns="0">
            <a:spAutoFit/>
          </a:bodyPr>
          <a:lstStyle/>
          <a:p>
            <a:pPr algn="ctr">
              <a:lnSpc>
                <a:spcPts val="2293"/>
              </a:lnSpc>
              <a:spcBef>
                <a:spcPct val="0"/>
              </a:spcBef>
            </a:pPr>
            <a:r>
              <a:rPr lang="en-US" sz="1638">
                <a:solidFill>
                  <a:srgbClr val="FFFFFF"/>
                </a:solidFill>
                <a:latin typeface="Poppins"/>
                <a:ea typeface="Poppins"/>
                <a:cs typeface="Poppins"/>
                <a:sym typeface="Poppins"/>
              </a:rPr>
              <a:t>Usuarios quienes usaran el requerimiento</a:t>
            </a:r>
          </a:p>
        </p:txBody>
      </p:sp>
      <p:sp>
        <p:nvSpPr>
          <p:cNvPr name="AutoShape 18" id="18"/>
          <p:cNvSpPr/>
          <p:nvPr/>
        </p:nvSpPr>
        <p:spPr>
          <a:xfrm flipV="true">
            <a:off x="4736968" y="8238985"/>
            <a:ext cx="1839726" cy="44124"/>
          </a:xfrm>
          <a:prstGeom prst="line">
            <a:avLst/>
          </a:prstGeom>
          <a:ln cap="flat" w="38100">
            <a:solidFill>
              <a:srgbClr val="FF914D"/>
            </a:solidFill>
            <a:prstDash val="solid"/>
            <a:headEnd type="none" len="sm" w="sm"/>
            <a:tailEnd type="triangle" len="med" w="lg"/>
          </a:ln>
        </p:spPr>
      </p:sp>
      <p:sp>
        <p:nvSpPr>
          <p:cNvPr name="TextBox 19" id="19"/>
          <p:cNvSpPr txBox="true"/>
          <p:nvPr/>
        </p:nvSpPr>
        <p:spPr>
          <a:xfrm rot="0">
            <a:off x="182611" y="8599747"/>
            <a:ext cx="4959941" cy="572623"/>
          </a:xfrm>
          <a:prstGeom prst="rect">
            <a:avLst/>
          </a:prstGeom>
        </p:spPr>
        <p:txBody>
          <a:bodyPr anchor="t" rtlCol="false" tIns="0" lIns="0" bIns="0" rIns="0">
            <a:spAutoFit/>
          </a:bodyPr>
          <a:lstStyle/>
          <a:p>
            <a:pPr algn="ctr">
              <a:lnSpc>
                <a:spcPts val="2293"/>
              </a:lnSpc>
              <a:spcBef>
                <a:spcPct val="0"/>
              </a:spcBef>
            </a:pPr>
            <a:r>
              <a:rPr lang="en-US" sz="1638">
                <a:solidFill>
                  <a:srgbClr val="FFFFFF"/>
                </a:solidFill>
                <a:latin typeface="Poppins"/>
                <a:ea typeface="Poppins"/>
                <a:cs typeface="Poppins"/>
                <a:sym typeface="Poppins"/>
              </a:rPr>
              <a:t>Aspectos que deben cumplirse para que el requerimiento pueda implementarse y operar</a:t>
            </a:r>
          </a:p>
        </p:txBody>
      </p:sp>
      <p:sp>
        <p:nvSpPr>
          <p:cNvPr name="AutoShape 20" id="20"/>
          <p:cNvSpPr/>
          <p:nvPr/>
        </p:nvSpPr>
        <p:spPr>
          <a:xfrm flipV="true">
            <a:off x="5142553" y="8628316"/>
            <a:ext cx="1435054" cy="276792"/>
          </a:xfrm>
          <a:prstGeom prst="line">
            <a:avLst/>
          </a:prstGeom>
          <a:ln cap="flat" w="38100">
            <a:solidFill>
              <a:srgbClr val="FF914D"/>
            </a:solidFill>
            <a:prstDash val="solid"/>
            <a:headEnd type="none" len="sm" w="sm"/>
            <a:tailEnd type="triangle" len="med" w="lg"/>
          </a:ln>
        </p:spPr>
      </p:sp>
      <p:sp>
        <p:nvSpPr>
          <p:cNvPr name="Freeform 21" id="21"/>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5"/>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64154" y="1810188"/>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DOCUMENTO DE ANALISIS DE REQUERIMIENTOS</a:t>
            </a:r>
          </a:p>
        </p:txBody>
      </p:sp>
      <p:sp>
        <p:nvSpPr>
          <p:cNvPr name="Freeform 7" id="7"/>
          <p:cNvSpPr/>
          <p:nvPr/>
        </p:nvSpPr>
        <p:spPr>
          <a:xfrm flipH="false" flipV="false" rot="0">
            <a:off x="3466766" y="5052287"/>
            <a:ext cx="11354468" cy="3023127"/>
          </a:xfrm>
          <a:custGeom>
            <a:avLst/>
            <a:gdLst/>
            <a:ahLst/>
            <a:cxnLst/>
            <a:rect r="r" b="b" t="t" l="l"/>
            <a:pathLst>
              <a:path h="3023127" w="11354468">
                <a:moveTo>
                  <a:pt x="0" y="0"/>
                </a:moveTo>
                <a:lnTo>
                  <a:pt x="11354468" y="0"/>
                </a:lnTo>
                <a:lnTo>
                  <a:pt x="11354468" y="3023127"/>
                </a:lnTo>
                <a:lnTo>
                  <a:pt x="0" y="3023127"/>
                </a:lnTo>
                <a:lnTo>
                  <a:pt x="0" y="0"/>
                </a:lnTo>
                <a:close/>
              </a:path>
            </a:pathLst>
          </a:custGeom>
          <a:blipFill>
            <a:blip r:embed="rId3"/>
            <a:stretch>
              <a:fillRect l="0" t="0" r="0" b="0"/>
            </a:stretch>
          </a:blipFill>
        </p:spPr>
      </p:sp>
      <p:sp>
        <p:nvSpPr>
          <p:cNvPr name="TextBox 8" id="8"/>
          <p:cNvSpPr txBox="true"/>
          <p:nvPr/>
        </p:nvSpPr>
        <p:spPr>
          <a:xfrm rot="0">
            <a:off x="6200122" y="4097673"/>
            <a:ext cx="5887757" cy="345014"/>
          </a:xfrm>
          <a:prstGeom prst="rect">
            <a:avLst/>
          </a:prstGeom>
        </p:spPr>
        <p:txBody>
          <a:bodyPr anchor="t" rtlCol="false" tIns="0" lIns="0" bIns="0" rIns="0">
            <a:spAutoFit/>
          </a:bodyPr>
          <a:lstStyle/>
          <a:p>
            <a:pPr algn="ctr">
              <a:lnSpc>
                <a:spcPts val="2704"/>
              </a:lnSpc>
              <a:spcBef>
                <a:spcPct val="0"/>
              </a:spcBef>
            </a:pPr>
            <a:r>
              <a:rPr lang="en-US" sz="1931">
                <a:solidFill>
                  <a:srgbClr val="FFFFFF"/>
                </a:solidFill>
                <a:latin typeface="Poppins"/>
                <a:ea typeface="Poppins"/>
                <a:cs typeface="Poppins"/>
                <a:sym typeface="Poppins"/>
              </a:rPr>
              <a:t>la información que cruza la frontera del sistema</a:t>
            </a:r>
          </a:p>
        </p:txBody>
      </p:sp>
      <p:sp>
        <p:nvSpPr>
          <p:cNvPr name="TextBox 9" id="9"/>
          <p:cNvSpPr txBox="true"/>
          <p:nvPr/>
        </p:nvSpPr>
        <p:spPr>
          <a:xfrm rot="0">
            <a:off x="353932" y="5715661"/>
            <a:ext cx="2838238" cy="345014"/>
          </a:xfrm>
          <a:prstGeom prst="rect">
            <a:avLst/>
          </a:prstGeom>
        </p:spPr>
        <p:txBody>
          <a:bodyPr anchor="t" rtlCol="false" tIns="0" lIns="0" bIns="0" rIns="0">
            <a:spAutoFit/>
          </a:bodyPr>
          <a:lstStyle/>
          <a:p>
            <a:pPr algn="ctr">
              <a:lnSpc>
                <a:spcPts val="2704"/>
              </a:lnSpc>
              <a:spcBef>
                <a:spcPct val="0"/>
              </a:spcBef>
            </a:pPr>
            <a:r>
              <a:rPr lang="en-US" sz="1931">
                <a:solidFill>
                  <a:srgbClr val="FFFFFF"/>
                </a:solidFill>
                <a:latin typeface="Poppins"/>
                <a:ea typeface="Poppins"/>
                <a:cs typeface="Poppins"/>
                <a:sym typeface="Poppins"/>
              </a:rPr>
              <a:t>Lo que el actor entrega</a:t>
            </a:r>
          </a:p>
        </p:txBody>
      </p:sp>
      <p:sp>
        <p:nvSpPr>
          <p:cNvPr name="TextBox 10" id="10"/>
          <p:cNvSpPr txBox="true"/>
          <p:nvPr/>
        </p:nvSpPr>
        <p:spPr>
          <a:xfrm rot="0">
            <a:off x="14120847" y="8406560"/>
            <a:ext cx="3357664" cy="345014"/>
          </a:xfrm>
          <a:prstGeom prst="rect">
            <a:avLst/>
          </a:prstGeom>
        </p:spPr>
        <p:txBody>
          <a:bodyPr anchor="t" rtlCol="false" tIns="0" lIns="0" bIns="0" rIns="0">
            <a:spAutoFit/>
          </a:bodyPr>
          <a:lstStyle/>
          <a:p>
            <a:pPr algn="ctr">
              <a:lnSpc>
                <a:spcPts val="2704"/>
              </a:lnSpc>
              <a:spcBef>
                <a:spcPct val="0"/>
              </a:spcBef>
            </a:pPr>
            <a:r>
              <a:rPr lang="en-US" sz="1931">
                <a:solidFill>
                  <a:srgbClr val="FFFFFF"/>
                </a:solidFill>
                <a:latin typeface="Poppins"/>
                <a:ea typeface="Poppins"/>
                <a:cs typeface="Poppins"/>
                <a:sym typeface="Poppins"/>
              </a:rPr>
              <a:t>Lo que el sistema responde</a:t>
            </a:r>
          </a:p>
        </p:txBody>
      </p:sp>
      <p:sp>
        <p:nvSpPr>
          <p:cNvPr name="AutoShape 11" id="11"/>
          <p:cNvSpPr/>
          <p:nvPr/>
        </p:nvSpPr>
        <p:spPr>
          <a:xfrm flipV="true">
            <a:off x="1773052" y="5310996"/>
            <a:ext cx="1979792" cy="461815"/>
          </a:xfrm>
          <a:prstGeom prst="line">
            <a:avLst/>
          </a:prstGeom>
          <a:ln cap="flat" w="38100">
            <a:solidFill>
              <a:srgbClr val="FF914D"/>
            </a:solidFill>
            <a:prstDash val="solid"/>
            <a:headEnd type="none" len="sm" w="sm"/>
            <a:tailEnd type="triangle" len="med" w="lg"/>
          </a:ln>
        </p:spPr>
      </p:sp>
      <p:sp>
        <p:nvSpPr>
          <p:cNvPr name="AutoShape 12" id="12"/>
          <p:cNvSpPr/>
          <p:nvPr/>
        </p:nvSpPr>
        <p:spPr>
          <a:xfrm flipH="true" flipV="true">
            <a:off x="6087015" y="6741083"/>
            <a:ext cx="9716991" cy="1704075"/>
          </a:xfrm>
          <a:prstGeom prst="line">
            <a:avLst/>
          </a:prstGeom>
          <a:ln cap="flat" w="38100">
            <a:solidFill>
              <a:srgbClr val="FF914D"/>
            </a:solidFill>
            <a:prstDash val="solid"/>
            <a:headEnd type="none" len="sm" w="sm"/>
            <a:tailEnd type="triangle" len="med" w="lg"/>
          </a:ln>
        </p:spPr>
      </p:sp>
      <p:sp>
        <p:nvSpPr>
          <p:cNvPr name="Freeform 13" id="13"/>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64154" y="1810188"/>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DOCUMENTO DE ANALISIS DE REQUERIMIENTOS</a:t>
            </a:r>
          </a:p>
        </p:txBody>
      </p:sp>
      <p:sp>
        <p:nvSpPr>
          <p:cNvPr name="Freeform 7" id="7"/>
          <p:cNvSpPr/>
          <p:nvPr/>
        </p:nvSpPr>
        <p:spPr>
          <a:xfrm flipH="false" flipV="false" rot="0">
            <a:off x="3602737" y="4945873"/>
            <a:ext cx="11301259" cy="3870681"/>
          </a:xfrm>
          <a:custGeom>
            <a:avLst/>
            <a:gdLst/>
            <a:ahLst/>
            <a:cxnLst/>
            <a:rect r="r" b="b" t="t" l="l"/>
            <a:pathLst>
              <a:path h="3870681" w="11301259">
                <a:moveTo>
                  <a:pt x="0" y="0"/>
                </a:moveTo>
                <a:lnTo>
                  <a:pt x="11301259" y="0"/>
                </a:lnTo>
                <a:lnTo>
                  <a:pt x="11301259" y="3870681"/>
                </a:lnTo>
                <a:lnTo>
                  <a:pt x="0" y="3870681"/>
                </a:lnTo>
                <a:lnTo>
                  <a:pt x="0" y="0"/>
                </a:lnTo>
                <a:close/>
              </a:path>
            </a:pathLst>
          </a:custGeom>
          <a:blipFill>
            <a:blip r:embed="rId3"/>
            <a:stretch>
              <a:fillRect l="0" t="0" r="0" b="0"/>
            </a:stretch>
          </a:blipFill>
        </p:spPr>
      </p:sp>
      <p:sp>
        <p:nvSpPr>
          <p:cNvPr name="TextBox 8" id="8"/>
          <p:cNvSpPr txBox="true"/>
          <p:nvPr/>
        </p:nvSpPr>
        <p:spPr>
          <a:xfrm rot="0">
            <a:off x="12931983" y="3702276"/>
            <a:ext cx="4140591" cy="1005463"/>
          </a:xfrm>
          <a:prstGeom prst="rect">
            <a:avLst/>
          </a:prstGeom>
        </p:spPr>
        <p:txBody>
          <a:bodyPr anchor="t" rtlCol="false" tIns="0" lIns="0" bIns="0" rIns="0">
            <a:spAutoFit/>
          </a:bodyPr>
          <a:lstStyle/>
          <a:p>
            <a:pPr algn="ctr">
              <a:lnSpc>
                <a:spcPts val="3946"/>
              </a:lnSpc>
              <a:spcBef>
                <a:spcPct val="0"/>
              </a:spcBef>
            </a:pPr>
            <a:r>
              <a:rPr lang="en-US" sz="2818">
                <a:solidFill>
                  <a:srgbClr val="FFFFFF"/>
                </a:solidFill>
                <a:latin typeface="Poppins"/>
                <a:ea typeface="Poppins"/>
                <a:cs typeface="Poppins"/>
                <a:sym typeface="Poppins"/>
              </a:rPr>
              <a:t>Pasos para ejecutar el requerimiento</a:t>
            </a:r>
          </a:p>
        </p:txBody>
      </p:sp>
      <p:sp>
        <p:nvSpPr>
          <p:cNvPr name="AutoShape 9" id="9"/>
          <p:cNvSpPr/>
          <p:nvPr/>
        </p:nvSpPr>
        <p:spPr>
          <a:xfrm flipH="true">
            <a:off x="5904224" y="3975790"/>
            <a:ext cx="7027759" cy="1335573"/>
          </a:xfrm>
          <a:prstGeom prst="line">
            <a:avLst/>
          </a:prstGeom>
          <a:ln cap="flat" w="38100">
            <a:solidFill>
              <a:srgbClr val="FF914D"/>
            </a:solidFill>
            <a:prstDash val="solid"/>
            <a:headEnd type="none" len="sm" w="sm"/>
            <a:tailEnd type="triangle" len="med" w="lg"/>
          </a:ln>
        </p:spPr>
      </p:sp>
      <p:sp>
        <p:nvSpPr>
          <p:cNvPr name="TextBox 10" id="10"/>
          <p:cNvSpPr txBox="true"/>
          <p:nvPr/>
        </p:nvSpPr>
        <p:spPr>
          <a:xfrm rot="0">
            <a:off x="857198" y="8949337"/>
            <a:ext cx="7253220" cy="1005463"/>
          </a:xfrm>
          <a:prstGeom prst="rect">
            <a:avLst/>
          </a:prstGeom>
        </p:spPr>
        <p:txBody>
          <a:bodyPr anchor="t" rtlCol="false" tIns="0" lIns="0" bIns="0" rIns="0">
            <a:spAutoFit/>
          </a:bodyPr>
          <a:lstStyle/>
          <a:p>
            <a:pPr algn="ctr">
              <a:lnSpc>
                <a:spcPts val="3946"/>
              </a:lnSpc>
              <a:spcBef>
                <a:spcPct val="0"/>
              </a:spcBef>
            </a:pPr>
            <a:r>
              <a:rPr lang="en-US" sz="2818">
                <a:solidFill>
                  <a:srgbClr val="FFFFFF"/>
                </a:solidFill>
                <a:latin typeface="Poppins"/>
                <a:ea typeface="Poppins"/>
                <a:cs typeface="Poppins"/>
                <a:sym typeface="Poppins"/>
              </a:rPr>
              <a:t>Pasos alternos en caso de que no siga el flujo esperado - Excepciones</a:t>
            </a:r>
          </a:p>
        </p:txBody>
      </p:sp>
      <p:sp>
        <p:nvSpPr>
          <p:cNvPr name="AutoShape 11" id="11"/>
          <p:cNvSpPr/>
          <p:nvPr/>
        </p:nvSpPr>
        <p:spPr>
          <a:xfrm flipV="true">
            <a:off x="4243737" y="6754411"/>
            <a:ext cx="1784971" cy="2280651"/>
          </a:xfrm>
          <a:prstGeom prst="line">
            <a:avLst/>
          </a:prstGeom>
          <a:ln cap="flat" w="38100">
            <a:solidFill>
              <a:srgbClr val="FF914D"/>
            </a:solidFill>
            <a:prstDash val="solid"/>
            <a:headEnd type="none" len="sm" w="sm"/>
            <a:tailEnd type="triangle" len="med" w="lg"/>
          </a:ln>
        </p:spPr>
      </p:sp>
      <p:sp>
        <p:nvSpPr>
          <p:cNvPr name="Freeform 12" id="12"/>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64154" y="1810188"/>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DOCUMENTO DE ANALISIS DE REQUERIMIENTOS</a:t>
            </a:r>
          </a:p>
        </p:txBody>
      </p:sp>
      <p:sp>
        <p:nvSpPr>
          <p:cNvPr name="Freeform 7" id="7"/>
          <p:cNvSpPr/>
          <p:nvPr/>
        </p:nvSpPr>
        <p:spPr>
          <a:xfrm flipH="false" flipV="false" rot="0">
            <a:off x="4135437" y="4215963"/>
            <a:ext cx="11301259" cy="4718276"/>
          </a:xfrm>
          <a:custGeom>
            <a:avLst/>
            <a:gdLst/>
            <a:ahLst/>
            <a:cxnLst/>
            <a:rect r="r" b="b" t="t" l="l"/>
            <a:pathLst>
              <a:path h="4718276" w="11301259">
                <a:moveTo>
                  <a:pt x="0" y="0"/>
                </a:moveTo>
                <a:lnTo>
                  <a:pt x="11301259" y="0"/>
                </a:lnTo>
                <a:lnTo>
                  <a:pt x="11301259" y="4718276"/>
                </a:lnTo>
                <a:lnTo>
                  <a:pt x="0" y="4718276"/>
                </a:lnTo>
                <a:lnTo>
                  <a:pt x="0" y="0"/>
                </a:lnTo>
                <a:close/>
              </a:path>
            </a:pathLst>
          </a:custGeom>
          <a:blipFill>
            <a:blip r:embed="rId3"/>
            <a:stretch>
              <a:fillRect l="0" t="0" r="0" b="0"/>
            </a:stretch>
          </a:blipFill>
        </p:spPr>
      </p:sp>
      <p:sp>
        <p:nvSpPr>
          <p:cNvPr name="TextBox 8" id="8"/>
          <p:cNvSpPr txBox="true"/>
          <p:nvPr/>
        </p:nvSpPr>
        <p:spPr>
          <a:xfrm rot="0">
            <a:off x="418739" y="4331734"/>
            <a:ext cx="3354344" cy="1614857"/>
          </a:xfrm>
          <a:prstGeom prst="rect">
            <a:avLst/>
          </a:prstGeom>
        </p:spPr>
        <p:txBody>
          <a:bodyPr anchor="t" rtlCol="false" tIns="0" lIns="0" bIns="0" rIns="0">
            <a:spAutoFit/>
          </a:bodyPr>
          <a:lstStyle/>
          <a:p>
            <a:pPr algn="ctr">
              <a:lnSpc>
                <a:spcPts val="3196"/>
              </a:lnSpc>
              <a:spcBef>
                <a:spcPct val="0"/>
              </a:spcBef>
            </a:pPr>
            <a:r>
              <a:rPr lang="en-US" sz="2283">
                <a:solidFill>
                  <a:srgbClr val="FFFFFF"/>
                </a:solidFill>
                <a:latin typeface="Poppins"/>
                <a:ea typeface="Poppins"/>
                <a:cs typeface="Poppins"/>
                <a:sym typeface="Poppins"/>
              </a:rPr>
              <a:t>Mockup de las pantallas involucradas en el requerimiento y flujo de navegacion</a:t>
            </a:r>
          </a:p>
        </p:txBody>
      </p:sp>
      <p:sp>
        <p:nvSpPr>
          <p:cNvPr name="AutoShape 9" id="9"/>
          <p:cNvSpPr/>
          <p:nvPr/>
        </p:nvSpPr>
        <p:spPr>
          <a:xfrm flipV="true">
            <a:off x="3773084" y="4939874"/>
            <a:ext cx="2381246" cy="232626"/>
          </a:xfrm>
          <a:prstGeom prst="line">
            <a:avLst/>
          </a:prstGeom>
          <a:ln cap="flat" w="38100">
            <a:solidFill>
              <a:srgbClr val="FF914D"/>
            </a:solidFill>
            <a:prstDash val="solid"/>
            <a:headEnd type="none" len="sm" w="sm"/>
            <a:tailEnd type="triangle" len="med" w="lg"/>
          </a:ln>
        </p:spPr>
      </p:sp>
      <p:sp>
        <p:nvSpPr>
          <p:cNvPr name="TextBox 10" id="10"/>
          <p:cNvSpPr txBox="true"/>
          <p:nvPr/>
        </p:nvSpPr>
        <p:spPr>
          <a:xfrm rot="0">
            <a:off x="14502336" y="3227916"/>
            <a:ext cx="3354344" cy="811766"/>
          </a:xfrm>
          <a:prstGeom prst="rect">
            <a:avLst/>
          </a:prstGeom>
        </p:spPr>
        <p:txBody>
          <a:bodyPr anchor="t" rtlCol="false" tIns="0" lIns="0" bIns="0" rIns="0">
            <a:spAutoFit/>
          </a:bodyPr>
          <a:lstStyle/>
          <a:p>
            <a:pPr algn="ctr">
              <a:lnSpc>
                <a:spcPts val="3196"/>
              </a:lnSpc>
              <a:spcBef>
                <a:spcPct val="0"/>
              </a:spcBef>
            </a:pPr>
            <a:r>
              <a:rPr lang="en-US" sz="2283">
                <a:solidFill>
                  <a:srgbClr val="FFFFFF"/>
                </a:solidFill>
                <a:latin typeface="Poppins"/>
                <a:ea typeface="Poppins"/>
                <a:cs typeface="Poppins"/>
                <a:sym typeface="Poppins"/>
              </a:rPr>
              <a:t>Diagrama de casos de uso</a:t>
            </a:r>
          </a:p>
        </p:txBody>
      </p:sp>
      <p:sp>
        <p:nvSpPr>
          <p:cNvPr name="AutoShape 11" id="11"/>
          <p:cNvSpPr/>
          <p:nvPr/>
        </p:nvSpPr>
        <p:spPr>
          <a:xfrm flipH="true">
            <a:off x="5622789" y="3667137"/>
            <a:ext cx="8770098" cy="853655"/>
          </a:xfrm>
          <a:prstGeom prst="line">
            <a:avLst/>
          </a:prstGeom>
          <a:ln cap="flat" w="38100">
            <a:solidFill>
              <a:srgbClr val="FF914D"/>
            </a:solidFill>
            <a:prstDash val="solid"/>
            <a:headEnd type="none" len="sm" w="sm"/>
            <a:tailEnd type="triangle" len="med" w="lg"/>
          </a:ln>
        </p:spPr>
      </p:sp>
      <p:sp>
        <p:nvSpPr>
          <p:cNvPr name="TextBox 12" id="12"/>
          <p:cNvSpPr txBox="true"/>
          <p:nvPr/>
        </p:nvSpPr>
        <p:spPr>
          <a:xfrm rot="0">
            <a:off x="479181" y="6517951"/>
            <a:ext cx="3233460" cy="134239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Las reglas de negocio son restricciones del dominio real (universidad), no del software.</a:t>
            </a:r>
          </a:p>
        </p:txBody>
      </p:sp>
      <p:sp>
        <p:nvSpPr>
          <p:cNvPr name="AutoShape 13" id="13"/>
          <p:cNvSpPr/>
          <p:nvPr/>
        </p:nvSpPr>
        <p:spPr>
          <a:xfrm flipV="true">
            <a:off x="3771231" y="5302591"/>
            <a:ext cx="3019505" cy="1743312"/>
          </a:xfrm>
          <a:prstGeom prst="line">
            <a:avLst/>
          </a:prstGeom>
          <a:ln cap="flat" w="38100">
            <a:solidFill>
              <a:srgbClr val="FF914D"/>
            </a:solidFill>
            <a:prstDash val="solid"/>
            <a:headEnd type="none" len="sm" w="sm"/>
            <a:tailEnd type="triangle" len="med" w="lg"/>
          </a:ln>
        </p:spPr>
      </p:sp>
      <p:sp>
        <p:nvSpPr>
          <p:cNvPr name="TextBox 14" id="14"/>
          <p:cNvSpPr txBox="true"/>
          <p:nvPr/>
        </p:nvSpPr>
        <p:spPr>
          <a:xfrm rot="0">
            <a:off x="14389295" y="9191625"/>
            <a:ext cx="3354344" cy="410220"/>
          </a:xfrm>
          <a:prstGeom prst="rect">
            <a:avLst/>
          </a:prstGeom>
        </p:spPr>
        <p:txBody>
          <a:bodyPr anchor="t" rtlCol="false" tIns="0" lIns="0" bIns="0" rIns="0">
            <a:spAutoFit/>
          </a:bodyPr>
          <a:lstStyle/>
          <a:p>
            <a:pPr algn="ctr">
              <a:lnSpc>
                <a:spcPts val="3196"/>
              </a:lnSpc>
              <a:spcBef>
                <a:spcPct val="0"/>
              </a:spcBef>
            </a:pPr>
            <a:r>
              <a:rPr lang="en-US" sz="2283">
                <a:solidFill>
                  <a:srgbClr val="FFFFFF"/>
                </a:solidFill>
                <a:latin typeface="Poppins"/>
                <a:ea typeface="Poppins"/>
                <a:cs typeface="Poppins"/>
                <a:sym typeface="Poppins"/>
              </a:rPr>
              <a:t>glosario</a:t>
            </a:r>
          </a:p>
        </p:txBody>
      </p:sp>
      <p:sp>
        <p:nvSpPr>
          <p:cNvPr name="AutoShape 15" id="15"/>
          <p:cNvSpPr/>
          <p:nvPr/>
        </p:nvSpPr>
        <p:spPr>
          <a:xfrm flipH="true" flipV="true">
            <a:off x="6375382" y="6431897"/>
            <a:ext cx="9691085" cy="2826403"/>
          </a:xfrm>
          <a:prstGeom prst="line">
            <a:avLst/>
          </a:prstGeom>
          <a:ln cap="flat" w="38100">
            <a:solidFill>
              <a:srgbClr val="FF914D"/>
            </a:solidFill>
            <a:prstDash val="solid"/>
            <a:headEnd type="none" len="sm" w="sm"/>
            <a:tailEnd type="triangle" len="med" w="lg"/>
          </a:ln>
        </p:spPr>
      </p:sp>
      <p:sp>
        <p:nvSpPr>
          <p:cNvPr name="TextBox 16" id="16"/>
          <p:cNvSpPr txBox="true"/>
          <p:nvPr/>
        </p:nvSpPr>
        <p:spPr>
          <a:xfrm rot="0">
            <a:off x="4181953" y="9201150"/>
            <a:ext cx="4386858"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C</a:t>
            </a:r>
            <a:r>
              <a:rPr lang="en-US" sz="1899">
                <a:solidFill>
                  <a:srgbClr val="FFFFFF"/>
                </a:solidFill>
                <a:latin typeface="Poppins"/>
                <a:ea typeface="Poppins"/>
                <a:cs typeface="Poppins"/>
                <a:sym typeface="Poppins"/>
              </a:rPr>
              <a:t>ontrol de versiones del documento</a:t>
            </a:r>
          </a:p>
        </p:txBody>
      </p:sp>
      <p:sp>
        <p:nvSpPr>
          <p:cNvPr name="AutoShape 17" id="17"/>
          <p:cNvSpPr/>
          <p:nvPr/>
        </p:nvSpPr>
        <p:spPr>
          <a:xfrm flipV="true">
            <a:off x="5082143" y="7673206"/>
            <a:ext cx="1530005" cy="1530005"/>
          </a:xfrm>
          <a:prstGeom prst="line">
            <a:avLst/>
          </a:prstGeom>
          <a:ln cap="flat" w="38100">
            <a:solidFill>
              <a:srgbClr val="FF914D"/>
            </a:solidFill>
            <a:prstDash val="solid"/>
            <a:headEnd type="none" len="sm" w="sm"/>
            <a:tailEnd type="triangle" len="med" w="lg"/>
          </a:ln>
        </p:spPr>
      </p:sp>
      <p:sp>
        <p:nvSpPr>
          <p:cNvPr name="Freeform 18" id="18"/>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90928" y="1513226"/>
            <a:ext cx="14706144" cy="1739679"/>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ANALISIS DE REQUERIMIENTOS - EJERCICIO</a:t>
            </a:r>
          </a:p>
        </p:txBody>
      </p:sp>
      <p:sp>
        <p:nvSpPr>
          <p:cNvPr name="TextBox 7" id="7"/>
          <p:cNvSpPr txBox="true"/>
          <p:nvPr/>
        </p:nvSpPr>
        <p:spPr>
          <a:xfrm rot="0">
            <a:off x="622586" y="3741246"/>
            <a:ext cx="6348370"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Detallar cada requerimiento</a:t>
            </a:r>
          </a:p>
        </p:txBody>
      </p:sp>
      <p:grpSp>
        <p:nvGrpSpPr>
          <p:cNvPr name="Group 8" id="8"/>
          <p:cNvGrpSpPr/>
          <p:nvPr/>
        </p:nvGrpSpPr>
        <p:grpSpPr>
          <a:xfrm rot="0">
            <a:off x="388828" y="3583015"/>
            <a:ext cx="840973" cy="84097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4339"/>
                </a:lnSpc>
              </a:pPr>
              <a:r>
                <a:rPr lang="en-US" b="true" sz="3099">
                  <a:solidFill>
                    <a:srgbClr val="FFFFFF"/>
                  </a:solidFill>
                  <a:latin typeface="Canva Sans Bold"/>
                  <a:ea typeface="Canva Sans Bold"/>
                  <a:cs typeface="Canva Sans Bold"/>
                  <a:sym typeface="Canva Sans Bold"/>
                </a:rPr>
                <a:t>3</a:t>
              </a:r>
            </a:p>
          </p:txBody>
        </p:sp>
      </p:grpSp>
      <p:sp>
        <p:nvSpPr>
          <p:cNvPr name="TextBox 11" id="11"/>
          <p:cNvSpPr txBox="true"/>
          <p:nvPr/>
        </p:nvSpPr>
        <p:spPr>
          <a:xfrm rot="0">
            <a:off x="197215" y="4690688"/>
            <a:ext cx="6348370"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Codigo: THCP-01</a:t>
            </a:r>
          </a:p>
        </p:txBody>
      </p:sp>
      <p:sp>
        <p:nvSpPr>
          <p:cNvPr name="TextBox 12" id="12"/>
          <p:cNvSpPr txBox="true"/>
          <p:nvPr/>
        </p:nvSpPr>
        <p:spPr>
          <a:xfrm rot="0">
            <a:off x="197215" y="5643824"/>
            <a:ext cx="6348370" cy="45726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Nombre</a:t>
            </a:r>
          </a:p>
          <a:p>
            <a:pPr algn="ctr">
              <a:lnSpc>
                <a:spcPts val="3639"/>
              </a:lnSpc>
            </a:pPr>
            <a:r>
              <a:rPr lang="en-US" sz="2599">
                <a:solidFill>
                  <a:srgbClr val="FFFFFF"/>
                </a:solidFill>
                <a:latin typeface="Poppins"/>
                <a:ea typeface="Poppins"/>
                <a:cs typeface="Poppins"/>
                <a:sym typeface="Poppins"/>
              </a:rPr>
              <a:t>Descripcion</a:t>
            </a:r>
          </a:p>
          <a:p>
            <a:pPr algn="ctr">
              <a:lnSpc>
                <a:spcPts val="3639"/>
              </a:lnSpc>
            </a:pPr>
            <a:r>
              <a:rPr lang="en-US" sz="2599">
                <a:solidFill>
                  <a:srgbClr val="FFFFFF"/>
                </a:solidFill>
                <a:latin typeface="Poppins"/>
                <a:ea typeface="Poppins"/>
                <a:cs typeface="Poppins"/>
                <a:sym typeface="Poppins"/>
              </a:rPr>
              <a:t>Como se ejecutara</a:t>
            </a:r>
          </a:p>
          <a:p>
            <a:pPr algn="ctr">
              <a:lnSpc>
                <a:spcPts val="3639"/>
              </a:lnSpc>
            </a:pPr>
            <a:r>
              <a:rPr lang="en-US" sz="2599">
                <a:solidFill>
                  <a:srgbClr val="FFFFFF"/>
                </a:solidFill>
                <a:latin typeface="Poppins"/>
                <a:ea typeface="Poppins"/>
                <a:cs typeface="Poppins"/>
                <a:sym typeface="Poppins"/>
              </a:rPr>
              <a:t>Actor Principal</a:t>
            </a:r>
          </a:p>
          <a:p>
            <a:pPr algn="ctr">
              <a:lnSpc>
                <a:spcPts val="3639"/>
              </a:lnSpc>
            </a:pPr>
            <a:r>
              <a:rPr lang="en-US" sz="2599">
                <a:solidFill>
                  <a:srgbClr val="FFFFFF"/>
                </a:solidFill>
                <a:latin typeface="Poppins"/>
                <a:ea typeface="Poppins"/>
                <a:cs typeface="Poppins"/>
                <a:sym typeface="Poppins"/>
              </a:rPr>
              <a:t>Precondiciones</a:t>
            </a:r>
          </a:p>
          <a:p>
            <a:pPr algn="ctr">
              <a:lnSpc>
                <a:spcPts val="3639"/>
              </a:lnSpc>
            </a:pPr>
            <a:r>
              <a:rPr lang="en-US" sz="2599">
                <a:solidFill>
                  <a:srgbClr val="FFFFFF"/>
                </a:solidFill>
                <a:latin typeface="Poppins"/>
                <a:ea typeface="Poppins"/>
                <a:cs typeface="Poppins"/>
                <a:sym typeface="Poppins"/>
              </a:rPr>
              <a:t>Datos de entrada y de salida</a:t>
            </a:r>
          </a:p>
          <a:p>
            <a:pPr algn="ctr">
              <a:lnSpc>
                <a:spcPts val="3639"/>
              </a:lnSpc>
            </a:pPr>
            <a:r>
              <a:rPr lang="en-US" sz="2599">
                <a:solidFill>
                  <a:srgbClr val="FFFFFF"/>
                </a:solidFill>
                <a:latin typeface="Poppins"/>
                <a:ea typeface="Poppins"/>
                <a:cs typeface="Poppins"/>
                <a:sym typeface="Poppins"/>
              </a:rPr>
              <a:t>Flujo Basico</a:t>
            </a:r>
          </a:p>
          <a:p>
            <a:pPr algn="ctr">
              <a:lnSpc>
                <a:spcPts val="3639"/>
              </a:lnSpc>
            </a:pPr>
            <a:r>
              <a:rPr lang="en-US" sz="2599">
                <a:solidFill>
                  <a:srgbClr val="FFFFFF"/>
                </a:solidFill>
                <a:latin typeface="Poppins"/>
                <a:ea typeface="Poppins"/>
                <a:cs typeface="Poppins"/>
                <a:sym typeface="Poppins"/>
              </a:rPr>
              <a:t>Flujo Alterno (Error)</a:t>
            </a:r>
          </a:p>
          <a:p>
            <a:pPr algn="ctr">
              <a:lnSpc>
                <a:spcPts val="3639"/>
              </a:lnSpc>
            </a:pPr>
          </a:p>
          <a:p>
            <a:pPr algn="ctr">
              <a:lnSpc>
                <a:spcPts val="3639"/>
              </a:lnSpc>
              <a:spcBef>
                <a:spcPct val="0"/>
              </a:spcBef>
            </a:pPr>
          </a:p>
        </p:txBody>
      </p:sp>
      <p:sp>
        <p:nvSpPr>
          <p:cNvPr name="Freeform 13" id="13"/>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3"/>
            <a:stretch>
              <a:fillRect l="0" t="0" r="0" b="0"/>
            </a:stretch>
          </a:blipFill>
        </p:spPr>
      </p:sp>
      <p:sp>
        <p:nvSpPr>
          <p:cNvPr name="Freeform 14" id="14"/>
          <p:cNvSpPr/>
          <p:nvPr/>
        </p:nvSpPr>
        <p:spPr>
          <a:xfrm flipH="false" flipV="false" rot="0">
            <a:off x="8407168" y="3807921"/>
            <a:ext cx="8852132" cy="5914331"/>
          </a:xfrm>
          <a:custGeom>
            <a:avLst/>
            <a:gdLst/>
            <a:ahLst/>
            <a:cxnLst/>
            <a:rect r="r" b="b" t="t" l="l"/>
            <a:pathLst>
              <a:path h="5914331" w="8852132">
                <a:moveTo>
                  <a:pt x="0" y="0"/>
                </a:moveTo>
                <a:lnTo>
                  <a:pt x="8852132" y="0"/>
                </a:lnTo>
                <a:lnTo>
                  <a:pt x="8852132" y="5914331"/>
                </a:lnTo>
                <a:lnTo>
                  <a:pt x="0" y="5914331"/>
                </a:lnTo>
                <a:lnTo>
                  <a:pt x="0" y="0"/>
                </a:lnTo>
                <a:close/>
              </a:path>
            </a:pathLst>
          </a:custGeom>
          <a:blipFill>
            <a:blip r:embed="rId4"/>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37813" y="4132325"/>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FF751F"/>
                </a:solidFill>
                <a:latin typeface="HK Modular"/>
                <a:ea typeface="HK Modular"/>
                <a:cs typeface="HK Modular"/>
                <a:sym typeface="HK Modular"/>
              </a:rPr>
              <a:t>ANEXOS</a:t>
            </a:r>
          </a:p>
        </p:txBody>
      </p:sp>
      <p:sp>
        <p:nvSpPr>
          <p:cNvPr name="Freeform 13" id="13"/>
          <p:cNvSpPr/>
          <p:nvPr/>
        </p:nvSpPr>
        <p:spPr>
          <a:xfrm flipH="false" flipV="false" rot="0">
            <a:off x="7238969" y="-348555"/>
            <a:ext cx="4028796" cy="4028796"/>
          </a:xfrm>
          <a:custGeom>
            <a:avLst/>
            <a:gdLst/>
            <a:ahLst/>
            <a:cxnLst/>
            <a:rect r="r" b="b" t="t" l="l"/>
            <a:pathLst>
              <a:path h="4028796" w="4028796">
                <a:moveTo>
                  <a:pt x="0" y="0"/>
                </a:moveTo>
                <a:lnTo>
                  <a:pt x="4028796" y="0"/>
                </a:lnTo>
                <a:lnTo>
                  <a:pt x="4028796" y="4028796"/>
                </a:lnTo>
                <a:lnTo>
                  <a:pt x="0" y="4028796"/>
                </a:lnTo>
                <a:lnTo>
                  <a:pt x="0" y="0"/>
                </a:lnTo>
                <a:close/>
              </a:path>
            </a:pathLst>
          </a:custGeom>
          <a:blipFill>
            <a:blip r:embed="rId3"/>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90928" y="1973839"/>
            <a:ext cx="14706144" cy="853854"/>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DIAGRAMA DE CASOS DE USO</a:t>
            </a:r>
          </a:p>
        </p:txBody>
      </p:sp>
      <p:sp>
        <p:nvSpPr>
          <p:cNvPr name="TextBox 7" id="7"/>
          <p:cNvSpPr txBox="true"/>
          <p:nvPr/>
        </p:nvSpPr>
        <p:spPr>
          <a:xfrm rot="0">
            <a:off x="9126784" y="3515571"/>
            <a:ext cx="7753956" cy="735176"/>
          </a:xfrm>
          <a:prstGeom prst="rect">
            <a:avLst/>
          </a:prstGeom>
        </p:spPr>
        <p:txBody>
          <a:bodyPr anchor="t" rtlCol="false" tIns="0" lIns="0" bIns="0" rIns="0">
            <a:spAutoFit/>
          </a:bodyPr>
          <a:lstStyle/>
          <a:p>
            <a:pPr algn="ctr">
              <a:lnSpc>
                <a:spcPts val="2961"/>
              </a:lnSpc>
            </a:pPr>
            <a:r>
              <a:rPr lang="en-US" sz="2115">
                <a:solidFill>
                  <a:srgbClr val="FFFFFF"/>
                </a:solidFill>
                <a:latin typeface="Canva Sans"/>
                <a:ea typeface="Canva Sans"/>
                <a:cs typeface="Canva Sans"/>
                <a:sym typeface="Canva Sans"/>
              </a:rPr>
              <a:t>Es un tipo de diagrama UML de comportamiento y se usa frecuentemente para analizar varios sistemas</a:t>
            </a:r>
          </a:p>
        </p:txBody>
      </p:sp>
      <p:sp>
        <p:nvSpPr>
          <p:cNvPr name="TextBox 8" id="8"/>
          <p:cNvSpPr txBox="true"/>
          <p:nvPr/>
        </p:nvSpPr>
        <p:spPr>
          <a:xfrm rot="0">
            <a:off x="9144000" y="4605975"/>
            <a:ext cx="7753956" cy="735176"/>
          </a:xfrm>
          <a:prstGeom prst="rect">
            <a:avLst/>
          </a:prstGeom>
        </p:spPr>
        <p:txBody>
          <a:bodyPr anchor="t" rtlCol="false" tIns="0" lIns="0" bIns="0" rIns="0">
            <a:spAutoFit/>
          </a:bodyPr>
          <a:lstStyle/>
          <a:p>
            <a:pPr algn="ctr">
              <a:lnSpc>
                <a:spcPts val="2961"/>
              </a:lnSpc>
            </a:pPr>
            <a:r>
              <a:rPr lang="en-US" sz="2115">
                <a:solidFill>
                  <a:srgbClr val="FFFFFF"/>
                </a:solidFill>
                <a:latin typeface="Canva Sans"/>
                <a:ea typeface="Canva Sans"/>
                <a:cs typeface="Canva Sans"/>
                <a:sym typeface="Canva Sans"/>
              </a:rPr>
              <a:t>Permite visualizar los diferentes tipos de roles en un sistema y como esos roles interactuan con el sistema</a:t>
            </a:r>
          </a:p>
        </p:txBody>
      </p:sp>
      <p:sp>
        <p:nvSpPr>
          <p:cNvPr name="TextBox 9" id="9"/>
          <p:cNvSpPr txBox="true"/>
          <p:nvPr/>
        </p:nvSpPr>
        <p:spPr>
          <a:xfrm rot="0">
            <a:off x="9144000" y="5693576"/>
            <a:ext cx="7753956" cy="1110582"/>
          </a:xfrm>
          <a:prstGeom prst="rect">
            <a:avLst/>
          </a:prstGeom>
        </p:spPr>
        <p:txBody>
          <a:bodyPr anchor="t" rtlCol="false" tIns="0" lIns="0" bIns="0" rIns="0">
            <a:spAutoFit/>
          </a:bodyPr>
          <a:lstStyle/>
          <a:p>
            <a:pPr algn="ctr">
              <a:lnSpc>
                <a:spcPts val="2961"/>
              </a:lnSpc>
            </a:pPr>
            <a:r>
              <a:rPr lang="en-US" sz="2115">
                <a:solidFill>
                  <a:srgbClr val="FFFFFF"/>
                </a:solidFill>
                <a:latin typeface="Canva Sans"/>
                <a:ea typeface="Canva Sans"/>
                <a:cs typeface="Canva Sans"/>
                <a:sym typeface="Canva Sans"/>
              </a:rPr>
              <a:t>Muy util cuando para una vision de alto nivel del sistema, especialmente util cuando se presenta a los administradores o a las partes interesadas</a:t>
            </a:r>
          </a:p>
        </p:txBody>
      </p:sp>
      <p:sp>
        <p:nvSpPr>
          <p:cNvPr name="TextBox 10" id="10"/>
          <p:cNvSpPr txBox="true"/>
          <p:nvPr/>
        </p:nvSpPr>
        <p:spPr>
          <a:xfrm rot="0">
            <a:off x="9792040" y="7252702"/>
            <a:ext cx="6789410" cy="456895"/>
          </a:xfrm>
          <a:prstGeom prst="rect">
            <a:avLst/>
          </a:prstGeom>
        </p:spPr>
        <p:txBody>
          <a:bodyPr anchor="t" rtlCol="false" tIns="0" lIns="0" bIns="0" rIns="0">
            <a:spAutoFit/>
          </a:bodyPr>
          <a:lstStyle/>
          <a:p>
            <a:pPr algn="ctr">
              <a:lnSpc>
                <a:spcPts val="3783"/>
              </a:lnSpc>
              <a:spcBef>
                <a:spcPct val="0"/>
              </a:spcBef>
            </a:pPr>
            <a:r>
              <a:rPr lang="en-US" sz="2702">
                <a:solidFill>
                  <a:srgbClr val="F800C0"/>
                </a:solidFill>
                <a:latin typeface="HK Modular"/>
                <a:ea typeface="HK Modular"/>
                <a:cs typeface="HK Modular"/>
                <a:sym typeface="HK Modular"/>
              </a:rPr>
              <a:t>CONSISTEN DE 4 OBJETOS</a:t>
            </a:r>
          </a:p>
        </p:txBody>
      </p:sp>
      <p:sp>
        <p:nvSpPr>
          <p:cNvPr name="TextBox 11" id="11"/>
          <p:cNvSpPr txBox="true"/>
          <p:nvPr/>
        </p:nvSpPr>
        <p:spPr>
          <a:xfrm rot="0">
            <a:off x="12041012" y="8062022"/>
            <a:ext cx="2291466" cy="1470266"/>
          </a:xfrm>
          <a:prstGeom prst="rect">
            <a:avLst/>
          </a:prstGeom>
        </p:spPr>
        <p:txBody>
          <a:bodyPr anchor="t" rtlCol="false" tIns="0" lIns="0" bIns="0" rIns="0">
            <a:spAutoFit/>
          </a:bodyPr>
          <a:lstStyle/>
          <a:p>
            <a:pPr algn="ctr" marL="456742" indent="-228371" lvl="1">
              <a:lnSpc>
                <a:spcPts val="2961"/>
              </a:lnSpc>
              <a:buFont typeface="Arial"/>
              <a:buChar char="•"/>
            </a:pPr>
            <a:r>
              <a:rPr lang="en-US" sz="2115">
                <a:solidFill>
                  <a:srgbClr val="FFFFFF"/>
                </a:solidFill>
                <a:latin typeface="Canva Sans"/>
                <a:ea typeface="Canva Sans"/>
                <a:cs typeface="Canva Sans"/>
                <a:sym typeface="Canva Sans"/>
              </a:rPr>
              <a:t>Actores</a:t>
            </a:r>
          </a:p>
          <a:p>
            <a:pPr algn="ctr" marL="456742" indent="-228371" lvl="1">
              <a:lnSpc>
                <a:spcPts val="2961"/>
              </a:lnSpc>
              <a:buFont typeface="Arial"/>
              <a:buChar char="•"/>
            </a:pPr>
            <a:r>
              <a:rPr lang="en-US" sz="2115">
                <a:solidFill>
                  <a:srgbClr val="FFFFFF"/>
                </a:solidFill>
                <a:latin typeface="Canva Sans"/>
                <a:ea typeface="Canva Sans"/>
                <a:cs typeface="Canva Sans"/>
                <a:sym typeface="Canva Sans"/>
              </a:rPr>
              <a:t>Caso de Uso</a:t>
            </a:r>
          </a:p>
          <a:p>
            <a:pPr algn="ctr" marL="456742" indent="-228371" lvl="1">
              <a:lnSpc>
                <a:spcPts val="2961"/>
              </a:lnSpc>
              <a:buFont typeface="Arial"/>
              <a:buChar char="•"/>
            </a:pPr>
            <a:r>
              <a:rPr lang="en-US" sz="2115">
                <a:solidFill>
                  <a:srgbClr val="FFFFFF"/>
                </a:solidFill>
                <a:latin typeface="Canva Sans"/>
                <a:ea typeface="Canva Sans"/>
                <a:cs typeface="Canva Sans"/>
                <a:sym typeface="Canva Sans"/>
              </a:rPr>
              <a:t>Sistema</a:t>
            </a:r>
          </a:p>
          <a:p>
            <a:pPr algn="ctr" marL="456742" indent="-228371" lvl="1">
              <a:lnSpc>
                <a:spcPts val="2961"/>
              </a:lnSpc>
              <a:buFont typeface="Arial"/>
              <a:buChar char="•"/>
            </a:pPr>
            <a:r>
              <a:rPr lang="en-US" sz="2115">
                <a:solidFill>
                  <a:srgbClr val="FFFFFF"/>
                </a:solidFill>
                <a:latin typeface="Canva Sans"/>
                <a:ea typeface="Canva Sans"/>
                <a:cs typeface="Canva Sans"/>
                <a:sym typeface="Canva Sans"/>
              </a:rPr>
              <a:t>Paquete</a:t>
            </a:r>
          </a:p>
        </p:txBody>
      </p:sp>
      <p:sp>
        <p:nvSpPr>
          <p:cNvPr name="Freeform 12" id="12"/>
          <p:cNvSpPr/>
          <p:nvPr/>
        </p:nvSpPr>
        <p:spPr>
          <a:xfrm flipH="false" flipV="false" rot="0">
            <a:off x="2366598" y="3377350"/>
            <a:ext cx="5582058" cy="6024773"/>
          </a:xfrm>
          <a:custGeom>
            <a:avLst/>
            <a:gdLst/>
            <a:ahLst/>
            <a:cxnLst/>
            <a:rect r="r" b="b" t="t" l="l"/>
            <a:pathLst>
              <a:path h="6024773" w="5582058">
                <a:moveTo>
                  <a:pt x="0" y="0"/>
                </a:moveTo>
                <a:lnTo>
                  <a:pt x="5582058" y="0"/>
                </a:lnTo>
                <a:lnTo>
                  <a:pt x="5582058" y="6024773"/>
                </a:lnTo>
                <a:lnTo>
                  <a:pt x="0" y="6024773"/>
                </a:lnTo>
                <a:lnTo>
                  <a:pt x="0" y="0"/>
                </a:lnTo>
                <a:close/>
              </a:path>
            </a:pathLst>
          </a:custGeom>
          <a:blipFill>
            <a:blip r:embed="rId3"/>
            <a:stretch>
              <a:fillRect l="0" t="0" r="0" b="0"/>
            </a:stretch>
          </a:blipFill>
        </p:spPr>
      </p:sp>
      <p:sp>
        <p:nvSpPr>
          <p:cNvPr name="Freeform 13" id="13"/>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51734" y="166967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DIAGRAMA DE CASOS DE USO</a:t>
            </a:r>
          </a:p>
        </p:txBody>
      </p:sp>
      <p:sp>
        <p:nvSpPr>
          <p:cNvPr name="TextBox 7" id="7"/>
          <p:cNvSpPr txBox="true"/>
          <p:nvPr/>
        </p:nvSpPr>
        <p:spPr>
          <a:xfrm rot="0">
            <a:off x="9615697" y="3944738"/>
            <a:ext cx="7753956" cy="1110582"/>
          </a:xfrm>
          <a:prstGeom prst="rect">
            <a:avLst/>
          </a:prstGeom>
        </p:spPr>
        <p:txBody>
          <a:bodyPr anchor="t" rtlCol="false" tIns="0" lIns="0" bIns="0" rIns="0">
            <a:spAutoFit/>
          </a:bodyPr>
          <a:lstStyle/>
          <a:p>
            <a:pPr algn="ctr">
              <a:lnSpc>
                <a:spcPts val="2961"/>
              </a:lnSpc>
            </a:pPr>
            <a:r>
              <a:rPr lang="en-US" sz="2115">
                <a:solidFill>
                  <a:srgbClr val="FFFFFF"/>
                </a:solidFill>
                <a:latin typeface="Canva Sans"/>
                <a:ea typeface="Canva Sans"/>
                <a:cs typeface="Canva Sans"/>
                <a:sym typeface="Canva Sans"/>
              </a:rPr>
              <a:t>El actor en undiagrama de caso de uso de es cualquier entidad que desempeñe un papel en un sistema determinado.</a:t>
            </a:r>
          </a:p>
        </p:txBody>
      </p:sp>
      <p:sp>
        <p:nvSpPr>
          <p:cNvPr name="TextBox 8" id="8"/>
          <p:cNvSpPr txBox="true"/>
          <p:nvPr/>
        </p:nvSpPr>
        <p:spPr>
          <a:xfrm rot="0">
            <a:off x="6058419" y="2999775"/>
            <a:ext cx="6789410" cy="456895"/>
          </a:xfrm>
          <a:prstGeom prst="rect">
            <a:avLst/>
          </a:prstGeom>
        </p:spPr>
        <p:txBody>
          <a:bodyPr anchor="t" rtlCol="false" tIns="0" lIns="0" bIns="0" rIns="0">
            <a:spAutoFit/>
          </a:bodyPr>
          <a:lstStyle/>
          <a:p>
            <a:pPr algn="ctr">
              <a:lnSpc>
                <a:spcPts val="3783"/>
              </a:lnSpc>
              <a:spcBef>
                <a:spcPct val="0"/>
              </a:spcBef>
            </a:pPr>
            <a:r>
              <a:rPr lang="en-US" sz="2702">
                <a:solidFill>
                  <a:srgbClr val="FF914D"/>
                </a:solidFill>
                <a:latin typeface="HK Modular"/>
                <a:ea typeface="HK Modular"/>
                <a:cs typeface="HK Modular"/>
                <a:sym typeface="HK Modular"/>
              </a:rPr>
              <a:t>CONSISTEN DE 4 OBJETOS</a:t>
            </a:r>
          </a:p>
        </p:txBody>
      </p:sp>
      <p:sp>
        <p:nvSpPr>
          <p:cNvPr name="TextBox 9" id="9"/>
          <p:cNvSpPr txBox="true"/>
          <p:nvPr/>
        </p:nvSpPr>
        <p:spPr>
          <a:xfrm rot="0">
            <a:off x="1189742" y="4062184"/>
            <a:ext cx="6789410" cy="456895"/>
          </a:xfrm>
          <a:prstGeom prst="rect">
            <a:avLst/>
          </a:prstGeom>
        </p:spPr>
        <p:txBody>
          <a:bodyPr anchor="t" rtlCol="false" tIns="0" lIns="0" bIns="0" rIns="0">
            <a:spAutoFit/>
          </a:bodyPr>
          <a:lstStyle/>
          <a:p>
            <a:pPr algn="ctr">
              <a:lnSpc>
                <a:spcPts val="3783"/>
              </a:lnSpc>
              <a:spcBef>
                <a:spcPct val="0"/>
              </a:spcBef>
            </a:pPr>
            <a:r>
              <a:rPr lang="en-US" sz="2702">
                <a:solidFill>
                  <a:srgbClr val="FFFFFF"/>
                </a:solidFill>
                <a:latin typeface="HK Modular"/>
                <a:ea typeface="HK Modular"/>
                <a:cs typeface="HK Modular"/>
                <a:sym typeface="HK Modular"/>
              </a:rPr>
              <a:t>ACTOR</a:t>
            </a:r>
          </a:p>
        </p:txBody>
      </p:sp>
      <p:sp>
        <p:nvSpPr>
          <p:cNvPr name="TextBox 10" id="10"/>
          <p:cNvSpPr txBox="true"/>
          <p:nvPr/>
        </p:nvSpPr>
        <p:spPr>
          <a:xfrm rot="0">
            <a:off x="1189742" y="5533339"/>
            <a:ext cx="6789410" cy="456895"/>
          </a:xfrm>
          <a:prstGeom prst="rect">
            <a:avLst/>
          </a:prstGeom>
        </p:spPr>
        <p:txBody>
          <a:bodyPr anchor="t" rtlCol="false" tIns="0" lIns="0" bIns="0" rIns="0">
            <a:spAutoFit/>
          </a:bodyPr>
          <a:lstStyle/>
          <a:p>
            <a:pPr algn="ctr">
              <a:lnSpc>
                <a:spcPts val="3783"/>
              </a:lnSpc>
              <a:spcBef>
                <a:spcPct val="0"/>
              </a:spcBef>
            </a:pPr>
            <a:r>
              <a:rPr lang="en-US" sz="2702">
                <a:solidFill>
                  <a:srgbClr val="FFFFFF"/>
                </a:solidFill>
                <a:latin typeface="HK Modular"/>
                <a:ea typeface="HK Modular"/>
                <a:cs typeface="HK Modular"/>
                <a:sym typeface="HK Modular"/>
              </a:rPr>
              <a:t>CASO DE USO</a:t>
            </a:r>
          </a:p>
        </p:txBody>
      </p:sp>
      <p:sp>
        <p:nvSpPr>
          <p:cNvPr name="TextBox 11" id="11"/>
          <p:cNvSpPr txBox="true"/>
          <p:nvPr/>
        </p:nvSpPr>
        <p:spPr>
          <a:xfrm rot="0">
            <a:off x="1189742" y="6999883"/>
            <a:ext cx="6789410" cy="456895"/>
          </a:xfrm>
          <a:prstGeom prst="rect">
            <a:avLst/>
          </a:prstGeom>
        </p:spPr>
        <p:txBody>
          <a:bodyPr anchor="t" rtlCol="false" tIns="0" lIns="0" bIns="0" rIns="0">
            <a:spAutoFit/>
          </a:bodyPr>
          <a:lstStyle/>
          <a:p>
            <a:pPr algn="ctr">
              <a:lnSpc>
                <a:spcPts val="3783"/>
              </a:lnSpc>
              <a:spcBef>
                <a:spcPct val="0"/>
              </a:spcBef>
            </a:pPr>
            <a:r>
              <a:rPr lang="en-US" sz="2702">
                <a:solidFill>
                  <a:srgbClr val="FFFFFF"/>
                </a:solidFill>
                <a:latin typeface="HK Modular"/>
                <a:ea typeface="HK Modular"/>
                <a:cs typeface="HK Modular"/>
                <a:sym typeface="HK Modular"/>
              </a:rPr>
              <a:t>SISTEMA</a:t>
            </a:r>
          </a:p>
        </p:txBody>
      </p:sp>
      <p:sp>
        <p:nvSpPr>
          <p:cNvPr name="TextBox 12" id="12"/>
          <p:cNvSpPr txBox="true"/>
          <p:nvPr/>
        </p:nvSpPr>
        <p:spPr>
          <a:xfrm rot="0">
            <a:off x="1189742" y="8308616"/>
            <a:ext cx="6789410" cy="456895"/>
          </a:xfrm>
          <a:prstGeom prst="rect">
            <a:avLst/>
          </a:prstGeom>
        </p:spPr>
        <p:txBody>
          <a:bodyPr anchor="t" rtlCol="false" tIns="0" lIns="0" bIns="0" rIns="0">
            <a:spAutoFit/>
          </a:bodyPr>
          <a:lstStyle/>
          <a:p>
            <a:pPr algn="ctr">
              <a:lnSpc>
                <a:spcPts val="3783"/>
              </a:lnSpc>
              <a:spcBef>
                <a:spcPct val="0"/>
              </a:spcBef>
            </a:pPr>
            <a:r>
              <a:rPr lang="en-US" sz="2702">
                <a:solidFill>
                  <a:srgbClr val="FFFFFF"/>
                </a:solidFill>
                <a:latin typeface="HK Modular"/>
                <a:ea typeface="HK Modular"/>
                <a:cs typeface="HK Modular"/>
                <a:sym typeface="HK Modular"/>
              </a:rPr>
              <a:t>PAQUETE</a:t>
            </a:r>
          </a:p>
        </p:txBody>
      </p:sp>
      <p:sp>
        <p:nvSpPr>
          <p:cNvPr name="TextBox 13" id="13"/>
          <p:cNvSpPr txBox="true"/>
          <p:nvPr/>
        </p:nvSpPr>
        <p:spPr>
          <a:xfrm rot="0">
            <a:off x="9615697" y="5542864"/>
            <a:ext cx="7753956" cy="359771"/>
          </a:xfrm>
          <a:prstGeom prst="rect">
            <a:avLst/>
          </a:prstGeom>
        </p:spPr>
        <p:txBody>
          <a:bodyPr anchor="t" rtlCol="false" tIns="0" lIns="0" bIns="0" rIns="0">
            <a:spAutoFit/>
          </a:bodyPr>
          <a:lstStyle/>
          <a:p>
            <a:pPr algn="ctr">
              <a:lnSpc>
                <a:spcPts val="2961"/>
              </a:lnSpc>
            </a:pPr>
            <a:r>
              <a:rPr lang="en-US" sz="2115">
                <a:solidFill>
                  <a:srgbClr val="FFFFFF"/>
                </a:solidFill>
                <a:latin typeface="Canva Sans"/>
                <a:ea typeface="Canva Sans"/>
                <a:cs typeface="Canva Sans"/>
                <a:sym typeface="Canva Sans"/>
              </a:rPr>
              <a:t>Representa una función o una acción dentro del sistema.</a:t>
            </a:r>
          </a:p>
        </p:txBody>
      </p:sp>
      <p:sp>
        <p:nvSpPr>
          <p:cNvPr name="TextBox 14" id="14"/>
          <p:cNvSpPr txBox="true"/>
          <p:nvPr/>
        </p:nvSpPr>
        <p:spPr>
          <a:xfrm rot="0">
            <a:off x="9615697" y="6721784"/>
            <a:ext cx="7753956" cy="1110582"/>
          </a:xfrm>
          <a:prstGeom prst="rect">
            <a:avLst/>
          </a:prstGeom>
        </p:spPr>
        <p:txBody>
          <a:bodyPr anchor="t" rtlCol="false" tIns="0" lIns="0" bIns="0" rIns="0">
            <a:spAutoFit/>
          </a:bodyPr>
          <a:lstStyle/>
          <a:p>
            <a:pPr algn="ctr">
              <a:lnSpc>
                <a:spcPts val="2961"/>
              </a:lnSpc>
            </a:pPr>
            <a:r>
              <a:rPr lang="en-US" sz="2115">
                <a:solidFill>
                  <a:srgbClr val="FFFFFF"/>
                </a:solidFill>
                <a:latin typeface="Canva Sans"/>
                <a:ea typeface="Canva Sans"/>
                <a:cs typeface="Canva Sans"/>
                <a:sym typeface="Canva Sans"/>
              </a:rPr>
              <a:t>Se utiliza para definir el alcance del caso de uso y se dibuja como un rectángulo. Este es un elemento opcional pero útil cuando se visualizan sistemas grandes.</a:t>
            </a:r>
          </a:p>
        </p:txBody>
      </p:sp>
      <p:sp>
        <p:nvSpPr>
          <p:cNvPr name="TextBox 15" id="15"/>
          <p:cNvSpPr txBox="true"/>
          <p:nvPr/>
        </p:nvSpPr>
        <p:spPr>
          <a:xfrm rot="0">
            <a:off x="9731313" y="8318141"/>
            <a:ext cx="7753956" cy="735176"/>
          </a:xfrm>
          <a:prstGeom prst="rect">
            <a:avLst/>
          </a:prstGeom>
        </p:spPr>
        <p:txBody>
          <a:bodyPr anchor="t" rtlCol="false" tIns="0" lIns="0" bIns="0" rIns="0">
            <a:spAutoFit/>
          </a:bodyPr>
          <a:lstStyle/>
          <a:p>
            <a:pPr algn="ctr">
              <a:lnSpc>
                <a:spcPts val="2961"/>
              </a:lnSpc>
            </a:pPr>
            <a:r>
              <a:rPr lang="en-US" sz="2115">
                <a:solidFill>
                  <a:srgbClr val="FFFFFF"/>
                </a:solidFill>
                <a:latin typeface="Canva Sans"/>
                <a:ea typeface="Canva Sans"/>
                <a:cs typeface="Canva Sans"/>
                <a:sym typeface="Canva Sans"/>
              </a:rPr>
              <a:t>Es un elemento opcional se utiliza para agrupar los casos de uso</a:t>
            </a:r>
          </a:p>
        </p:txBody>
      </p:sp>
      <p:sp>
        <p:nvSpPr>
          <p:cNvPr name="Freeform 16" id="16"/>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3"/>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51734" y="1795789"/>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DIAGRAMA DE CASOS DE USO</a:t>
            </a:r>
          </a:p>
        </p:txBody>
      </p:sp>
      <p:sp>
        <p:nvSpPr>
          <p:cNvPr name="TextBox 7" id="7"/>
          <p:cNvSpPr txBox="true"/>
          <p:nvPr/>
        </p:nvSpPr>
        <p:spPr>
          <a:xfrm rot="0">
            <a:off x="5376389" y="4066746"/>
            <a:ext cx="7753956" cy="359771"/>
          </a:xfrm>
          <a:prstGeom prst="rect">
            <a:avLst/>
          </a:prstGeom>
        </p:spPr>
        <p:txBody>
          <a:bodyPr anchor="t" rtlCol="false" tIns="0" lIns="0" bIns="0" rIns="0">
            <a:spAutoFit/>
          </a:bodyPr>
          <a:lstStyle/>
          <a:p>
            <a:pPr algn="ctr" marL="456742" indent="-228371" lvl="1">
              <a:lnSpc>
                <a:spcPts val="2961"/>
              </a:lnSpc>
              <a:buAutoNum type="arabicPeriod" startAt="1"/>
            </a:pPr>
            <a:r>
              <a:rPr lang="en-US" sz="2115">
                <a:solidFill>
                  <a:srgbClr val="FFFFFF"/>
                </a:solidFill>
                <a:latin typeface="Canva Sans"/>
                <a:ea typeface="Canva Sans"/>
                <a:cs typeface="Canva Sans"/>
                <a:sym typeface="Canva Sans"/>
              </a:rPr>
              <a:t>Identifica los actores que interactuan con tu sistema</a:t>
            </a:r>
          </a:p>
        </p:txBody>
      </p:sp>
      <p:sp>
        <p:nvSpPr>
          <p:cNvPr name="TextBox 8" id="8"/>
          <p:cNvSpPr txBox="true"/>
          <p:nvPr/>
        </p:nvSpPr>
        <p:spPr>
          <a:xfrm rot="0">
            <a:off x="4148185" y="3002068"/>
            <a:ext cx="10210364" cy="456895"/>
          </a:xfrm>
          <a:prstGeom prst="rect">
            <a:avLst/>
          </a:prstGeom>
        </p:spPr>
        <p:txBody>
          <a:bodyPr anchor="t" rtlCol="false" tIns="0" lIns="0" bIns="0" rIns="0">
            <a:spAutoFit/>
          </a:bodyPr>
          <a:lstStyle/>
          <a:p>
            <a:pPr algn="ctr">
              <a:lnSpc>
                <a:spcPts val="3783"/>
              </a:lnSpc>
              <a:spcBef>
                <a:spcPct val="0"/>
              </a:spcBef>
            </a:pPr>
            <a:r>
              <a:rPr lang="en-US" sz="2702">
                <a:solidFill>
                  <a:srgbClr val="FF914D"/>
                </a:solidFill>
                <a:latin typeface="HK Modular"/>
                <a:ea typeface="HK Modular"/>
                <a:cs typeface="HK Modular"/>
                <a:sym typeface="HK Modular"/>
              </a:rPr>
              <a:t>COMO CREAR UN DIAGRAMA DE CASO DE USO</a:t>
            </a:r>
          </a:p>
        </p:txBody>
      </p:sp>
      <p:sp>
        <p:nvSpPr>
          <p:cNvPr name="TextBox 9" id="9"/>
          <p:cNvSpPr txBox="true"/>
          <p:nvPr/>
        </p:nvSpPr>
        <p:spPr>
          <a:xfrm rot="0">
            <a:off x="2295593" y="4783729"/>
            <a:ext cx="14191234" cy="359771"/>
          </a:xfrm>
          <a:prstGeom prst="rect">
            <a:avLst/>
          </a:prstGeom>
        </p:spPr>
        <p:txBody>
          <a:bodyPr anchor="t" rtlCol="false" tIns="0" lIns="0" bIns="0" rIns="0">
            <a:spAutoFit/>
          </a:bodyPr>
          <a:lstStyle/>
          <a:p>
            <a:pPr algn="ctr" marL="456742" indent="-228371" lvl="1">
              <a:lnSpc>
                <a:spcPts val="2961"/>
              </a:lnSpc>
              <a:buAutoNum type="arabicPeriod" startAt="1"/>
            </a:pPr>
            <a:r>
              <a:rPr lang="en-US" sz="2115">
                <a:solidFill>
                  <a:srgbClr val="FFFFFF"/>
                </a:solidFill>
                <a:latin typeface="Canva Sans"/>
                <a:ea typeface="Canva Sans"/>
                <a:cs typeface="Canva Sans"/>
                <a:sym typeface="Canva Sans"/>
              </a:rPr>
              <a:t>Identifica los casos de uso, una buena manera es identificar lo que los actores necesitan del sistema</a:t>
            </a:r>
          </a:p>
        </p:txBody>
      </p:sp>
      <p:sp>
        <p:nvSpPr>
          <p:cNvPr name="TextBox 10" id="10"/>
          <p:cNvSpPr txBox="true"/>
          <p:nvPr/>
        </p:nvSpPr>
        <p:spPr>
          <a:xfrm rot="0">
            <a:off x="1863376" y="5629336"/>
            <a:ext cx="15055668" cy="1485987"/>
          </a:xfrm>
          <a:prstGeom prst="rect">
            <a:avLst/>
          </a:prstGeom>
        </p:spPr>
        <p:txBody>
          <a:bodyPr anchor="t" rtlCol="false" tIns="0" lIns="0" bIns="0" rIns="0">
            <a:spAutoFit/>
          </a:bodyPr>
          <a:lstStyle/>
          <a:p>
            <a:pPr algn="ctr" marL="456742" indent="-228371" lvl="1">
              <a:lnSpc>
                <a:spcPts val="2961"/>
              </a:lnSpc>
              <a:buAutoNum type="arabicPeriod" startAt="1"/>
            </a:pPr>
            <a:r>
              <a:rPr lang="en-US" sz="2115">
                <a:solidFill>
                  <a:srgbClr val="FFFFFF"/>
                </a:solidFill>
                <a:latin typeface="Canva Sans"/>
                <a:ea typeface="Canva Sans"/>
                <a:cs typeface="Canva Sans"/>
                <a:sym typeface="Canva Sans"/>
              </a:rPr>
              <a:t>Busca una funcionalidad común que pueda ser reutilizada en todo el sistema. Si encuentras dos o más casos de uso que comparten una funcionalidad común, puedes extraer las funciones comunes y añadirlas a un caso de uso separado. Entonces puedes conectarlo a través de la relación de inclusión &lt;&lt;include&gt;&gt; para mostrar que siempre se llama cuando se ejecuta el caso de uso original. </a:t>
            </a:r>
          </a:p>
        </p:txBody>
      </p:sp>
      <p:sp>
        <p:nvSpPr>
          <p:cNvPr name="TextBox 11" id="11"/>
          <p:cNvSpPr txBox="true"/>
          <p:nvPr/>
        </p:nvSpPr>
        <p:spPr>
          <a:xfrm rot="0">
            <a:off x="1633473" y="7562112"/>
            <a:ext cx="15625827" cy="735176"/>
          </a:xfrm>
          <a:prstGeom prst="rect">
            <a:avLst/>
          </a:prstGeom>
        </p:spPr>
        <p:txBody>
          <a:bodyPr anchor="t" rtlCol="false" tIns="0" lIns="0" bIns="0" rIns="0">
            <a:spAutoFit/>
          </a:bodyPr>
          <a:lstStyle/>
          <a:p>
            <a:pPr algn="ctr" marL="456742" indent="-228371" lvl="1">
              <a:lnSpc>
                <a:spcPts val="2961"/>
              </a:lnSpc>
              <a:buAutoNum type="arabicPeriod" startAt="1"/>
            </a:pPr>
            <a:r>
              <a:rPr lang="en-US" sz="2115">
                <a:solidFill>
                  <a:srgbClr val="FFFFFF"/>
                </a:solidFill>
                <a:latin typeface="Canva Sans"/>
                <a:ea typeface="Canva Sans"/>
                <a:cs typeface="Canva Sans"/>
                <a:sym typeface="Canva Sans"/>
              </a:rPr>
              <a:t>Hay algunas funciones que se activan de manera opcional. En esos casos, se puede utilizar la relación de extensión y adjuntarle una regla de extensión. &lt;&lt;extend&gt;&gt;</a:t>
            </a:r>
          </a:p>
        </p:txBody>
      </p:sp>
      <p:sp>
        <p:nvSpPr>
          <p:cNvPr name="TextBox 12" id="12"/>
          <p:cNvSpPr txBox="true"/>
          <p:nvPr/>
        </p:nvSpPr>
        <p:spPr>
          <a:xfrm rot="0">
            <a:off x="1633473" y="8744963"/>
            <a:ext cx="15625827" cy="1110582"/>
          </a:xfrm>
          <a:prstGeom prst="rect">
            <a:avLst/>
          </a:prstGeom>
        </p:spPr>
        <p:txBody>
          <a:bodyPr anchor="t" rtlCol="false" tIns="0" lIns="0" bIns="0" rIns="0">
            <a:spAutoFit/>
          </a:bodyPr>
          <a:lstStyle/>
          <a:p>
            <a:pPr algn="ctr">
              <a:lnSpc>
                <a:spcPts val="2961"/>
              </a:lnSpc>
            </a:pPr>
            <a:r>
              <a:rPr lang="en-US" sz="2115">
                <a:solidFill>
                  <a:srgbClr val="FFFFFF"/>
                </a:solidFill>
                <a:latin typeface="Canva Sans"/>
                <a:ea typeface="Canva Sans"/>
                <a:cs typeface="Canva Sans"/>
                <a:sym typeface="Canva Sans"/>
              </a:rPr>
              <a:t>NOTA : Extender no siempre significa que sea opcional. A veces el caso de uso conectado por extensión puede complementar el caso de uso base. Lo que hay que recordar es que el caso de uso básico debe ser capaz de realizar una función por sí mismo aunque no se llame caso de uso extensivo.</a:t>
            </a:r>
          </a:p>
        </p:txBody>
      </p:sp>
      <p:sp>
        <p:nvSpPr>
          <p:cNvPr name="Freeform 13" id="13"/>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3"/>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802139" y="2510063"/>
            <a:ext cx="6902455" cy="7287637"/>
          </a:xfrm>
          <a:custGeom>
            <a:avLst/>
            <a:gdLst/>
            <a:ahLst/>
            <a:cxnLst/>
            <a:rect r="r" b="b" t="t" l="l"/>
            <a:pathLst>
              <a:path h="7287637" w="6902455">
                <a:moveTo>
                  <a:pt x="0" y="0"/>
                </a:moveTo>
                <a:lnTo>
                  <a:pt x="6902456" y="0"/>
                </a:lnTo>
                <a:lnTo>
                  <a:pt x="6902456" y="7287637"/>
                </a:lnTo>
                <a:lnTo>
                  <a:pt x="0" y="7287637"/>
                </a:lnTo>
                <a:lnTo>
                  <a:pt x="0" y="0"/>
                </a:lnTo>
                <a:close/>
              </a:path>
            </a:pathLst>
          </a:custGeom>
          <a:blipFill>
            <a:blip r:embed="rId3"/>
            <a:stretch>
              <a:fillRect l="0" t="0" r="0" b="0"/>
            </a:stretch>
          </a:blipFill>
        </p:spPr>
      </p:sp>
      <p:sp>
        <p:nvSpPr>
          <p:cNvPr name="TextBox 7" id="7"/>
          <p:cNvSpPr txBox="true"/>
          <p:nvPr/>
        </p:nvSpPr>
        <p:spPr>
          <a:xfrm rot="0">
            <a:off x="2851734" y="1446840"/>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751F"/>
                </a:solidFill>
                <a:latin typeface="HK Modular"/>
                <a:ea typeface="HK Modular"/>
                <a:cs typeface="HK Modular"/>
                <a:sym typeface="HK Modular"/>
              </a:rPr>
              <a:t>DIAGRAMA DE CASOS DE USO</a:t>
            </a:r>
          </a:p>
        </p:txBody>
      </p:sp>
      <p:sp>
        <p:nvSpPr>
          <p:cNvPr name="Freeform 8" id="8"/>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90928" y="1513226"/>
            <a:ext cx="14706144" cy="853854"/>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ANEXOS</a:t>
            </a:r>
          </a:p>
        </p:txBody>
      </p:sp>
      <p:sp>
        <p:nvSpPr>
          <p:cNvPr name="TextBox 7" id="7"/>
          <p:cNvSpPr txBox="true"/>
          <p:nvPr/>
        </p:nvSpPr>
        <p:spPr>
          <a:xfrm rot="0">
            <a:off x="5969815" y="2877530"/>
            <a:ext cx="6348370"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Diagrama de casos de uso</a:t>
            </a:r>
          </a:p>
        </p:txBody>
      </p:sp>
      <p:grpSp>
        <p:nvGrpSpPr>
          <p:cNvPr name="Group 8" id="8"/>
          <p:cNvGrpSpPr/>
          <p:nvPr/>
        </p:nvGrpSpPr>
        <p:grpSpPr>
          <a:xfrm rot="0">
            <a:off x="5549329" y="2719298"/>
            <a:ext cx="840973" cy="84097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4339"/>
                </a:lnSpc>
              </a:pPr>
              <a:r>
                <a:rPr lang="en-US" b="true" sz="3099">
                  <a:solidFill>
                    <a:srgbClr val="FFFFFF"/>
                  </a:solidFill>
                  <a:latin typeface="Canva Sans Bold"/>
                  <a:ea typeface="Canva Sans Bold"/>
                  <a:cs typeface="Canva Sans Bold"/>
                  <a:sym typeface="Canva Sans Bold"/>
                </a:rPr>
                <a:t>4</a:t>
              </a:r>
            </a:p>
          </p:txBody>
        </p:sp>
      </p:grpSp>
      <p:sp>
        <p:nvSpPr>
          <p:cNvPr name="Freeform 11" id="11"/>
          <p:cNvSpPr/>
          <p:nvPr/>
        </p:nvSpPr>
        <p:spPr>
          <a:xfrm flipH="false" flipV="false" rot="0">
            <a:off x="1891626" y="4312746"/>
            <a:ext cx="6561670" cy="2291688"/>
          </a:xfrm>
          <a:custGeom>
            <a:avLst/>
            <a:gdLst/>
            <a:ahLst/>
            <a:cxnLst/>
            <a:rect r="r" b="b" t="t" l="l"/>
            <a:pathLst>
              <a:path h="2291688" w="6561670">
                <a:moveTo>
                  <a:pt x="0" y="0"/>
                </a:moveTo>
                <a:lnTo>
                  <a:pt x="6561670" y="0"/>
                </a:lnTo>
                <a:lnTo>
                  <a:pt x="6561670" y="2291688"/>
                </a:lnTo>
                <a:lnTo>
                  <a:pt x="0" y="2291688"/>
                </a:lnTo>
                <a:lnTo>
                  <a:pt x="0" y="0"/>
                </a:lnTo>
                <a:close/>
              </a:path>
            </a:pathLst>
          </a:custGeom>
          <a:blipFill>
            <a:blip r:embed="rId3"/>
            <a:stretch>
              <a:fillRect l="0" t="0" r="0" b="0"/>
            </a:stretch>
          </a:blipFill>
        </p:spPr>
      </p:sp>
      <p:sp>
        <p:nvSpPr>
          <p:cNvPr name="TextBox 12" id="12"/>
          <p:cNvSpPr txBox="true"/>
          <p:nvPr/>
        </p:nvSpPr>
        <p:spPr>
          <a:xfrm rot="0">
            <a:off x="1790928" y="6899709"/>
            <a:ext cx="6637751" cy="782320"/>
          </a:xfrm>
          <a:prstGeom prst="rect">
            <a:avLst/>
          </a:prstGeom>
        </p:spPr>
        <p:txBody>
          <a:bodyPr anchor="t" rtlCol="false" tIns="0" lIns="0" bIns="0" rIns="0">
            <a:spAutoFit/>
          </a:bodyPr>
          <a:lstStyle/>
          <a:p>
            <a:pPr algn="l">
              <a:lnSpc>
                <a:spcPts val="3079"/>
              </a:lnSpc>
            </a:pPr>
            <a:r>
              <a:rPr lang="en-US" sz="2199" b="true">
                <a:solidFill>
                  <a:srgbClr val="FFFFFF"/>
                </a:solidFill>
                <a:latin typeface="Poppins Bold"/>
                <a:ea typeface="Poppins Bold"/>
                <a:cs typeface="Poppins Bold"/>
                <a:sym typeface="Poppins Bold"/>
              </a:rPr>
              <a:t>Regla 1:</a:t>
            </a:r>
            <a:r>
              <a:rPr lang="en-US" sz="2199">
                <a:solidFill>
                  <a:srgbClr val="FFFFFF"/>
                </a:solidFill>
                <a:latin typeface="Poppins"/>
                <a:ea typeface="Poppins"/>
                <a:cs typeface="Poppins"/>
                <a:sym typeface="Poppins"/>
              </a:rPr>
              <a:t> Al menos un diagrama de caso de uso por requerimiento</a:t>
            </a:r>
          </a:p>
        </p:txBody>
      </p:sp>
      <p:sp>
        <p:nvSpPr>
          <p:cNvPr name="TextBox 13" id="13"/>
          <p:cNvSpPr txBox="true"/>
          <p:nvPr/>
        </p:nvSpPr>
        <p:spPr>
          <a:xfrm rot="0">
            <a:off x="10621549" y="6899709"/>
            <a:ext cx="6637751" cy="782320"/>
          </a:xfrm>
          <a:prstGeom prst="rect">
            <a:avLst/>
          </a:prstGeom>
        </p:spPr>
        <p:txBody>
          <a:bodyPr anchor="t" rtlCol="false" tIns="0" lIns="0" bIns="0" rIns="0">
            <a:spAutoFit/>
          </a:bodyPr>
          <a:lstStyle/>
          <a:p>
            <a:pPr algn="l">
              <a:lnSpc>
                <a:spcPts val="3079"/>
              </a:lnSpc>
            </a:pPr>
            <a:r>
              <a:rPr lang="en-US" sz="2199" b="true">
                <a:solidFill>
                  <a:srgbClr val="FFFFFF"/>
                </a:solidFill>
                <a:latin typeface="Poppins Bold"/>
                <a:ea typeface="Poppins Bold"/>
                <a:cs typeface="Poppins Bold"/>
                <a:sym typeface="Poppins Bold"/>
              </a:rPr>
              <a:t>Regla 2:</a:t>
            </a:r>
            <a:r>
              <a:rPr lang="en-US" sz="2199">
                <a:solidFill>
                  <a:srgbClr val="FFFFFF"/>
                </a:solidFill>
                <a:latin typeface="Poppins"/>
                <a:ea typeface="Poppins"/>
                <a:cs typeface="Poppins"/>
                <a:sym typeface="Poppins"/>
              </a:rPr>
              <a:t> Al menos un requerimiento para un diagrama de caso de uso.</a:t>
            </a:r>
          </a:p>
        </p:txBody>
      </p:sp>
      <p:sp>
        <p:nvSpPr>
          <p:cNvPr name="Freeform 14" id="14"/>
          <p:cNvSpPr/>
          <p:nvPr/>
        </p:nvSpPr>
        <p:spPr>
          <a:xfrm flipH="false" flipV="false" rot="0">
            <a:off x="10402371" y="4312746"/>
            <a:ext cx="7061907" cy="2220250"/>
          </a:xfrm>
          <a:custGeom>
            <a:avLst/>
            <a:gdLst/>
            <a:ahLst/>
            <a:cxnLst/>
            <a:rect r="r" b="b" t="t" l="l"/>
            <a:pathLst>
              <a:path h="2220250" w="7061907">
                <a:moveTo>
                  <a:pt x="0" y="0"/>
                </a:moveTo>
                <a:lnTo>
                  <a:pt x="7061906" y="0"/>
                </a:lnTo>
                <a:lnTo>
                  <a:pt x="7061906" y="2220250"/>
                </a:lnTo>
                <a:lnTo>
                  <a:pt x="0" y="2220250"/>
                </a:lnTo>
                <a:lnTo>
                  <a:pt x="0" y="0"/>
                </a:lnTo>
                <a:close/>
              </a:path>
            </a:pathLst>
          </a:custGeom>
          <a:blipFill>
            <a:blip r:embed="rId4"/>
            <a:stretch>
              <a:fillRect l="0" t="0" r="-12911" b="-105604"/>
            </a:stretch>
          </a:blipFill>
        </p:spPr>
      </p:sp>
      <p:sp>
        <p:nvSpPr>
          <p:cNvPr name="Freeform 15" id="15"/>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5"/>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37813" y="4132325"/>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F800C0"/>
                </a:solidFill>
                <a:latin typeface="HK Modular"/>
                <a:ea typeface="HK Modular"/>
                <a:cs typeface="HK Modular"/>
                <a:sym typeface="HK Modular"/>
              </a:rPr>
              <a:t>PROTOTIPOS</a:t>
            </a:r>
          </a:p>
        </p:txBody>
      </p:sp>
      <p:sp>
        <p:nvSpPr>
          <p:cNvPr name="Freeform 13" id="13"/>
          <p:cNvSpPr/>
          <p:nvPr/>
        </p:nvSpPr>
        <p:spPr>
          <a:xfrm flipH="false" flipV="false" rot="0">
            <a:off x="7218032" y="-250850"/>
            <a:ext cx="4070670" cy="4070670"/>
          </a:xfrm>
          <a:custGeom>
            <a:avLst/>
            <a:gdLst/>
            <a:ahLst/>
            <a:cxnLst/>
            <a:rect r="r" b="b" t="t" l="l"/>
            <a:pathLst>
              <a:path h="4070670" w="4070670">
                <a:moveTo>
                  <a:pt x="0" y="0"/>
                </a:moveTo>
                <a:lnTo>
                  <a:pt x="4070670" y="0"/>
                </a:lnTo>
                <a:lnTo>
                  <a:pt x="4070670" y="4070670"/>
                </a:lnTo>
                <a:lnTo>
                  <a:pt x="0" y="4070670"/>
                </a:lnTo>
                <a:lnTo>
                  <a:pt x="0" y="0"/>
                </a:lnTo>
                <a:close/>
              </a:path>
            </a:pathLst>
          </a:custGeom>
          <a:blipFill>
            <a:blip r:embed="rId3"/>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90928" y="1717244"/>
            <a:ext cx="14706144" cy="853854"/>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PROTOTIPOS</a:t>
            </a:r>
          </a:p>
        </p:txBody>
      </p:sp>
      <p:sp>
        <p:nvSpPr>
          <p:cNvPr name="Freeform 7" id="7"/>
          <p:cNvSpPr/>
          <p:nvPr/>
        </p:nvSpPr>
        <p:spPr>
          <a:xfrm flipH="false" flipV="false" rot="0">
            <a:off x="1679299" y="5366164"/>
            <a:ext cx="7537614" cy="4277596"/>
          </a:xfrm>
          <a:custGeom>
            <a:avLst/>
            <a:gdLst/>
            <a:ahLst/>
            <a:cxnLst/>
            <a:rect r="r" b="b" t="t" l="l"/>
            <a:pathLst>
              <a:path h="4277596" w="7537614">
                <a:moveTo>
                  <a:pt x="0" y="0"/>
                </a:moveTo>
                <a:lnTo>
                  <a:pt x="7537614" y="0"/>
                </a:lnTo>
                <a:lnTo>
                  <a:pt x="7537614" y="4277596"/>
                </a:lnTo>
                <a:lnTo>
                  <a:pt x="0" y="4277596"/>
                </a:lnTo>
                <a:lnTo>
                  <a:pt x="0" y="0"/>
                </a:lnTo>
                <a:close/>
              </a:path>
            </a:pathLst>
          </a:custGeom>
          <a:blipFill>
            <a:blip r:embed="rId3"/>
            <a:stretch>
              <a:fillRect l="0" t="0" r="0" b="0"/>
            </a:stretch>
          </a:blipFill>
        </p:spPr>
      </p:sp>
      <p:sp>
        <p:nvSpPr>
          <p:cNvPr name="TextBox 8" id="8"/>
          <p:cNvSpPr txBox="true"/>
          <p:nvPr/>
        </p:nvSpPr>
        <p:spPr>
          <a:xfrm rot="0">
            <a:off x="1679299" y="2928882"/>
            <a:ext cx="15399379" cy="1692452"/>
          </a:xfrm>
          <a:prstGeom prst="rect">
            <a:avLst/>
          </a:prstGeom>
        </p:spPr>
        <p:txBody>
          <a:bodyPr anchor="t" rtlCol="false" tIns="0" lIns="0" bIns="0" rIns="0">
            <a:spAutoFit/>
          </a:bodyPr>
          <a:lstStyle/>
          <a:p>
            <a:pPr algn="ctr">
              <a:lnSpc>
                <a:spcPts val="3315"/>
              </a:lnSpc>
              <a:spcBef>
                <a:spcPct val="0"/>
              </a:spcBef>
            </a:pPr>
            <a:r>
              <a:rPr lang="en-US" sz="2368">
                <a:solidFill>
                  <a:srgbClr val="F0F7FE"/>
                </a:solidFill>
                <a:latin typeface="Poppins"/>
                <a:ea typeface="Poppins"/>
                <a:cs typeface="Poppins"/>
                <a:sym typeface="Poppins"/>
              </a:rPr>
              <a:t>E</a:t>
            </a:r>
            <a:r>
              <a:rPr lang="en-US" sz="2368">
                <a:solidFill>
                  <a:srgbClr val="F0F7FE"/>
                </a:solidFill>
                <a:latin typeface="Poppins"/>
                <a:ea typeface="Poppins"/>
                <a:cs typeface="Poppins"/>
                <a:sym typeface="Poppins"/>
              </a:rPr>
              <a:t>s una representación preliminar del sistema que se construye antes del desarrollo real para validar ideas con los usuarios y stakeholders.</a:t>
            </a:r>
          </a:p>
          <a:p>
            <a:pPr algn="ctr">
              <a:lnSpc>
                <a:spcPts val="3315"/>
              </a:lnSpc>
              <a:spcBef>
                <a:spcPct val="0"/>
              </a:spcBef>
            </a:pPr>
            <a:r>
              <a:rPr lang="en-US" sz="2368">
                <a:solidFill>
                  <a:srgbClr val="F0F7FE"/>
                </a:solidFill>
                <a:latin typeface="Poppins"/>
                <a:ea typeface="Poppins"/>
                <a:cs typeface="Poppins"/>
                <a:sym typeface="Poppins"/>
              </a:rPr>
              <a:t>No es el sistema funcionando todavía. Es una simulación de cómo se verá y cómo se usará.</a:t>
            </a:r>
          </a:p>
          <a:p>
            <a:pPr algn="ctr">
              <a:lnSpc>
                <a:spcPts val="3315"/>
              </a:lnSpc>
              <a:spcBef>
                <a:spcPct val="0"/>
              </a:spcBef>
            </a:pPr>
          </a:p>
        </p:txBody>
      </p:sp>
      <p:sp>
        <p:nvSpPr>
          <p:cNvPr name="TextBox 9" id="9"/>
          <p:cNvSpPr txBox="true"/>
          <p:nvPr/>
        </p:nvSpPr>
        <p:spPr>
          <a:xfrm rot="0">
            <a:off x="6020314" y="4564184"/>
            <a:ext cx="6717350" cy="458055"/>
          </a:xfrm>
          <a:prstGeom prst="rect">
            <a:avLst/>
          </a:prstGeom>
        </p:spPr>
        <p:txBody>
          <a:bodyPr anchor="t" rtlCol="false" tIns="0" lIns="0" bIns="0" rIns="0">
            <a:spAutoFit/>
          </a:bodyPr>
          <a:lstStyle/>
          <a:p>
            <a:pPr algn="ctr">
              <a:lnSpc>
                <a:spcPts val="3740"/>
              </a:lnSpc>
              <a:spcBef>
                <a:spcPct val="0"/>
              </a:spcBef>
            </a:pPr>
            <a:r>
              <a:rPr lang="en-US" sz="2671">
                <a:solidFill>
                  <a:srgbClr val="FF914D"/>
                </a:solidFill>
                <a:latin typeface="HK Modular"/>
                <a:ea typeface="HK Modular"/>
                <a:cs typeface="HK Modular"/>
                <a:sym typeface="HK Modular"/>
              </a:rPr>
              <a:t>Su objetivo principal es</a:t>
            </a:r>
          </a:p>
        </p:txBody>
      </p:sp>
      <p:sp>
        <p:nvSpPr>
          <p:cNvPr name="TextBox 10" id="10"/>
          <p:cNvSpPr txBox="true"/>
          <p:nvPr/>
        </p:nvSpPr>
        <p:spPr>
          <a:xfrm rot="0">
            <a:off x="9560368" y="6603625"/>
            <a:ext cx="8183383" cy="804204"/>
          </a:xfrm>
          <a:prstGeom prst="rect">
            <a:avLst/>
          </a:prstGeom>
        </p:spPr>
        <p:txBody>
          <a:bodyPr anchor="t" rtlCol="false" tIns="0" lIns="0" bIns="0" rIns="0">
            <a:spAutoFit/>
          </a:bodyPr>
          <a:lstStyle/>
          <a:p>
            <a:pPr algn="ctr">
              <a:lnSpc>
                <a:spcPts val="3212"/>
              </a:lnSpc>
              <a:spcBef>
                <a:spcPct val="0"/>
              </a:spcBef>
            </a:pPr>
            <a:r>
              <a:rPr lang="en-US" sz="2294">
                <a:solidFill>
                  <a:srgbClr val="FFFFFF"/>
                </a:solidFill>
                <a:latin typeface="Poppins"/>
                <a:ea typeface="Poppins"/>
                <a:cs typeface="Poppins"/>
                <a:sym typeface="Poppins"/>
              </a:rPr>
              <a:t>C</a:t>
            </a:r>
            <a:r>
              <a:rPr lang="en-US" sz="2294">
                <a:solidFill>
                  <a:srgbClr val="FFFFFF"/>
                </a:solidFill>
                <a:latin typeface="Poppins"/>
                <a:ea typeface="Poppins"/>
                <a:cs typeface="Poppins"/>
                <a:sym typeface="Poppins"/>
              </a:rPr>
              <a:t>omprobar que entendiste correctamente los requerimientos antes de empezar a programar.</a:t>
            </a:r>
          </a:p>
        </p:txBody>
      </p:sp>
      <p:sp>
        <p:nvSpPr>
          <p:cNvPr name="TextBox 11" id="11"/>
          <p:cNvSpPr txBox="true"/>
          <p:nvPr/>
        </p:nvSpPr>
        <p:spPr>
          <a:xfrm rot="0">
            <a:off x="11159338" y="8054030"/>
            <a:ext cx="4985445" cy="398780"/>
          </a:xfrm>
          <a:prstGeom prst="rect">
            <a:avLst/>
          </a:prstGeom>
        </p:spPr>
        <p:txBody>
          <a:bodyPr anchor="t" rtlCol="false" tIns="0" lIns="0" bIns="0" rIns="0">
            <a:spAutoFit/>
          </a:bodyPr>
          <a:lstStyle/>
          <a:p>
            <a:pPr algn="ctr">
              <a:lnSpc>
                <a:spcPts val="3220"/>
              </a:lnSpc>
              <a:spcBef>
                <a:spcPct val="0"/>
              </a:spcBef>
            </a:pPr>
            <a:r>
              <a:rPr lang="en-US" sz="2300">
                <a:solidFill>
                  <a:srgbClr val="FFFFFF"/>
                </a:solidFill>
                <a:latin typeface="Poppins"/>
                <a:ea typeface="Poppins"/>
                <a:cs typeface="Poppins"/>
                <a:sym typeface="Poppins"/>
              </a:rPr>
              <a:t>valida usabilidad y entendimiento</a:t>
            </a:r>
          </a:p>
        </p:txBody>
      </p:sp>
      <p:sp>
        <p:nvSpPr>
          <p:cNvPr name="Freeform 12" id="12"/>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961530" y="3099881"/>
            <a:ext cx="5963831" cy="5953774"/>
          </a:xfrm>
          <a:custGeom>
            <a:avLst/>
            <a:gdLst/>
            <a:ahLst/>
            <a:cxnLst/>
            <a:rect r="r" b="b" t="t" l="l"/>
            <a:pathLst>
              <a:path h="5953774" w="5963831">
                <a:moveTo>
                  <a:pt x="0" y="0"/>
                </a:moveTo>
                <a:lnTo>
                  <a:pt x="5963831" y="0"/>
                </a:lnTo>
                <a:lnTo>
                  <a:pt x="5963831" y="5953774"/>
                </a:lnTo>
                <a:lnTo>
                  <a:pt x="0" y="5953774"/>
                </a:lnTo>
                <a:lnTo>
                  <a:pt x="0" y="0"/>
                </a:lnTo>
                <a:close/>
              </a:path>
            </a:pathLst>
          </a:custGeom>
          <a:blipFill>
            <a:blip r:embed="rId3"/>
            <a:stretch>
              <a:fillRect l="0" t="0" r="0" b="0"/>
            </a:stretch>
          </a:blipFill>
        </p:spPr>
      </p:sp>
      <p:sp>
        <p:nvSpPr>
          <p:cNvPr name="Freeform 7" id="7"/>
          <p:cNvSpPr/>
          <p:nvPr/>
        </p:nvSpPr>
        <p:spPr>
          <a:xfrm flipH="false" flipV="false" rot="-10800000">
            <a:off x="8154973" y="8437844"/>
            <a:ext cx="356673" cy="356673"/>
          </a:xfrm>
          <a:custGeom>
            <a:avLst/>
            <a:gdLst/>
            <a:ahLst/>
            <a:cxnLst/>
            <a:rect r="r" b="b" t="t" l="l"/>
            <a:pathLst>
              <a:path h="356673" w="356673">
                <a:moveTo>
                  <a:pt x="0" y="0"/>
                </a:moveTo>
                <a:lnTo>
                  <a:pt x="356673" y="0"/>
                </a:lnTo>
                <a:lnTo>
                  <a:pt x="356673" y="356673"/>
                </a:lnTo>
                <a:lnTo>
                  <a:pt x="0" y="3566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9367" y="1597827"/>
            <a:ext cx="18288000" cy="812387"/>
          </a:xfrm>
          <a:prstGeom prst="rect">
            <a:avLst/>
          </a:prstGeom>
        </p:spPr>
        <p:txBody>
          <a:bodyPr anchor="t" rtlCol="false" tIns="0" lIns="0" bIns="0" rIns="0">
            <a:spAutoFit/>
          </a:bodyPr>
          <a:lstStyle/>
          <a:p>
            <a:pPr algn="ctr">
              <a:lnSpc>
                <a:spcPts val="6672"/>
              </a:lnSpc>
              <a:spcBef>
                <a:spcPct val="0"/>
              </a:spcBef>
            </a:pPr>
            <a:r>
              <a:rPr lang="en-US" sz="4766">
                <a:solidFill>
                  <a:srgbClr val="F800C0"/>
                </a:solidFill>
                <a:latin typeface="HK Modular"/>
                <a:ea typeface="HK Modular"/>
                <a:cs typeface="HK Modular"/>
                <a:sym typeface="HK Modular"/>
              </a:rPr>
              <a:t>MOCKUP Y DISEÑO DE APLICACIONES</a:t>
            </a:r>
          </a:p>
        </p:txBody>
      </p:sp>
      <p:sp>
        <p:nvSpPr>
          <p:cNvPr name="TextBox 9" id="9"/>
          <p:cNvSpPr txBox="true"/>
          <p:nvPr/>
        </p:nvSpPr>
        <p:spPr>
          <a:xfrm rot="0">
            <a:off x="2608950" y="3468882"/>
            <a:ext cx="5546023" cy="3253987"/>
          </a:xfrm>
          <a:prstGeom prst="rect">
            <a:avLst/>
          </a:prstGeom>
        </p:spPr>
        <p:txBody>
          <a:bodyPr anchor="t" rtlCol="false" tIns="0" lIns="0" bIns="0" rIns="0">
            <a:spAutoFit/>
          </a:bodyPr>
          <a:lstStyle/>
          <a:p>
            <a:pPr algn="ctr">
              <a:lnSpc>
                <a:spcPts val="4309"/>
              </a:lnSpc>
            </a:pPr>
            <a:r>
              <a:rPr lang="en-US" sz="3078">
                <a:solidFill>
                  <a:srgbClr val="FFFFFF"/>
                </a:solidFill>
                <a:latin typeface="Poppins"/>
                <a:ea typeface="Poppins"/>
                <a:cs typeface="Poppins"/>
                <a:sym typeface="Poppins"/>
              </a:rPr>
              <a:t>Mockup es una representación visual de una interfaz que muestra cómo se verá una aplicación, sin necesidad que funcione realmente.</a:t>
            </a:r>
          </a:p>
        </p:txBody>
      </p:sp>
      <p:sp>
        <p:nvSpPr>
          <p:cNvPr name="TextBox 10" id="10"/>
          <p:cNvSpPr txBox="true"/>
          <p:nvPr/>
        </p:nvSpPr>
        <p:spPr>
          <a:xfrm rot="0">
            <a:off x="2840079" y="8083456"/>
            <a:ext cx="5083766" cy="970199"/>
          </a:xfrm>
          <a:prstGeom prst="rect">
            <a:avLst/>
          </a:prstGeom>
        </p:spPr>
        <p:txBody>
          <a:bodyPr anchor="t" rtlCol="false" tIns="0" lIns="0" bIns="0" rIns="0">
            <a:spAutoFit/>
          </a:bodyPr>
          <a:lstStyle/>
          <a:p>
            <a:pPr algn="r">
              <a:lnSpc>
                <a:spcPts val="4309"/>
              </a:lnSpc>
            </a:pPr>
            <a:r>
              <a:rPr lang="en-US" sz="3078">
                <a:solidFill>
                  <a:srgbClr val="FFFFFF"/>
                </a:solidFill>
                <a:latin typeface="Poppins"/>
                <a:ea typeface="Poppins"/>
                <a:cs typeface="Poppins"/>
                <a:sym typeface="Poppins"/>
              </a:rPr>
              <a:t>Wireframe</a:t>
            </a:r>
          </a:p>
          <a:p>
            <a:pPr algn="r">
              <a:lnSpc>
                <a:spcPts val="3189"/>
              </a:lnSpc>
            </a:pPr>
            <a:r>
              <a:rPr lang="en-US" sz="2278">
                <a:solidFill>
                  <a:srgbClr val="FFFFFF"/>
                </a:solidFill>
                <a:latin typeface="Poppins"/>
                <a:ea typeface="Poppins"/>
                <a:cs typeface="Poppins"/>
                <a:sym typeface="Poppins"/>
              </a:rPr>
              <a:t>(sketches: bocetos)</a:t>
            </a:r>
          </a:p>
        </p:txBody>
      </p:sp>
      <p:sp>
        <p:nvSpPr>
          <p:cNvPr name="Freeform 11" id="11"/>
          <p:cNvSpPr/>
          <p:nvPr/>
        </p:nvSpPr>
        <p:spPr>
          <a:xfrm flipH="false" flipV="false" rot="0">
            <a:off x="8013103"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6"/>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75763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317996" y="4143865"/>
            <a:ext cx="6789680" cy="4532723"/>
          </a:xfrm>
          <a:custGeom>
            <a:avLst/>
            <a:gdLst/>
            <a:ahLst/>
            <a:cxnLst/>
            <a:rect r="r" b="b" t="t" l="l"/>
            <a:pathLst>
              <a:path h="4532723" w="6789680">
                <a:moveTo>
                  <a:pt x="0" y="0"/>
                </a:moveTo>
                <a:lnTo>
                  <a:pt x="6789681" y="0"/>
                </a:lnTo>
                <a:lnTo>
                  <a:pt x="6789681" y="4532723"/>
                </a:lnTo>
                <a:lnTo>
                  <a:pt x="0" y="4532723"/>
                </a:lnTo>
                <a:lnTo>
                  <a:pt x="0" y="0"/>
                </a:lnTo>
                <a:close/>
              </a:path>
            </a:pathLst>
          </a:custGeom>
          <a:blipFill>
            <a:blip r:embed="rId3"/>
            <a:stretch>
              <a:fillRect l="0" t="0" r="0" b="0"/>
            </a:stretch>
          </a:blipFill>
        </p:spPr>
      </p:sp>
      <p:sp>
        <p:nvSpPr>
          <p:cNvPr name="Freeform 7" id="7"/>
          <p:cNvSpPr/>
          <p:nvPr/>
        </p:nvSpPr>
        <p:spPr>
          <a:xfrm flipH="false" flipV="false" rot="0">
            <a:off x="1737111" y="4801912"/>
            <a:ext cx="599988" cy="572238"/>
          </a:xfrm>
          <a:custGeom>
            <a:avLst/>
            <a:gdLst/>
            <a:ahLst/>
            <a:cxnLst/>
            <a:rect r="r" b="b" t="t" l="l"/>
            <a:pathLst>
              <a:path h="572238" w="599988">
                <a:moveTo>
                  <a:pt x="0" y="0"/>
                </a:moveTo>
                <a:lnTo>
                  <a:pt x="599988" y="0"/>
                </a:lnTo>
                <a:lnTo>
                  <a:pt x="599988" y="572239"/>
                </a:lnTo>
                <a:lnTo>
                  <a:pt x="0" y="572239"/>
                </a:lnTo>
                <a:lnTo>
                  <a:pt x="0" y="0"/>
                </a:lnTo>
                <a:close/>
              </a:path>
            </a:pathLst>
          </a:custGeom>
          <a:blipFill>
            <a:blip r:embed="rId4"/>
            <a:stretch>
              <a:fillRect l="0" t="0" r="0" b="0"/>
            </a:stretch>
          </a:blipFill>
        </p:spPr>
      </p:sp>
      <p:sp>
        <p:nvSpPr>
          <p:cNvPr name="TextBox 8" id="8"/>
          <p:cNvSpPr txBox="true"/>
          <p:nvPr/>
        </p:nvSpPr>
        <p:spPr>
          <a:xfrm rot="0">
            <a:off x="0" y="1835113"/>
            <a:ext cx="18288000" cy="812387"/>
          </a:xfrm>
          <a:prstGeom prst="rect">
            <a:avLst/>
          </a:prstGeom>
        </p:spPr>
        <p:txBody>
          <a:bodyPr anchor="t" rtlCol="false" tIns="0" lIns="0" bIns="0" rIns="0">
            <a:spAutoFit/>
          </a:bodyPr>
          <a:lstStyle/>
          <a:p>
            <a:pPr algn="ctr">
              <a:lnSpc>
                <a:spcPts val="6672"/>
              </a:lnSpc>
              <a:spcBef>
                <a:spcPct val="0"/>
              </a:spcBef>
            </a:pPr>
            <a:r>
              <a:rPr lang="en-US" sz="4766">
                <a:solidFill>
                  <a:srgbClr val="F800C0"/>
                </a:solidFill>
                <a:latin typeface="HK Modular"/>
                <a:ea typeface="HK Modular"/>
                <a:cs typeface="HK Modular"/>
                <a:sym typeface="HK Modular"/>
              </a:rPr>
              <a:t>MOCKUP Y DISEÑO DE APLICACIONES</a:t>
            </a:r>
          </a:p>
        </p:txBody>
      </p:sp>
      <p:sp>
        <p:nvSpPr>
          <p:cNvPr name="TextBox 9" id="9"/>
          <p:cNvSpPr txBox="true"/>
          <p:nvPr/>
        </p:nvSpPr>
        <p:spPr>
          <a:xfrm rot="0">
            <a:off x="1479231" y="3733664"/>
            <a:ext cx="5546023" cy="559989"/>
          </a:xfrm>
          <a:prstGeom prst="rect">
            <a:avLst/>
          </a:prstGeom>
        </p:spPr>
        <p:txBody>
          <a:bodyPr anchor="t" rtlCol="false" tIns="0" lIns="0" bIns="0" rIns="0">
            <a:spAutoFit/>
          </a:bodyPr>
          <a:lstStyle/>
          <a:p>
            <a:pPr algn="l">
              <a:lnSpc>
                <a:spcPts val="4309"/>
              </a:lnSpc>
            </a:pPr>
            <a:r>
              <a:rPr lang="en-US" sz="3078" b="true">
                <a:solidFill>
                  <a:srgbClr val="FFFFFF"/>
                </a:solidFill>
                <a:latin typeface="Poppins Bold"/>
                <a:ea typeface="Poppins Bold"/>
                <a:cs typeface="Poppins Bold"/>
                <a:sym typeface="Poppins Bold"/>
              </a:rPr>
              <a:t>Los mockups visualizan:</a:t>
            </a:r>
          </a:p>
        </p:txBody>
      </p:sp>
      <p:sp>
        <p:nvSpPr>
          <p:cNvPr name="TextBox 10" id="10"/>
          <p:cNvSpPr txBox="true"/>
          <p:nvPr/>
        </p:nvSpPr>
        <p:spPr>
          <a:xfrm rot="0">
            <a:off x="2577738" y="4779462"/>
            <a:ext cx="5546023" cy="524429"/>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Pantallas de la aplicación</a:t>
            </a:r>
          </a:p>
        </p:txBody>
      </p:sp>
      <p:sp>
        <p:nvSpPr>
          <p:cNvPr name="TextBox 11" id="11"/>
          <p:cNvSpPr txBox="true"/>
          <p:nvPr/>
        </p:nvSpPr>
        <p:spPr>
          <a:xfrm rot="0">
            <a:off x="2577738" y="5420399"/>
            <a:ext cx="6675629" cy="1048304"/>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Distribución de los componentes (layouts)</a:t>
            </a:r>
          </a:p>
        </p:txBody>
      </p:sp>
      <p:sp>
        <p:nvSpPr>
          <p:cNvPr name="Freeform 12" id="12"/>
          <p:cNvSpPr/>
          <p:nvPr/>
        </p:nvSpPr>
        <p:spPr>
          <a:xfrm flipH="false" flipV="false" rot="0">
            <a:off x="1737111" y="5714312"/>
            <a:ext cx="599988" cy="572238"/>
          </a:xfrm>
          <a:custGeom>
            <a:avLst/>
            <a:gdLst/>
            <a:ahLst/>
            <a:cxnLst/>
            <a:rect r="r" b="b" t="t" l="l"/>
            <a:pathLst>
              <a:path h="572238" w="599988">
                <a:moveTo>
                  <a:pt x="0" y="0"/>
                </a:moveTo>
                <a:lnTo>
                  <a:pt x="599988" y="0"/>
                </a:lnTo>
                <a:lnTo>
                  <a:pt x="599988" y="572238"/>
                </a:lnTo>
                <a:lnTo>
                  <a:pt x="0" y="572238"/>
                </a:lnTo>
                <a:lnTo>
                  <a:pt x="0" y="0"/>
                </a:lnTo>
                <a:close/>
              </a:path>
            </a:pathLst>
          </a:custGeom>
          <a:blipFill>
            <a:blip r:embed="rId4"/>
            <a:stretch>
              <a:fillRect l="0" t="0" r="0" b="0"/>
            </a:stretch>
          </a:blipFill>
        </p:spPr>
      </p:sp>
      <p:sp>
        <p:nvSpPr>
          <p:cNvPr name="TextBox 13" id="13"/>
          <p:cNvSpPr txBox="true"/>
          <p:nvPr/>
        </p:nvSpPr>
        <p:spPr>
          <a:xfrm rot="0">
            <a:off x="2577738" y="6688278"/>
            <a:ext cx="6143211" cy="524429"/>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Llamados a la acción (CTAs)</a:t>
            </a:r>
          </a:p>
        </p:txBody>
      </p:sp>
      <p:sp>
        <p:nvSpPr>
          <p:cNvPr name="Freeform 14" id="14"/>
          <p:cNvSpPr/>
          <p:nvPr/>
        </p:nvSpPr>
        <p:spPr>
          <a:xfrm flipH="false" flipV="false" rot="0">
            <a:off x="1737111" y="6710728"/>
            <a:ext cx="599988" cy="572238"/>
          </a:xfrm>
          <a:custGeom>
            <a:avLst/>
            <a:gdLst/>
            <a:ahLst/>
            <a:cxnLst/>
            <a:rect r="r" b="b" t="t" l="l"/>
            <a:pathLst>
              <a:path h="572238" w="599988">
                <a:moveTo>
                  <a:pt x="0" y="0"/>
                </a:moveTo>
                <a:lnTo>
                  <a:pt x="599988" y="0"/>
                </a:lnTo>
                <a:lnTo>
                  <a:pt x="599988" y="572238"/>
                </a:lnTo>
                <a:lnTo>
                  <a:pt x="0" y="572238"/>
                </a:lnTo>
                <a:lnTo>
                  <a:pt x="0" y="0"/>
                </a:lnTo>
                <a:close/>
              </a:path>
            </a:pathLst>
          </a:custGeom>
          <a:blipFill>
            <a:blip r:embed="rId4"/>
            <a:stretch>
              <a:fillRect l="0" t="0" r="0" b="0"/>
            </a:stretch>
          </a:blipFill>
        </p:spPr>
      </p:sp>
      <p:sp>
        <p:nvSpPr>
          <p:cNvPr name="TextBox 15" id="15"/>
          <p:cNvSpPr txBox="true"/>
          <p:nvPr/>
        </p:nvSpPr>
        <p:spPr>
          <a:xfrm rot="0">
            <a:off x="2577738" y="7422441"/>
            <a:ext cx="6143211" cy="491409"/>
          </a:xfrm>
          <a:prstGeom prst="rect">
            <a:avLst/>
          </a:prstGeom>
        </p:spPr>
        <p:txBody>
          <a:bodyPr anchor="t" rtlCol="false" tIns="0" lIns="0" bIns="0" rIns="0">
            <a:spAutoFit/>
          </a:bodyPr>
          <a:lstStyle/>
          <a:p>
            <a:pPr algn="l">
              <a:lnSpc>
                <a:spcPts val="3889"/>
              </a:lnSpc>
            </a:pPr>
            <a:r>
              <a:rPr lang="en-US" sz="2778">
                <a:solidFill>
                  <a:srgbClr val="FFFFFF"/>
                </a:solidFill>
                <a:latin typeface="Poppins"/>
                <a:ea typeface="Poppins"/>
                <a:cs typeface="Poppins"/>
                <a:sym typeface="Poppins"/>
              </a:rPr>
              <a:t>Elementos (botones, textos..)</a:t>
            </a:r>
          </a:p>
        </p:txBody>
      </p:sp>
      <p:sp>
        <p:nvSpPr>
          <p:cNvPr name="Freeform 16" id="16"/>
          <p:cNvSpPr/>
          <p:nvPr/>
        </p:nvSpPr>
        <p:spPr>
          <a:xfrm flipH="false" flipV="false" rot="0">
            <a:off x="1737111" y="7444891"/>
            <a:ext cx="599988" cy="572238"/>
          </a:xfrm>
          <a:custGeom>
            <a:avLst/>
            <a:gdLst/>
            <a:ahLst/>
            <a:cxnLst/>
            <a:rect r="r" b="b" t="t" l="l"/>
            <a:pathLst>
              <a:path h="572238" w="599988">
                <a:moveTo>
                  <a:pt x="0" y="0"/>
                </a:moveTo>
                <a:lnTo>
                  <a:pt x="599988" y="0"/>
                </a:lnTo>
                <a:lnTo>
                  <a:pt x="599988" y="572239"/>
                </a:lnTo>
                <a:lnTo>
                  <a:pt x="0" y="572239"/>
                </a:lnTo>
                <a:lnTo>
                  <a:pt x="0" y="0"/>
                </a:lnTo>
                <a:close/>
              </a:path>
            </a:pathLst>
          </a:custGeom>
          <a:blipFill>
            <a:blip r:embed="rId4"/>
            <a:stretch>
              <a:fillRect l="0" t="0" r="0" b="0"/>
            </a:stretch>
          </a:blipFill>
        </p:spPr>
      </p:sp>
      <p:sp>
        <p:nvSpPr>
          <p:cNvPr name="TextBox 17" id="17"/>
          <p:cNvSpPr txBox="true"/>
          <p:nvPr/>
        </p:nvSpPr>
        <p:spPr>
          <a:xfrm rot="0">
            <a:off x="2577738" y="8185179"/>
            <a:ext cx="6143211" cy="491409"/>
          </a:xfrm>
          <a:prstGeom prst="rect">
            <a:avLst/>
          </a:prstGeom>
        </p:spPr>
        <p:txBody>
          <a:bodyPr anchor="t" rtlCol="false" tIns="0" lIns="0" bIns="0" rIns="0">
            <a:spAutoFit/>
          </a:bodyPr>
          <a:lstStyle/>
          <a:p>
            <a:pPr algn="l">
              <a:lnSpc>
                <a:spcPts val="3889"/>
              </a:lnSpc>
            </a:pPr>
            <a:r>
              <a:rPr lang="en-US" sz="2778">
                <a:solidFill>
                  <a:srgbClr val="FFFFFF"/>
                </a:solidFill>
                <a:latin typeface="Poppins"/>
                <a:ea typeface="Poppins"/>
                <a:cs typeface="Poppins"/>
                <a:sym typeface="Poppins"/>
              </a:rPr>
              <a:t>Navegación entre pantallas</a:t>
            </a:r>
          </a:p>
        </p:txBody>
      </p:sp>
      <p:sp>
        <p:nvSpPr>
          <p:cNvPr name="Freeform 18" id="18"/>
          <p:cNvSpPr/>
          <p:nvPr/>
        </p:nvSpPr>
        <p:spPr>
          <a:xfrm flipH="false" flipV="false" rot="0">
            <a:off x="1737111" y="8207630"/>
            <a:ext cx="599988" cy="572238"/>
          </a:xfrm>
          <a:custGeom>
            <a:avLst/>
            <a:gdLst/>
            <a:ahLst/>
            <a:cxnLst/>
            <a:rect r="r" b="b" t="t" l="l"/>
            <a:pathLst>
              <a:path h="572238" w="599988">
                <a:moveTo>
                  <a:pt x="0" y="0"/>
                </a:moveTo>
                <a:lnTo>
                  <a:pt x="599988" y="0"/>
                </a:lnTo>
                <a:lnTo>
                  <a:pt x="599988" y="572238"/>
                </a:lnTo>
                <a:lnTo>
                  <a:pt x="0" y="572238"/>
                </a:lnTo>
                <a:lnTo>
                  <a:pt x="0" y="0"/>
                </a:lnTo>
                <a:close/>
              </a:path>
            </a:pathLst>
          </a:custGeom>
          <a:blipFill>
            <a:blip r:embed="rId4"/>
            <a:stretch>
              <a:fillRect l="0" t="0" r="0" b="0"/>
            </a:stretch>
          </a:blipFill>
        </p:spPr>
      </p:sp>
      <p:sp>
        <p:nvSpPr>
          <p:cNvPr name="Freeform 19" id="19"/>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5"/>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63922" y="3677936"/>
            <a:ext cx="8219975" cy="5086110"/>
          </a:xfrm>
          <a:custGeom>
            <a:avLst/>
            <a:gdLst/>
            <a:ahLst/>
            <a:cxnLst/>
            <a:rect r="r" b="b" t="t" l="l"/>
            <a:pathLst>
              <a:path h="5086110" w="8219975">
                <a:moveTo>
                  <a:pt x="0" y="0"/>
                </a:moveTo>
                <a:lnTo>
                  <a:pt x="8219975" y="0"/>
                </a:lnTo>
                <a:lnTo>
                  <a:pt x="8219975" y="5086109"/>
                </a:lnTo>
                <a:lnTo>
                  <a:pt x="0" y="5086109"/>
                </a:lnTo>
                <a:lnTo>
                  <a:pt x="0" y="0"/>
                </a:lnTo>
                <a:close/>
              </a:path>
            </a:pathLst>
          </a:custGeom>
          <a:blipFill>
            <a:blip r:embed="rId3"/>
            <a:stretch>
              <a:fillRect l="0" t="0" r="0" b="0"/>
            </a:stretch>
          </a:blipFill>
        </p:spPr>
      </p:sp>
      <p:sp>
        <p:nvSpPr>
          <p:cNvPr name="TextBox 7" id="7"/>
          <p:cNvSpPr txBox="true"/>
          <p:nvPr/>
        </p:nvSpPr>
        <p:spPr>
          <a:xfrm rot="0">
            <a:off x="0" y="1835113"/>
            <a:ext cx="18288000" cy="812387"/>
          </a:xfrm>
          <a:prstGeom prst="rect">
            <a:avLst/>
          </a:prstGeom>
        </p:spPr>
        <p:txBody>
          <a:bodyPr anchor="t" rtlCol="false" tIns="0" lIns="0" bIns="0" rIns="0">
            <a:spAutoFit/>
          </a:bodyPr>
          <a:lstStyle/>
          <a:p>
            <a:pPr algn="ctr">
              <a:lnSpc>
                <a:spcPts val="6672"/>
              </a:lnSpc>
              <a:spcBef>
                <a:spcPct val="0"/>
              </a:spcBef>
            </a:pPr>
            <a:r>
              <a:rPr lang="en-US" sz="4766">
                <a:solidFill>
                  <a:srgbClr val="F800C0"/>
                </a:solidFill>
                <a:latin typeface="HK Modular"/>
                <a:ea typeface="HK Modular"/>
                <a:cs typeface="HK Modular"/>
                <a:sym typeface="HK Modular"/>
              </a:rPr>
              <a:t>MOCKUP Y DISEÑO DE APLICACIONES</a:t>
            </a:r>
          </a:p>
        </p:txBody>
      </p:sp>
      <p:sp>
        <p:nvSpPr>
          <p:cNvPr name="TextBox 8" id="8"/>
          <p:cNvSpPr txBox="true"/>
          <p:nvPr/>
        </p:nvSpPr>
        <p:spPr>
          <a:xfrm rot="0">
            <a:off x="4137337" y="9020236"/>
            <a:ext cx="2202359" cy="415289"/>
          </a:xfrm>
          <a:prstGeom prst="rect">
            <a:avLst/>
          </a:prstGeom>
        </p:spPr>
        <p:txBody>
          <a:bodyPr anchor="t" rtlCol="false" tIns="0" lIns="0" bIns="0" rIns="0">
            <a:spAutoFit/>
          </a:bodyPr>
          <a:lstStyle/>
          <a:p>
            <a:pPr algn="l">
              <a:lnSpc>
                <a:spcPts val="3360"/>
              </a:lnSpc>
            </a:pPr>
            <a:r>
              <a:rPr lang="en-US" sz="2400" u="sng">
                <a:solidFill>
                  <a:srgbClr val="FFA260"/>
                </a:solidFill>
                <a:latin typeface="Arimo"/>
                <a:ea typeface="Arimo"/>
                <a:cs typeface="Arimo"/>
                <a:sym typeface="Arimo"/>
                <a:hlinkClick r:id="rId4" tooltip="https://www.figma.com/community/file/1052832340031141040/spotify-mobile-ui-kit"/>
              </a:rPr>
              <a:t>Spotify Example</a:t>
            </a:r>
          </a:p>
        </p:txBody>
      </p:sp>
      <p:sp>
        <p:nvSpPr>
          <p:cNvPr name="TextBox 9" id="9"/>
          <p:cNvSpPr txBox="true"/>
          <p:nvPr/>
        </p:nvSpPr>
        <p:spPr>
          <a:xfrm rot="0">
            <a:off x="10437141" y="3214922"/>
            <a:ext cx="5546023" cy="559989"/>
          </a:xfrm>
          <a:prstGeom prst="rect">
            <a:avLst/>
          </a:prstGeom>
        </p:spPr>
        <p:txBody>
          <a:bodyPr anchor="t" rtlCol="false" tIns="0" lIns="0" bIns="0" rIns="0">
            <a:spAutoFit/>
          </a:bodyPr>
          <a:lstStyle/>
          <a:p>
            <a:pPr algn="l">
              <a:lnSpc>
                <a:spcPts val="4309"/>
              </a:lnSpc>
            </a:pPr>
            <a:r>
              <a:rPr lang="en-US" sz="3078" b="true">
                <a:solidFill>
                  <a:srgbClr val="FFFFFF"/>
                </a:solidFill>
                <a:latin typeface="Poppins Bold"/>
                <a:ea typeface="Poppins Bold"/>
                <a:cs typeface="Poppins Bold"/>
                <a:sym typeface="Poppins Bold"/>
              </a:rPr>
              <a:t>Los mockups sirven para:</a:t>
            </a:r>
          </a:p>
        </p:txBody>
      </p:sp>
      <p:sp>
        <p:nvSpPr>
          <p:cNvPr name="TextBox 10" id="10"/>
          <p:cNvSpPr txBox="true"/>
          <p:nvPr/>
        </p:nvSpPr>
        <p:spPr>
          <a:xfrm rot="0">
            <a:off x="10434081" y="4253847"/>
            <a:ext cx="5546023" cy="524429"/>
          </a:xfrm>
          <a:prstGeom prst="rect">
            <a:avLst/>
          </a:prstGeom>
        </p:spPr>
        <p:txBody>
          <a:bodyPr anchor="t" rtlCol="false" tIns="0" lIns="0" bIns="0" rIns="0">
            <a:spAutoFit/>
          </a:bodyPr>
          <a:lstStyle/>
          <a:p>
            <a:pPr algn="l" marL="642991" indent="-321496" lvl="1">
              <a:lnSpc>
                <a:spcPts val="4169"/>
              </a:lnSpc>
              <a:buFont typeface="Arial"/>
              <a:buChar char="•"/>
            </a:pPr>
            <a:r>
              <a:rPr lang="en-US" sz="2978">
                <a:solidFill>
                  <a:srgbClr val="FFFFFF"/>
                </a:solidFill>
                <a:latin typeface="Poppins"/>
                <a:ea typeface="Poppins"/>
                <a:cs typeface="Poppins"/>
                <a:sym typeface="Poppins"/>
              </a:rPr>
              <a:t>Visualizar la interfaz.</a:t>
            </a:r>
          </a:p>
        </p:txBody>
      </p:sp>
      <p:sp>
        <p:nvSpPr>
          <p:cNvPr name="TextBox 11" id="11"/>
          <p:cNvSpPr txBox="true"/>
          <p:nvPr/>
        </p:nvSpPr>
        <p:spPr>
          <a:xfrm rot="0">
            <a:off x="10434081" y="4919949"/>
            <a:ext cx="6094235" cy="524429"/>
          </a:xfrm>
          <a:prstGeom prst="rect">
            <a:avLst/>
          </a:prstGeom>
        </p:spPr>
        <p:txBody>
          <a:bodyPr anchor="t" rtlCol="false" tIns="0" lIns="0" bIns="0" rIns="0">
            <a:spAutoFit/>
          </a:bodyPr>
          <a:lstStyle/>
          <a:p>
            <a:pPr algn="l" marL="642991" indent="-321496" lvl="1">
              <a:lnSpc>
                <a:spcPts val="4169"/>
              </a:lnSpc>
              <a:buFont typeface="Arial"/>
              <a:buChar char="•"/>
            </a:pPr>
            <a:r>
              <a:rPr lang="en-US" sz="2978">
                <a:solidFill>
                  <a:srgbClr val="FFFFFF"/>
                </a:solidFill>
                <a:latin typeface="Poppins"/>
                <a:ea typeface="Poppins"/>
                <a:cs typeface="Poppins"/>
                <a:sym typeface="Poppins"/>
              </a:rPr>
              <a:t>Validar los requerimientos.</a:t>
            </a:r>
          </a:p>
        </p:txBody>
      </p:sp>
      <p:sp>
        <p:nvSpPr>
          <p:cNvPr name="TextBox 12" id="12"/>
          <p:cNvSpPr txBox="true"/>
          <p:nvPr/>
        </p:nvSpPr>
        <p:spPr>
          <a:xfrm rot="0">
            <a:off x="10434081" y="5698926"/>
            <a:ext cx="6311919" cy="524429"/>
          </a:xfrm>
          <a:prstGeom prst="rect">
            <a:avLst/>
          </a:prstGeom>
        </p:spPr>
        <p:txBody>
          <a:bodyPr anchor="t" rtlCol="false" tIns="0" lIns="0" bIns="0" rIns="0">
            <a:spAutoFit/>
          </a:bodyPr>
          <a:lstStyle/>
          <a:p>
            <a:pPr algn="l" marL="642991" indent="-321496" lvl="1">
              <a:lnSpc>
                <a:spcPts val="4169"/>
              </a:lnSpc>
              <a:buFont typeface="Arial"/>
              <a:buChar char="•"/>
            </a:pPr>
            <a:r>
              <a:rPr lang="en-US" sz="2978">
                <a:solidFill>
                  <a:srgbClr val="FFFFFF"/>
                </a:solidFill>
                <a:latin typeface="Poppins"/>
                <a:ea typeface="Poppins"/>
                <a:cs typeface="Poppins"/>
                <a:sym typeface="Poppins"/>
              </a:rPr>
              <a:t>Probar flujos de navegación.</a:t>
            </a:r>
          </a:p>
        </p:txBody>
      </p:sp>
      <p:sp>
        <p:nvSpPr>
          <p:cNvPr name="TextBox 13" id="13"/>
          <p:cNvSpPr txBox="true"/>
          <p:nvPr/>
        </p:nvSpPr>
        <p:spPr>
          <a:xfrm rot="0">
            <a:off x="10437141" y="6480530"/>
            <a:ext cx="6822159" cy="1048304"/>
          </a:xfrm>
          <a:prstGeom prst="rect">
            <a:avLst/>
          </a:prstGeom>
        </p:spPr>
        <p:txBody>
          <a:bodyPr anchor="t" rtlCol="false" tIns="0" lIns="0" bIns="0" rIns="0">
            <a:spAutoFit/>
          </a:bodyPr>
          <a:lstStyle/>
          <a:p>
            <a:pPr algn="l" marL="642991" indent="-321496" lvl="1">
              <a:lnSpc>
                <a:spcPts val="4169"/>
              </a:lnSpc>
              <a:buFont typeface="Arial"/>
              <a:buChar char="•"/>
            </a:pPr>
            <a:r>
              <a:rPr lang="en-US" sz="2978">
                <a:solidFill>
                  <a:srgbClr val="FFFFFF"/>
                </a:solidFill>
                <a:latin typeface="Poppins"/>
                <a:ea typeface="Poppins"/>
                <a:cs typeface="Poppins"/>
                <a:sym typeface="Poppins"/>
              </a:rPr>
              <a:t>Detectar problemas de usabilidad.</a:t>
            </a:r>
          </a:p>
        </p:txBody>
      </p:sp>
      <p:sp>
        <p:nvSpPr>
          <p:cNvPr name="TextBox 14" id="14"/>
          <p:cNvSpPr txBox="true"/>
          <p:nvPr/>
        </p:nvSpPr>
        <p:spPr>
          <a:xfrm rot="0">
            <a:off x="10434081" y="7786009"/>
            <a:ext cx="6612270" cy="1048304"/>
          </a:xfrm>
          <a:prstGeom prst="rect">
            <a:avLst/>
          </a:prstGeom>
        </p:spPr>
        <p:txBody>
          <a:bodyPr anchor="t" rtlCol="false" tIns="0" lIns="0" bIns="0" rIns="0">
            <a:spAutoFit/>
          </a:bodyPr>
          <a:lstStyle/>
          <a:p>
            <a:pPr algn="l" marL="642991" indent="-321496" lvl="1">
              <a:lnSpc>
                <a:spcPts val="4169"/>
              </a:lnSpc>
              <a:buFont typeface="Arial"/>
              <a:buChar char="•"/>
            </a:pPr>
            <a:r>
              <a:rPr lang="en-US" sz="2978">
                <a:solidFill>
                  <a:srgbClr val="FFFFFF"/>
                </a:solidFill>
                <a:latin typeface="Poppins"/>
                <a:ea typeface="Poppins"/>
                <a:cs typeface="Poppins"/>
                <a:sym typeface="Poppins"/>
              </a:rPr>
              <a:t>Alinear a usuarios, diseñadores y desarrolladores.</a:t>
            </a:r>
          </a:p>
        </p:txBody>
      </p:sp>
      <p:sp>
        <p:nvSpPr>
          <p:cNvPr name="Freeform 15" id="15"/>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5"/>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478103" y="2702486"/>
            <a:ext cx="8718707" cy="6974965"/>
          </a:xfrm>
          <a:custGeom>
            <a:avLst/>
            <a:gdLst/>
            <a:ahLst/>
            <a:cxnLst/>
            <a:rect r="r" b="b" t="t" l="l"/>
            <a:pathLst>
              <a:path h="6974965" w="8718707">
                <a:moveTo>
                  <a:pt x="0" y="0"/>
                </a:moveTo>
                <a:lnTo>
                  <a:pt x="8718707" y="0"/>
                </a:lnTo>
                <a:lnTo>
                  <a:pt x="8718707" y="6974965"/>
                </a:lnTo>
                <a:lnTo>
                  <a:pt x="0" y="6974965"/>
                </a:lnTo>
                <a:lnTo>
                  <a:pt x="0" y="0"/>
                </a:lnTo>
                <a:close/>
              </a:path>
            </a:pathLst>
          </a:custGeom>
          <a:blipFill>
            <a:blip r:embed="rId3"/>
            <a:stretch>
              <a:fillRect l="0" t="0" r="0" b="0"/>
            </a:stretch>
          </a:blipFill>
        </p:spPr>
      </p:sp>
      <p:sp>
        <p:nvSpPr>
          <p:cNvPr name="TextBox 7" id="7"/>
          <p:cNvSpPr txBox="true"/>
          <p:nvPr/>
        </p:nvSpPr>
        <p:spPr>
          <a:xfrm rot="0">
            <a:off x="109367" y="1863688"/>
            <a:ext cx="18288000" cy="548226"/>
          </a:xfrm>
          <a:prstGeom prst="rect">
            <a:avLst/>
          </a:prstGeom>
        </p:spPr>
        <p:txBody>
          <a:bodyPr anchor="t" rtlCol="false" tIns="0" lIns="0" bIns="0" rIns="0">
            <a:spAutoFit/>
          </a:bodyPr>
          <a:lstStyle/>
          <a:p>
            <a:pPr algn="ctr">
              <a:lnSpc>
                <a:spcPts val="4432"/>
              </a:lnSpc>
              <a:spcBef>
                <a:spcPct val="0"/>
              </a:spcBef>
            </a:pPr>
            <a:r>
              <a:rPr lang="en-US" sz="3166">
                <a:solidFill>
                  <a:srgbClr val="F800C0"/>
                </a:solidFill>
                <a:latin typeface="HK Modular"/>
                <a:ea typeface="HK Modular"/>
                <a:cs typeface="HK Modular"/>
                <a:sym typeface="HK Modular"/>
              </a:rPr>
              <a:t>FLUJO FUNCIONAL (NAVEGACIÓN) ENTRE PANTALLAS</a:t>
            </a:r>
          </a:p>
        </p:txBody>
      </p:sp>
      <p:sp>
        <p:nvSpPr>
          <p:cNvPr name="TextBox 8" id="8"/>
          <p:cNvSpPr txBox="true"/>
          <p:nvPr/>
        </p:nvSpPr>
        <p:spPr>
          <a:xfrm rot="0">
            <a:off x="1268985" y="4665333"/>
            <a:ext cx="5546023" cy="2714500"/>
          </a:xfrm>
          <a:prstGeom prst="rect">
            <a:avLst/>
          </a:prstGeom>
        </p:spPr>
        <p:txBody>
          <a:bodyPr anchor="t" rtlCol="false" tIns="0" lIns="0" bIns="0" rIns="0">
            <a:spAutoFit/>
          </a:bodyPr>
          <a:lstStyle/>
          <a:p>
            <a:pPr algn="ctr">
              <a:lnSpc>
                <a:spcPts val="4309"/>
              </a:lnSpc>
            </a:pPr>
            <a:r>
              <a:rPr lang="en-US" sz="3078">
                <a:solidFill>
                  <a:srgbClr val="FFFFFF"/>
                </a:solidFill>
                <a:latin typeface="Poppins"/>
                <a:ea typeface="Poppins"/>
                <a:cs typeface="Poppins"/>
                <a:sym typeface="Poppins"/>
              </a:rPr>
              <a:t>Secuencia de pantallas y acciones que sigue un usuario dentro de una aplicación para completar una tarea objetivo.</a:t>
            </a:r>
          </a:p>
        </p:txBody>
      </p:sp>
      <p:sp>
        <p:nvSpPr>
          <p:cNvPr name="Freeform 9" id="9"/>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9367" y="1863688"/>
            <a:ext cx="18288000" cy="548226"/>
          </a:xfrm>
          <a:prstGeom prst="rect">
            <a:avLst/>
          </a:prstGeom>
        </p:spPr>
        <p:txBody>
          <a:bodyPr anchor="t" rtlCol="false" tIns="0" lIns="0" bIns="0" rIns="0">
            <a:spAutoFit/>
          </a:bodyPr>
          <a:lstStyle/>
          <a:p>
            <a:pPr algn="ctr">
              <a:lnSpc>
                <a:spcPts val="4432"/>
              </a:lnSpc>
              <a:spcBef>
                <a:spcPct val="0"/>
              </a:spcBef>
            </a:pPr>
            <a:r>
              <a:rPr lang="en-US" sz="3166">
                <a:solidFill>
                  <a:srgbClr val="F800C0"/>
                </a:solidFill>
                <a:latin typeface="HK Modular"/>
                <a:ea typeface="HK Modular"/>
                <a:cs typeface="HK Modular"/>
                <a:sym typeface="HK Modular"/>
              </a:rPr>
              <a:t>FLUJO FUNCIONAL (NAVEGACIÓN) ENTRE PANTALLAS</a:t>
            </a:r>
          </a:p>
        </p:txBody>
      </p:sp>
      <p:sp>
        <p:nvSpPr>
          <p:cNvPr name="Freeform 7" id="7"/>
          <p:cNvSpPr/>
          <p:nvPr/>
        </p:nvSpPr>
        <p:spPr>
          <a:xfrm flipH="false" flipV="false" rot="0">
            <a:off x="1722094" y="5055595"/>
            <a:ext cx="599988" cy="572238"/>
          </a:xfrm>
          <a:custGeom>
            <a:avLst/>
            <a:gdLst/>
            <a:ahLst/>
            <a:cxnLst/>
            <a:rect r="r" b="b" t="t" l="l"/>
            <a:pathLst>
              <a:path h="572238" w="599988">
                <a:moveTo>
                  <a:pt x="0" y="0"/>
                </a:moveTo>
                <a:lnTo>
                  <a:pt x="599988" y="0"/>
                </a:lnTo>
                <a:lnTo>
                  <a:pt x="599988" y="572238"/>
                </a:lnTo>
                <a:lnTo>
                  <a:pt x="0" y="572238"/>
                </a:lnTo>
                <a:lnTo>
                  <a:pt x="0" y="0"/>
                </a:lnTo>
                <a:close/>
              </a:path>
            </a:pathLst>
          </a:custGeom>
          <a:blipFill>
            <a:blip r:embed="rId3"/>
            <a:stretch>
              <a:fillRect l="0" t="0" r="0" b="0"/>
            </a:stretch>
          </a:blipFill>
        </p:spPr>
      </p:sp>
      <p:sp>
        <p:nvSpPr>
          <p:cNvPr name="TextBox 8" id="8"/>
          <p:cNvSpPr txBox="true"/>
          <p:nvPr/>
        </p:nvSpPr>
        <p:spPr>
          <a:xfrm rot="0">
            <a:off x="1479231" y="3733664"/>
            <a:ext cx="5546023" cy="559989"/>
          </a:xfrm>
          <a:prstGeom prst="rect">
            <a:avLst/>
          </a:prstGeom>
        </p:spPr>
        <p:txBody>
          <a:bodyPr anchor="t" rtlCol="false" tIns="0" lIns="0" bIns="0" rIns="0">
            <a:spAutoFit/>
          </a:bodyPr>
          <a:lstStyle/>
          <a:p>
            <a:pPr algn="l">
              <a:lnSpc>
                <a:spcPts val="4309"/>
              </a:lnSpc>
            </a:pPr>
            <a:r>
              <a:rPr lang="en-US" sz="3078" b="true">
                <a:solidFill>
                  <a:srgbClr val="FFFFFF"/>
                </a:solidFill>
                <a:latin typeface="Poppins Bold"/>
                <a:ea typeface="Poppins Bold"/>
                <a:cs typeface="Poppins Bold"/>
                <a:sym typeface="Poppins Bold"/>
              </a:rPr>
              <a:t>Sirve para:</a:t>
            </a:r>
          </a:p>
        </p:txBody>
      </p:sp>
      <p:sp>
        <p:nvSpPr>
          <p:cNvPr name="TextBox 9" id="9"/>
          <p:cNvSpPr txBox="true"/>
          <p:nvPr/>
        </p:nvSpPr>
        <p:spPr>
          <a:xfrm rot="0">
            <a:off x="2577738" y="4779462"/>
            <a:ext cx="5546023" cy="1048304"/>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Entender cómo se usa el sistema.</a:t>
            </a:r>
          </a:p>
        </p:txBody>
      </p:sp>
      <p:sp>
        <p:nvSpPr>
          <p:cNvPr name="Freeform 10" id="10"/>
          <p:cNvSpPr/>
          <p:nvPr/>
        </p:nvSpPr>
        <p:spPr>
          <a:xfrm flipH="false" flipV="false" rot="0">
            <a:off x="1722094" y="6304277"/>
            <a:ext cx="599988" cy="572238"/>
          </a:xfrm>
          <a:custGeom>
            <a:avLst/>
            <a:gdLst/>
            <a:ahLst/>
            <a:cxnLst/>
            <a:rect r="r" b="b" t="t" l="l"/>
            <a:pathLst>
              <a:path h="572238" w="599988">
                <a:moveTo>
                  <a:pt x="0" y="0"/>
                </a:moveTo>
                <a:lnTo>
                  <a:pt x="599988" y="0"/>
                </a:lnTo>
                <a:lnTo>
                  <a:pt x="599988" y="572239"/>
                </a:lnTo>
                <a:lnTo>
                  <a:pt x="0" y="572239"/>
                </a:lnTo>
                <a:lnTo>
                  <a:pt x="0" y="0"/>
                </a:lnTo>
                <a:close/>
              </a:path>
            </a:pathLst>
          </a:custGeom>
          <a:blipFill>
            <a:blip r:embed="rId3"/>
            <a:stretch>
              <a:fillRect l="0" t="0" r="0" b="0"/>
            </a:stretch>
          </a:blipFill>
        </p:spPr>
      </p:sp>
      <p:sp>
        <p:nvSpPr>
          <p:cNvPr name="TextBox 11" id="11"/>
          <p:cNvSpPr txBox="true"/>
          <p:nvPr/>
        </p:nvSpPr>
        <p:spPr>
          <a:xfrm rot="0">
            <a:off x="2577738" y="6028145"/>
            <a:ext cx="5546023" cy="1048304"/>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Validar requerimientos y casos de uso.</a:t>
            </a:r>
          </a:p>
        </p:txBody>
      </p:sp>
      <p:sp>
        <p:nvSpPr>
          <p:cNvPr name="Freeform 12" id="12"/>
          <p:cNvSpPr/>
          <p:nvPr/>
        </p:nvSpPr>
        <p:spPr>
          <a:xfrm flipH="false" flipV="false" rot="0">
            <a:off x="1722094" y="7552606"/>
            <a:ext cx="599988" cy="572238"/>
          </a:xfrm>
          <a:custGeom>
            <a:avLst/>
            <a:gdLst/>
            <a:ahLst/>
            <a:cxnLst/>
            <a:rect r="r" b="b" t="t" l="l"/>
            <a:pathLst>
              <a:path h="572238" w="599988">
                <a:moveTo>
                  <a:pt x="0" y="0"/>
                </a:moveTo>
                <a:lnTo>
                  <a:pt x="599988" y="0"/>
                </a:lnTo>
                <a:lnTo>
                  <a:pt x="599988" y="572239"/>
                </a:lnTo>
                <a:lnTo>
                  <a:pt x="0" y="572239"/>
                </a:lnTo>
                <a:lnTo>
                  <a:pt x="0" y="0"/>
                </a:lnTo>
                <a:close/>
              </a:path>
            </a:pathLst>
          </a:custGeom>
          <a:blipFill>
            <a:blip r:embed="rId3"/>
            <a:stretch>
              <a:fillRect l="0" t="0" r="0" b="0"/>
            </a:stretch>
          </a:blipFill>
        </p:spPr>
      </p:sp>
      <p:sp>
        <p:nvSpPr>
          <p:cNvPr name="TextBox 13" id="13"/>
          <p:cNvSpPr txBox="true"/>
          <p:nvPr/>
        </p:nvSpPr>
        <p:spPr>
          <a:xfrm rot="0">
            <a:off x="2577738" y="7276474"/>
            <a:ext cx="5546023" cy="1048304"/>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Detectar pasos innecesarios o confusos.</a:t>
            </a:r>
          </a:p>
        </p:txBody>
      </p:sp>
      <p:sp>
        <p:nvSpPr>
          <p:cNvPr name="Freeform 14" id="14"/>
          <p:cNvSpPr/>
          <p:nvPr/>
        </p:nvSpPr>
        <p:spPr>
          <a:xfrm flipH="false" flipV="false" rot="0">
            <a:off x="9923912" y="4857381"/>
            <a:ext cx="599988" cy="572238"/>
          </a:xfrm>
          <a:custGeom>
            <a:avLst/>
            <a:gdLst/>
            <a:ahLst/>
            <a:cxnLst/>
            <a:rect r="r" b="b" t="t" l="l"/>
            <a:pathLst>
              <a:path h="572238" w="599988">
                <a:moveTo>
                  <a:pt x="0" y="0"/>
                </a:moveTo>
                <a:lnTo>
                  <a:pt x="599988" y="0"/>
                </a:lnTo>
                <a:lnTo>
                  <a:pt x="599988" y="572238"/>
                </a:lnTo>
                <a:lnTo>
                  <a:pt x="0" y="572238"/>
                </a:lnTo>
                <a:lnTo>
                  <a:pt x="0" y="0"/>
                </a:lnTo>
                <a:close/>
              </a:path>
            </a:pathLst>
          </a:custGeom>
          <a:blipFill>
            <a:blip r:embed="rId3"/>
            <a:stretch>
              <a:fillRect l="0" t="0" r="0" b="0"/>
            </a:stretch>
          </a:blipFill>
        </p:spPr>
      </p:sp>
      <p:sp>
        <p:nvSpPr>
          <p:cNvPr name="TextBox 15" id="15"/>
          <p:cNvSpPr txBox="true"/>
          <p:nvPr/>
        </p:nvSpPr>
        <p:spPr>
          <a:xfrm rot="0">
            <a:off x="9681049" y="3733664"/>
            <a:ext cx="5546023" cy="559989"/>
          </a:xfrm>
          <a:prstGeom prst="rect">
            <a:avLst/>
          </a:prstGeom>
        </p:spPr>
        <p:txBody>
          <a:bodyPr anchor="t" rtlCol="false" tIns="0" lIns="0" bIns="0" rIns="0">
            <a:spAutoFit/>
          </a:bodyPr>
          <a:lstStyle/>
          <a:p>
            <a:pPr algn="l">
              <a:lnSpc>
                <a:spcPts val="4309"/>
              </a:lnSpc>
            </a:pPr>
            <a:r>
              <a:rPr lang="en-US" sz="3078" b="true">
                <a:solidFill>
                  <a:srgbClr val="FFFFFF"/>
                </a:solidFill>
                <a:latin typeface="Poppins Bold"/>
                <a:ea typeface="Poppins Bold"/>
                <a:cs typeface="Poppins Bold"/>
                <a:sym typeface="Poppins Bold"/>
              </a:rPr>
              <a:t>Incluye</a:t>
            </a:r>
          </a:p>
        </p:txBody>
      </p:sp>
      <p:sp>
        <p:nvSpPr>
          <p:cNvPr name="TextBox 16" id="16"/>
          <p:cNvSpPr txBox="true"/>
          <p:nvPr/>
        </p:nvSpPr>
        <p:spPr>
          <a:xfrm rot="0">
            <a:off x="10779556" y="4779462"/>
            <a:ext cx="5546023" cy="524429"/>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Pantallas.</a:t>
            </a:r>
          </a:p>
        </p:txBody>
      </p:sp>
      <p:sp>
        <p:nvSpPr>
          <p:cNvPr name="Freeform 17" id="17"/>
          <p:cNvSpPr/>
          <p:nvPr/>
        </p:nvSpPr>
        <p:spPr>
          <a:xfrm flipH="false" flipV="false" rot="0">
            <a:off x="9923912" y="6104345"/>
            <a:ext cx="599988" cy="572238"/>
          </a:xfrm>
          <a:custGeom>
            <a:avLst/>
            <a:gdLst/>
            <a:ahLst/>
            <a:cxnLst/>
            <a:rect r="r" b="b" t="t" l="l"/>
            <a:pathLst>
              <a:path h="572238" w="599988">
                <a:moveTo>
                  <a:pt x="0" y="0"/>
                </a:moveTo>
                <a:lnTo>
                  <a:pt x="599988" y="0"/>
                </a:lnTo>
                <a:lnTo>
                  <a:pt x="599988" y="572238"/>
                </a:lnTo>
                <a:lnTo>
                  <a:pt x="0" y="572238"/>
                </a:lnTo>
                <a:lnTo>
                  <a:pt x="0" y="0"/>
                </a:lnTo>
                <a:close/>
              </a:path>
            </a:pathLst>
          </a:custGeom>
          <a:blipFill>
            <a:blip r:embed="rId3"/>
            <a:stretch>
              <a:fillRect l="0" t="0" r="0" b="0"/>
            </a:stretch>
          </a:blipFill>
        </p:spPr>
      </p:sp>
      <p:sp>
        <p:nvSpPr>
          <p:cNvPr name="TextBox 18" id="18"/>
          <p:cNvSpPr txBox="true"/>
          <p:nvPr/>
        </p:nvSpPr>
        <p:spPr>
          <a:xfrm rot="0">
            <a:off x="10779556" y="5828212"/>
            <a:ext cx="5546023" cy="1048304"/>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Acciones del usuario (clics, selecciones...).</a:t>
            </a:r>
          </a:p>
        </p:txBody>
      </p:sp>
      <p:sp>
        <p:nvSpPr>
          <p:cNvPr name="Freeform 19" id="19"/>
          <p:cNvSpPr/>
          <p:nvPr/>
        </p:nvSpPr>
        <p:spPr>
          <a:xfrm flipH="false" flipV="false" rot="0">
            <a:off x="9923912" y="7290669"/>
            <a:ext cx="599988" cy="572238"/>
          </a:xfrm>
          <a:custGeom>
            <a:avLst/>
            <a:gdLst/>
            <a:ahLst/>
            <a:cxnLst/>
            <a:rect r="r" b="b" t="t" l="l"/>
            <a:pathLst>
              <a:path h="572238" w="599988">
                <a:moveTo>
                  <a:pt x="0" y="0"/>
                </a:moveTo>
                <a:lnTo>
                  <a:pt x="599988" y="0"/>
                </a:lnTo>
                <a:lnTo>
                  <a:pt x="599988" y="572238"/>
                </a:lnTo>
                <a:lnTo>
                  <a:pt x="0" y="572238"/>
                </a:lnTo>
                <a:lnTo>
                  <a:pt x="0" y="0"/>
                </a:lnTo>
                <a:close/>
              </a:path>
            </a:pathLst>
          </a:custGeom>
          <a:blipFill>
            <a:blip r:embed="rId3"/>
            <a:stretch>
              <a:fillRect l="0" t="0" r="0" b="0"/>
            </a:stretch>
          </a:blipFill>
        </p:spPr>
      </p:sp>
      <p:sp>
        <p:nvSpPr>
          <p:cNvPr name="TextBox 20" id="20"/>
          <p:cNvSpPr txBox="true"/>
          <p:nvPr/>
        </p:nvSpPr>
        <p:spPr>
          <a:xfrm rot="0">
            <a:off x="10779556" y="7276474"/>
            <a:ext cx="5546023" cy="524429"/>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Decisiones (sí / no).</a:t>
            </a:r>
          </a:p>
        </p:txBody>
      </p:sp>
      <p:sp>
        <p:nvSpPr>
          <p:cNvPr name="Freeform 21" id="21"/>
          <p:cNvSpPr/>
          <p:nvPr/>
        </p:nvSpPr>
        <p:spPr>
          <a:xfrm flipH="false" flipV="false" rot="0">
            <a:off x="9923912" y="8272482"/>
            <a:ext cx="599988" cy="572238"/>
          </a:xfrm>
          <a:custGeom>
            <a:avLst/>
            <a:gdLst/>
            <a:ahLst/>
            <a:cxnLst/>
            <a:rect r="r" b="b" t="t" l="l"/>
            <a:pathLst>
              <a:path h="572238" w="599988">
                <a:moveTo>
                  <a:pt x="0" y="0"/>
                </a:moveTo>
                <a:lnTo>
                  <a:pt x="599988" y="0"/>
                </a:lnTo>
                <a:lnTo>
                  <a:pt x="599988" y="572239"/>
                </a:lnTo>
                <a:lnTo>
                  <a:pt x="0" y="572239"/>
                </a:lnTo>
                <a:lnTo>
                  <a:pt x="0" y="0"/>
                </a:lnTo>
                <a:close/>
              </a:path>
            </a:pathLst>
          </a:custGeom>
          <a:blipFill>
            <a:blip r:embed="rId3"/>
            <a:stretch>
              <a:fillRect l="0" t="0" r="0" b="0"/>
            </a:stretch>
          </a:blipFill>
        </p:spPr>
      </p:sp>
      <p:sp>
        <p:nvSpPr>
          <p:cNvPr name="TextBox 22" id="22"/>
          <p:cNvSpPr txBox="true"/>
          <p:nvPr/>
        </p:nvSpPr>
        <p:spPr>
          <a:xfrm rot="0">
            <a:off x="10779556" y="8258287"/>
            <a:ext cx="5546023" cy="524429"/>
          </a:xfrm>
          <a:prstGeom prst="rect">
            <a:avLst/>
          </a:prstGeom>
        </p:spPr>
        <p:txBody>
          <a:bodyPr anchor="t" rtlCol="false" tIns="0" lIns="0" bIns="0" rIns="0">
            <a:spAutoFit/>
          </a:bodyPr>
          <a:lstStyle/>
          <a:p>
            <a:pPr algn="l">
              <a:lnSpc>
                <a:spcPts val="4169"/>
              </a:lnSpc>
            </a:pPr>
            <a:r>
              <a:rPr lang="en-US" sz="2978">
                <a:solidFill>
                  <a:srgbClr val="FFFFFF"/>
                </a:solidFill>
                <a:latin typeface="Poppins"/>
                <a:ea typeface="Poppins"/>
                <a:cs typeface="Poppins"/>
                <a:sym typeface="Poppins"/>
              </a:rPr>
              <a:t>Resultados (éxito / fallido).</a:t>
            </a:r>
          </a:p>
        </p:txBody>
      </p:sp>
      <p:sp>
        <p:nvSpPr>
          <p:cNvPr name="Freeform 23" id="23"/>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4135430" y="-7959001"/>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489913" y="1680775"/>
            <a:ext cx="3308175" cy="1417789"/>
          </a:xfrm>
          <a:custGeom>
            <a:avLst/>
            <a:gdLst/>
            <a:ahLst/>
            <a:cxnLst/>
            <a:rect r="r" b="b" t="t" l="l"/>
            <a:pathLst>
              <a:path h="1417789" w="3308175">
                <a:moveTo>
                  <a:pt x="0" y="0"/>
                </a:moveTo>
                <a:lnTo>
                  <a:pt x="3308174" y="0"/>
                </a:lnTo>
                <a:lnTo>
                  <a:pt x="3308174" y="1417789"/>
                </a:lnTo>
                <a:lnTo>
                  <a:pt x="0" y="1417789"/>
                </a:lnTo>
                <a:lnTo>
                  <a:pt x="0" y="0"/>
                </a:lnTo>
                <a:close/>
              </a:path>
            </a:pathLst>
          </a:custGeom>
          <a:blipFill>
            <a:blip r:embed="rId3"/>
            <a:stretch>
              <a:fillRect l="0" t="0" r="0" b="0"/>
            </a:stretch>
          </a:blipFill>
        </p:spPr>
      </p:sp>
      <p:sp>
        <p:nvSpPr>
          <p:cNvPr name="Freeform 7" id="7"/>
          <p:cNvSpPr/>
          <p:nvPr/>
        </p:nvSpPr>
        <p:spPr>
          <a:xfrm flipH="false" flipV="false" rot="0">
            <a:off x="7853919" y="3779120"/>
            <a:ext cx="9289141" cy="4876799"/>
          </a:xfrm>
          <a:custGeom>
            <a:avLst/>
            <a:gdLst/>
            <a:ahLst/>
            <a:cxnLst/>
            <a:rect r="r" b="b" t="t" l="l"/>
            <a:pathLst>
              <a:path h="4876799" w="9289141">
                <a:moveTo>
                  <a:pt x="0" y="0"/>
                </a:moveTo>
                <a:lnTo>
                  <a:pt x="9289140" y="0"/>
                </a:lnTo>
                <a:lnTo>
                  <a:pt x="9289140" y="4876799"/>
                </a:lnTo>
                <a:lnTo>
                  <a:pt x="0" y="4876799"/>
                </a:lnTo>
                <a:lnTo>
                  <a:pt x="0" y="0"/>
                </a:lnTo>
                <a:close/>
              </a:path>
            </a:pathLst>
          </a:custGeom>
          <a:blipFill>
            <a:blip r:embed="rId4"/>
            <a:stretch>
              <a:fillRect l="0" t="0" r="0" b="0"/>
            </a:stretch>
          </a:blipFill>
        </p:spPr>
      </p:sp>
      <p:sp>
        <p:nvSpPr>
          <p:cNvPr name="TextBox 8" id="8"/>
          <p:cNvSpPr txBox="true"/>
          <p:nvPr/>
        </p:nvSpPr>
        <p:spPr>
          <a:xfrm rot="0">
            <a:off x="1779582" y="3463927"/>
            <a:ext cx="5546023" cy="5411935"/>
          </a:xfrm>
          <a:prstGeom prst="rect">
            <a:avLst/>
          </a:prstGeom>
        </p:spPr>
        <p:txBody>
          <a:bodyPr anchor="t" rtlCol="false" tIns="0" lIns="0" bIns="0" rIns="0">
            <a:spAutoFit/>
          </a:bodyPr>
          <a:lstStyle/>
          <a:p>
            <a:pPr algn="ctr">
              <a:lnSpc>
                <a:spcPts val="4309"/>
              </a:lnSpc>
            </a:pPr>
            <a:r>
              <a:rPr lang="en-US" sz="3078">
                <a:solidFill>
                  <a:srgbClr val="FFFFFF"/>
                </a:solidFill>
                <a:latin typeface="Poppins"/>
                <a:ea typeface="Poppins"/>
                <a:cs typeface="Poppins"/>
                <a:sym typeface="Poppins"/>
              </a:rPr>
              <a:t>Figma is a powerful, collaborative design tool for teams. Explore ideas and gather feedback, build realistic prototypes, and streamline product devel</a:t>
            </a:r>
            <a:r>
              <a:rPr lang="en-US" sz="3078">
                <a:solidFill>
                  <a:srgbClr val="FFFFFF"/>
                </a:solidFill>
                <a:latin typeface="Poppins"/>
                <a:ea typeface="Poppins"/>
                <a:cs typeface="Poppins"/>
                <a:sym typeface="Poppins"/>
              </a:rPr>
              <a:t>op</a:t>
            </a:r>
            <a:r>
              <a:rPr lang="en-US" sz="3078">
                <a:solidFill>
                  <a:srgbClr val="FFFFFF"/>
                </a:solidFill>
                <a:latin typeface="Poppins"/>
                <a:ea typeface="Poppins"/>
                <a:cs typeface="Poppins"/>
                <a:sym typeface="Poppins"/>
              </a:rPr>
              <a:t>ment with design systems. Figma Design is included in the Full seat on every plan.</a:t>
            </a:r>
          </a:p>
        </p:txBody>
      </p:sp>
      <p:sp>
        <p:nvSpPr>
          <p:cNvPr name="Freeform 9" id="9"/>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5"/>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23855" y="3142875"/>
            <a:ext cx="14684405" cy="3325012"/>
          </a:xfrm>
          <a:prstGeom prst="rect">
            <a:avLst/>
          </a:prstGeom>
        </p:spPr>
        <p:txBody>
          <a:bodyPr anchor="t" rtlCol="false" tIns="0" lIns="0" bIns="0" rIns="0">
            <a:spAutoFit/>
          </a:bodyPr>
          <a:lstStyle/>
          <a:p>
            <a:pPr algn="ctr">
              <a:lnSpc>
                <a:spcPts val="8862"/>
              </a:lnSpc>
              <a:spcBef>
                <a:spcPct val="0"/>
              </a:spcBef>
            </a:pPr>
            <a:r>
              <a:rPr lang="en-US" sz="6330">
                <a:solidFill>
                  <a:srgbClr val="F800C0"/>
                </a:solidFill>
                <a:latin typeface="HK Modular"/>
                <a:ea typeface="HK Modular"/>
                <a:cs typeface="HK Modular"/>
                <a:sym typeface="HK Modular"/>
              </a:rPr>
              <a:t>PERO ANTES DE PROTOTIPAR NECESITAMOS....</a:t>
            </a:r>
          </a:p>
        </p:txBody>
      </p:sp>
      <p:sp>
        <p:nvSpPr>
          <p:cNvPr name="Freeform 13" id="13"/>
          <p:cNvSpPr/>
          <p:nvPr/>
        </p:nvSpPr>
        <p:spPr>
          <a:xfrm flipH="false" flipV="false" rot="0">
            <a:off x="7706561" y="-236892"/>
            <a:ext cx="3093612" cy="3093612"/>
          </a:xfrm>
          <a:custGeom>
            <a:avLst/>
            <a:gdLst/>
            <a:ahLst/>
            <a:cxnLst/>
            <a:rect r="r" b="b" t="t" l="l"/>
            <a:pathLst>
              <a:path h="3093612" w="3093612">
                <a:moveTo>
                  <a:pt x="0" y="0"/>
                </a:moveTo>
                <a:lnTo>
                  <a:pt x="3093612" y="0"/>
                </a:lnTo>
                <a:lnTo>
                  <a:pt x="3093612" y="3093612"/>
                </a:lnTo>
                <a:lnTo>
                  <a:pt x="0" y="3093612"/>
                </a:lnTo>
                <a:lnTo>
                  <a:pt x="0" y="0"/>
                </a:lnTo>
                <a:close/>
              </a:path>
            </a:pathLst>
          </a:custGeom>
          <a:blipFill>
            <a:blip r:embed="rId3"/>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50532" y="3351092"/>
            <a:ext cx="5636438" cy="5636438"/>
          </a:xfrm>
          <a:custGeom>
            <a:avLst/>
            <a:gdLst/>
            <a:ahLst/>
            <a:cxnLst/>
            <a:rect r="r" b="b" t="t" l="l"/>
            <a:pathLst>
              <a:path h="5636438" w="5636438">
                <a:moveTo>
                  <a:pt x="0" y="0"/>
                </a:moveTo>
                <a:lnTo>
                  <a:pt x="5636438" y="0"/>
                </a:lnTo>
                <a:lnTo>
                  <a:pt x="5636438" y="5636438"/>
                </a:lnTo>
                <a:lnTo>
                  <a:pt x="0" y="56364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390700" y="2087021"/>
            <a:ext cx="12540977" cy="899656"/>
          </a:xfrm>
          <a:prstGeom prst="rect">
            <a:avLst/>
          </a:prstGeom>
        </p:spPr>
        <p:txBody>
          <a:bodyPr anchor="t" rtlCol="false" tIns="0" lIns="0" bIns="0" rIns="0">
            <a:spAutoFit/>
          </a:bodyPr>
          <a:lstStyle/>
          <a:p>
            <a:pPr algn="l">
              <a:lnSpc>
                <a:spcPts val="7316"/>
              </a:lnSpc>
              <a:spcBef>
                <a:spcPct val="0"/>
              </a:spcBef>
            </a:pPr>
            <a:r>
              <a:rPr lang="en-US" sz="5226">
                <a:solidFill>
                  <a:srgbClr val="FF914D"/>
                </a:solidFill>
                <a:latin typeface="HK Modular"/>
                <a:ea typeface="HK Modular"/>
                <a:cs typeface="HK Modular"/>
                <a:sym typeface="HK Modular"/>
              </a:rPr>
              <a:t>HEURISTICA DE NIELSEN</a:t>
            </a:r>
          </a:p>
        </p:txBody>
      </p:sp>
      <p:sp>
        <p:nvSpPr>
          <p:cNvPr name="TextBox 8" id="8"/>
          <p:cNvSpPr txBox="true"/>
          <p:nvPr/>
        </p:nvSpPr>
        <p:spPr>
          <a:xfrm rot="0">
            <a:off x="7377377" y="3771246"/>
            <a:ext cx="10115555" cy="94224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Son principios publicados por Jakob nielsen en 1995, son considerados cuando se realice un diseño de interaccion.</a:t>
            </a:r>
          </a:p>
        </p:txBody>
      </p:sp>
      <p:sp>
        <p:nvSpPr>
          <p:cNvPr name="TextBox 9" id="9"/>
          <p:cNvSpPr txBox="true"/>
          <p:nvPr/>
        </p:nvSpPr>
        <p:spPr>
          <a:xfrm rot="0">
            <a:off x="7208722" y="5498060"/>
            <a:ext cx="10452866" cy="140897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Son la base en la que se apoyan los diseñadores a la hora de ralizar la evaluacion de usabilidad de un sitio web o cualquier producto digital</a:t>
            </a:r>
          </a:p>
        </p:txBody>
      </p:sp>
      <p:sp>
        <p:nvSpPr>
          <p:cNvPr name="TextBox 10" id="10"/>
          <p:cNvSpPr txBox="true"/>
          <p:nvPr/>
        </p:nvSpPr>
        <p:spPr>
          <a:xfrm rot="0">
            <a:off x="7259057" y="7725794"/>
            <a:ext cx="10352195" cy="94224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Se llaman heuristicos porque son reglas generales y no directrices de usabilidad</a:t>
            </a:r>
          </a:p>
        </p:txBody>
      </p:sp>
      <p:sp>
        <p:nvSpPr>
          <p:cNvPr name="Freeform 11" id="11"/>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5"/>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50532" y="3351092"/>
            <a:ext cx="5636438" cy="5636438"/>
          </a:xfrm>
          <a:custGeom>
            <a:avLst/>
            <a:gdLst/>
            <a:ahLst/>
            <a:cxnLst/>
            <a:rect r="r" b="b" t="t" l="l"/>
            <a:pathLst>
              <a:path h="5636438" w="5636438">
                <a:moveTo>
                  <a:pt x="0" y="0"/>
                </a:moveTo>
                <a:lnTo>
                  <a:pt x="5636438" y="0"/>
                </a:lnTo>
                <a:lnTo>
                  <a:pt x="5636438" y="5636438"/>
                </a:lnTo>
                <a:lnTo>
                  <a:pt x="0" y="56364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7031459" y="4340826"/>
            <a:ext cx="10227841" cy="2743809"/>
          </a:xfrm>
          <a:prstGeom prst="rect">
            <a:avLst/>
          </a:prstGeom>
        </p:spPr>
        <p:txBody>
          <a:bodyPr anchor="t" rtlCol="false" tIns="0" lIns="0" bIns="0" rIns="0">
            <a:spAutoFit/>
          </a:bodyPr>
          <a:lstStyle/>
          <a:p>
            <a:pPr algn="ctr">
              <a:lnSpc>
                <a:spcPts val="7316"/>
              </a:lnSpc>
              <a:spcBef>
                <a:spcPct val="0"/>
              </a:spcBef>
            </a:pPr>
            <a:r>
              <a:rPr lang="en-US" sz="5226">
                <a:solidFill>
                  <a:srgbClr val="FF914D"/>
                </a:solidFill>
                <a:latin typeface="HK Modular"/>
                <a:ea typeface="HK Modular"/>
                <a:cs typeface="HK Modular"/>
                <a:sym typeface="HK Modular"/>
              </a:rPr>
              <a:t>LOS 10 PRINCIPIOS DE LA HEURISTICA DE NIELSEN</a:t>
            </a:r>
          </a:p>
        </p:txBody>
      </p:sp>
      <p:sp>
        <p:nvSpPr>
          <p:cNvPr name="Freeform 8" id="8"/>
          <p:cNvSpPr/>
          <p:nvPr/>
        </p:nvSpPr>
        <p:spPr>
          <a:xfrm flipH="false" flipV="false" rot="0">
            <a:off x="8179940" y="126016"/>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5"/>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474251" y="4547490"/>
            <a:ext cx="4108861" cy="4683352"/>
          </a:xfrm>
          <a:custGeom>
            <a:avLst/>
            <a:gdLst/>
            <a:ahLst/>
            <a:cxnLst/>
            <a:rect r="r" b="b" t="t" l="l"/>
            <a:pathLst>
              <a:path h="4683352" w="4108861">
                <a:moveTo>
                  <a:pt x="0" y="0"/>
                </a:moveTo>
                <a:lnTo>
                  <a:pt x="4108861" y="0"/>
                </a:lnTo>
                <a:lnTo>
                  <a:pt x="4108861" y="4683352"/>
                </a:lnTo>
                <a:lnTo>
                  <a:pt x="0" y="4683352"/>
                </a:lnTo>
                <a:lnTo>
                  <a:pt x="0" y="0"/>
                </a:lnTo>
                <a:close/>
              </a:path>
            </a:pathLst>
          </a:custGeom>
          <a:blipFill>
            <a:blip r:embed="rId3"/>
            <a:stretch>
              <a:fillRect l="0" t="0" r="0" b="0"/>
            </a:stretch>
          </a:blipFill>
        </p:spPr>
      </p:sp>
      <p:sp>
        <p:nvSpPr>
          <p:cNvPr name="TextBox 7" id="7"/>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FF914D"/>
                </a:solidFill>
                <a:latin typeface="HK Modular"/>
                <a:ea typeface="HK Modular"/>
                <a:cs typeface="HK Modular"/>
                <a:sym typeface="HK Modular"/>
              </a:rPr>
              <a:t>VISIBILIDAD DEL ESTADO DEL SISTEMA</a:t>
            </a:r>
          </a:p>
        </p:txBody>
      </p:sp>
      <p:sp>
        <p:nvSpPr>
          <p:cNvPr name="TextBox 8" id="8"/>
          <p:cNvSpPr txBox="true"/>
          <p:nvPr/>
        </p:nvSpPr>
        <p:spPr>
          <a:xfrm rot="0">
            <a:off x="1318684" y="7209195"/>
            <a:ext cx="7825316" cy="234242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El sistema siempre debe mantener informados a los usuarios (feedback) sobre lo que esta sucediendo en una accion, a traves de comentarios apropiados dentro de un tiempo razonable</a:t>
            </a:r>
          </a:p>
        </p:txBody>
      </p:sp>
      <p:sp>
        <p:nvSpPr>
          <p:cNvPr name="TextBox 9" id="9"/>
          <p:cNvSpPr txBox="true"/>
          <p:nvPr/>
        </p:nvSpPr>
        <p:spPr>
          <a:xfrm rot="0">
            <a:off x="12474251"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F800C0"/>
                </a:solidFill>
                <a:latin typeface="HK Modular"/>
                <a:ea typeface="HK Modular"/>
                <a:cs typeface="HK Modular"/>
                <a:sym typeface="HK Modular"/>
              </a:rPr>
              <a:t>EJEMPLO</a:t>
            </a:r>
          </a:p>
        </p:txBody>
      </p:sp>
      <p:sp>
        <p:nvSpPr>
          <p:cNvPr name="TextBox 10" id="10"/>
          <p:cNvSpPr txBox="true"/>
          <p:nvPr/>
        </p:nvSpPr>
        <p:spPr>
          <a:xfrm rot="0">
            <a:off x="599574" y="4080020"/>
            <a:ext cx="9263536" cy="280914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Imaginate rellenar un formulario pero no puedes diferenciar que campo del formulario estas rellenando, o tampoco puedes ver si funciono o no al no recibir un mensaje que te confirme la accion o el error, o peor, hay errores en el formulario y no te indican que campo o como solucionarlo</a:t>
            </a:r>
          </a:p>
        </p:txBody>
      </p:sp>
      <p:sp>
        <p:nvSpPr>
          <p:cNvPr name="Freeform 11" id="11"/>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457943" y="4432445"/>
            <a:ext cx="7413872" cy="4670739"/>
          </a:xfrm>
          <a:custGeom>
            <a:avLst/>
            <a:gdLst/>
            <a:ahLst/>
            <a:cxnLst/>
            <a:rect r="r" b="b" t="t" l="l"/>
            <a:pathLst>
              <a:path h="4670739" w="7413872">
                <a:moveTo>
                  <a:pt x="0" y="0"/>
                </a:moveTo>
                <a:lnTo>
                  <a:pt x="7413872" y="0"/>
                </a:lnTo>
                <a:lnTo>
                  <a:pt x="7413872" y="4670739"/>
                </a:lnTo>
                <a:lnTo>
                  <a:pt x="0" y="4670739"/>
                </a:lnTo>
                <a:lnTo>
                  <a:pt x="0" y="0"/>
                </a:lnTo>
                <a:close/>
              </a:path>
            </a:pathLst>
          </a:custGeom>
          <a:blipFill>
            <a:blip r:embed="rId3"/>
            <a:stretch>
              <a:fillRect l="0" t="0" r="0" b="0"/>
            </a:stretch>
          </a:blipFill>
        </p:spPr>
      </p:sp>
      <p:sp>
        <p:nvSpPr>
          <p:cNvPr name="TextBox 7" id="7"/>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FF914D"/>
                </a:solidFill>
                <a:latin typeface="HK Modular"/>
                <a:ea typeface="HK Modular"/>
                <a:cs typeface="HK Modular"/>
                <a:sym typeface="HK Modular"/>
              </a:rPr>
              <a:t>COINCIDENCIA ENTRE EL SISTEMA Y EL MUNDO REAL</a:t>
            </a:r>
          </a:p>
        </p:txBody>
      </p:sp>
      <p:sp>
        <p:nvSpPr>
          <p:cNvPr name="TextBox 8" id="8"/>
          <p:cNvSpPr txBox="true"/>
          <p:nvPr/>
        </p:nvSpPr>
        <p:spPr>
          <a:xfrm rot="0">
            <a:off x="1318684" y="7209195"/>
            <a:ext cx="7825316" cy="187569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El sistema siempre debe hablar el idioma de los usuarios, con palabras, frases y conecptos familiares para el, en lugar de terminos orientados al sistema</a:t>
            </a:r>
          </a:p>
        </p:txBody>
      </p:sp>
      <p:sp>
        <p:nvSpPr>
          <p:cNvPr name="TextBox 9" id="9"/>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F800C0"/>
                </a:solidFill>
                <a:latin typeface="HK Modular"/>
                <a:ea typeface="HK Modular"/>
                <a:cs typeface="HK Modular"/>
                <a:sym typeface="HK Modular"/>
              </a:rPr>
              <a:t>EJEMPLO</a:t>
            </a:r>
          </a:p>
        </p:txBody>
      </p:sp>
      <p:sp>
        <p:nvSpPr>
          <p:cNvPr name="TextBox 10" id="10"/>
          <p:cNvSpPr txBox="true"/>
          <p:nvPr/>
        </p:nvSpPr>
        <p:spPr>
          <a:xfrm rot="0">
            <a:off x="599574" y="4080020"/>
            <a:ext cx="9263536" cy="234242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Cuando estas trabajando en un producto muchos dias, se da por sentado muchas cosas de su integracion, y asumimos que el usuario tambien lo sabe, por lo que mostramos errores sin contexto o mostramos errores como 404</a:t>
            </a:r>
          </a:p>
        </p:txBody>
      </p:sp>
      <p:sp>
        <p:nvSpPr>
          <p:cNvPr name="Freeform 11" id="11"/>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790664" y="4518704"/>
            <a:ext cx="6468636" cy="3962040"/>
          </a:xfrm>
          <a:custGeom>
            <a:avLst/>
            <a:gdLst/>
            <a:ahLst/>
            <a:cxnLst/>
            <a:rect r="r" b="b" t="t" l="l"/>
            <a:pathLst>
              <a:path h="3962040" w="6468636">
                <a:moveTo>
                  <a:pt x="0" y="0"/>
                </a:moveTo>
                <a:lnTo>
                  <a:pt x="6468636" y="0"/>
                </a:lnTo>
                <a:lnTo>
                  <a:pt x="6468636" y="3962040"/>
                </a:lnTo>
                <a:lnTo>
                  <a:pt x="0" y="3962040"/>
                </a:lnTo>
                <a:lnTo>
                  <a:pt x="0" y="0"/>
                </a:lnTo>
                <a:close/>
              </a:path>
            </a:pathLst>
          </a:custGeom>
          <a:blipFill>
            <a:blip r:embed="rId3"/>
            <a:stretch>
              <a:fillRect l="0" t="0" r="0" b="0"/>
            </a:stretch>
          </a:blipFill>
        </p:spPr>
      </p:sp>
      <p:sp>
        <p:nvSpPr>
          <p:cNvPr name="TextBox 7" id="7"/>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FF914D"/>
                </a:solidFill>
                <a:latin typeface="HK Modular"/>
                <a:ea typeface="HK Modular"/>
                <a:cs typeface="HK Modular"/>
                <a:sym typeface="HK Modular"/>
              </a:rPr>
              <a:t>LIBERTAD Y CONTROL POR PARTE DEL USUARIO</a:t>
            </a:r>
          </a:p>
        </p:txBody>
      </p:sp>
      <p:sp>
        <p:nvSpPr>
          <p:cNvPr name="TextBox 8" id="8"/>
          <p:cNvSpPr txBox="true"/>
          <p:nvPr/>
        </p:nvSpPr>
        <p:spPr>
          <a:xfrm rot="0">
            <a:off x="994668" y="6462505"/>
            <a:ext cx="9463275" cy="2018239"/>
          </a:xfrm>
          <a:prstGeom prst="rect">
            <a:avLst/>
          </a:prstGeom>
        </p:spPr>
        <p:txBody>
          <a:bodyPr anchor="t" rtlCol="false" tIns="0" lIns="0" bIns="0" rIns="0">
            <a:spAutoFit/>
          </a:bodyPr>
          <a:lstStyle/>
          <a:p>
            <a:pPr algn="ctr">
              <a:lnSpc>
                <a:spcPts val="3199"/>
              </a:lnSpc>
            </a:pPr>
            <a:r>
              <a:rPr lang="en-US" sz="2285">
                <a:solidFill>
                  <a:srgbClr val="FFFFFF"/>
                </a:solidFill>
                <a:latin typeface="Poppins"/>
                <a:ea typeface="Poppins"/>
                <a:cs typeface="Poppins"/>
                <a:sym typeface="Poppins"/>
              </a:rPr>
              <a:t>Hay ocasiones en que los usuarios elegiran las funciones del sistema por error y necesitaran una salida de emergencia, claramente marcada para dejar el estado no deseado al que accedieron, sin tener que pasar por una serie de pasos.</a:t>
            </a:r>
          </a:p>
          <a:p>
            <a:pPr algn="ctr">
              <a:lnSpc>
                <a:spcPts val="3199"/>
              </a:lnSpc>
            </a:pPr>
            <a:r>
              <a:rPr lang="en-US" sz="2285">
                <a:solidFill>
                  <a:srgbClr val="FFFFFF"/>
                </a:solidFill>
                <a:latin typeface="Poppins"/>
                <a:ea typeface="Poppins"/>
                <a:cs typeface="Poppins"/>
                <a:sym typeface="Poppins"/>
              </a:rPr>
              <a:t>Se deben apotar las funciones de deshacer y rehacer.</a:t>
            </a:r>
          </a:p>
        </p:txBody>
      </p:sp>
      <p:sp>
        <p:nvSpPr>
          <p:cNvPr name="TextBox 9" id="9"/>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F800C0"/>
                </a:solidFill>
                <a:latin typeface="HK Modular"/>
                <a:ea typeface="HK Modular"/>
                <a:cs typeface="HK Modular"/>
                <a:sym typeface="HK Modular"/>
              </a:rPr>
              <a:t>EJEMPLO</a:t>
            </a:r>
          </a:p>
        </p:txBody>
      </p:sp>
      <p:sp>
        <p:nvSpPr>
          <p:cNvPr name="TextBox 10" id="10"/>
          <p:cNvSpPr txBox="true"/>
          <p:nvPr/>
        </p:nvSpPr>
        <p:spPr>
          <a:xfrm rot="0">
            <a:off x="994668" y="4264328"/>
            <a:ext cx="9253367" cy="1691670"/>
          </a:xfrm>
          <a:prstGeom prst="rect">
            <a:avLst/>
          </a:prstGeom>
        </p:spPr>
        <p:txBody>
          <a:bodyPr anchor="t" rtlCol="false" tIns="0" lIns="0" bIns="0" rIns="0">
            <a:spAutoFit/>
          </a:bodyPr>
          <a:lstStyle/>
          <a:p>
            <a:pPr algn="ctr">
              <a:lnSpc>
                <a:spcPts val="3355"/>
              </a:lnSpc>
              <a:spcBef>
                <a:spcPct val="0"/>
              </a:spcBef>
            </a:pPr>
            <a:r>
              <a:rPr lang="en-US" sz="2396">
                <a:solidFill>
                  <a:srgbClr val="FFFFFF"/>
                </a:solidFill>
                <a:latin typeface="Poppins"/>
                <a:ea typeface="Poppins"/>
                <a:cs typeface="Poppins"/>
                <a:sym typeface="Poppins"/>
              </a:rPr>
              <a:t>Esta regla habla de darle al usuario el control y la libertad de realizar las acciones que desee… e incluso de darle la capacidad de deshacer acciones que puede haber tomado por error.</a:t>
            </a:r>
          </a:p>
        </p:txBody>
      </p:sp>
      <p:sp>
        <p:nvSpPr>
          <p:cNvPr name="Freeform 11" id="11"/>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020332" y="5569428"/>
            <a:ext cx="5238968" cy="3208868"/>
          </a:xfrm>
          <a:custGeom>
            <a:avLst/>
            <a:gdLst/>
            <a:ahLst/>
            <a:cxnLst/>
            <a:rect r="r" b="b" t="t" l="l"/>
            <a:pathLst>
              <a:path h="3208868" w="5238968">
                <a:moveTo>
                  <a:pt x="0" y="0"/>
                </a:moveTo>
                <a:lnTo>
                  <a:pt x="5238968" y="0"/>
                </a:lnTo>
                <a:lnTo>
                  <a:pt x="5238968" y="3208868"/>
                </a:lnTo>
                <a:lnTo>
                  <a:pt x="0" y="3208868"/>
                </a:lnTo>
                <a:lnTo>
                  <a:pt x="0" y="0"/>
                </a:lnTo>
                <a:close/>
              </a:path>
            </a:pathLst>
          </a:custGeom>
          <a:blipFill>
            <a:blip r:embed="rId3"/>
            <a:stretch>
              <a:fillRect l="0" t="0" r="0" b="0"/>
            </a:stretch>
          </a:blipFill>
        </p:spPr>
      </p:sp>
      <p:sp>
        <p:nvSpPr>
          <p:cNvPr name="TextBox 7" id="7"/>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FF914D"/>
                </a:solidFill>
                <a:latin typeface="HK Modular"/>
                <a:ea typeface="HK Modular"/>
                <a:cs typeface="HK Modular"/>
                <a:sym typeface="HK Modular"/>
              </a:rPr>
              <a:t>CONSISTENCIA Y ESTANDARES</a:t>
            </a:r>
          </a:p>
        </p:txBody>
      </p:sp>
      <p:sp>
        <p:nvSpPr>
          <p:cNvPr name="TextBox 8" id="8"/>
          <p:cNvSpPr txBox="true"/>
          <p:nvPr/>
        </p:nvSpPr>
        <p:spPr>
          <a:xfrm rot="0">
            <a:off x="1882140" y="6449154"/>
            <a:ext cx="7825316" cy="280914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Las personas ya tienen experiencia con otros productos, como por ejemplo un like es un pulgar hacia arriba o favoritos es una estrella, cambiar ciertos elementos ya establecidos obligara a los usuarios a aprender algo nuevo, eso debe evitarse</a:t>
            </a:r>
          </a:p>
        </p:txBody>
      </p:sp>
      <p:sp>
        <p:nvSpPr>
          <p:cNvPr name="TextBox 9" id="9"/>
          <p:cNvSpPr txBox="true"/>
          <p:nvPr/>
        </p:nvSpPr>
        <p:spPr>
          <a:xfrm rot="0">
            <a:off x="12425225" y="4214659"/>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F800C0"/>
                </a:solidFill>
                <a:latin typeface="HK Modular"/>
                <a:ea typeface="HK Modular"/>
                <a:cs typeface="HK Modular"/>
                <a:sym typeface="HK Modular"/>
              </a:rPr>
              <a:t>EJEMPLO</a:t>
            </a:r>
          </a:p>
        </p:txBody>
      </p:sp>
      <p:sp>
        <p:nvSpPr>
          <p:cNvPr name="TextBox 10" id="10"/>
          <p:cNvSpPr txBox="true"/>
          <p:nvPr/>
        </p:nvSpPr>
        <p:spPr>
          <a:xfrm rot="0">
            <a:off x="1028700" y="3951432"/>
            <a:ext cx="10097072" cy="1825853"/>
          </a:xfrm>
          <a:prstGeom prst="rect">
            <a:avLst/>
          </a:prstGeom>
        </p:spPr>
        <p:txBody>
          <a:bodyPr anchor="t" rtlCol="false" tIns="0" lIns="0" bIns="0" rIns="0">
            <a:spAutoFit/>
          </a:bodyPr>
          <a:lstStyle/>
          <a:p>
            <a:pPr algn="ctr">
              <a:lnSpc>
                <a:spcPts val="3632"/>
              </a:lnSpc>
              <a:spcBef>
                <a:spcPct val="0"/>
              </a:spcBef>
            </a:pPr>
            <a:r>
              <a:rPr lang="en-US" sz="2594">
                <a:solidFill>
                  <a:srgbClr val="FFFFFF"/>
                </a:solidFill>
                <a:latin typeface="Poppins"/>
                <a:ea typeface="Poppins"/>
                <a:cs typeface="Poppins"/>
                <a:sym typeface="Poppins"/>
              </a:rPr>
              <a:t>Los usuarios no deben verse obligados si diferentes palabras, situaciones o acciones significan lo mismo. Se debe seguir las convenciones establecidas en la plataforma y la industria.</a:t>
            </a:r>
          </a:p>
        </p:txBody>
      </p:sp>
      <p:sp>
        <p:nvSpPr>
          <p:cNvPr name="Freeform 11" id="11"/>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165764" y="4449131"/>
            <a:ext cx="7464024" cy="5234147"/>
          </a:xfrm>
          <a:custGeom>
            <a:avLst/>
            <a:gdLst/>
            <a:ahLst/>
            <a:cxnLst/>
            <a:rect r="r" b="b" t="t" l="l"/>
            <a:pathLst>
              <a:path h="5234147" w="7464024">
                <a:moveTo>
                  <a:pt x="0" y="0"/>
                </a:moveTo>
                <a:lnTo>
                  <a:pt x="7464024" y="0"/>
                </a:lnTo>
                <a:lnTo>
                  <a:pt x="7464024" y="5234147"/>
                </a:lnTo>
                <a:lnTo>
                  <a:pt x="0" y="5234147"/>
                </a:lnTo>
                <a:lnTo>
                  <a:pt x="0" y="0"/>
                </a:lnTo>
                <a:close/>
              </a:path>
            </a:pathLst>
          </a:custGeom>
          <a:blipFill>
            <a:blip r:embed="rId3"/>
            <a:stretch>
              <a:fillRect l="0" t="0" r="0" b="0"/>
            </a:stretch>
          </a:blipFill>
        </p:spPr>
      </p:sp>
      <p:sp>
        <p:nvSpPr>
          <p:cNvPr name="TextBox 7" id="7"/>
          <p:cNvSpPr txBox="true"/>
          <p:nvPr/>
        </p:nvSpPr>
        <p:spPr>
          <a:xfrm rot="0">
            <a:off x="4010530" y="1878351"/>
            <a:ext cx="9618910" cy="683037"/>
          </a:xfrm>
          <a:prstGeom prst="rect">
            <a:avLst/>
          </a:prstGeom>
        </p:spPr>
        <p:txBody>
          <a:bodyPr anchor="t" rtlCol="false" tIns="0" lIns="0" bIns="0" rIns="0">
            <a:spAutoFit/>
          </a:bodyPr>
          <a:lstStyle/>
          <a:p>
            <a:pPr algn="ctr">
              <a:lnSpc>
                <a:spcPts val="5611"/>
              </a:lnSpc>
              <a:spcBef>
                <a:spcPct val="0"/>
              </a:spcBef>
            </a:pPr>
            <a:r>
              <a:rPr lang="en-US" sz="4008">
                <a:solidFill>
                  <a:srgbClr val="FF914D"/>
                </a:solidFill>
                <a:latin typeface="HK Modular"/>
                <a:ea typeface="HK Modular"/>
                <a:cs typeface="HK Modular"/>
                <a:sym typeface="HK Modular"/>
              </a:rPr>
              <a:t>PREVENCION DE ERRORES</a:t>
            </a:r>
          </a:p>
        </p:txBody>
      </p:sp>
      <p:sp>
        <p:nvSpPr>
          <p:cNvPr name="TextBox 8" id="8"/>
          <p:cNvSpPr txBox="true"/>
          <p:nvPr/>
        </p:nvSpPr>
        <p:spPr>
          <a:xfrm rot="0">
            <a:off x="1428051" y="3473183"/>
            <a:ext cx="7825316" cy="187569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Como su nombre lo indica, mucho mejor que un buen diseño de mensajes de error es realizar un diseño cuidadoso que prevenga la ocurrencia de problemas</a:t>
            </a:r>
          </a:p>
        </p:txBody>
      </p:sp>
      <p:sp>
        <p:nvSpPr>
          <p:cNvPr name="TextBox 9" id="9"/>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F800C0"/>
                </a:solidFill>
                <a:latin typeface="HK Modular"/>
                <a:ea typeface="HK Modular"/>
                <a:cs typeface="HK Modular"/>
                <a:sym typeface="HK Modular"/>
              </a:rPr>
              <a:t>EJEMPLO</a:t>
            </a:r>
          </a:p>
        </p:txBody>
      </p:sp>
      <p:sp>
        <p:nvSpPr>
          <p:cNvPr name="TextBox 10" id="10"/>
          <p:cNvSpPr txBox="true"/>
          <p:nvPr/>
        </p:nvSpPr>
        <p:spPr>
          <a:xfrm rot="0">
            <a:off x="1428051" y="5968375"/>
            <a:ext cx="7825316" cy="327587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Los buenos mensajes de error son importantes. Pero mejor aún, es crear un diseño que evite que los errores ocurran.</a:t>
            </a:r>
          </a:p>
          <a:p>
            <a:pPr algn="ctr">
              <a:lnSpc>
                <a:spcPts val="3715"/>
              </a:lnSpc>
            </a:pPr>
            <a:r>
              <a:rPr lang="en-US" sz="2653">
                <a:solidFill>
                  <a:srgbClr val="FFFFFF"/>
                </a:solidFill>
                <a:latin typeface="Poppins"/>
                <a:ea typeface="Poppins"/>
                <a:cs typeface="Poppins"/>
                <a:sym typeface="Poppins"/>
              </a:rPr>
              <a:t>No esperes que los usuarios se equivoquen, agrega elementos que lo ayuden a prevenir los errores.</a:t>
            </a:r>
          </a:p>
          <a:p>
            <a:pPr algn="ctr">
              <a:lnSpc>
                <a:spcPts val="3715"/>
              </a:lnSpc>
            </a:pPr>
          </a:p>
        </p:txBody>
      </p:sp>
      <p:sp>
        <p:nvSpPr>
          <p:cNvPr name="Freeform 11" id="11"/>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188827" y="4698666"/>
            <a:ext cx="7429909" cy="4207186"/>
          </a:xfrm>
          <a:custGeom>
            <a:avLst/>
            <a:gdLst/>
            <a:ahLst/>
            <a:cxnLst/>
            <a:rect r="r" b="b" t="t" l="l"/>
            <a:pathLst>
              <a:path h="4207186" w="7429909">
                <a:moveTo>
                  <a:pt x="0" y="0"/>
                </a:moveTo>
                <a:lnTo>
                  <a:pt x="7429909" y="0"/>
                </a:lnTo>
                <a:lnTo>
                  <a:pt x="7429909" y="4207186"/>
                </a:lnTo>
                <a:lnTo>
                  <a:pt x="0" y="4207186"/>
                </a:lnTo>
                <a:lnTo>
                  <a:pt x="0" y="0"/>
                </a:lnTo>
                <a:close/>
              </a:path>
            </a:pathLst>
          </a:custGeom>
          <a:blipFill>
            <a:blip r:embed="rId3"/>
            <a:stretch>
              <a:fillRect l="0" t="0" r="0" b="0"/>
            </a:stretch>
          </a:blipFill>
        </p:spPr>
      </p:sp>
      <p:sp>
        <p:nvSpPr>
          <p:cNvPr name="TextBox 7" id="7"/>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FF914D"/>
                </a:solidFill>
                <a:latin typeface="HK Modular"/>
                <a:ea typeface="HK Modular"/>
                <a:cs typeface="HK Modular"/>
                <a:sym typeface="HK Modular"/>
              </a:rPr>
              <a:t>RECONOCIMIENTO ANTES QUE RECUERDO</a:t>
            </a:r>
          </a:p>
        </p:txBody>
      </p:sp>
      <p:sp>
        <p:nvSpPr>
          <p:cNvPr name="TextBox 8" id="8"/>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F800C0"/>
                </a:solidFill>
                <a:latin typeface="HK Modular"/>
                <a:ea typeface="HK Modular"/>
                <a:cs typeface="HK Modular"/>
                <a:sym typeface="HK Modular"/>
              </a:rPr>
              <a:t>EJEMPLO</a:t>
            </a:r>
          </a:p>
        </p:txBody>
      </p:sp>
      <p:sp>
        <p:nvSpPr>
          <p:cNvPr name="TextBox 9" id="9"/>
          <p:cNvSpPr txBox="true"/>
          <p:nvPr/>
        </p:nvSpPr>
        <p:spPr>
          <a:xfrm rot="0">
            <a:off x="1973572" y="3786126"/>
            <a:ext cx="7170428" cy="5564559"/>
          </a:xfrm>
          <a:prstGeom prst="rect">
            <a:avLst/>
          </a:prstGeom>
        </p:spPr>
        <p:txBody>
          <a:bodyPr anchor="t" rtlCol="false" tIns="0" lIns="0" bIns="0" rIns="0">
            <a:spAutoFit/>
          </a:bodyPr>
          <a:lstStyle/>
          <a:p>
            <a:pPr algn="ctr">
              <a:lnSpc>
                <a:spcPts val="3655"/>
              </a:lnSpc>
              <a:spcBef>
                <a:spcPct val="0"/>
              </a:spcBef>
            </a:pPr>
            <a:r>
              <a:rPr lang="en-US" sz="2611">
                <a:solidFill>
                  <a:srgbClr val="FFFFFF"/>
                </a:solidFill>
                <a:latin typeface="Poppins"/>
                <a:ea typeface="Poppins"/>
                <a:cs typeface="Poppins"/>
                <a:sym typeface="Poppins"/>
              </a:rPr>
              <a:t>Minimizar el uso de memoria del usuario haciendo visibles los elementos, las acciones y las opciones.</a:t>
            </a:r>
          </a:p>
          <a:p>
            <a:pPr algn="ctr">
              <a:lnSpc>
                <a:spcPts val="3655"/>
              </a:lnSpc>
              <a:spcBef>
                <a:spcPct val="0"/>
              </a:spcBef>
            </a:pPr>
            <a:r>
              <a:rPr lang="en-US" sz="2611">
                <a:solidFill>
                  <a:srgbClr val="FFFFFF"/>
                </a:solidFill>
                <a:latin typeface="Poppins"/>
                <a:ea typeface="Poppins"/>
                <a:cs typeface="Poppins"/>
                <a:sym typeface="Poppins"/>
              </a:rPr>
              <a:t>Las interfaces deben promover el reconocimiento y evitar que los usuarios memoricen sus acciones o elementos al desplazarse por el sistema. Algunas preguntas que te pueden ayudar son: ¿Conoce el usuario de donde viene y a donde va? ¿El usuario tiene que recordar cosas para entender lo que esta pasando? y ¿cómo lo ayudamos a recodar?</a:t>
            </a:r>
          </a:p>
        </p:txBody>
      </p:sp>
      <p:sp>
        <p:nvSpPr>
          <p:cNvPr name="Freeform 10" id="10"/>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239183" y="4674247"/>
            <a:ext cx="7786078" cy="4584053"/>
          </a:xfrm>
          <a:custGeom>
            <a:avLst/>
            <a:gdLst/>
            <a:ahLst/>
            <a:cxnLst/>
            <a:rect r="r" b="b" t="t" l="l"/>
            <a:pathLst>
              <a:path h="4584053" w="7786078">
                <a:moveTo>
                  <a:pt x="0" y="0"/>
                </a:moveTo>
                <a:lnTo>
                  <a:pt x="7786078" y="0"/>
                </a:lnTo>
                <a:lnTo>
                  <a:pt x="7786078" y="4584053"/>
                </a:lnTo>
                <a:lnTo>
                  <a:pt x="0" y="4584053"/>
                </a:lnTo>
                <a:lnTo>
                  <a:pt x="0" y="0"/>
                </a:lnTo>
                <a:close/>
              </a:path>
            </a:pathLst>
          </a:custGeom>
          <a:blipFill>
            <a:blip r:embed="rId3"/>
            <a:stretch>
              <a:fillRect l="0" t="0" r="0" b="0"/>
            </a:stretch>
          </a:blipFill>
        </p:spPr>
      </p:sp>
      <p:sp>
        <p:nvSpPr>
          <p:cNvPr name="TextBox 7" id="7"/>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FF914D"/>
                </a:solidFill>
                <a:latin typeface="HK Modular"/>
                <a:ea typeface="HK Modular"/>
                <a:cs typeface="HK Modular"/>
                <a:sym typeface="HK Modular"/>
              </a:rPr>
              <a:t>FLEXIBILIDAD Y EFICIENCIA DE USO</a:t>
            </a:r>
          </a:p>
        </p:txBody>
      </p:sp>
      <p:sp>
        <p:nvSpPr>
          <p:cNvPr name="TextBox 8" id="8"/>
          <p:cNvSpPr txBox="true"/>
          <p:nvPr/>
        </p:nvSpPr>
        <p:spPr>
          <a:xfrm rot="0">
            <a:off x="1428051" y="4080020"/>
            <a:ext cx="7825316" cy="420932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Los usuarios más experimentados, deben poseer atajos y aceleradores para poder realizar sus operaciones mas habituales. De esta forma, tiene alternativas para personalizar sus acciones frecuentes.</a:t>
            </a:r>
          </a:p>
          <a:p>
            <a:pPr algn="ctr">
              <a:lnSpc>
                <a:spcPts val="3715"/>
              </a:lnSpc>
            </a:pPr>
            <a:r>
              <a:rPr lang="en-US" sz="2653">
                <a:solidFill>
                  <a:srgbClr val="FFFFFF"/>
                </a:solidFill>
                <a:latin typeface="Poppins"/>
                <a:ea typeface="Poppins"/>
                <a:cs typeface="Poppins"/>
                <a:sym typeface="Poppins"/>
              </a:rPr>
              <a:t>La clave es la personalización tanto del contenido como de la funcionalidad para cada usuario.</a:t>
            </a:r>
          </a:p>
          <a:p>
            <a:pPr algn="ctr">
              <a:lnSpc>
                <a:spcPts val="3715"/>
              </a:lnSpc>
            </a:pPr>
          </a:p>
        </p:txBody>
      </p:sp>
      <p:sp>
        <p:nvSpPr>
          <p:cNvPr name="TextBox 9" id="9"/>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F800C0"/>
                </a:solidFill>
                <a:latin typeface="HK Modular"/>
                <a:ea typeface="HK Modular"/>
                <a:cs typeface="HK Modular"/>
                <a:sym typeface="HK Modular"/>
              </a:rPr>
              <a:t>EJEMPLO</a:t>
            </a:r>
          </a:p>
        </p:txBody>
      </p:sp>
      <p:sp>
        <p:nvSpPr>
          <p:cNvPr name="Freeform 10" id="10"/>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869322" y="4527425"/>
            <a:ext cx="7933616" cy="4175066"/>
          </a:xfrm>
          <a:custGeom>
            <a:avLst/>
            <a:gdLst/>
            <a:ahLst/>
            <a:cxnLst/>
            <a:rect r="r" b="b" t="t" l="l"/>
            <a:pathLst>
              <a:path h="4175066" w="7933616">
                <a:moveTo>
                  <a:pt x="0" y="0"/>
                </a:moveTo>
                <a:lnTo>
                  <a:pt x="7933617" y="0"/>
                </a:lnTo>
                <a:lnTo>
                  <a:pt x="7933617" y="4175066"/>
                </a:lnTo>
                <a:lnTo>
                  <a:pt x="0" y="4175066"/>
                </a:lnTo>
                <a:lnTo>
                  <a:pt x="0" y="0"/>
                </a:lnTo>
                <a:close/>
              </a:path>
            </a:pathLst>
          </a:custGeom>
          <a:blipFill>
            <a:blip r:embed="rId3"/>
            <a:stretch>
              <a:fillRect l="0" t="0" r="0" b="0"/>
            </a:stretch>
          </a:blipFill>
        </p:spPr>
      </p:sp>
      <p:sp>
        <p:nvSpPr>
          <p:cNvPr name="TextBox 7" id="7"/>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FF914D"/>
                </a:solidFill>
                <a:latin typeface="HK Modular"/>
                <a:ea typeface="HK Modular"/>
                <a:cs typeface="HK Modular"/>
                <a:sym typeface="HK Modular"/>
              </a:rPr>
              <a:t>ESTETICA Y DISEÑO MINIMALISTA</a:t>
            </a:r>
          </a:p>
        </p:txBody>
      </p:sp>
      <p:sp>
        <p:nvSpPr>
          <p:cNvPr name="TextBox 8" id="8"/>
          <p:cNvSpPr txBox="true"/>
          <p:nvPr/>
        </p:nvSpPr>
        <p:spPr>
          <a:xfrm rot="0">
            <a:off x="1428051" y="4451225"/>
            <a:ext cx="7825316" cy="420932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El “diseño minimalista” no es solo una moda. Además, no se refiere exclusivamente a la estética flat, sino a no añadir más información de la estrictamente necesaria.</a:t>
            </a:r>
          </a:p>
          <a:p>
            <a:pPr algn="ctr">
              <a:lnSpc>
                <a:spcPts val="3715"/>
              </a:lnSpc>
            </a:pPr>
            <a:r>
              <a:rPr lang="en-US" sz="2653">
                <a:solidFill>
                  <a:srgbClr val="FFFFFF"/>
                </a:solidFill>
                <a:latin typeface="Poppins"/>
                <a:ea typeface="Poppins"/>
                <a:cs typeface="Poppins"/>
                <a:sym typeface="Poppins"/>
              </a:rPr>
              <a:t>Para lograrlo, pregúntate si toda la información que muestras en la interfaz es necesaria y útil en ese momento exacto. Si no lo es, ocúltala o quítala.</a:t>
            </a:r>
          </a:p>
          <a:p>
            <a:pPr algn="ctr">
              <a:lnSpc>
                <a:spcPts val="3715"/>
              </a:lnSpc>
            </a:pPr>
          </a:p>
        </p:txBody>
      </p:sp>
      <p:sp>
        <p:nvSpPr>
          <p:cNvPr name="TextBox 9" id="9"/>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F800C0"/>
                </a:solidFill>
                <a:latin typeface="HK Modular"/>
                <a:ea typeface="HK Modular"/>
                <a:cs typeface="HK Modular"/>
                <a:sym typeface="HK Modular"/>
              </a:rPr>
              <a:t>EJEMPLO</a:t>
            </a:r>
          </a:p>
        </p:txBody>
      </p:sp>
      <p:sp>
        <p:nvSpPr>
          <p:cNvPr name="Freeform 10" id="10"/>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935125" y="4445837"/>
            <a:ext cx="6459509" cy="4812463"/>
          </a:xfrm>
          <a:custGeom>
            <a:avLst/>
            <a:gdLst/>
            <a:ahLst/>
            <a:cxnLst/>
            <a:rect r="r" b="b" t="t" l="l"/>
            <a:pathLst>
              <a:path h="4812463" w="6459509">
                <a:moveTo>
                  <a:pt x="0" y="0"/>
                </a:moveTo>
                <a:lnTo>
                  <a:pt x="6459509" y="0"/>
                </a:lnTo>
                <a:lnTo>
                  <a:pt x="6459509" y="4812463"/>
                </a:lnTo>
                <a:lnTo>
                  <a:pt x="0" y="4812463"/>
                </a:lnTo>
                <a:lnTo>
                  <a:pt x="0" y="0"/>
                </a:lnTo>
                <a:close/>
              </a:path>
            </a:pathLst>
          </a:custGeom>
          <a:blipFill>
            <a:blip r:embed="rId3"/>
            <a:stretch>
              <a:fillRect l="0" t="0" r="0" b="0"/>
            </a:stretch>
          </a:blipFill>
        </p:spPr>
      </p:sp>
      <p:sp>
        <p:nvSpPr>
          <p:cNvPr name="TextBox 7" id="7"/>
          <p:cNvSpPr txBox="true"/>
          <p:nvPr/>
        </p:nvSpPr>
        <p:spPr>
          <a:xfrm rot="0">
            <a:off x="4010530" y="1878351"/>
            <a:ext cx="9618910" cy="1391686"/>
          </a:xfrm>
          <a:prstGeom prst="rect">
            <a:avLst/>
          </a:prstGeom>
        </p:spPr>
        <p:txBody>
          <a:bodyPr anchor="t" rtlCol="false" tIns="0" lIns="0" bIns="0" rIns="0">
            <a:spAutoFit/>
          </a:bodyPr>
          <a:lstStyle/>
          <a:p>
            <a:pPr algn="ctr">
              <a:lnSpc>
                <a:spcPts val="5611"/>
              </a:lnSpc>
              <a:spcBef>
                <a:spcPct val="0"/>
              </a:spcBef>
            </a:pPr>
            <a:r>
              <a:rPr lang="en-US" sz="4008">
                <a:solidFill>
                  <a:srgbClr val="FF914D"/>
                </a:solidFill>
                <a:latin typeface="HK Modular"/>
                <a:ea typeface="HK Modular"/>
                <a:cs typeface="HK Modular"/>
                <a:sym typeface="HK Modular"/>
              </a:rPr>
              <a:t>AYUDAR A LOS USUARIOS A RECONOCER</a:t>
            </a:r>
          </a:p>
        </p:txBody>
      </p:sp>
      <p:sp>
        <p:nvSpPr>
          <p:cNvPr name="TextBox 8" id="8"/>
          <p:cNvSpPr txBox="true"/>
          <p:nvPr/>
        </p:nvSpPr>
        <p:spPr>
          <a:xfrm rot="0">
            <a:off x="1318684" y="3776601"/>
            <a:ext cx="7825316" cy="187569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Los mensajes de error deben expresarse en un lenguaje entendible, sin códigos de error. Se debe describir con precisión el problema y sugerir constructivamente una solución.</a:t>
            </a:r>
          </a:p>
        </p:txBody>
      </p:sp>
      <p:sp>
        <p:nvSpPr>
          <p:cNvPr name="TextBox 9" id="9"/>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F800C0"/>
                </a:solidFill>
                <a:latin typeface="HK Modular"/>
                <a:ea typeface="HK Modular"/>
                <a:cs typeface="HK Modular"/>
                <a:sym typeface="HK Modular"/>
              </a:rPr>
              <a:t>EJEMPLO</a:t>
            </a:r>
          </a:p>
        </p:txBody>
      </p:sp>
      <p:sp>
        <p:nvSpPr>
          <p:cNvPr name="TextBox 10" id="10"/>
          <p:cNvSpPr txBox="true"/>
          <p:nvPr/>
        </p:nvSpPr>
        <p:spPr>
          <a:xfrm rot="0">
            <a:off x="1428051" y="6529014"/>
            <a:ext cx="7825316" cy="3275871"/>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Permite que el usuario comprenda qué está pasando y cómo solucionarlo. Un mal ejemplo de cómo hacer esto es el clásico “se ha producido un error con el usuario o la contraseña”: es lo mismo que no decir nada, porque ni siquiera permite al usuario ver en qué se está equivocando.</a:t>
            </a:r>
          </a:p>
        </p:txBody>
      </p:sp>
      <p:sp>
        <p:nvSpPr>
          <p:cNvPr name="Freeform 11" id="11"/>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164081" y="4742469"/>
            <a:ext cx="6001598" cy="4238628"/>
          </a:xfrm>
          <a:custGeom>
            <a:avLst/>
            <a:gdLst/>
            <a:ahLst/>
            <a:cxnLst/>
            <a:rect r="r" b="b" t="t" l="l"/>
            <a:pathLst>
              <a:path h="4238628" w="6001598">
                <a:moveTo>
                  <a:pt x="0" y="0"/>
                </a:moveTo>
                <a:lnTo>
                  <a:pt x="6001597" y="0"/>
                </a:lnTo>
                <a:lnTo>
                  <a:pt x="6001597" y="4238628"/>
                </a:lnTo>
                <a:lnTo>
                  <a:pt x="0" y="4238628"/>
                </a:lnTo>
                <a:lnTo>
                  <a:pt x="0" y="0"/>
                </a:lnTo>
                <a:close/>
              </a:path>
            </a:pathLst>
          </a:custGeom>
          <a:blipFill>
            <a:blip r:embed="rId3"/>
            <a:stretch>
              <a:fillRect l="0" t="0" r="0" b="0"/>
            </a:stretch>
          </a:blipFill>
        </p:spPr>
      </p:sp>
      <p:sp>
        <p:nvSpPr>
          <p:cNvPr name="TextBox 7" id="7"/>
          <p:cNvSpPr txBox="true"/>
          <p:nvPr/>
        </p:nvSpPr>
        <p:spPr>
          <a:xfrm rot="0">
            <a:off x="4010530" y="1878351"/>
            <a:ext cx="9618910" cy="683037"/>
          </a:xfrm>
          <a:prstGeom prst="rect">
            <a:avLst/>
          </a:prstGeom>
        </p:spPr>
        <p:txBody>
          <a:bodyPr anchor="t" rtlCol="false" tIns="0" lIns="0" bIns="0" rIns="0">
            <a:spAutoFit/>
          </a:bodyPr>
          <a:lstStyle/>
          <a:p>
            <a:pPr algn="ctr">
              <a:lnSpc>
                <a:spcPts val="5611"/>
              </a:lnSpc>
              <a:spcBef>
                <a:spcPct val="0"/>
              </a:spcBef>
            </a:pPr>
            <a:r>
              <a:rPr lang="en-US" sz="4008">
                <a:solidFill>
                  <a:srgbClr val="FF914D"/>
                </a:solidFill>
                <a:latin typeface="HK Modular"/>
                <a:ea typeface="HK Modular"/>
                <a:cs typeface="HK Modular"/>
                <a:sym typeface="HK Modular"/>
              </a:rPr>
              <a:t>AYUDA Y DOCUMENTACION</a:t>
            </a:r>
          </a:p>
        </p:txBody>
      </p:sp>
      <p:sp>
        <p:nvSpPr>
          <p:cNvPr name="TextBox 8" id="8"/>
          <p:cNvSpPr txBox="true"/>
          <p:nvPr/>
        </p:nvSpPr>
        <p:spPr>
          <a:xfrm rot="0">
            <a:off x="1852484" y="3776601"/>
            <a:ext cx="7825316" cy="4676046"/>
          </a:xfrm>
          <a:prstGeom prst="rect">
            <a:avLst/>
          </a:prstGeom>
        </p:spPr>
        <p:txBody>
          <a:bodyPr anchor="t" rtlCol="false" tIns="0" lIns="0" bIns="0" rIns="0">
            <a:spAutoFit/>
          </a:bodyPr>
          <a:lstStyle/>
          <a:p>
            <a:pPr algn="ctr">
              <a:lnSpc>
                <a:spcPts val="3715"/>
              </a:lnSpc>
            </a:pPr>
            <a:r>
              <a:rPr lang="en-US" sz="2653">
                <a:solidFill>
                  <a:srgbClr val="FFFFFF"/>
                </a:solidFill>
                <a:latin typeface="Poppins"/>
                <a:ea typeface="Poppins"/>
                <a:cs typeface="Poppins"/>
                <a:sym typeface="Poppins"/>
              </a:rPr>
              <a:t>Lo ideal es que un sistema no necesite ninguna explicación adicional. Pero en algunos casos, se debe proporcionar una documentación para ayudar a los usuarios a entender cómo completar sus tareas.</a:t>
            </a:r>
          </a:p>
          <a:p>
            <a:pPr algn="ctr">
              <a:lnSpc>
                <a:spcPts val="3715"/>
              </a:lnSpc>
            </a:pPr>
            <a:r>
              <a:rPr lang="en-US" sz="2653">
                <a:solidFill>
                  <a:srgbClr val="FFFFFF"/>
                </a:solidFill>
                <a:latin typeface="Poppins"/>
                <a:ea typeface="Poppins"/>
                <a:cs typeface="Poppins"/>
                <a:sym typeface="Poppins"/>
              </a:rPr>
              <a:t>El contenido de ayuda y documentación deben ser fáciles de encontrar y tener pasos definidos de manera concisa (es decir, corto no extenso).</a:t>
            </a:r>
          </a:p>
          <a:p>
            <a:pPr algn="ctr">
              <a:lnSpc>
                <a:spcPts val="3715"/>
              </a:lnSpc>
            </a:pPr>
          </a:p>
        </p:txBody>
      </p:sp>
      <p:sp>
        <p:nvSpPr>
          <p:cNvPr name="TextBox 9" id="9"/>
          <p:cNvSpPr txBox="true"/>
          <p:nvPr/>
        </p:nvSpPr>
        <p:spPr>
          <a:xfrm rot="0">
            <a:off x="11950289" y="3473183"/>
            <a:ext cx="4429182" cy="683037"/>
          </a:xfrm>
          <a:prstGeom prst="rect">
            <a:avLst/>
          </a:prstGeom>
        </p:spPr>
        <p:txBody>
          <a:bodyPr anchor="t" rtlCol="false" tIns="0" lIns="0" bIns="0" rIns="0">
            <a:spAutoFit/>
          </a:bodyPr>
          <a:lstStyle/>
          <a:p>
            <a:pPr algn="ctr">
              <a:lnSpc>
                <a:spcPts val="5611"/>
              </a:lnSpc>
              <a:spcBef>
                <a:spcPct val="0"/>
              </a:spcBef>
            </a:pPr>
            <a:r>
              <a:rPr lang="en-US" sz="4008">
                <a:solidFill>
                  <a:srgbClr val="F800C0"/>
                </a:solidFill>
                <a:latin typeface="HK Modular"/>
                <a:ea typeface="HK Modular"/>
                <a:cs typeface="HK Modular"/>
                <a:sym typeface="HK Modular"/>
              </a:rPr>
              <a:t>EJEMPLO</a:t>
            </a:r>
          </a:p>
        </p:txBody>
      </p:sp>
      <p:sp>
        <p:nvSpPr>
          <p:cNvPr name="Freeform 10" id="10"/>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450895" y="2545217"/>
            <a:ext cx="7386210" cy="6656822"/>
          </a:xfrm>
          <a:custGeom>
            <a:avLst/>
            <a:gdLst/>
            <a:ahLst/>
            <a:cxnLst/>
            <a:rect r="r" b="b" t="t" l="l"/>
            <a:pathLst>
              <a:path h="6656822" w="7386210">
                <a:moveTo>
                  <a:pt x="0" y="0"/>
                </a:moveTo>
                <a:lnTo>
                  <a:pt x="7386210" y="0"/>
                </a:lnTo>
                <a:lnTo>
                  <a:pt x="7386210" y="6656822"/>
                </a:lnTo>
                <a:lnTo>
                  <a:pt x="0" y="6656822"/>
                </a:lnTo>
                <a:lnTo>
                  <a:pt x="0" y="0"/>
                </a:lnTo>
                <a:close/>
              </a:path>
            </a:pathLst>
          </a:custGeom>
          <a:blipFill>
            <a:blip r:embed="rId3"/>
            <a:stretch>
              <a:fillRect l="0" t="0" r="0" b="0"/>
            </a:stretch>
          </a:blipFill>
        </p:spPr>
      </p:sp>
      <p:sp>
        <p:nvSpPr>
          <p:cNvPr name="TextBox 7" id="7"/>
          <p:cNvSpPr txBox="true"/>
          <p:nvPr/>
        </p:nvSpPr>
        <p:spPr>
          <a:xfrm rot="0">
            <a:off x="0" y="1476544"/>
            <a:ext cx="18288000" cy="812387"/>
          </a:xfrm>
          <a:prstGeom prst="rect">
            <a:avLst/>
          </a:prstGeom>
        </p:spPr>
        <p:txBody>
          <a:bodyPr anchor="t" rtlCol="false" tIns="0" lIns="0" bIns="0" rIns="0">
            <a:spAutoFit/>
          </a:bodyPr>
          <a:lstStyle/>
          <a:p>
            <a:pPr algn="ctr">
              <a:lnSpc>
                <a:spcPts val="6672"/>
              </a:lnSpc>
              <a:spcBef>
                <a:spcPct val="0"/>
              </a:spcBef>
            </a:pPr>
            <a:r>
              <a:rPr lang="en-US" sz="4766">
                <a:solidFill>
                  <a:srgbClr val="F800C0"/>
                </a:solidFill>
                <a:latin typeface="HK Modular"/>
                <a:ea typeface="HK Modular"/>
                <a:cs typeface="HK Modular"/>
                <a:sym typeface="HK Modular"/>
              </a:rPr>
              <a:t>UX - UI</a:t>
            </a:r>
          </a:p>
        </p:txBody>
      </p:sp>
      <p:sp>
        <p:nvSpPr>
          <p:cNvPr name="TextBox 8" id="8"/>
          <p:cNvSpPr txBox="true"/>
          <p:nvPr/>
        </p:nvSpPr>
        <p:spPr>
          <a:xfrm rot="0">
            <a:off x="1028700" y="3444564"/>
            <a:ext cx="3333051" cy="2193925"/>
          </a:xfrm>
          <a:prstGeom prst="rect">
            <a:avLst/>
          </a:prstGeom>
        </p:spPr>
        <p:txBody>
          <a:bodyPr anchor="t" rtlCol="false" tIns="0" lIns="0" bIns="0" rIns="0">
            <a:spAutoFit/>
          </a:bodyPr>
          <a:lstStyle/>
          <a:p>
            <a:pPr algn="ctr">
              <a:lnSpc>
                <a:spcPts val="3499"/>
              </a:lnSpc>
            </a:pPr>
            <a:r>
              <a:rPr lang="en-US" sz="2499">
                <a:solidFill>
                  <a:srgbClr val="FFFFFF"/>
                </a:solidFill>
                <a:latin typeface="Poppins"/>
                <a:ea typeface="Poppins"/>
                <a:cs typeface="Poppins"/>
                <a:sym typeface="Poppins"/>
              </a:rPr>
              <a:t>cómo se siente y funciona la interacción del usuario con el sistema</a:t>
            </a:r>
          </a:p>
        </p:txBody>
      </p:sp>
      <p:sp>
        <p:nvSpPr>
          <p:cNvPr name="TextBox 9" id="9"/>
          <p:cNvSpPr txBox="true"/>
          <p:nvPr/>
        </p:nvSpPr>
        <p:spPr>
          <a:xfrm rot="0">
            <a:off x="1028700" y="6945883"/>
            <a:ext cx="3333051" cy="1317625"/>
          </a:xfrm>
          <a:prstGeom prst="rect">
            <a:avLst/>
          </a:prstGeom>
        </p:spPr>
        <p:txBody>
          <a:bodyPr anchor="t" rtlCol="false" tIns="0" lIns="0" bIns="0" rIns="0">
            <a:spAutoFit/>
          </a:bodyPr>
          <a:lstStyle/>
          <a:p>
            <a:pPr algn="ctr">
              <a:lnSpc>
                <a:spcPts val="3499"/>
              </a:lnSpc>
            </a:pPr>
            <a:r>
              <a:rPr lang="en-US" sz="2499">
                <a:solidFill>
                  <a:srgbClr val="FF914D"/>
                </a:solidFill>
                <a:latin typeface="Poppins"/>
                <a:ea typeface="Poppins"/>
                <a:cs typeface="Poppins"/>
                <a:sym typeface="Poppins"/>
              </a:rPr>
              <a:t>¿Es fácil, útil y agradable usar el sistema?</a:t>
            </a:r>
          </a:p>
        </p:txBody>
      </p:sp>
      <p:sp>
        <p:nvSpPr>
          <p:cNvPr name="TextBox 10" id="10"/>
          <p:cNvSpPr txBox="true"/>
          <p:nvPr/>
        </p:nvSpPr>
        <p:spPr>
          <a:xfrm rot="0">
            <a:off x="13926249" y="3917062"/>
            <a:ext cx="3333051" cy="1218566"/>
          </a:xfrm>
          <a:prstGeom prst="rect">
            <a:avLst/>
          </a:prstGeom>
        </p:spPr>
        <p:txBody>
          <a:bodyPr anchor="t" rtlCol="false" tIns="0" lIns="0" bIns="0" rIns="0">
            <a:spAutoFit/>
          </a:bodyPr>
          <a:lstStyle/>
          <a:p>
            <a:pPr algn="ctr">
              <a:lnSpc>
                <a:spcPts val="4759"/>
              </a:lnSpc>
            </a:pPr>
            <a:r>
              <a:rPr lang="en-US" sz="3399">
                <a:solidFill>
                  <a:srgbClr val="FFFFFF"/>
                </a:solidFill>
                <a:latin typeface="Poppins"/>
                <a:ea typeface="Poppins"/>
                <a:cs typeface="Poppins"/>
                <a:sym typeface="Poppins"/>
              </a:rPr>
              <a:t>cómo se ve el sistema</a:t>
            </a:r>
          </a:p>
        </p:txBody>
      </p:sp>
      <p:sp>
        <p:nvSpPr>
          <p:cNvPr name="TextBox 11" id="11"/>
          <p:cNvSpPr txBox="true"/>
          <p:nvPr/>
        </p:nvSpPr>
        <p:spPr>
          <a:xfrm rot="0">
            <a:off x="13926848" y="6812811"/>
            <a:ext cx="3333051" cy="1317625"/>
          </a:xfrm>
          <a:prstGeom prst="rect">
            <a:avLst/>
          </a:prstGeom>
        </p:spPr>
        <p:txBody>
          <a:bodyPr anchor="t" rtlCol="false" tIns="0" lIns="0" bIns="0" rIns="0">
            <a:spAutoFit/>
          </a:bodyPr>
          <a:lstStyle/>
          <a:p>
            <a:pPr algn="ctr">
              <a:lnSpc>
                <a:spcPts val="3499"/>
              </a:lnSpc>
            </a:pPr>
            <a:r>
              <a:rPr lang="en-US" sz="2499">
                <a:solidFill>
                  <a:srgbClr val="FF914D"/>
                </a:solidFill>
                <a:latin typeface="Poppins"/>
                <a:ea typeface="Poppins"/>
                <a:cs typeface="Poppins"/>
                <a:sym typeface="Poppins"/>
              </a:rPr>
              <a:t>¿La interfaz es clara y visualmente consistente?</a:t>
            </a:r>
          </a:p>
        </p:txBody>
      </p:sp>
      <p:sp>
        <p:nvSpPr>
          <p:cNvPr name="TextBox 12" id="12"/>
          <p:cNvSpPr txBox="true"/>
          <p:nvPr/>
        </p:nvSpPr>
        <p:spPr>
          <a:xfrm rot="0">
            <a:off x="4709084" y="9372600"/>
            <a:ext cx="8869833" cy="509906"/>
          </a:xfrm>
          <a:prstGeom prst="rect">
            <a:avLst/>
          </a:prstGeom>
        </p:spPr>
        <p:txBody>
          <a:bodyPr anchor="t" rtlCol="false" tIns="0" lIns="0" bIns="0" rIns="0">
            <a:spAutoFit/>
          </a:bodyPr>
          <a:lstStyle/>
          <a:p>
            <a:pPr algn="ctr">
              <a:lnSpc>
                <a:spcPts val="3919"/>
              </a:lnSpc>
            </a:pPr>
            <a:r>
              <a:rPr lang="en-US" sz="2799" i="true">
                <a:solidFill>
                  <a:srgbClr val="F800C0"/>
                </a:solidFill>
                <a:latin typeface="Poppins Italics"/>
                <a:ea typeface="Poppins Italics"/>
                <a:cs typeface="Poppins Italics"/>
                <a:sym typeface="Poppins Italics"/>
              </a:rPr>
              <a:t>UX decide el camino, UI pinta el camino.</a:t>
            </a:r>
          </a:p>
        </p:txBody>
      </p:sp>
      <p:sp>
        <p:nvSpPr>
          <p:cNvPr name="Freeform 13" id="13"/>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172776" y="691398"/>
            <a:ext cx="3349361" cy="8353935"/>
          </a:xfrm>
          <a:custGeom>
            <a:avLst/>
            <a:gdLst/>
            <a:ahLst/>
            <a:cxnLst/>
            <a:rect r="r" b="b" t="t" l="l"/>
            <a:pathLst>
              <a:path h="8353935" w="3349361">
                <a:moveTo>
                  <a:pt x="0" y="0"/>
                </a:moveTo>
                <a:lnTo>
                  <a:pt x="3349361" y="0"/>
                </a:lnTo>
                <a:lnTo>
                  <a:pt x="3349361" y="8353935"/>
                </a:lnTo>
                <a:lnTo>
                  <a:pt x="0" y="8353935"/>
                </a:lnTo>
                <a:lnTo>
                  <a:pt x="0" y="0"/>
                </a:lnTo>
                <a:close/>
              </a:path>
            </a:pathLst>
          </a:custGeom>
          <a:blipFill>
            <a:blip r:embed="rId3"/>
            <a:stretch>
              <a:fillRect l="0" t="0" r="-184528" b="-2098"/>
            </a:stretch>
          </a:blipFill>
        </p:spPr>
      </p:sp>
      <p:sp>
        <p:nvSpPr>
          <p:cNvPr name="Freeform 7" id="7"/>
          <p:cNvSpPr/>
          <p:nvPr/>
        </p:nvSpPr>
        <p:spPr>
          <a:xfrm flipH="false" flipV="false" rot="0">
            <a:off x="7857581" y="691398"/>
            <a:ext cx="2949952" cy="8352096"/>
          </a:xfrm>
          <a:custGeom>
            <a:avLst/>
            <a:gdLst/>
            <a:ahLst/>
            <a:cxnLst/>
            <a:rect r="r" b="b" t="t" l="l"/>
            <a:pathLst>
              <a:path h="8352096" w="2949952">
                <a:moveTo>
                  <a:pt x="0" y="0"/>
                </a:moveTo>
                <a:lnTo>
                  <a:pt x="2949951" y="0"/>
                </a:lnTo>
                <a:lnTo>
                  <a:pt x="2949951" y="8352097"/>
                </a:lnTo>
                <a:lnTo>
                  <a:pt x="0" y="8352097"/>
                </a:lnTo>
                <a:lnTo>
                  <a:pt x="0" y="0"/>
                </a:lnTo>
                <a:close/>
              </a:path>
            </a:pathLst>
          </a:custGeom>
          <a:blipFill>
            <a:blip r:embed="rId4"/>
            <a:stretch>
              <a:fillRect l="-109337" t="0" r="-107352" b="-109"/>
            </a:stretch>
          </a:blipFill>
        </p:spPr>
      </p:sp>
      <p:sp>
        <p:nvSpPr>
          <p:cNvPr name="Freeform 8" id="8"/>
          <p:cNvSpPr/>
          <p:nvPr/>
        </p:nvSpPr>
        <p:spPr>
          <a:xfrm flipH="false" flipV="false" rot="0">
            <a:off x="12366303" y="691398"/>
            <a:ext cx="3147373" cy="8352096"/>
          </a:xfrm>
          <a:custGeom>
            <a:avLst/>
            <a:gdLst/>
            <a:ahLst/>
            <a:cxnLst/>
            <a:rect r="r" b="b" t="t" l="l"/>
            <a:pathLst>
              <a:path h="8352096" w="3147373">
                <a:moveTo>
                  <a:pt x="0" y="0"/>
                </a:moveTo>
                <a:lnTo>
                  <a:pt x="3147374" y="0"/>
                </a:lnTo>
                <a:lnTo>
                  <a:pt x="3147374" y="8352097"/>
                </a:lnTo>
                <a:lnTo>
                  <a:pt x="0" y="8352097"/>
                </a:lnTo>
                <a:lnTo>
                  <a:pt x="0" y="0"/>
                </a:lnTo>
                <a:close/>
              </a:path>
            </a:pathLst>
          </a:custGeom>
          <a:blipFill>
            <a:blip r:embed="rId5"/>
            <a:stretch>
              <a:fillRect l="-196499" t="0" r="0" b="0"/>
            </a:stretch>
          </a:blipFill>
        </p:spPr>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086600" y="2991004"/>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703868" y="7800237"/>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FF914D"/>
                </a:solidFill>
                <a:latin typeface="HK Modular"/>
                <a:ea typeface="HK Modular"/>
                <a:cs typeface="HK Modular"/>
                <a:sym typeface="HK Modular"/>
              </a:rPr>
              <a:t>LEYES DE UX</a:t>
            </a:r>
          </a:p>
        </p:txBody>
      </p:sp>
      <p:sp>
        <p:nvSpPr>
          <p:cNvPr name="Freeform 8" id="8"/>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5"/>
            <a:stretch>
              <a:fillRect l="0" t="0" r="0" b="0"/>
            </a:stretch>
          </a:blipFill>
        </p:spPr>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483542" y="6609003"/>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FF914D"/>
                </a:solidFill>
                <a:latin typeface="HK Modular"/>
                <a:ea typeface="HK Modular"/>
                <a:cs typeface="HK Modular"/>
                <a:sym typeface="HK Modular"/>
              </a:rPr>
              <a:t>LEYES DE UX</a:t>
            </a:r>
          </a:p>
        </p:txBody>
      </p:sp>
      <p:sp>
        <p:nvSpPr>
          <p:cNvPr name="TextBox 7" id="7"/>
          <p:cNvSpPr txBox="true"/>
          <p:nvPr/>
        </p:nvSpPr>
        <p:spPr>
          <a:xfrm rot="0">
            <a:off x="3877234" y="7820076"/>
            <a:ext cx="10092880" cy="1823747"/>
          </a:xfrm>
          <a:prstGeom prst="rect">
            <a:avLst/>
          </a:prstGeom>
        </p:spPr>
        <p:txBody>
          <a:bodyPr anchor="t" rtlCol="false" tIns="0" lIns="0" bIns="0" rIns="0">
            <a:spAutoFit/>
          </a:bodyPr>
          <a:lstStyle/>
          <a:p>
            <a:pPr algn="ctr">
              <a:lnSpc>
                <a:spcPts val="4791"/>
              </a:lnSpc>
            </a:pPr>
            <a:r>
              <a:rPr lang="en-US" sz="3422">
                <a:solidFill>
                  <a:srgbClr val="FFFFFF"/>
                </a:solidFill>
                <a:latin typeface="Poppins"/>
                <a:ea typeface="Poppins"/>
                <a:cs typeface="Poppins"/>
                <a:sym typeface="Poppins"/>
              </a:rPr>
              <a:t>Son una coleccion de mejores practicas que los diseñadores pueden considerar al crear interfaces de usuario</a:t>
            </a:r>
          </a:p>
        </p:txBody>
      </p:sp>
      <p:sp>
        <p:nvSpPr>
          <p:cNvPr name="TextBox 8" id="8"/>
          <p:cNvSpPr txBox="true"/>
          <p:nvPr/>
        </p:nvSpPr>
        <p:spPr>
          <a:xfrm rot="0">
            <a:off x="3703868" y="1691429"/>
            <a:ext cx="10880264" cy="895959"/>
          </a:xfrm>
          <a:prstGeom prst="rect">
            <a:avLst/>
          </a:prstGeom>
        </p:spPr>
        <p:txBody>
          <a:bodyPr anchor="t" rtlCol="false" tIns="0" lIns="0" bIns="0" rIns="0">
            <a:spAutoFit/>
          </a:bodyPr>
          <a:lstStyle/>
          <a:p>
            <a:pPr algn="ctr">
              <a:lnSpc>
                <a:spcPts val="7316"/>
              </a:lnSpc>
              <a:spcBef>
                <a:spcPct val="0"/>
              </a:spcBef>
            </a:pPr>
            <a:r>
              <a:rPr lang="en-US" sz="5226">
                <a:solidFill>
                  <a:srgbClr val="FF914D"/>
                </a:solidFill>
                <a:latin typeface="HK Modular"/>
                <a:ea typeface="HK Modular"/>
                <a:cs typeface="HK Modular"/>
                <a:sym typeface="HK Modular"/>
              </a:rPr>
              <a:t>QUE ES UX ?</a:t>
            </a:r>
          </a:p>
        </p:txBody>
      </p:sp>
      <p:sp>
        <p:nvSpPr>
          <p:cNvPr name="TextBox 9" id="9"/>
          <p:cNvSpPr txBox="true"/>
          <p:nvPr/>
        </p:nvSpPr>
        <p:spPr>
          <a:xfrm rot="0">
            <a:off x="1971107" y="3084353"/>
            <a:ext cx="14837774" cy="3027685"/>
          </a:xfrm>
          <a:prstGeom prst="rect">
            <a:avLst/>
          </a:prstGeom>
        </p:spPr>
        <p:txBody>
          <a:bodyPr anchor="t" rtlCol="false" tIns="0" lIns="0" bIns="0" rIns="0">
            <a:spAutoFit/>
          </a:bodyPr>
          <a:lstStyle/>
          <a:p>
            <a:pPr algn="ctr">
              <a:lnSpc>
                <a:spcPts val="4791"/>
              </a:lnSpc>
            </a:pPr>
            <a:r>
              <a:rPr lang="en-US" sz="3422">
                <a:solidFill>
                  <a:srgbClr val="FFFFFF"/>
                </a:solidFill>
                <a:latin typeface="Poppins"/>
                <a:ea typeface="Poppins"/>
                <a:cs typeface="Poppins"/>
                <a:sym typeface="Poppins"/>
              </a:rPr>
              <a:t>User Experience o Experiencia de usuario, se refiere a la experiencia general que tiene una persona al interactuar con un producto, sistema o servicio, su objetivo es diseñar interacciones intuitivas, eficientes, accesibles y satisfactorias centrandose en la funcionalidad</a:t>
            </a:r>
          </a:p>
        </p:txBody>
      </p:sp>
      <p:sp>
        <p:nvSpPr>
          <p:cNvPr name="Freeform 10" id="10"/>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3"/>
            <a:stretch>
              <a:fillRect l="0" t="0" r="0" b="0"/>
            </a:stretch>
          </a:blipFill>
        </p:spPr>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142000" y="4409833"/>
            <a:ext cx="4006921" cy="5019346"/>
          </a:xfrm>
          <a:custGeom>
            <a:avLst/>
            <a:gdLst/>
            <a:ahLst/>
            <a:cxnLst/>
            <a:rect r="r" b="b" t="t" l="l"/>
            <a:pathLst>
              <a:path h="5019346" w="4006921">
                <a:moveTo>
                  <a:pt x="0" y="0"/>
                </a:moveTo>
                <a:lnTo>
                  <a:pt x="4006921" y="0"/>
                </a:lnTo>
                <a:lnTo>
                  <a:pt x="4006921" y="5019346"/>
                </a:lnTo>
                <a:lnTo>
                  <a:pt x="0" y="5019346"/>
                </a:lnTo>
                <a:lnTo>
                  <a:pt x="0" y="0"/>
                </a:lnTo>
                <a:close/>
              </a:path>
            </a:pathLst>
          </a:custGeom>
          <a:blipFill>
            <a:blip r:embed="rId3"/>
            <a:stretch>
              <a:fillRect l="0" t="0" r="0" b="0"/>
            </a:stretch>
          </a:blipFill>
        </p:spPr>
      </p:sp>
      <p:sp>
        <p:nvSpPr>
          <p:cNvPr name="Freeform 7" id="7"/>
          <p:cNvSpPr/>
          <p:nvPr/>
        </p:nvSpPr>
        <p:spPr>
          <a:xfrm flipH="false" flipV="false" rot="0">
            <a:off x="7489509" y="4563365"/>
            <a:ext cx="3527715" cy="4865814"/>
          </a:xfrm>
          <a:custGeom>
            <a:avLst/>
            <a:gdLst/>
            <a:ahLst/>
            <a:cxnLst/>
            <a:rect r="r" b="b" t="t" l="l"/>
            <a:pathLst>
              <a:path h="4865814" w="3527715">
                <a:moveTo>
                  <a:pt x="0" y="0"/>
                </a:moveTo>
                <a:lnTo>
                  <a:pt x="3527716" y="0"/>
                </a:lnTo>
                <a:lnTo>
                  <a:pt x="3527716" y="4865814"/>
                </a:lnTo>
                <a:lnTo>
                  <a:pt x="0" y="4865814"/>
                </a:lnTo>
                <a:lnTo>
                  <a:pt x="0" y="0"/>
                </a:lnTo>
                <a:close/>
              </a:path>
            </a:pathLst>
          </a:custGeom>
          <a:blipFill>
            <a:blip r:embed="rId4"/>
            <a:stretch>
              <a:fillRect l="0" t="0" r="0" b="0"/>
            </a:stretch>
          </a:blipFill>
        </p:spPr>
      </p:sp>
      <p:sp>
        <p:nvSpPr>
          <p:cNvPr name="Freeform 8" id="8"/>
          <p:cNvSpPr/>
          <p:nvPr/>
        </p:nvSpPr>
        <p:spPr>
          <a:xfrm flipH="false" flipV="false" rot="0">
            <a:off x="12360250" y="4563365"/>
            <a:ext cx="3648482" cy="4837635"/>
          </a:xfrm>
          <a:custGeom>
            <a:avLst/>
            <a:gdLst/>
            <a:ahLst/>
            <a:cxnLst/>
            <a:rect r="r" b="b" t="t" l="l"/>
            <a:pathLst>
              <a:path h="4837635" w="3648482">
                <a:moveTo>
                  <a:pt x="0" y="0"/>
                </a:moveTo>
                <a:lnTo>
                  <a:pt x="3648482" y="0"/>
                </a:lnTo>
                <a:lnTo>
                  <a:pt x="3648482" y="4837635"/>
                </a:lnTo>
                <a:lnTo>
                  <a:pt x="0" y="4837635"/>
                </a:lnTo>
                <a:lnTo>
                  <a:pt x="0" y="0"/>
                </a:lnTo>
                <a:close/>
              </a:path>
            </a:pathLst>
          </a:custGeom>
          <a:blipFill>
            <a:blip r:embed="rId5"/>
            <a:stretch>
              <a:fillRect l="0" t="0" r="-2560" b="-582"/>
            </a:stretch>
          </a:blipFill>
        </p:spPr>
      </p:sp>
      <p:sp>
        <p:nvSpPr>
          <p:cNvPr name="TextBox 9" id="9"/>
          <p:cNvSpPr txBox="true"/>
          <p:nvPr/>
        </p:nvSpPr>
        <p:spPr>
          <a:xfrm rot="0">
            <a:off x="0" y="1835113"/>
            <a:ext cx="18288000" cy="812387"/>
          </a:xfrm>
          <a:prstGeom prst="rect">
            <a:avLst/>
          </a:prstGeom>
        </p:spPr>
        <p:txBody>
          <a:bodyPr anchor="t" rtlCol="false" tIns="0" lIns="0" bIns="0" rIns="0">
            <a:spAutoFit/>
          </a:bodyPr>
          <a:lstStyle/>
          <a:p>
            <a:pPr algn="ctr">
              <a:lnSpc>
                <a:spcPts val="6672"/>
              </a:lnSpc>
              <a:spcBef>
                <a:spcPct val="0"/>
              </a:spcBef>
            </a:pPr>
            <a:r>
              <a:rPr lang="en-US" sz="4766">
                <a:solidFill>
                  <a:srgbClr val="F800C0"/>
                </a:solidFill>
                <a:latin typeface="HK Modular"/>
                <a:ea typeface="HK Modular"/>
                <a:cs typeface="HK Modular"/>
                <a:sym typeface="HK Modular"/>
              </a:rPr>
              <a:t>LEYES UX</a:t>
            </a:r>
          </a:p>
        </p:txBody>
      </p:sp>
      <p:sp>
        <p:nvSpPr>
          <p:cNvPr name="TextBox 10" id="10"/>
          <p:cNvSpPr txBox="true"/>
          <p:nvPr/>
        </p:nvSpPr>
        <p:spPr>
          <a:xfrm rot="0">
            <a:off x="1539301" y="3054107"/>
            <a:ext cx="15209398" cy="879475"/>
          </a:xfrm>
          <a:prstGeom prst="rect">
            <a:avLst/>
          </a:prstGeom>
        </p:spPr>
        <p:txBody>
          <a:bodyPr anchor="t" rtlCol="false" tIns="0" lIns="0" bIns="0" rIns="0">
            <a:spAutoFit/>
          </a:bodyPr>
          <a:lstStyle/>
          <a:p>
            <a:pPr algn="ctr">
              <a:lnSpc>
                <a:spcPts val="3499"/>
              </a:lnSpc>
            </a:pPr>
            <a:r>
              <a:rPr lang="en-US" sz="2499">
                <a:solidFill>
                  <a:srgbClr val="FFFFFF"/>
                </a:solidFill>
                <a:latin typeface="Poppins"/>
                <a:ea typeface="Poppins"/>
                <a:cs typeface="Poppins"/>
                <a:sym typeface="Poppins"/>
              </a:rPr>
              <a:t>Son una coleccion de mejores prácticas que los diseñadores pueden considerar al crear interfaces de usuario</a:t>
            </a:r>
          </a:p>
        </p:txBody>
      </p:sp>
      <p:sp>
        <p:nvSpPr>
          <p:cNvPr name="Freeform 11" id="11"/>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6"/>
            <a:stretch>
              <a:fillRect l="0" t="0" r="0" b="0"/>
            </a:stretch>
          </a:blipFill>
        </p:spPr>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071933" y="4563365"/>
            <a:ext cx="4244324" cy="4865814"/>
          </a:xfrm>
          <a:custGeom>
            <a:avLst/>
            <a:gdLst/>
            <a:ahLst/>
            <a:cxnLst/>
            <a:rect r="r" b="b" t="t" l="l"/>
            <a:pathLst>
              <a:path h="4865814" w="4244324">
                <a:moveTo>
                  <a:pt x="0" y="0"/>
                </a:moveTo>
                <a:lnTo>
                  <a:pt x="4244324" y="0"/>
                </a:lnTo>
                <a:lnTo>
                  <a:pt x="4244324" y="4865814"/>
                </a:lnTo>
                <a:lnTo>
                  <a:pt x="0" y="4865814"/>
                </a:lnTo>
                <a:lnTo>
                  <a:pt x="0" y="0"/>
                </a:lnTo>
                <a:close/>
              </a:path>
            </a:pathLst>
          </a:custGeom>
          <a:blipFill>
            <a:blip r:embed="rId3"/>
            <a:stretch>
              <a:fillRect l="0" t="0" r="0" b="0"/>
            </a:stretch>
          </a:blipFill>
        </p:spPr>
      </p:sp>
      <p:sp>
        <p:nvSpPr>
          <p:cNvPr name="Freeform 7" id="7"/>
          <p:cNvSpPr/>
          <p:nvPr/>
        </p:nvSpPr>
        <p:spPr>
          <a:xfrm flipH="false" flipV="false" rot="0">
            <a:off x="7255006" y="4563365"/>
            <a:ext cx="3777989" cy="4865814"/>
          </a:xfrm>
          <a:custGeom>
            <a:avLst/>
            <a:gdLst/>
            <a:ahLst/>
            <a:cxnLst/>
            <a:rect r="r" b="b" t="t" l="l"/>
            <a:pathLst>
              <a:path h="4865814" w="3777989">
                <a:moveTo>
                  <a:pt x="0" y="0"/>
                </a:moveTo>
                <a:lnTo>
                  <a:pt x="3777988" y="0"/>
                </a:lnTo>
                <a:lnTo>
                  <a:pt x="3777988" y="4865814"/>
                </a:lnTo>
                <a:lnTo>
                  <a:pt x="0" y="4865814"/>
                </a:lnTo>
                <a:lnTo>
                  <a:pt x="0" y="0"/>
                </a:lnTo>
                <a:close/>
              </a:path>
            </a:pathLst>
          </a:custGeom>
          <a:blipFill>
            <a:blip r:embed="rId4"/>
            <a:stretch>
              <a:fillRect l="0" t="0" r="0" b="0"/>
            </a:stretch>
          </a:blipFill>
        </p:spPr>
      </p:sp>
      <p:sp>
        <p:nvSpPr>
          <p:cNvPr name="Freeform 8" id="8"/>
          <p:cNvSpPr/>
          <p:nvPr/>
        </p:nvSpPr>
        <p:spPr>
          <a:xfrm flipH="false" flipV="false" rot="0">
            <a:off x="12236667" y="4563365"/>
            <a:ext cx="4029284" cy="4865814"/>
          </a:xfrm>
          <a:custGeom>
            <a:avLst/>
            <a:gdLst/>
            <a:ahLst/>
            <a:cxnLst/>
            <a:rect r="r" b="b" t="t" l="l"/>
            <a:pathLst>
              <a:path h="4865814" w="4029284">
                <a:moveTo>
                  <a:pt x="0" y="0"/>
                </a:moveTo>
                <a:lnTo>
                  <a:pt x="4029285" y="0"/>
                </a:lnTo>
                <a:lnTo>
                  <a:pt x="4029285" y="4865814"/>
                </a:lnTo>
                <a:lnTo>
                  <a:pt x="0" y="4865814"/>
                </a:lnTo>
                <a:lnTo>
                  <a:pt x="0" y="0"/>
                </a:lnTo>
                <a:close/>
              </a:path>
            </a:pathLst>
          </a:custGeom>
          <a:blipFill>
            <a:blip r:embed="rId5"/>
            <a:stretch>
              <a:fillRect l="0" t="0" r="0" b="0"/>
            </a:stretch>
          </a:blipFill>
        </p:spPr>
      </p:sp>
      <p:sp>
        <p:nvSpPr>
          <p:cNvPr name="TextBox 9" id="9"/>
          <p:cNvSpPr txBox="true"/>
          <p:nvPr/>
        </p:nvSpPr>
        <p:spPr>
          <a:xfrm rot="0">
            <a:off x="0" y="1835113"/>
            <a:ext cx="18288000" cy="812387"/>
          </a:xfrm>
          <a:prstGeom prst="rect">
            <a:avLst/>
          </a:prstGeom>
        </p:spPr>
        <p:txBody>
          <a:bodyPr anchor="t" rtlCol="false" tIns="0" lIns="0" bIns="0" rIns="0">
            <a:spAutoFit/>
          </a:bodyPr>
          <a:lstStyle/>
          <a:p>
            <a:pPr algn="ctr">
              <a:lnSpc>
                <a:spcPts val="6672"/>
              </a:lnSpc>
              <a:spcBef>
                <a:spcPct val="0"/>
              </a:spcBef>
            </a:pPr>
            <a:r>
              <a:rPr lang="en-US" sz="4766">
                <a:solidFill>
                  <a:srgbClr val="FFA260"/>
                </a:solidFill>
                <a:latin typeface="HK Modular"/>
                <a:ea typeface="HK Modular"/>
                <a:cs typeface="HK Modular"/>
                <a:sym typeface="HK Modular"/>
              </a:rPr>
              <a:t>LEYES UX</a:t>
            </a:r>
          </a:p>
        </p:txBody>
      </p:sp>
      <p:sp>
        <p:nvSpPr>
          <p:cNvPr name="TextBox 10" id="10"/>
          <p:cNvSpPr txBox="true"/>
          <p:nvPr/>
        </p:nvSpPr>
        <p:spPr>
          <a:xfrm rot="0">
            <a:off x="1539301" y="3054107"/>
            <a:ext cx="15209398" cy="879475"/>
          </a:xfrm>
          <a:prstGeom prst="rect">
            <a:avLst/>
          </a:prstGeom>
        </p:spPr>
        <p:txBody>
          <a:bodyPr anchor="t" rtlCol="false" tIns="0" lIns="0" bIns="0" rIns="0">
            <a:spAutoFit/>
          </a:bodyPr>
          <a:lstStyle/>
          <a:p>
            <a:pPr algn="ctr">
              <a:lnSpc>
                <a:spcPts val="3499"/>
              </a:lnSpc>
            </a:pPr>
            <a:r>
              <a:rPr lang="en-US" sz="2499">
                <a:solidFill>
                  <a:srgbClr val="FFFFFF"/>
                </a:solidFill>
                <a:latin typeface="Poppins"/>
                <a:ea typeface="Poppins"/>
                <a:cs typeface="Poppins"/>
                <a:sym typeface="Poppins"/>
              </a:rPr>
              <a:t>Son una coleccion de mejores prácticas que los diseñadores pueden considerar al crear interfaces de usuario</a:t>
            </a:r>
          </a:p>
        </p:txBody>
      </p:sp>
      <p:sp>
        <p:nvSpPr>
          <p:cNvPr name="Freeform 11" id="11"/>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6"/>
            <a:stretch>
              <a:fillRect l="0" t="0" r="0" b="0"/>
            </a:stretch>
          </a:blipFill>
        </p:spPr>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37813" y="4132325"/>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F800C0"/>
                </a:solidFill>
                <a:latin typeface="HK Modular"/>
                <a:ea typeface="HK Modular"/>
                <a:cs typeface="HK Modular"/>
                <a:sym typeface="HK Modular"/>
              </a:rPr>
              <a:t>REGLAS DE NEGOCIO</a:t>
            </a:r>
          </a:p>
        </p:txBody>
      </p:sp>
      <p:sp>
        <p:nvSpPr>
          <p:cNvPr name="Freeform 13" id="13"/>
          <p:cNvSpPr/>
          <p:nvPr/>
        </p:nvSpPr>
        <p:spPr>
          <a:xfrm flipH="false" flipV="false" rot="0">
            <a:off x="7733284" y="-320639"/>
            <a:ext cx="4007859" cy="4007859"/>
          </a:xfrm>
          <a:custGeom>
            <a:avLst/>
            <a:gdLst/>
            <a:ahLst/>
            <a:cxnLst/>
            <a:rect r="r" b="b" t="t" l="l"/>
            <a:pathLst>
              <a:path h="4007859" w="4007859">
                <a:moveTo>
                  <a:pt x="0" y="0"/>
                </a:moveTo>
                <a:lnTo>
                  <a:pt x="4007859" y="0"/>
                </a:lnTo>
                <a:lnTo>
                  <a:pt x="4007859" y="4007859"/>
                </a:lnTo>
                <a:lnTo>
                  <a:pt x="0" y="4007859"/>
                </a:lnTo>
                <a:lnTo>
                  <a:pt x="0" y="0"/>
                </a:lnTo>
                <a:close/>
              </a:path>
            </a:pathLst>
          </a:custGeom>
          <a:blipFill>
            <a:blip r:embed="rId3"/>
            <a:stretch>
              <a:fillRect l="0" t="0" r="0" b="0"/>
            </a:stretch>
          </a:blipFill>
        </p:spPr>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90928" y="1513226"/>
            <a:ext cx="14706144" cy="853854"/>
          </a:xfrm>
          <a:prstGeom prst="rect">
            <a:avLst/>
          </a:prstGeom>
        </p:spPr>
        <p:txBody>
          <a:bodyPr anchor="t" rtlCol="false" tIns="0" lIns="0" bIns="0" rIns="0">
            <a:spAutoFit/>
          </a:bodyPr>
          <a:lstStyle/>
          <a:p>
            <a:pPr algn="ctr">
              <a:lnSpc>
                <a:spcPts val="7012"/>
              </a:lnSpc>
              <a:spcBef>
                <a:spcPct val="0"/>
              </a:spcBef>
            </a:pPr>
            <a:r>
              <a:rPr lang="en-US" sz="5008">
                <a:solidFill>
                  <a:srgbClr val="F800C0"/>
                </a:solidFill>
                <a:latin typeface="HK Modular"/>
                <a:ea typeface="HK Modular"/>
                <a:cs typeface="HK Modular"/>
                <a:sym typeface="HK Modular"/>
              </a:rPr>
              <a:t>REGLAS DE NEGOCIO</a:t>
            </a:r>
          </a:p>
        </p:txBody>
      </p:sp>
      <p:sp>
        <p:nvSpPr>
          <p:cNvPr name="TextBox 7" id="7"/>
          <p:cNvSpPr txBox="true"/>
          <p:nvPr/>
        </p:nvSpPr>
        <p:spPr>
          <a:xfrm rot="0">
            <a:off x="5160253" y="2877530"/>
            <a:ext cx="8846847" cy="915036"/>
          </a:xfrm>
          <a:prstGeom prst="rect">
            <a:avLst/>
          </a:prstGeom>
        </p:spPr>
        <p:txBody>
          <a:bodyPr anchor="t" rtlCol="false" tIns="0" lIns="0" bIns="0" rIns="0">
            <a:spAutoFit/>
          </a:bodyPr>
          <a:lstStyle/>
          <a:p>
            <a:pPr algn="ctr">
              <a:lnSpc>
                <a:spcPts val="3639"/>
              </a:lnSpc>
            </a:pPr>
            <a:r>
              <a:rPr lang="en-US" sz="2599" b="true">
                <a:solidFill>
                  <a:srgbClr val="FFFFFF"/>
                </a:solidFill>
                <a:latin typeface="Poppins Bold"/>
                <a:ea typeface="Poppins Bold"/>
                <a:cs typeface="Poppins Bold"/>
                <a:sym typeface="Poppins Bold"/>
              </a:rPr>
              <a:t>Identificar relaciones entre requerimientos</a:t>
            </a:r>
          </a:p>
          <a:p>
            <a:pPr algn="ctr">
              <a:lnSpc>
                <a:spcPts val="3639"/>
              </a:lnSpc>
              <a:spcBef>
                <a:spcPct val="0"/>
              </a:spcBef>
            </a:pPr>
          </a:p>
        </p:txBody>
      </p:sp>
      <p:grpSp>
        <p:nvGrpSpPr>
          <p:cNvPr name="Group 8" id="8"/>
          <p:cNvGrpSpPr/>
          <p:nvPr/>
        </p:nvGrpSpPr>
        <p:grpSpPr>
          <a:xfrm rot="0">
            <a:off x="4656018" y="2775130"/>
            <a:ext cx="840973" cy="84097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4339"/>
                </a:lnSpc>
              </a:pPr>
              <a:r>
                <a:rPr lang="en-US" b="true" sz="3099">
                  <a:solidFill>
                    <a:srgbClr val="FFFFFF"/>
                  </a:solidFill>
                  <a:latin typeface="Canva Sans Bold"/>
                  <a:ea typeface="Canva Sans Bold"/>
                  <a:cs typeface="Canva Sans Bold"/>
                  <a:sym typeface="Canva Sans Bold"/>
                </a:rPr>
                <a:t>6</a:t>
              </a:r>
            </a:p>
          </p:txBody>
        </p:sp>
      </p:grpSp>
      <p:sp>
        <p:nvSpPr>
          <p:cNvPr name="TextBox 11" id="11"/>
          <p:cNvSpPr txBox="true"/>
          <p:nvPr/>
        </p:nvSpPr>
        <p:spPr>
          <a:xfrm rot="0">
            <a:off x="1793920" y="3894541"/>
            <a:ext cx="5252132" cy="424815"/>
          </a:xfrm>
          <a:prstGeom prst="rect">
            <a:avLst/>
          </a:prstGeom>
        </p:spPr>
        <p:txBody>
          <a:bodyPr anchor="t" rtlCol="false" tIns="0" lIns="0" bIns="0" rIns="0">
            <a:spAutoFit/>
          </a:bodyPr>
          <a:lstStyle/>
          <a:p>
            <a:pPr algn="l" marL="518157" indent="-259078" lvl="1">
              <a:lnSpc>
                <a:spcPts val="3359"/>
              </a:lnSpc>
              <a:buFont typeface="Arial"/>
              <a:buChar char="•"/>
            </a:pPr>
            <a:r>
              <a:rPr lang="en-US" b="true" sz="2399">
                <a:solidFill>
                  <a:srgbClr val="FFFFFF"/>
                </a:solidFill>
                <a:latin typeface="Poppins Bold"/>
                <a:ea typeface="Poppins Bold"/>
                <a:cs typeface="Poppins Bold"/>
                <a:sym typeface="Poppins Bold"/>
              </a:rPr>
              <a:t>Ambigüedades</a:t>
            </a:r>
          </a:p>
        </p:txBody>
      </p:sp>
      <p:sp>
        <p:nvSpPr>
          <p:cNvPr name="TextBox 12" id="12"/>
          <p:cNvSpPr txBox="true"/>
          <p:nvPr/>
        </p:nvSpPr>
        <p:spPr>
          <a:xfrm rot="0">
            <a:off x="2944411" y="4863465"/>
            <a:ext cx="3433620" cy="1436371"/>
          </a:xfrm>
          <a:prstGeom prst="rect">
            <a:avLst/>
          </a:prstGeom>
        </p:spPr>
        <p:txBody>
          <a:bodyPr anchor="t" rtlCol="false" tIns="0" lIns="0" bIns="0" rIns="0">
            <a:spAutoFit/>
          </a:bodyPr>
          <a:lstStyle/>
          <a:p>
            <a:pPr algn="ctr">
              <a:lnSpc>
                <a:spcPts val="3779"/>
              </a:lnSpc>
            </a:pPr>
            <a:r>
              <a:rPr lang="en-US" sz="2699">
                <a:solidFill>
                  <a:srgbClr val="FFFFFF"/>
                </a:solidFill>
                <a:latin typeface="Poppins"/>
                <a:ea typeface="Poppins"/>
                <a:cs typeface="Poppins"/>
                <a:sym typeface="Poppins"/>
              </a:rPr>
              <a:t>El requerimiento debe tener una sola interpretación.</a:t>
            </a:r>
          </a:p>
        </p:txBody>
      </p:sp>
      <p:sp>
        <p:nvSpPr>
          <p:cNvPr name="TextBox 13" id="13"/>
          <p:cNvSpPr txBox="true"/>
          <p:nvPr/>
        </p:nvSpPr>
        <p:spPr>
          <a:xfrm rot="0">
            <a:off x="9004579" y="3894541"/>
            <a:ext cx="5252132" cy="424815"/>
          </a:xfrm>
          <a:prstGeom prst="rect">
            <a:avLst/>
          </a:prstGeom>
        </p:spPr>
        <p:txBody>
          <a:bodyPr anchor="t" rtlCol="false" tIns="0" lIns="0" bIns="0" rIns="0">
            <a:spAutoFit/>
          </a:bodyPr>
          <a:lstStyle/>
          <a:p>
            <a:pPr algn="l" marL="518157" indent="-259078" lvl="1">
              <a:lnSpc>
                <a:spcPts val="3359"/>
              </a:lnSpc>
              <a:buFont typeface="Arial"/>
              <a:buChar char="•"/>
            </a:pPr>
            <a:r>
              <a:rPr lang="en-US" b="true" sz="2399">
                <a:solidFill>
                  <a:srgbClr val="FFFFFF"/>
                </a:solidFill>
                <a:latin typeface="Poppins Bold"/>
                <a:ea typeface="Poppins Bold"/>
                <a:cs typeface="Poppins Bold"/>
                <a:sym typeface="Poppins Bold"/>
              </a:rPr>
              <a:t>Contradicción</a:t>
            </a:r>
          </a:p>
        </p:txBody>
      </p:sp>
      <p:sp>
        <p:nvSpPr>
          <p:cNvPr name="TextBox 14" id="14"/>
          <p:cNvSpPr txBox="true"/>
          <p:nvPr/>
        </p:nvSpPr>
        <p:spPr>
          <a:xfrm rot="0">
            <a:off x="9494296" y="4863465"/>
            <a:ext cx="6857627" cy="960121"/>
          </a:xfrm>
          <a:prstGeom prst="rect">
            <a:avLst/>
          </a:prstGeom>
        </p:spPr>
        <p:txBody>
          <a:bodyPr anchor="t" rtlCol="false" tIns="0" lIns="0" bIns="0" rIns="0">
            <a:spAutoFit/>
          </a:bodyPr>
          <a:lstStyle/>
          <a:p>
            <a:pPr algn="ctr">
              <a:lnSpc>
                <a:spcPts val="3779"/>
              </a:lnSpc>
            </a:pPr>
            <a:r>
              <a:rPr lang="en-US" sz="2699">
                <a:solidFill>
                  <a:srgbClr val="FFFFFF"/>
                </a:solidFill>
                <a:latin typeface="Poppins"/>
                <a:ea typeface="Poppins"/>
                <a:cs typeface="Poppins"/>
                <a:sym typeface="Poppins"/>
              </a:rPr>
              <a:t>Revisar si existe algún requerimiento que ponga en duda otro.</a:t>
            </a:r>
          </a:p>
        </p:txBody>
      </p:sp>
      <p:sp>
        <p:nvSpPr>
          <p:cNvPr name="TextBox 15" id="15"/>
          <p:cNvSpPr txBox="true"/>
          <p:nvPr/>
        </p:nvSpPr>
        <p:spPr>
          <a:xfrm rot="0">
            <a:off x="1640810" y="7091454"/>
            <a:ext cx="6040821" cy="1473290"/>
          </a:xfrm>
          <a:prstGeom prst="rect">
            <a:avLst/>
          </a:prstGeom>
        </p:spPr>
        <p:txBody>
          <a:bodyPr anchor="t" rtlCol="false" tIns="0" lIns="0" bIns="0" rIns="0">
            <a:spAutoFit/>
          </a:bodyPr>
          <a:lstStyle/>
          <a:p>
            <a:pPr algn="ctr">
              <a:lnSpc>
                <a:spcPts val="3845"/>
              </a:lnSpc>
            </a:pPr>
            <a:r>
              <a:rPr lang="en-US" sz="2746">
                <a:solidFill>
                  <a:srgbClr val="FFFFFF"/>
                </a:solidFill>
                <a:latin typeface="Poppins"/>
                <a:ea typeface="Poppins"/>
                <a:cs typeface="Poppins"/>
                <a:sym typeface="Poppins"/>
              </a:rPr>
              <a:t>Ejemplo: </a:t>
            </a:r>
            <a:r>
              <a:rPr lang="en-US" b="true" sz="2746">
                <a:solidFill>
                  <a:srgbClr val="FFFFFF"/>
                </a:solidFill>
                <a:latin typeface="Poppins Bold"/>
                <a:ea typeface="Poppins Bold"/>
                <a:cs typeface="Poppins Bold"/>
                <a:sym typeface="Poppins Bold"/>
              </a:rPr>
              <a:t>Ajustar</a:t>
            </a:r>
            <a:r>
              <a:rPr lang="en-US" sz="2746">
                <a:solidFill>
                  <a:srgbClr val="FFFFFF"/>
                </a:solidFill>
                <a:latin typeface="Poppins"/>
                <a:ea typeface="Poppins"/>
                <a:cs typeface="Poppins"/>
                <a:sym typeface="Poppins"/>
              </a:rPr>
              <a:t> el tipo de letra en el botón Validar del formulario de inscripción del aspirante.</a:t>
            </a:r>
          </a:p>
        </p:txBody>
      </p:sp>
      <p:sp>
        <p:nvSpPr>
          <p:cNvPr name="TextBox 16" id="16"/>
          <p:cNvSpPr txBox="true"/>
          <p:nvPr/>
        </p:nvSpPr>
        <p:spPr>
          <a:xfrm rot="0">
            <a:off x="9144000" y="6356985"/>
            <a:ext cx="8115300" cy="2930615"/>
          </a:xfrm>
          <a:prstGeom prst="rect">
            <a:avLst/>
          </a:prstGeom>
        </p:spPr>
        <p:txBody>
          <a:bodyPr anchor="t" rtlCol="false" tIns="0" lIns="0" bIns="0" rIns="0">
            <a:spAutoFit/>
          </a:bodyPr>
          <a:lstStyle/>
          <a:p>
            <a:pPr algn="l">
              <a:lnSpc>
                <a:spcPts val="3845"/>
              </a:lnSpc>
            </a:pPr>
            <a:r>
              <a:rPr lang="en-US" sz="2746">
                <a:solidFill>
                  <a:srgbClr val="FFFFFF"/>
                </a:solidFill>
                <a:latin typeface="Poppins"/>
                <a:ea typeface="Poppins"/>
                <a:cs typeface="Poppins"/>
                <a:sym typeface="Poppins"/>
              </a:rPr>
              <a:t>Ejemplo: </a:t>
            </a:r>
          </a:p>
          <a:p>
            <a:pPr algn="l">
              <a:lnSpc>
                <a:spcPts val="3845"/>
              </a:lnSpc>
            </a:pPr>
          </a:p>
          <a:p>
            <a:pPr algn="l" marL="592961" indent="-296481" lvl="1">
              <a:lnSpc>
                <a:spcPts val="3845"/>
              </a:lnSpc>
              <a:buFont typeface="Arial"/>
              <a:buChar char="•"/>
            </a:pPr>
            <a:r>
              <a:rPr lang="en-US" sz="2746">
                <a:solidFill>
                  <a:srgbClr val="FFFFFF"/>
                </a:solidFill>
                <a:latin typeface="Poppins"/>
                <a:ea typeface="Poppins"/>
                <a:cs typeface="Poppins"/>
                <a:sym typeface="Poppins"/>
              </a:rPr>
              <a:t>La ECI debe tener un sistema de diseño (colores).</a:t>
            </a:r>
          </a:p>
          <a:p>
            <a:pPr algn="l" marL="592961" indent="-296481" lvl="1">
              <a:lnSpc>
                <a:spcPts val="3845"/>
              </a:lnSpc>
              <a:buFont typeface="Arial"/>
              <a:buChar char="•"/>
            </a:pPr>
            <a:r>
              <a:rPr lang="en-US" sz="2746">
                <a:solidFill>
                  <a:srgbClr val="FFFFFF"/>
                </a:solidFill>
                <a:latin typeface="Poppins"/>
                <a:ea typeface="Poppins"/>
                <a:cs typeface="Poppins"/>
                <a:sym typeface="Poppins"/>
              </a:rPr>
              <a:t>El botón validar del formulario de inscripción debe ser morado.</a:t>
            </a:r>
          </a:p>
        </p:txBody>
      </p:sp>
      <p:sp>
        <p:nvSpPr>
          <p:cNvPr name="Freeform 17" id="17"/>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3"/>
            <a:stretch>
              <a:fillRect l="0" t="0" r="0" b="0"/>
            </a:stretch>
          </a:blipFill>
        </p:spPr>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37813" y="4132325"/>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F800C0"/>
                </a:solidFill>
                <a:latin typeface="HK Modular"/>
                <a:ea typeface="HK Modular"/>
                <a:cs typeface="HK Modular"/>
                <a:sym typeface="HK Modular"/>
              </a:rPr>
              <a:t>MATRIZ DE TRAZABILIDAD</a:t>
            </a:r>
          </a:p>
        </p:txBody>
      </p:sp>
      <p:sp>
        <p:nvSpPr>
          <p:cNvPr name="Freeform 13" id="13"/>
          <p:cNvSpPr/>
          <p:nvPr/>
        </p:nvSpPr>
        <p:spPr>
          <a:xfrm flipH="false" flipV="false" rot="0">
            <a:off x="6722524" y="-757911"/>
            <a:ext cx="5061686" cy="5061686"/>
          </a:xfrm>
          <a:custGeom>
            <a:avLst/>
            <a:gdLst/>
            <a:ahLst/>
            <a:cxnLst/>
            <a:rect r="r" b="b" t="t" l="l"/>
            <a:pathLst>
              <a:path h="5061686" w="5061686">
                <a:moveTo>
                  <a:pt x="0" y="0"/>
                </a:moveTo>
                <a:lnTo>
                  <a:pt x="5061686" y="0"/>
                </a:lnTo>
                <a:lnTo>
                  <a:pt x="5061686" y="5061686"/>
                </a:lnTo>
                <a:lnTo>
                  <a:pt x="0" y="5061686"/>
                </a:lnTo>
                <a:lnTo>
                  <a:pt x="0" y="0"/>
                </a:lnTo>
                <a:close/>
              </a:path>
            </a:pathLst>
          </a:custGeom>
          <a:blipFill>
            <a:blip r:embed="rId3"/>
            <a:stretch>
              <a:fillRect l="0" t="0" r="0" b="0"/>
            </a:stretch>
          </a:blipFill>
        </p:spPr>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aphicFrame>
        <p:nvGraphicFramePr>
          <p:cNvPr name="Table 6" id="6"/>
          <p:cNvGraphicFramePr>
            <a:graphicFrameLocks noGrp="true"/>
          </p:cNvGraphicFramePr>
          <p:nvPr/>
        </p:nvGraphicFramePr>
        <p:xfrm>
          <a:off x="1747905" y="5030887"/>
          <a:ext cx="14778228" cy="3990975"/>
        </p:xfrm>
        <a:graphic>
          <a:graphicData uri="http://schemas.openxmlformats.org/drawingml/2006/table">
            <a:tbl>
              <a:tblPr/>
              <a:tblGrid>
                <a:gridCol w="1185146"/>
                <a:gridCol w="2704224"/>
                <a:gridCol w="2384056"/>
                <a:gridCol w="2313215"/>
                <a:gridCol w="3171429"/>
                <a:gridCol w="3020159"/>
              </a:tblGrid>
              <a:tr h="1144400">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ID</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b="true">
                          <a:solidFill>
                            <a:srgbClr val="FFFFFF"/>
                          </a:solidFill>
                          <a:latin typeface="Canva Sans Bold"/>
                          <a:ea typeface="Canva Sans Bold"/>
                          <a:cs typeface="Canva Sans Bold"/>
                          <a:sym typeface="Canva Sans Bold"/>
                        </a:rPr>
                        <a:t>Nombre</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Cliente Responsable</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Prioridad</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Estado</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Equipo Responsable</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817577">
                <a:tc>
                  <a:txBody>
                    <a:bodyPr anchor="t" rtlCol="false"/>
                    <a:lstStyle/>
                    <a:p>
                      <a:pPr algn="ctr">
                        <a:lnSpc>
                          <a:spcPts val="2659"/>
                        </a:lnSpc>
                        <a:defRPr/>
                      </a:pPr>
                      <a:r>
                        <a:rPr lang="en-US" sz="1899">
                          <a:solidFill>
                            <a:srgbClr val="FFFFFF"/>
                          </a:solidFill>
                          <a:latin typeface="Canva Sans"/>
                          <a:ea typeface="Canva Sans"/>
                          <a:cs typeface="Canva Sans"/>
                          <a:sym typeface="Canva Sans"/>
                        </a:rPr>
                        <a:t>RF-01</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La página debe permitir realizar el proceso de inscripción</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Decanatura de Sistemas</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Alta</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En progreso</a:t>
                      </a:r>
                      <a:endParaRPr lang="en-US" sz="1100"/>
                    </a:p>
                    <a:p>
                      <a:pPr algn="ctr">
                        <a:lnSpc>
                          <a:spcPts val="2659"/>
                        </a:lnSpc>
                      </a:pPr>
                      <a:r>
                        <a:rPr lang="en-US" sz="1899">
                          <a:solidFill>
                            <a:srgbClr val="FFFFFF"/>
                          </a:solidFill>
                          <a:latin typeface="Canva Sans"/>
                          <a:ea typeface="Canva Sans"/>
                          <a:cs typeface="Canva Sans"/>
                          <a:sym typeface="Canva Sans"/>
                        </a:rPr>
                        <a:t>(Análisis de requerimientos)</a:t>
                      </a:r>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Squad DOSW</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028998">
                <a:tc>
                  <a:txBody>
                    <a:bodyPr anchor="t" rtlCol="false"/>
                    <a:lstStyle/>
                    <a:p>
                      <a:pPr algn="ctr">
                        <a:lnSpc>
                          <a:spcPts val="265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bl>
          </a:graphicData>
        </a:graphic>
      </p:graphicFrame>
      <p:sp>
        <p:nvSpPr>
          <p:cNvPr name="TextBox 7" id="7"/>
          <p:cNvSpPr txBox="true"/>
          <p:nvPr/>
        </p:nvSpPr>
        <p:spPr>
          <a:xfrm rot="0">
            <a:off x="0" y="1835113"/>
            <a:ext cx="18288000" cy="812387"/>
          </a:xfrm>
          <a:prstGeom prst="rect">
            <a:avLst/>
          </a:prstGeom>
        </p:spPr>
        <p:txBody>
          <a:bodyPr anchor="t" rtlCol="false" tIns="0" lIns="0" bIns="0" rIns="0">
            <a:spAutoFit/>
          </a:bodyPr>
          <a:lstStyle/>
          <a:p>
            <a:pPr algn="ctr">
              <a:lnSpc>
                <a:spcPts val="6672"/>
              </a:lnSpc>
              <a:spcBef>
                <a:spcPct val="0"/>
              </a:spcBef>
            </a:pPr>
            <a:r>
              <a:rPr lang="en-US" sz="4766">
                <a:solidFill>
                  <a:srgbClr val="F800C0"/>
                </a:solidFill>
                <a:latin typeface="HK Modular"/>
                <a:ea typeface="HK Modular"/>
                <a:cs typeface="HK Modular"/>
                <a:sym typeface="HK Modular"/>
              </a:rPr>
              <a:t>MATRIZ DE TRAZABILIDAD</a:t>
            </a:r>
          </a:p>
        </p:txBody>
      </p:sp>
      <p:sp>
        <p:nvSpPr>
          <p:cNvPr name="TextBox 8" id="8"/>
          <p:cNvSpPr txBox="true"/>
          <p:nvPr/>
        </p:nvSpPr>
        <p:spPr>
          <a:xfrm rot="0">
            <a:off x="1980601" y="3554714"/>
            <a:ext cx="14545532" cy="879475"/>
          </a:xfrm>
          <a:prstGeom prst="rect">
            <a:avLst/>
          </a:prstGeom>
        </p:spPr>
        <p:txBody>
          <a:bodyPr anchor="t" rtlCol="false" tIns="0" lIns="0" bIns="0" rIns="0">
            <a:spAutoFit/>
          </a:bodyPr>
          <a:lstStyle/>
          <a:p>
            <a:pPr algn="ctr">
              <a:lnSpc>
                <a:spcPts val="3499"/>
              </a:lnSpc>
            </a:pPr>
            <a:r>
              <a:rPr lang="en-US" sz="2499">
                <a:solidFill>
                  <a:srgbClr val="FFFFFF"/>
                </a:solidFill>
                <a:latin typeface="Poppins"/>
                <a:ea typeface="Poppins"/>
                <a:cs typeface="Poppins"/>
                <a:sym typeface="Poppins"/>
              </a:rPr>
              <a:t>Inventario de los requerimientos del sistema sobre el cual puedo hacer el seguimiento de cada requerimiento.</a:t>
            </a:r>
          </a:p>
        </p:txBody>
      </p:sp>
      <p:sp>
        <p:nvSpPr>
          <p:cNvPr name="Freeform 9" id="9"/>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3"/>
            <a:stretch>
              <a:fillRect l="0" t="0" r="0" b="0"/>
            </a:stretch>
          </a:blipFill>
        </p:spPr>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996192" y="1886718"/>
            <a:ext cx="12686619" cy="1370532"/>
          </a:xfrm>
          <a:prstGeom prst="rect">
            <a:avLst/>
          </a:prstGeom>
        </p:spPr>
        <p:txBody>
          <a:bodyPr anchor="t" rtlCol="false" tIns="0" lIns="0" bIns="0" rIns="0">
            <a:spAutoFit/>
          </a:bodyPr>
          <a:lstStyle/>
          <a:p>
            <a:pPr algn="ctr">
              <a:lnSpc>
                <a:spcPts val="5493"/>
              </a:lnSpc>
              <a:spcBef>
                <a:spcPct val="0"/>
              </a:spcBef>
            </a:pPr>
            <a:r>
              <a:rPr lang="en-US" sz="3923">
                <a:solidFill>
                  <a:srgbClr val="FF914D"/>
                </a:solidFill>
                <a:latin typeface="HK Modular"/>
                <a:ea typeface="HK Modular"/>
                <a:cs typeface="HK Modular"/>
                <a:sym typeface="HK Modular"/>
              </a:rPr>
              <a:t>PROBLEMAS DE USABILIDAD COMUNES</a:t>
            </a:r>
          </a:p>
        </p:txBody>
      </p:sp>
      <p:sp>
        <p:nvSpPr>
          <p:cNvPr name="Freeform 13" id="13"/>
          <p:cNvSpPr/>
          <p:nvPr/>
        </p:nvSpPr>
        <p:spPr>
          <a:xfrm flipH="false" flipV="false" rot="0">
            <a:off x="8063110" y="-360986"/>
            <a:ext cx="2552782" cy="2552782"/>
          </a:xfrm>
          <a:custGeom>
            <a:avLst/>
            <a:gdLst/>
            <a:ahLst/>
            <a:cxnLst/>
            <a:rect r="r" b="b" t="t" l="l"/>
            <a:pathLst>
              <a:path h="2552782" w="2552782">
                <a:moveTo>
                  <a:pt x="0" y="0"/>
                </a:moveTo>
                <a:lnTo>
                  <a:pt x="2552782" y="0"/>
                </a:lnTo>
                <a:lnTo>
                  <a:pt x="2552782" y="2552782"/>
                </a:lnTo>
                <a:lnTo>
                  <a:pt x="0" y="2552782"/>
                </a:lnTo>
                <a:lnTo>
                  <a:pt x="0" y="0"/>
                </a:lnTo>
                <a:close/>
              </a:path>
            </a:pathLst>
          </a:custGeom>
          <a:blipFill>
            <a:blip r:embed="rId3"/>
            <a:stretch>
              <a:fillRect l="0" t="0" r="0" b="0"/>
            </a:stretch>
          </a:blipFill>
        </p:spPr>
      </p:sp>
      <p:sp>
        <p:nvSpPr>
          <p:cNvPr name="TextBox 14" id="14"/>
          <p:cNvSpPr txBox="true"/>
          <p:nvPr/>
        </p:nvSpPr>
        <p:spPr>
          <a:xfrm rot="0">
            <a:off x="2017017" y="3520887"/>
            <a:ext cx="14644969"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En toda página o plataforma online, es fundamental una correcta usabilida para el éxito de la misma, ya que de lo contrario, los usuarios optarán por otras webs que les resulten más útiles, atractivas, rápidas, eficientes e intuitivas.</a:t>
            </a:r>
          </a:p>
        </p:txBody>
      </p:sp>
      <p:sp>
        <p:nvSpPr>
          <p:cNvPr name="TextBox 15" id="15"/>
          <p:cNvSpPr txBox="true"/>
          <p:nvPr/>
        </p:nvSpPr>
        <p:spPr>
          <a:xfrm rot="0">
            <a:off x="2149528" y="4610417"/>
            <a:ext cx="13988944" cy="10090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Uno de los principales objetivos de la usabilidad de un sitio, es mejorar o facilitar a los visitantes el acceso a la información que buscan, en el menor tiempo posible y de la forma más sencilla posible (navegabilidad y fácil acceso).</a:t>
            </a:r>
          </a:p>
        </p:txBody>
      </p:sp>
      <p:sp>
        <p:nvSpPr>
          <p:cNvPr name="TextBox 16" id="16"/>
          <p:cNvSpPr txBox="true"/>
          <p:nvPr/>
        </p:nvSpPr>
        <p:spPr>
          <a:xfrm rot="0">
            <a:off x="2996192" y="6484529"/>
            <a:ext cx="12686619" cy="673536"/>
          </a:xfrm>
          <a:prstGeom prst="rect">
            <a:avLst/>
          </a:prstGeom>
        </p:spPr>
        <p:txBody>
          <a:bodyPr anchor="t" rtlCol="false" tIns="0" lIns="0" bIns="0" rIns="0">
            <a:spAutoFit/>
          </a:bodyPr>
          <a:lstStyle/>
          <a:p>
            <a:pPr algn="ctr">
              <a:lnSpc>
                <a:spcPts val="5493"/>
              </a:lnSpc>
              <a:spcBef>
                <a:spcPct val="0"/>
              </a:spcBef>
            </a:pPr>
            <a:r>
              <a:rPr lang="en-US" sz="3923">
                <a:solidFill>
                  <a:srgbClr val="F800C0"/>
                </a:solidFill>
                <a:latin typeface="HK Modular"/>
                <a:ea typeface="HK Modular"/>
                <a:cs typeface="HK Modular"/>
                <a:sym typeface="HK Modular"/>
              </a:rPr>
              <a:t>¿ QUE ES LA USABILIDAD?</a:t>
            </a:r>
          </a:p>
        </p:txBody>
      </p:sp>
      <p:sp>
        <p:nvSpPr>
          <p:cNvPr name="TextBox 17" id="17"/>
          <p:cNvSpPr txBox="true"/>
          <p:nvPr/>
        </p:nvSpPr>
        <p:spPr>
          <a:xfrm rot="0">
            <a:off x="2345029" y="7424764"/>
            <a:ext cx="13988944" cy="2675890"/>
          </a:xfrm>
          <a:prstGeom prst="rect">
            <a:avLst/>
          </a:prstGeom>
        </p:spPr>
        <p:txBody>
          <a:bodyPr anchor="t" rtlCol="false" tIns="0" lIns="0" bIns="0" rIns="0">
            <a:spAutoFit/>
          </a:bodyPr>
          <a:lstStyle/>
          <a:p>
            <a:pPr algn="ctr">
              <a:lnSpc>
                <a:spcPts val="2659"/>
              </a:lnSpc>
            </a:pPr>
            <a:r>
              <a:rPr lang="en-US" sz="1899">
                <a:solidFill>
                  <a:srgbClr val="FFFFFF"/>
                </a:solidFill>
                <a:latin typeface="Poppins"/>
                <a:ea typeface="Poppins"/>
                <a:cs typeface="Poppins"/>
                <a:sym typeface="Poppins"/>
              </a:rPr>
              <a:t>Es la sencillez o facilidad con la que los usuarios pueden utilizar una página web, es decir, el desarrollo y diseño web orientado al usuario en búsqueda de su satisfacción.</a:t>
            </a:r>
          </a:p>
          <a:p>
            <a:pPr algn="ctr">
              <a:lnSpc>
                <a:spcPts val="2659"/>
              </a:lnSpc>
            </a:pPr>
          </a:p>
          <a:p>
            <a:pPr algn="ctr">
              <a:lnSpc>
                <a:spcPts val="2659"/>
              </a:lnSpc>
            </a:pPr>
            <a:r>
              <a:rPr lang="en-US" sz="1899">
                <a:solidFill>
                  <a:srgbClr val="FFFFFF"/>
                </a:solidFill>
                <a:latin typeface="Poppins"/>
                <a:ea typeface="Poppins"/>
                <a:cs typeface="Poppins"/>
                <a:sym typeface="Poppins"/>
              </a:rPr>
              <a:t>Tambien mide, el grado de facilidad con el que los usuarios pueden utilizar una web a través del estudio de la relación que se produce entre: Las partes que componen el sitio (sistema de navegación, funcionalidades, contenidos e información ofrecida, etc.) y los usuarios del sitio y su interacción o experiencia de usuario con el mismo.</a:t>
            </a:r>
          </a:p>
          <a:p>
            <a:pPr algn="ctr">
              <a:lnSpc>
                <a:spcPts val="2659"/>
              </a:lnSpc>
              <a:spcBef>
                <a:spcPct val="0"/>
              </a:spcBef>
            </a:pP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996192" y="1886718"/>
            <a:ext cx="12686619" cy="673536"/>
          </a:xfrm>
          <a:prstGeom prst="rect">
            <a:avLst/>
          </a:prstGeom>
        </p:spPr>
        <p:txBody>
          <a:bodyPr anchor="t" rtlCol="false" tIns="0" lIns="0" bIns="0" rIns="0">
            <a:spAutoFit/>
          </a:bodyPr>
          <a:lstStyle/>
          <a:p>
            <a:pPr algn="ctr">
              <a:lnSpc>
                <a:spcPts val="5493"/>
              </a:lnSpc>
              <a:spcBef>
                <a:spcPct val="0"/>
              </a:spcBef>
            </a:pPr>
            <a:r>
              <a:rPr lang="en-US" sz="3923">
                <a:solidFill>
                  <a:srgbClr val="FF914D"/>
                </a:solidFill>
                <a:latin typeface="HK Modular"/>
                <a:ea typeface="HK Modular"/>
                <a:cs typeface="HK Modular"/>
                <a:sym typeface="HK Modular"/>
              </a:rPr>
              <a:t>12 ERRORES DE USABILIDAD</a:t>
            </a:r>
          </a:p>
        </p:txBody>
      </p:sp>
      <p:sp>
        <p:nvSpPr>
          <p:cNvPr name="Freeform 13" id="13"/>
          <p:cNvSpPr/>
          <p:nvPr/>
        </p:nvSpPr>
        <p:spPr>
          <a:xfrm flipH="false" flipV="false" rot="0">
            <a:off x="8063110" y="-360986"/>
            <a:ext cx="2552782" cy="2552782"/>
          </a:xfrm>
          <a:custGeom>
            <a:avLst/>
            <a:gdLst/>
            <a:ahLst/>
            <a:cxnLst/>
            <a:rect r="r" b="b" t="t" l="l"/>
            <a:pathLst>
              <a:path h="2552782" w="2552782">
                <a:moveTo>
                  <a:pt x="0" y="0"/>
                </a:moveTo>
                <a:lnTo>
                  <a:pt x="2552782" y="0"/>
                </a:lnTo>
                <a:lnTo>
                  <a:pt x="2552782" y="2552782"/>
                </a:lnTo>
                <a:lnTo>
                  <a:pt x="0" y="2552782"/>
                </a:lnTo>
                <a:lnTo>
                  <a:pt x="0" y="0"/>
                </a:lnTo>
                <a:close/>
              </a:path>
            </a:pathLst>
          </a:custGeom>
          <a:blipFill>
            <a:blip r:embed="rId3"/>
            <a:stretch>
              <a:fillRect l="0" t="0" r="0" b="0"/>
            </a:stretch>
          </a:blipFill>
        </p:spPr>
      </p:sp>
      <p:sp>
        <p:nvSpPr>
          <p:cNvPr name="TextBox 14" id="14"/>
          <p:cNvSpPr txBox="true"/>
          <p:nvPr/>
        </p:nvSpPr>
        <p:spPr>
          <a:xfrm rot="0">
            <a:off x="2258895" y="3167582"/>
            <a:ext cx="13988944"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Errores de coherencia y consistencia en el desarrollo y diseño de la web/app</a:t>
            </a:r>
          </a:p>
        </p:txBody>
      </p:sp>
      <p:sp>
        <p:nvSpPr>
          <p:cNvPr name="TextBox 15" id="15"/>
          <p:cNvSpPr txBox="true"/>
          <p:nvPr/>
        </p:nvSpPr>
        <p:spPr>
          <a:xfrm rot="0">
            <a:off x="2258895" y="4033722"/>
            <a:ext cx="13988944"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No contar con un diseño responsive</a:t>
            </a:r>
          </a:p>
        </p:txBody>
      </p:sp>
      <p:sp>
        <p:nvSpPr>
          <p:cNvPr name="TextBox 16" id="16"/>
          <p:cNvSpPr txBox="true"/>
          <p:nvPr/>
        </p:nvSpPr>
        <p:spPr>
          <a:xfrm rot="0">
            <a:off x="2345029" y="4899862"/>
            <a:ext cx="13988944"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Mala estructuracion de los contenidos y Deficiente organizacion de la estructura web - Sin contar el numero de clics necesarios para que el usuario lleve acabo cierta acciones</a:t>
            </a:r>
          </a:p>
        </p:txBody>
      </p:sp>
      <p:sp>
        <p:nvSpPr>
          <p:cNvPr name="TextBox 17" id="17"/>
          <p:cNvSpPr txBox="true"/>
          <p:nvPr/>
        </p:nvSpPr>
        <p:spPr>
          <a:xfrm rot="0">
            <a:off x="2511387" y="6204152"/>
            <a:ext cx="13988944"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Textos e informacion poco legible o mal estructurados</a:t>
            </a:r>
          </a:p>
        </p:txBody>
      </p:sp>
      <p:sp>
        <p:nvSpPr>
          <p:cNvPr name="TextBox 18" id="18"/>
          <p:cNvSpPr txBox="true"/>
          <p:nvPr/>
        </p:nvSpPr>
        <p:spPr>
          <a:xfrm rot="0">
            <a:off x="2511387" y="7408493"/>
            <a:ext cx="13988944"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Incorrecta gestion y control de enlaces internos</a:t>
            </a:r>
          </a:p>
        </p:txBody>
      </p:sp>
      <p:sp>
        <p:nvSpPr>
          <p:cNvPr name="TextBox 19" id="19"/>
          <p:cNvSpPr txBox="true"/>
          <p:nvPr/>
        </p:nvSpPr>
        <p:spPr>
          <a:xfrm rot="0">
            <a:off x="2511387" y="8698443"/>
            <a:ext cx="13988944"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Errores de formularios - Datos innecesarios, No poner ejemplos en campos vacios, No incluir opciones, No se comprueba si funciona</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996192" y="1886718"/>
            <a:ext cx="12686619" cy="673536"/>
          </a:xfrm>
          <a:prstGeom prst="rect">
            <a:avLst/>
          </a:prstGeom>
        </p:spPr>
        <p:txBody>
          <a:bodyPr anchor="t" rtlCol="false" tIns="0" lIns="0" bIns="0" rIns="0">
            <a:spAutoFit/>
          </a:bodyPr>
          <a:lstStyle/>
          <a:p>
            <a:pPr algn="ctr">
              <a:lnSpc>
                <a:spcPts val="5493"/>
              </a:lnSpc>
              <a:spcBef>
                <a:spcPct val="0"/>
              </a:spcBef>
            </a:pPr>
            <a:r>
              <a:rPr lang="en-US" sz="3923">
                <a:solidFill>
                  <a:srgbClr val="FF914D"/>
                </a:solidFill>
                <a:latin typeface="HK Modular"/>
                <a:ea typeface="HK Modular"/>
                <a:cs typeface="HK Modular"/>
                <a:sym typeface="HK Modular"/>
              </a:rPr>
              <a:t>12 ERRORES DE USABILIDAD</a:t>
            </a:r>
          </a:p>
        </p:txBody>
      </p:sp>
      <p:sp>
        <p:nvSpPr>
          <p:cNvPr name="Freeform 13" id="13"/>
          <p:cNvSpPr/>
          <p:nvPr/>
        </p:nvSpPr>
        <p:spPr>
          <a:xfrm flipH="false" flipV="false" rot="0">
            <a:off x="8063110" y="-360986"/>
            <a:ext cx="2552782" cy="2552782"/>
          </a:xfrm>
          <a:custGeom>
            <a:avLst/>
            <a:gdLst/>
            <a:ahLst/>
            <a:cxnLst/>
            <a:rect r="r" b="b" t="t" l="l"/>
            <a:pathLst>
              <a:path h="2552782" w="2552782">
                <a:moveTo>
                  <a:pt x="0" y="0"/>
                </a:moveTo>
                <a:lnTo>
                  <a:pt x="2552782" y="0"/>
                </a:lnTo>
                <a:lnTo>
                  <a:pt x="2552782" y="2552782"/>
                </a:lnTo>
                <a:lnTo>
                  <a:pt x="0" y="2552782"/>
                </a:lnTo>
                <a:lnTo>
                  <a:pt x="0" y="0"/>
                </a:lnTo>
                <a:close/>
              </a:path>
            </a:pathLst>
          </a:custGeom>
          <a:blipFill>
            <a:blip r:embed="rId3"/>
            <a:stretch>
              <a:fillRect l="0" t="0" r="0" b="0"/>
            </a:stretch>
          </a:blipFill>
        </p:spPr>
      </p:sp>
      <p:sp>
        <p:nvSpPr>
          <p:cNvPr name="TextBox 14" id="14"/>
          <p:cNvSpPr txBox="true"/>
          <p:nvPr/>
        </p:nvSpPr>
        <p:spPr>
          <a:xfrm rot="0">
            <a:off x="2258895" y="3167582"/>
            <a:ext cx="13988944"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Falta de mecanismos de busqueda interna o ineficiencia de los mismos</a:t>
            </a:r>
          </a:p>
        </p:txBody>
      </p:sp>
      <p:sp>
        <p:nvSpPr>
          <p:cNvPr name="TextBox 15" id="15"/>
          <p:cNvSpPr txBox="true"/>
          <p:nvPr/>
        </p:nvSpPr>
        <p:spPr>
          <a:xfrm rot="0">
            <a:off x="2258895" y="4033722"/>
            <a:ext cx="13988944"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Nombres de pagina y URLs mal establecidas y no utilizacion del favicon </a:t>
            </a:r>
          </a:p>
        </p:txBody>
      </p:sp>
      <p:sp>
        <p:nvSpPr>
          <p:cNvPr name="TextBox 16" id="16"/>
          <p:cNvSpPr txBox="true"/>
          <p:nvPr/>
        </p:nvSpPr>
        <p:spPr>
          <a:xfrm rot="0">
            <a:off x="2345029" y="4899862"/>
            <a:ext cx="13988944"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No permitir tener un regreso al HOME limpio</a:t>
            </a:r>
          </a:p>
        </p:txBody>
      </p:sp>
      <p:sp>
        <p:nvSpPr>
          <p:cNvPr name="TextBox 17" id="17"/>
          <p:cNvSpPr txBox="true"/>
          <p:nvPr/>
        </p:nvSpPr>
        <p:spPr>
          <a:xfrm rot="0">
            <a:off x="2511387" y="6204152"/>
            <a:ext cx="13988944"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Colocar imagenes sin etiquetas de descripcion</a:t>
            </a:r>
          </a:p>
        </p:txBody>
      </p:sp>
      <p:sp>
        <p:nvSpPr>
          <p:cNvPr name="TextBox 18" id="18"/>
          <p:cNvSpPr txBox="true"/>
          <p:nvPr/>
        </p:nvSpPr>
        <p:spPr>
          <a:xfrm rot="0">
            <a:off x="2511387" y="7408493"/>
            <a:ext cx="13988944"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Lenta velocidad de carga</a:t>
            </a:r>
          </a:p>
        </p:txBody>
      </p:sp>
      <p:sp>
        <p:nvSpPr>
          <p:cNvPr name="TextBox 19" id="19"/>
          <p:cNvSpPr txBox="true"/>
          <p:nvPr/>
        </p:nvSpPr>
        <p:spPr>
          <a:xfrm rot="0">
            <a:off x="2149528" y="8377672"/>
            <a:ext cx="13988944"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Contenido abrumador y no lograr que tu producto sea accesible a todos os usuarios (Incluidos aquellos con discapacidades)</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475113" y="3835125"/>
            <a:ext cx="13556508" cy="2483401"/>
          </a:xfrm>
          <a:prstGeom prst="rect">
            <a:avLst/>
          </a:prstGeom>
        </p:spPr>
        <p:txBody>
          <a:bodyPr anchor="t" rtlCol="false" tIns="0" lIns="0" bIns="0" rIns="0">
            <a:spAutoFit/>
          </a:bodyPr>
          <a:lstStyle/>
          <a:p>
            <a:pPr algn="ctr">
              <a:lnSpc>
                <a:spcPts val="9973"/>
              </a:lnSpc>
              <a:spcBef>
                <a:spcPct val="0"/>
              </a:spcBef>
            </a:pPr>
            <a:r>
              <a:rPr lang="en-US" sz="7123">
                <a:solidFill>
                  <a:srgbClr val="FF914D"/>
                </a:solidFill>
                <a:latin typeface="HK Modular"/>
                <a:ea typeface="HK Modular"/>
                <a:cs typeface="HK Modular"/>
                <a:sym typeface="HK Modular"/>
              </a:rPr>
              <a:t>MANUAL DE IDENTIDAD</a:t>
            </a:r>
          </a:p>
        </p:txBody>
      </p:sp>
      <p:sp>
        <p:nvSpPr>
          <p:cNvPr name="Freeform 13" id="13"/>
          <p:cNvSpPr/>
          <p:nvPr/>
        </p:nvSpPr>
        <p:spPr>
          <a:xfrm flipH="false" flipV="false" rot="0">
            <a:off x="8063110" y="-360986"/>
            <a:ext cx="2552782" cy="2552782"/>
          </a:xfrm>
          <a:custGeom>
            <a:avLst/>
            <a:gdLst/>
            <a:ahLst/>
            <a:cxnLst/>
            <a:rect r="r" b="b" t="t" l="l"/>
            <a:pathLst>
              <a:path h="2552782" w="2552782">
                <a:moveTo>
                  <a:pt x="0" y="0"/>
                </a:moveTo>
                <a:lnTo>
                  <a:pt x="2552782" y="0"/>
                </a:lnTo>
                <a:lnTo>
                  <a:pt x="2552782" y="2552782"/>
                </a:lnTo>
                <a:lnTo>
                  <a:pt x="0" y="2552782"/>
                </a:lnTo>
                <a:lnTo>
                  <a:pt x="0" y="0"/>
                </a:lnTo>
                <a:close/>
              </a:path>
            </a:pathLst>
          </a:custGeom>
          <a:blipFill>
            <a:blip r:embed="rId3"/>
            <a:stretch>
              <a:fillRect l="0" t="0" r="0" b="0"/>
            </a:stretch>
          </a:blipFill>
        </p:spPr>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996192" y="1886718"/>
            <a:ext cx="12686619" cy="673536"/>
          </a:xfrm>
          <a:prstGeom prst="rect">
            <a:avLst/>
          </a:prstGeom>
        </p:spPr>
        <p:txBody>
          <a:bodyPr anchor="t" rtlCol="false" tIns="0" lIns="0" bIns="0" rIns="0">
            <a:spAutoFit/>
          </a:bodyPr>
          <a:lstStyle/>
          <a:p>
            <a:pPr algn="ctr">
              <a:lnSpc>
                <a:spcPts val="5493"/>
              </a:lnSpc>
              <a:spcBef>
                <a:spcPct val="0"/>
              </a:spcBef>
            </a:pPr>
            <a:r>
              <a:rPr lang="en-US" sz="3923">
                <a:solidFill>
                  <a:srgbClr val="FF914D"/>
                </a:solidFill>
                <a:latin typeface="HK Modular"/>
                <a:ea typeface="HK Modular"/>
                <a:cs typeface="HK Modular"/>
                <a:sym typeface="HK Modular"/>
              </a:rPr>
              <a:t>MANUAL DE IDENTIDAD</a:t>
            </a:r>
          </a:p>
        </p:txBody>
      </p:sp>
      <p:sp>
        <p:nvSpPr>
          <p:cNvPr name="Freeform 13" id="13"/>
          <p:cNvSpPr/>
          <p:nvPr/>
        </p:nvSpPr>
        <p:spPr>
          <a:xfrm flipH="false" flipV="false" rot="0">
            <a:off x="8063110" y="-360986"/>
            <a:ext cx="2552782" cy="2552782"/>
          </a:xfrm>
          <a:custGeom>
            <a:avLst/>
            <a:gdLst/>
            <a:ahLst/>
            <a:cxnLst/>
            <a:rect r="r" b="b" t="t" l="l"/>
            <a:pathLst>
              <a:path h="2552782" w="2552782">
                <a:moveTo>
                  <a:pt x="0" y="0"/>
                </a:moveTo>
                <a:lnTo>
                  <a:pt x="2552782" y="0"/>
                </a:lnTo>
                <a:lnTo>
                  <a:pt x="2552782" y="2552782"/>
                </a:lnTo>
                <a:lnTo>
                  <a:pt x="0" y="2552782"/>
                </a:lnTo>
                <a:lnTo>
                  <a:pt x="0" y="0"/>
                </a:lnTo>
                <a:close/>
              </a:path>
            </a:pathLst>
          </a:custGeom>
          <a:blipFill>
            <a:blip r:embed="rId3"/>
            <a:stretch>
              <a:fillRect l="0" t="0" r="0" b="0"/>
            </a:stretch>
          </a:blipFill>
        </p:spPr>
      </p:sp>
      <p:sp>
        <p:nvSpPr>
          <p:cNvPr name="Freeform 14" id="14"/>
          <p:cNvSpPr/>
          <p:nvPr/>
        </p:nvSpPr>
        <p:spPr>
          <a:xfrm flipH="false" flipV="false" rot="0">
            <a:off x="6286990" y="5025959"/>
            <a:ext cx="5932753" cy="4657211"/>
          </a:xfrm>
          <a:custGeom>
            <a:avLst/>
            <a:gdLst/>
            <a:ahLst/>
            <a:cxnLst/>
            <a:rect r="r" b="b" t="t" l="l"/>
            <a:pathLst>
              <a:path h="4657211" w="5932753">
                <a:moveTo>
                  <a:pt x="0" y="0"/>
                </a:moveTo>
                <a:lnTo>
                  <a:pt x="5932754" y="0"/>
                </a:lnTo>
                <a:lnTo>
                  <a:pt x="5932754" y="4657211"/>
                </a:lnTo>
                <a:lnTo>
                  <a:pt x="0" y="4657211"/>
                </a:lnTo>
                <a:lnTo>
                  <a:pt x="0" y="0"/>
                </a:lnTo>
                <a:close/>
              </a:path>
            </a:pathLst>
          </a:custGeom>
          <a:blipFill>
            <a:blip r:embed="rId4"/>
            <a:stretch>
              <a:fillRect l="0" t="0" r="0" b="0"/>
            </a:stretch>
          </a:blipFill>
        </p:spPr>
      </p:sp>
      <p:sp>
        <p:nvSpPr>
          <p:cNvPr name="TextBox 15" id="15"/>
          <p:cNvSpPr txBox="true"/>
          <p:nvPr/>
        </p:nvSpPr>
        <p:spPr>
          <a:xfrm rot="0">
            <a:off x="2693978" y="2912679"/>
            <a:ext cx="13291045"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El manual de identidad incluye estándares para las comunicaciones de una marca de forma verbal o visual a través de diferentes canales y medios, preferiblemente en un documento.</a:t>
            </a:r>
          </a:p>
        </p:txBody>
      </p:sp>
      <p:sp>
        <p:nvSpPr>
          <p:cNvPr name="TextBox 16" id="16"/>
          <p:cNvSpPr txBox="true"/>
          <p:nvPr/>
        </p:nvSpPr>
        <p:spPr>
          <a:xfrm rot="0">
            <a:off x="237286" y="3787206"/>
            <a:ext cx="17408648"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Se puede considerar que es simplemente una guía o un libro de reglas sobre cómo presentar públicamente a una persona o empresa de manera uniforme y cómo mantener su imagen de marca.</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996192" y="1886718"/>
            <a:ext cx="12686619" cy="673536"/>
          </a:xfrm>
          <a:prstGeom prst="rect">
            <a:avLst/>
          </a:prstGeom>
        </p:spPr>
        <p:txBody>
          <a:bodyPr anchor="t" rtlCol="false" tIns="0" lIns="0" bIns="0" rIns="0">
            <a:spAutoFit/>
          </a:bodyPr>
          <a:lstStyle/>
          <a:p>
            <a:pPr algn="ctr">
              <a:lnSpc>
                <a:spcPts val="5493"/>
              </a:lnSpc>
              <a:spcBef>
                <a:spcPct val="0"/>
              </a:spcBef>
            </a:pPr>
            <a:r>
              <a:rPr lang="en-US" sz="3923">
                <a:solidFill>
                  <a:srgbClr val="FF914D"/>
                </a:solidFill>
                <a:latin typeface="HK Modular"/>
                <a:ea typeface="HK Modular"/>
                <a:cs typeface="HK Modular"/>
                <a:sym typeface="HK Modular"/>
              </a:rPr>
              <a:t>MANUAL DE IDENTIDAD</a:t>
            </a:r>
          </a:p>
        </p:txBody>
      </p:sp>
      <p:sp>
        <p:nvSpPr>
          <p:cNvPr name="Freeform 13" id="13"/>
          <p:cNvSpPr/>
          <p:nvPr/>
        </p:nvSpPr>
        <p:spPr>
          <a:xfrm flipH="false" flipV="false" rot="0">
            <a:off x="8063110" y="-360986"/>
            <a:ext cx="2552782" cy="2552782"/>
          </a:xfrm>
          <a:custGeom>
            <a:avLst/>
            <a:gdLst/>
            <a:ahLst/>
            <a:cxnLst/>
            <a:rect r="r" b="b" t="t" l="l"/>
            <a:pathLst>
              <a:path h="2552782" w="2552782">
                <a:moveTo>
                  <a:pt x="0" y="0"/>
                </a:moveTo>
                <a:lnTo>
                  <a:pt x="2552782" y="0"/>
                </a:lnTo>
                <a:lnTo>
                  <a:pt x="2552782" y="2552782"/>
                </a:lnTo>
                <a:lnTo>
                  <a:pt x="0" y="2552782"/>
                </a:lnTo>
                <a:lnTo>
                  <a:pt x="0" y="0"/>
                </a:lnTo>
                <a:close/>
              </a:path>
            </a:pathLst>
          </a:custGeom>
          <a:blipFill>
            <a:blip r:embed="rId3"/>
            <a:stretch>
              <a:fillRect l="0" t="0" r="0" b="0"/>
            </a:stretch>
          </a:blipFill>
        </p:spPr>
      </p:sp>
      <p:sp>
        <p:nvSpPr>
          <p:cNvPr name="TextBox 14" id="14"/>
          <p:cNvSpPr txBox="true"/>
          <p:nvPr/>
        </p:nvSpPr>
        <p:spPr>
          <a:xfrm rot="0">
            <a:off x="1416824" y="2912679"/>
            <a:ext cx="15845354" cy="10090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Una parte de tu estrategia es la construcción de marca. Más allá de lo visual, esto implica definir de manera integral lo que eres como marca. Establecer los pilares de tu marca y lo que representan y significan para ti puede ayudarte a crear directrices claras de marca de manera eficiente más adelante.</a:t>
            </a:r>
          </a:p>
        </p:txBody>
      </p:sp>
      <p:sp>
        <p:nvSpPr>
          <p:cNvPr name="TextBox 15" id="15"/>
          <p:cNvSpPr txBox="true"/>
          <p:nvPr/>
        </p:nvSpPr>
        <p:spPr>
          <a:xfrm rot="0">
            <a:off x="2910058" y="4384058"/>
            <a:ext cx="12686619" cy="673536"/>
          </a:xfrm>
          <a:prstGeom prst="rect">
            <a:avLst/>
          </a:prstGeom>
        </p:spPr>
        <p:txBody>
          <a:bodyPr anchor="t" rtlCol="false" tIns="0" lIns="0" bIns="0" rIns="0">
            <a:spAutoFit/>
          </a:bodyPr>
          <a:lstStyle/>
          <a:p>
            <a:pPr algn="ctr">
              <a:lnSpc>
                <a:spcPts val="5493"/>
              </a:lnSpc>
              <a:spcBef>
                <a:spcPct val="0"/>
              </a:spcBef>
            </a:pPr>
            <a:r>
              <a:rPr lang="en-US" sz="3923">
                <a:solidFill>
                  <a:srgbClr val="F800C0"/>
                </a:solidFill>
                <a:latin typeface="HK Modular"/>
                <a:ea typeface="HK Modular"/>
                <a:cs typeface="HK Modular"/>
                <a:sym typeface="HK Modular"/>
              </a:rPr>
              <a:t>¿QUE DEBO INCLUIR?</a:t>
            </a:r>
          </a:p>
        </p:txBody>
      </p:sp>
      <p:sp>
        <p:nvSpPr>
          <p:cNvPr name="TextBox 16" id="16"/>
          <p:cNvSpPr txBox="true"/>
          <p:nvPr/>
        </p:nvSpPr>
        <p:spPr>
          <a:xfrm rot="0">
            <a:off x="1416824" y="5543368"/>
            <a:ext cx="15845354"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Introduccion con una descripcion clara de tu marca - Cual es su elemento central y los valores/filosofias de tu marca</a:t>
            </a:r>
          </a:p>
        </p:txBody>
      </p:sp>
      <p:sp>
        <p:nvSpPr>
          <p:cNvPr name="TextBox 17" id="17"/>
          <p:cNvSpPr txBox="true"/>
          <p:nvPr/>
        </p:nvSpPr>
        <p:spPr>
          <a:xfrm rot="0">
            <a:off x="1416824" y="6114508"/>
            <a:ext cx="15845354"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Nombre y eslogan</a:t>
            </a:r>
          </a:p>
        </p:txBody>
      </p:sp>
      <p:sp>
        <p:nvSpPr>
          <p:cNvPr name="TextBox 18" id="18"/>
          <p:cNvSpPr txBox="true"/>
          <p:nvPr/>
        </p:nvSpPr>
        <p:spPr>
          <a:xfrm rot="0">
            <a:off x="1416824" y="6685373"/>
            <a:ext cx="15845354"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Publico objetivo</a:t>
            </a:r>
          </a:p>
        </p:txBody>
      </p:sp>
      <p:sp>
        <p:nvSpPr>
          <p:cNvPr name="TextBox 19" id="19"/>
          <p:cNvSpPr txBox="true"/>
          <p:nvPr/>
        </p:nvSpPr>
        <p:spPr>
          <a:xfrm rot="0">
            <a:off x="1416824" y="7305254"/>
            <a:ext cx="15845354"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Paleta de Colores</a:t>
            </a:r>
          </a:p>
        </p:txBody>
      </p:sp>
      <p:sp>
        <p:nvSpPr>
          <p:cNvPr name="TextBox 20" id="20"/>
          <p:cNvSpPr txBox="true"/>
          <p:nvPr/>
        </p:nvSpPr>
        <p:spPr>
          <a:xfrm rot="0">
            <a:off x="1416824" y="7923744"/>
            <a:ext cx="15845354"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Tipografia</a:t>
            </a:r>
          </a:p>
        </p:txBody>
      </p:sp>
      <p:sp>
        <p:nvSpPr>
          <p:cNvPr name="TextBox 21" id="21"/>
          <p:cNvSpPr txBox="true"/>
          <p:nvPr/>
        </p:nvSpPr>
        <p:spPr>
          <a:xfrm rot="0">
            <a:off x="1416824" y="8618434"/>
            <a:ext cx="15845354"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Imagenes utilizadas</a:t>
            </a:r>
          </a:p>
        </p:txBody>
      </p:sp>
      <p:sp>
        <p:nvSpPr>
          <p:cNvPr name="TextBox 22" id="22"/>
          <p:cNvSpPr txBox="true"/>
          <p:nvPr/>
        </p:nvSpPr>
        <p:spPr>
          <a:xfrm rot="0">
            <a:off x="1416824" y="9201150"/>
            <a:ext cx="15845354"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Elementos visuales del diseño - Botones/iconos/guia de estilo</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996192" y="1886718"/>
            <a:ext cx="12686619" cy="673536"/>
          </a:xfrm>
          <a:prstGeom prst="rect">
            <a:avLst/>
          </a:prstGeom>
        </p:spPr>
        <p:txBody>
          <a:bodyPr anchor="t" rtlCol="false" tIns="0" lIns="0" bIns="0" rIns="0">
            <a:spAutoFit/>
          </a:bodyPr>
          <a:lstStyle/>
          <a:p>
            <a:pPr algn="ctr">
              <a:lnSpc>
                <a:spcPts val="5493"/>
              </a:lnSpc>
              <a:spcBef>
                <a:spcPct val="0"/>
              </a:spcBef>
            </a:pPr>
            <a:r>
              <a:rPr lang="en-US" sz="3923">
                <a:solidFill>
                  <a:srgbClr val="FF914D"/>
                </a:solidFill>
                <a:latin typeface="HK Modular"/>
                <a:ea typeface="HK Modular"/>
                <a:cs typeface="HK Modular"/>
                <a:sym typeface="HK Modular"/>
              </a:rPr>
              <a:t>BENCHMARKING VISUAL</a:t>
            </a:r>
          </a:p>
        </p:txBody>
      </p:sp>
      <p:sp>
        <p:nvSpPr>
          <p:cNvPr name="Freeform 13" id="13"/>
          <p:cNvSpPr/>
          <p:nvPr/>
        </p:nvSpPr>
        <p:spPr>
          <a:xfrm flipH="false" flipV="false" rot="0">
            <a:off x="8063110" y="-360986"/>
            <a:ext cx="2552782" cy="2552782"/>
          </a:xfrm>
          <a:custGeom>
            <a:avLst/>
            <a:gdLst/>
            <a:ahLst/>
            <a:cxnLst/>
            <a:rect r="r" b="b" t="t" l="l"/>
            <a:pathLst>
              <a:path h="2552782" w="2552782">
                <a:moveTo>
                  <a:pt x="0" y="0"/>
                </a:moveTo>
                <a:lnTo>
                  <a:pt x="2552782" y="0"/>
                </a:lnTo>
                <a:lnTo>
                  <a:pt x="2552782" y="2552782"/>
                </a:lnTo>
                <a:lnTo>
                  <a:pt x="0" y="2552782"/>
                </a:lnTo>
                <a:lnTo>
                  <a:pt x="0" y="0"/>
                </a:lnTo>
                <a:close/>
              </a:path>
            </a:pathLst>
          </a:custGeom>
          <a:blipFill>
            <a:blip r:embed="rId3"/>
            <a:stretch>
              <a:fillRect l="0" t="0" r="0" b="0"/>
            </a:stretch>
          </a:blipFill>
        </p:spPr>
      </p:sp>
      <p:sp>
        <p:nvSpPr>
          <p:cNvPr name="Freeform 14" id="14"/>
          <p:cNvSpPr/>
          <p:nvPr/>
        </p:nvSpPr>
        <p:spPr>
          <a:xfrm flipH="false" flipV="false" rot="0">
            <a:off x="6490356" y="6159336"/>
            <a:ext cx="5526023" cy="3681713"/>
          </a:xfrm>
          <a:custGeom>
            <a:avLst/>
            <a:gdLst/>
            <a:ahLst/>
            <a:cxnLst/>
            <a:rect r="r" b="b" t="t" l="l"/>
            <a:pathLst>
              <a:path h="3681713" w="5526023">
                <a:moveTo>
                  <a:pt x="0" y="0"/>
                </a:moveTo>
                <a:lnTo>
                  <a:pt x="5526022" y="0"/>
                </a:lnTo>
                <a:lnTo>
                  <a:pt x="5526022" y="3681713"/>
                </a:lnTo>
                <a:lnTo>
                  <a:pt x="0" y="3681713"/>
                </a:lnTo>
                <a:lnTo>
                  <a:pt x="0" y="0"/>
                </a:lnTo>
                <a:close/>
              </a:path>
            </a:pathLst>
          </a:custGeom>
          <a:blipFill>
            <a:blip r:embed="rId4"/>
            <a:stretch>
              <a:fillRect l="0" t="0" r="0" b="0"/>
            </a:stretch>
          </a:blipFill>
        </p:spPr>
      </p:sp>
      <p:sp>
        <p:nvSpPr>
          <p:cNvPr name="TextBox 15" id="15"/>
          <p:cNvSpPr txBox="true"/>
          <p:nvPr/>
        </p:nvSpPr>
        <p:spPr>
          <a:xfrm rot="0">
            <a:off x="2756789" y="2826221"/>
            <a:ext cx="13165423" cy="3009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Supongamos que tienes una tienda de ropa. Un determinado día, notas que tus clientes no están comprando con la misma frecuencia, además de que tienes el stock acumulado. Al mismo tiempo, otra tienda de ropa del mismo barrio está siempre llena y parece continuar con un número alto de ventas. ¿Qué puede estar pasando?</a:t>
            </a:r>
          </a:p>
          <a:p>
            <a:pPr algn="ctr">
              <a:lnSpc>
                <a:spcPts val="2659"/>
              </a:lnSpc>
              <a:spcBef>
                <a:spcPct val="0"/>
              </a:spcBef>
            </a:pPr>
          </a:p>
          <a:p>
            <a:pPr algn="ctr">
              <a:lnSpc>
                <a:spcPts val="2659"/>
              </a:lnSpc>
              <a:spcBef>
                <a:spcPct val="0"/>
              </a:spcBef>
            </a:pPr>
            <a:r>
              <a:rPr lang="en-US" sz="1899">
                <a:solidFill>
                  <a:srgbClr val="FFFFFF"/>
                </a:solidFill>
                <a:latin typeface="Poppins"/>
                <a:ea typeface="Poppins"/>
                <a:cs typeface="Poppins"/>
                <a:sym typeface="Poppins"/>
              </a:rPr>
              <a:t>El benchmarking (en español, punto de referencia) consiste en un estudio profundizado sobre tus competidores para entender las estrategias y mejores prácticas utilizadas por ellos. Siendo así, este análisis permite que tu producto reproduzca o adapte algunas de las acciones para atraer al público y reconquistarlo.</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996192" y="1886718"/>
            <a:ext cx="12686619" cy="673536"/>
          </a:xfrm>
          <a:prstGeom prst="rect">
            <a:avLst/>
          </a:prstGeom>
        </p:spPr>
        <p:txBody>
          <a:bodyPr anchor="t" rtlCol="false" tIns="0" lIns="0" bIns="0" rIns="0">
            <a:spAutoFit/>
          </a:bodyPr>
          <a:lstStyle/>
          <a:p>
            <a:pPr algn="ctr">
              <a:lnSpc>
                <a:spcPts val="5493"/>
              </a:lnSpc>
              <a:spcBef>
                <a:spcPct val="0"/>
              </a:spcBef>
            </a:pPr>
            <a:r>
              <a:rPr lang="en-US" sz="3923">
                <a:solidFill>
                  <a:srgbClr val="FF914D"/>
                </a:solidFill>
                <a:latin typeface="HK Modular"/>
                <a:ea typeface="HK Modular"/>
                <a:cs typeface="HK Modular"/>
                <a:sym typeface="HK Modular"/>
              </a:rPr>
              <a:t>GUIAS DE ESTILO</a:t>
            </a:r>
          </a:p>
        </p:txBody>
      </p:sp>
      <p:sp>
        <p:nvSpPr>
          <p:cNvPr name="Freeform 13" id="13"/>
          <p:cNvSpPr/>
          <p:nvPr/>
        </p:nvSpPr>
        <p:spPr>
          <a:xfrm flipH="false" flipV="false" rot="0">
            <a:off x="8063110" y="-360986"/>
            <a:ext cx="2552782" cy="2552782"/>
          </a:xfrm>
          <a:custGeom>
            <a:avLst/>
            <a:gdLst/>
            <a:ahLst/>
            <a:cxnLst/>
            <a:rect r="r" b="b" t="t" l="l"/>
            <a:pathLst>
              <a:path h="2552782" w="2552782">
                <a:moveTo>
                  <a:pt x="0" y="0"/>
                </a:moveTo>
                <a:lnTo>
                  <a:pt x="2552782" y="0"/>
                </a:lnTo>
                <a:lnTo>
                  <a:pt x="2552782" y="2552782"/>
                </a:lnTo>
                <a:lnTo>
                  <a:pt x="0" y="2552782"/>
                </a:lnTo>
                <a:lnTo>
                  <a:pt x="0" y="0"/>
                </a:lnTo>
                <a:close/>
              </a:path>
            </a:pathLst>
          </a:custGeom>
          <a:blipFill>
            <a:blip r:embed="rId3"/>
            <a:stretch>
              <a:fillRect l="0" t="0" r="0" b="0"/>
            </a:stretch>
          </a:blipFill>
        </p:spPr>
      </p:sp>
      <p:sp>
        <p:nvSpPr>
          <p:cNvPr name="Freeform 14" id="14"/>
          <p:cNvSpPr/>
          <p:nvPr/>
        </p:nvSpPr>
        <p:spPr>
          <a:xfrm flipH="false" flipV="false" rot="0">
            <a:off x="1028700" y="4853274"/>
            <a:ext cx="5775716" cy="3429331"/>
          </a:xfrm>
          <a:custGeom>
            <a:avLst/>
            <a:gdLst/>
            <a:ahLst/>
            <a:cxnLst/>
            <a:rect r="r" b="b" t="t" l="l"/>
            <a:pathLst>
              <a:path h="3429331" w="5775716">
                <a:moveTo>
                  <a:pt x="0" y="0"/>
                </a:moveTo>
                <a:lnTo>
                  <a:pt x="5775716" y="0"/>
                </a:lnTo>
                <a:lnTo>
                  <a:pt x="5775716" y="3429331"/>
                </a:lnTo>
                <a:lnTo>
                  <a:pt x="0" y="3429331"/>
                </a:lnTo>
                <a:lnTo>
                  <a:pt x="0" y="0"/>
                </a:lnTo>
                <a:close/>
              </a:path>
            </a:pathLst>
          </a:custGeom>
          <a:blipFill>
            <a:blip r:embed="rId4"/>
            <a:stretch>
              <a:fillRect l="0" t="0" r="0" b="0"/>
            </a:stretch>
          </a:blipFill>
        </p:spPr>
      </p:sp>
      <p:sp>
        <p:nvSpPr>
          <p:cNvPr name="Freeform 15" id="15"/>
          <p:cNvSpPr/>
          <p:nvPr/>
        </p:nvSpPr>
        <p:spPr>
          <a:xfrm flipH="false" flipV="false" rot="0">
            <a:off x="7635280" y="4932648"/>
            <a:ext cx="3867119" cy="2917975"/>
          </a:xfrm>
          <a:custGeom>
            <a:avLst/>
            <a:gdLst/>
            <a:ahLst/>
            <a:cxnLst/>
            <a:rect r="r" b="b" t="t" l="l"/>
            <a:pathLst>
              <a:path h="2917975" w="3867119">
                <a:moveTo>
                  <a:pt x="0" y="0"/>
                </a:moveTo>
                <a:lnTo>
                  <a:pt x="3867119" y="0"/>
                </a:lnTo>
                <a:lnTo>
                  <a:pt x="3867119" y="2917975"/>
                </a:lnTo>
                <a:lnTo>
                  <a:pt x="0" y="2917975"/>
                </a:lnTo>
                <a:lnTo>
                  <a:pt x="0" y="0"/>
                </a:lnTo>
                <a:close/>
              </a:path>
            </a:pathLst>
          </a:custGeom>
          <a:blipFill>
            <a:blip r:embed="rId5"/>
            <a:stretch>
              <a:fillRect l="0" t="0" r="0" b="0"/>
            </a:stretch>
          </a:blipFill>
        </p:spPr>
      </p:sp>
      <p:sp>
        <p:nvSpPr>
          <p:cNvPr name="Freeform 16" id="16"/>
          <p:cNvSpPr/>
          <p:nvPr/>
        </p:nvSpPr>
        <p:spPr>
          <a:xfrm flipH="false" flipV="false" rot="0">
            <a:off x="12333263" y="4932648"/>
            <a:ext cx="5359083" cy="3242245"/>
          </a:xfrm>
          <a:custGeom>
            <a:avLst/>
            <a:gdLst/>
            <a:ahLst/>
            <a:cxnLst/>
            <a:rect r="r" b="b" t="t" l="l"/>
            <a:pathLst>
              <a:path h="3242245" w="5359083">
                <a:moveTo>
                  <a:pt x="0" y="0"/>
                </a:moveTo>
                <a:lnTo>
                  <a:pt x="5359082" y="0"/>
                </a:lnTo>
                <a:lnTo>
                  <a:pt x="5359082" y="3242245"/>
                </a:lnTo>
                <a:lnTo>
                  <a:pt x="0" y="3242245"/>
                </a:lnTo>
                <a:lnTo>
                  <a:pt x="0" y="0"/>
                </a:lnTo>
                <a:close/>
              </a:path>
            </a:pathLst>
          </a:custGeom>
          <a:blipFill>
            <a:blip r:embed="rId6"/>
            <a:stretch>
              <a:fillRect l="0" t="0" r="0" b="0"/>
            </a:stretch>
          </a:blipFill>
        </p:spPr>
      </p:sp>
      <p:sp>
        <p:nvSpPr>
          <p:cNvPr name="Freeform 17" id="17"/>
          <p:cNvSpPr/>
          <p:nvPr/>
        </p:nvSpPr>
        <p:spPr>
          <a:xfrm flipH="false" flipV="false" rot="0">
            <a:off x="7843829" y="8058946"/>
            <a:ext cx="3450022" cy="1958120"/>
          </a:xfrm>
          <a:custGeom>
            <a:avLst/>
            <a:gdLst/>
            <a:ahLst/>
            <a:cxnLst/>
            <a:rect r="r" b="b" t="t" l="l"/>
            <a:pathLst>
              <a:path h="1958120" w="3450022">
                <a:moveTo>
                  <a:pt x="0" y="0"/>
                </a:moveTo>
                <a:lnTo>
                  <a:pt x="3450021" y="0"/>
                </a:lnTo>
                <a:lnTo>
                  <a:pt x="3450021" y="1958120"/>
                </a:lnTo>
                <a:lnTo>
                  <a:pt x="0" y="1958120"/>
                </a:lnTo>
                <a:lnTo>
                  <a:pt x="0" y="0"/>
                </a:lnTo>
                <a:close/>
              </a:path>
            </a:pathLst>
          </a:custGeom>
          <a:blipFill>
            <a:blip r:embed="rId7"/>
            <a:stretch>
              <a:fillRect l="0" t="0" r="0" b="0"/>
            </a:stretch>
          </a:blipFill>
        </p:spPr>
      </p:sp>
      <p:sp>
        <p:nvSpPr>
          <p:cNvPr name="TextBox 18" id="18"/>
          <p:cNvSpPr txBox="true"/>
          <p:nvPr/>
        </p:nvSpPr>
        <p:spPr>
          <a:xfrm rot="0">
            <a:off x="2168168" y="3006059"/>
            <a:ext cx="14170398" cy="134239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Es un documento que establece las reglas, directrices y estándares visuales que deben seguirse para mantener una identidad visual coherente tanto dentro de tu sitio web como fuera de él.</a:t>
            </a:r>
          </a:p>
          <a:p>
            <a:pPr algn="ctr">
              <a:lnSpc>
                <a:spcPts val="2659"/>
              </a:lnSpc>
              <a:spcBef>
                <a:spcPct val="0"/>
              </a:spcBef>
            </a:pPr>
            <a:r>
              <a:rPr lang="en-US" sz="1899">
                <a:solidFill>
                  <a:srgbClr val="FFFFFF"/>
                </a:solidFill>
                <a:latin typeface="Poppins"/>
                <a:ea typeface="Poppins"/>
                <a:cs typeface="Poppins"/>
                <a:sym typeface="Poppins"/>
              </a:rPr>
              <a:t>Desde la paleta de colores hasta el tono de la redacción, una guía de estilo es la piedra angular sobre la cual se construye la personalidad y la imagen de toda marca en internet.</a:t>
            </a:r>
          </a:p>
        </p:txBody>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996192" y="1886718"/>
            <a:ext cx="12686619" cy="673536"/>
          </a:xfrm>
          <a:prstGeom prst="rect">
            <a:avLst/>
          </a:prstGeom>
        </p:spPr>
        <p:txBody>
          <a:bodyPr anchor="t" rtlCol="false" tIns="0" lIns="0" bIns="0" rIns="0">
            <a:spAutoFit/>
          </a:bodyPr>
          <a:lstStyle/>
          <a:p>
            <a:pPr algn="ctr">
              <a:lnSpc>
                <a:spcPts val="5493"/>
              </a:lnSpc>
              <a:spcBef>
                <a:spcPct val="0"/>
              </a:spcBef>
            </a:pPr>
            <a:r>
              <a:rPr lang="en-US" sz="3923">
                <a:solidFill>
                  <a:srgbClr val="FF914D"/>
                </a:solidFill>
                <a:latin typeface="HK Modular"/>
                <a:ea typeface="HK Modular"/>
                <a:cs typeface="HK Modular"/>
                <a:sym typeface="HK Modular"/>
              </a:rPr>
              <a:t>UX WRITING</a:t>
            </a:r>
          </a:p>
        </p:txBody>
      </p:sp>
      <p:sp>
        <p:nvSpPr>
          <p:cNvPr name="Freeform 13" id="13"/>
          <p:cNvSpPr/>
          <p:nvPr/>
        </p:nvSpPr>
        <p:spPr>
          <a:xfrm flipH="false" flipV="false" rot="0">
            <a:off x="8063110" y="-360986"/>
            <a:ext cx="2552782" cy="2552782"/>
          </a:xfrm>
          <a:custGeom>
            <a:avLst/>
            <a:gdLst/>
            <a:ahLst/>
            <a:cxnLst/>
            <a:rect r="r" b="b" t="t" l="l"/>
            <a:pathLst>
              <a:path h="2552782" w="2552782">
                <a:moveTo>
                  <a:pt x="0" y="0"/>
                </a:moveTo>
                <a:lnTo>
                  <a:pt x="2552782" y="0"/>
                </a:lnTo>
                <a:lnTo>
                  <a:pt x="2552782" y="2552782"/>
                </a:lnTo>
                <a:lnTo>
                  <a:pt x="0" y="2552782"/>
                </a:lnTo>
                <a:lnTo>
                  <a:pt x="0" y="0"/>
                </a:lnTo>
                <a:close/>
              </a:path>
            </a:pathLst>
          </a:custGeom>
          <a:blipFill>
            <a:blip r:embed="rId3"/>
            <a:stretch>
              <a:fillRect l="0" t="0" r="0" b="0"/>
            </a:stretch>
          </a:blipFill>
        </p:spPr>
      </p:sp>
      <p:sp>
        <p:nvSpPr>
          <p:cNvPr name="Freeform 14" id="14"/>
          <p:cNvSpPr/>
          <p:nvPr/>
        </p:nvSpPr>
        <p:spPr>
          <a:xfrm flipH="false" flipV="false" rot="0">
            <a:off x="5419804" y="4664644"/>
            <a:ext cx="7232632" cy="4879848"/>
          </a:xfrm>
          <a:custGeom>
            <a:avLst/>
            <a:gdLst/>
            <a:ahLst/>
            <a:cxnLst/>
            <a:rect r="r" b="b" t="t" l="l"/>
            <a:pathLst>
              <a:path h="4879848" w="7232632">
                <a:moveTo>
                  <a:pt x="0" y="0"/>
                </a:moveTo>
                <a:lnTo>
                  <a:pt x="7232633" y="0"/>
                </a:lnTo>
                <a:lnTo>
                  <a:pt x="7232633" y="4879848"/>
                </a:lnTo>
                <a:lnTo>
                  <a:pt x="0" y="4879848"/>
                </a:lnTo>
                <a:lnTo>
                  <a:pt x="0" y="0"/>
                </a:lnTo>
                <a:close/>
              </a:path>
            </a:pathLst>
          </a:custGeom>
          <a:blipFill>
            <a:blip r:embed="rId4"/>
            <a:stretch>
              <a:fillRect l="0" t="0" r="0" b="0"/>
            </a:stretch>
          </a:blipFill>
        </p:spPr>
      </p:sp>
      <p:sp>
        <p:nvSpPr>
          <p:cNvPr name="TextBox 15" id="15"/>
          <p:cNvSpPr txBox="true"/>
          <p:nvPr/>
        </p:nvSpPr>
        <p:spPr>
          <a:xfrm rot="0">
            <a:off x="2254302" y="2912679"/>
            <a:ext cx="14170398" cy="134239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Es una extensión del Diseño de Experiencia de Usuario o UX que tiene por objetivo definir las palabras y las oraciones más idóneas, que son transmitidas al usuario mientras este usa su herramienta digital. Debido a esto, UX Writing nutre los contenidos de las interfaces o plataformas digitales con textos idóneos para que la experiencia de interacción sea mucho más breve, amigable, sencilla e intuitiva. </a:t>
            </a:r>
          </a:p>
        </p:txBody>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996192" y="1886718"/>
            <a:ext cx="12686619" cy="673536"/>
          </a:xfrm>
          <a:prstGeom prst="rect">
            <a:avLst/>
          </a:prstGeom>
        </p:spPr>
        <p:txBody>
          <a:bodyPr anchor="t" rtlCol="false" tIns="0" lIns="0" bIns="0" rIns="0">
            <a:spAutoFit/>
          </a:bodyPr>
          <a:lstStyle/>
          <a:p>
            <a:pPr algn="ctr">
              <a:lnSpc>
                <a:spcPts val="5493"/>
              </a:lnSpc>
              <a:spcBef>
                <a:spcPct val="0"/>
              </a:spcBef>
            </a:pPr>
            <a:r>
              <a:rPr lang="en-US" sz="3923">
                <a:solidFill>
                  <a:srgbClr val="FF914D"/>
                </a:solidFill>
                <a:latin typeface="HK Modular"/>
                <a:ea typeface="HK Modular"/>
                <a:cs typeface="HK Modular"/>
                <a:sym typeface="HK Modular"/>
              </a:rPr>
              <a:t>MANUAL DE IDENTIDAD</a:t>
            </a:r>
          </a:p>
        </p:txBody>
      </p:sp>
      <p:sp>
        <p:nvSpPr>
          <p:cNvPr name="Freeform 13" id="13"/>
          <p:cNvSpPr/>
          <p:nvPr/>
        </p:nvSpPr>
        <p:spPr>
          <a:xfrm flipH="false" flipV="false" rot="0">
            <a:off x="8063110" y="-360986"/>
            <a:ext cx="2552782" cy="2552782"/>
          </a:xfrm>
          <a:custGeom>
            <a:avLst/>
            <a:gdLst/>
            <a:ahLst/>
            <a:cxnLst/>
            <a:rect r="r" b="b" t="t" l="l"/>
            <a:pathLst>
              <a:path h="2552782" w="2552782">
                <a:moveTo>
                  <a:pt x="0" y="0"/>
                </a:moveTo>
                <a:lnTo>
                  <a:pt x="2552782" y="0"/>
                </a:lnTo>
                <a:lnTo>
                  <a:pt x="2552782" y="2552782"/>
                </a:lnTo>
                <a:lnTo>
                  <a:pt x="0" y="2552782"/>
                </a:lnTo>
                <a:lnTo>
                  <a:pt x="0" y="0"/>
                </a:lnTo>
                <a:close/>
              </a:path>
            </a:pathLst>
          </a:custGeom>
          <a:blipFill>
            <a:blip r:embed="rId3"/>
            <a:stretch>
              <a:fillRect l="0" t="0" r="0" b="0"/>
            </a:stretch>
          </a:blipFill>
        </p:spPr>
      </p:sp>
      <p:sp>
        <p:nvSpPr>
          <p:cNvPr name="Freeform 14" id="14"/>
          <p:cNvSpPr/>
          <p:nvPr/>
        </p:nvSpPr>
        <p:spPr>
          <a:xfrm flipH="false" flipV="false" rot="0">
            <a:off x="10408399" y="3952693"/>
            <a:ext cx="7605692" cy="5057785"/>
          </a:xfrm>
          <a:custGeom>
            <a:avLst/>
            <a:gdLst/>
            <a:ahLst/>
            <a:cxnLst/>
            <a:rect r="r" b="b" t="t" l="l"/>
            <a:pathLst>
              <a:path h="5057785" w="7605692">
                <a:moveTo>
                  <a:pt x="0" y="0"/>
                </a:moveTo>
                <a:lnTo>
                  <a:pt x="7605691" y="0"/>
                </a:lnTo>
                <a:lnTo>
                  <a:pt x="7605691" y="5057786"/>
                </a:lnTo>
                <a:lnTo>
                  <a:pt x="0" y="5057786"/>
                </a:lnTo>
                <a:lnTo>
                  <a:pt x="0" y="0"/>
                </a:lnTo>
                <a:close/>
              </a:path>
            </a:pathLst>
          </a:custGeom>
          <a:blipFill>
            <a:blip r:embed="rId4"/>
            <a:stretch>
              <a:fillRect l="0" t="0" r="0" b="0"/>
            </a:stretch>
          </a:blipFill>
        </p:spPr>
      </p:sp>
      <p:sp>
        <p:nvSpPr>
          <p:cNvPr name="TextBox 15" id="15"/>
          <p:cNvSpPr txBox="true"/>
          <p:nvPr/>
        </p:nvSpPr>
        <p:spPr>
          <a:xfrm rot="0">
            <a:off x="2910058" y="2698133"/>
            <a:ext cx="12686619" cy="673536"/>
          </a:xfrm>
          <a:prstGeom prst="rect">
            <a:avLst/>
          </a:prstGeom>
        </p:spPr>
        <p:txBody>
          <a:bodyPr anchor="t" rtlCol="false" tIns="0" lIns="0" bIns="0" rIns="0">
            <a:spAutoFit/>
          </a:bodyPr>
          <a:lstStyle/>
          <a:p>
            <a:pPr algn="ctr">
              <a:lnSpc>
                <a:spcPts val="5493"/>
              </a:lnSpc>
              <a:spcBef>
                <a:spcPct val="0"/>
              </a:spcBef>
            </a:pPr>
            <a:r>
              <a:rPr lang="en-US" sz="3923">
                <a:solidFill>
                  <a:srgbClr val="F800C0"/>
                </a:solidFill>
                <a:latin typeface="HK Modular"/>
                <a:ea typeface="HK Modular"/>
                <a:cs typeface="HK Modular"/>
                <a:sym typeface="HK Modular"/>
              </a:rPr>
              <a:t>EJERCICIO EN CLASE</a:t>
            </a:r>
          </a:p>
        </p:txBody>
      </p:sp>
      <p:sp>
        <p:nvSpPr>
          <p:cNvPr name="TextBox 16" id="16"/>
          <p:cNvSpPr txBox="true"/>
          <p:nvPr/>
        </p:nvSpPr>
        <p:spPr>
          <a:xfrm rot="0">
            <a:off x="1411521" y="3886018"/>
            <a:ext cx="8092234" cy="6292383"/>
          </a:xfrm>
          <a:prstGeom prst="rect">
            <a:avLst/>
          </a:prstGeom>
        </p:spPr>
        <p:txBody>
          <a:bodyPr anchor="t" rtlCol="false" tIns="0" lIns="0" bIns="0" rIns="0">
            <a:spAutoFit/>
          </a:bodyPr>
          <a:lstStyle/>
          <a:p>
            <a:pPr algn="l">
              <a:lnSpc>
                <a:spcPts val="3350"/>
              </a:lnSpc>
            </a:pPr>
            <a:r>
              <a:rPr lang="en-US" sz="2393">
                <a:solidFill>
                  <a:srgbClr val="FFFFFF"/>
                </a:solidFill>
                <a:latin typeface="Poppins"/>
                <a:ea typeface="Poppins"/>
                <a:cs typeface="Poppins"/>
                <a:sym typeface="Poppins"/>
              </a:rPr>
              <a:t>Esta mañana el equipo directivo de DOSW Company recibió una nueva oportunidad de negocio.</a:t>
            </a:r>
          </a:p>
          <a:p>
            <a:pPr algn="l">
              <a:lnSpc>
                <a:spcPts val="3350"/>
              </a:lnSpc>
            </a:pPr>
            <a:r>
              <a:rPr lang="en-US" sz="2393">
                <a:solidFill>
                  <a:srgbClr val="FFFFFF"/>
                </a:solidFill>
                <a:latin typeface="Poppins"/>
                <a:ea typeface="Poppins"/>
                <a:cs typeface="Poppins"/>
                <a:sym typeface="Poppins"/>
              </a:rPr>
              <a:t>Una empresa colombiana necesita lanzar un nuevo producto al mercado, pero antes de hacerlo requiere construir una identidad sólida que la diferencie de la competencia y genere confianza en sus futuros clientes.</a:t>
            </a:r>
          </a:p>
          <a:p>
            <a:pPr algn="l">
              <a:lnSpc>
                <a:spcPts val="3350"/>
              </a:lnSpc>
            </a:pPr>
            <a:r>
              <a:rPr lang="en-US" sz="2393">
                <a:solidFill>
                  <a:srgbClr val="FFFFFF"/>
                </a:solidFill>
                <a:latin typeface="Poppins"/>
                <a:ea typeface="Poppins"/>
                <a:cs typeface="Poppins"/>
                <a:sym typeface="Poppins"/>
              </a:rPr>
              <a:t>Como parte del Bootcamp, la dirección de DOSW Company ha decidido confiar este proyecto a ustedes.</a:t>
            </a:r>
          </a:p>
          <a:p>
            <a:pPr algn="l">
              <a:lnSpc>
                <a:spcPts val="3350"/>
              </a:lnSpc>
            </a:pPr>
            <a:r>
              <a:rPr lang="en-US" sz="2393">
                <a:solidFill>
                  <a:srgbClr val="FFFFFF"/>
                </a:solidFill>
                <a:latin typeface="Poppins"/>
                <a:ea typeface="Poppins"/>
                <a:cs typeface="Poppins"/>
                <a:sym typeface="Poppins"/>
              </a:rPr>
              <a:t>Esta será la primera prueba para demostrar que están listos para avanzar al siguiente nivel dentro de la compañía.</a:t>
            </a:r>
          </a:p>
          <a:p>
            <a:pPr algn="l">
              <a:lnSpc>
                <a:spcPts val="3350"/>
              </a:lnSpc>
            </a:pPr>
          </a:p>
          <a:p>
            <a:pPr algn="l">
              <a:lnSpc>
                <a:spcPts val="3350"/>
              </a:lnSpc>
              <a:spcBef>
                <a:spcPct val="0"/>
              </a:spcBef>
            </a:pP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996192" y="1886718"/>
            <a:ext cx="12686619" cy="673536"/>
          </a:xfrm>
          <a:prstGeom prst="rect">
            <a:avLst/>
          </a:prstGeom>
        </p:spPr>
        <p:txBody>
          <a:bodyPr anchor="t" rtlCol="false" tIns="0" lIns="0" bIns="0" rIns="0">
            <a:spAutoFit/>
          </a:bodyPr>
          <a:lstStyle/>
          <a:p>
            <a:pPr algn="ctr">
              <a:lnSpc>
                <a:spcPts val="5493"/>
              </a:lnSpc>
              <a:spcBef>
                <a:spcPct val="0"/>
              </a:spcBef>
            </a:pPr>
            <a:r>
              <a:rPr lang="en-US" sz="3923">
                <a:solidFill>
                  <a:srgbClr val="FF914D"/>
                </a:solidFill>
                <a:latin typeface="HK Modular"/>
                <a:ea typeface="HK Modular"/>
                <a:cs typeface="HK Modular"/>
                <a:sym typeface="HK Modular"/>
              </a:rPr>
              <a:t>MANUAL DE IDENTIDAD</a:t>
            </a:r>
          </a:p>
        </p:txBody>
      </p:sp>
      <p:sp>
        <p:nvSpPr>
          <p:cNvPr name="Freeform 13" id="13"/>
          <p:cNvSpPr/>
          <p:nvPr/>
        </p:nvSpPr>
        <p:spPr>
          <a:xfrm flipH="false" flipV="false" rot="0">
            <a:off x="8063110" y="-360986"/>
            <a:ext cx="2552782" cy="2552782"/>
          </a:xfrm>
          <a:custGeom>
            <a:avLst/>
            <a:gdLst/>
            <a:ahLst/>
            <a:cxnLst/>
            <a:rect r="r" b="b" t="t" l="l"/>
            <a:pathLst>
              <a:path h="2552782" w="2552782">
                <a:moveTo>
                  <a:pt x="0" y="0"/>
                </a:moveTo>
                <a:lnTo>
                  <a:pt x="2552782" y="0"/>
                </a:lnTo>
                <a:lnTo>
                  <a:pt x="2552782" y="2552782"/>
                </a:lnTo>
                <a:lnTo>
                  <a:pt x="0" y="2552782"/>
                </a:lnTo>
                <a:lnTo>
                  <a:pt x="0" y="0"/>
                </a:lnTo>
                <a:close/>
              </a:path>
            </a:pathLst>
          </a:custGeom>
          <a:blipFill>
            <a:blip r:embed="rId3"/>
            <a:stretch>
              <a:fillRect l="0" t="0" r="0" b="0"/>
            </a:stretch>
          </a:blipFill>
        </p:spPr>
      </p:sp>
      <p:sp>
        <p:nvSpPr>
          <p:cNvPr name="Freeform 14" id="14"/>
          <p:cNvSpPr/>
          <p:nvPr/>
        </p:nvSpPr>
        <p:spPr>
          <a:xfrm flipH="false" flipV="false" rot="0">
            <a:off x="9626673" y="4311862"/>
            <a:ext cx="8661327" cy="4871997"/>
          </a:xfrm>
          <a:custGeom>
            <a:avLst/>
            <a:gdLst/>
            <a:ahLst/>
            <a:cxnLst/>
            <a:rect r="r" b="b" t="t" l="l"/>
            <a:pathLst>
              <a:path h="4871997" w="8661327">
                <a:moveTo>
                  <a:pt x="0" y="0"/>
                </a:moveTo>
                <a:lnTo>
                  <a:pt x="8661327" y="0"/>
                </a:lnTo>
                <a:lnTo>
                  <a:pt x="8661327" y="4871996"/>
                </a:lnTo>
                <a:lnTo>
                  <a:pt x="0" y="4871996"/>
                </a:lnTo>
                <a:lnTo>
                  <a:pt x="0" y="0"/>
                </a:lnTo>
                <a:close/>
              </a:path>
            </a:pathLst>
          </a:custGeom>
          <a:blipFill>
            <a:blip r:embed="rId4"/>
            <a:stretch>
              <a:fillRect l="0" t="0" r="0" b="0"/>
            </a:stretch>
          </a:blipFill>
        </p:spPr>
      </p:sp>
      <p:sp>
        <p:nvSpPr>
          <p:cNvPr name="TextBox 15" id="15"/>
          <p:cNvSpPr txBox="true"/>
          <p:nvPr/>
        </p:nvSpPr>
        <p:spPr>
          <a:xfrm rot="0">
            <a:off x="2910058" y="2698133"/>
            <a:ext cx="12686619" cy="673536"/>
          </a:xfrm>
          <a:prstGeom prst="rect">
            <a:avLst/>
          </a:prstGeom>
        </p:spPr>
        <p:txBody>
          <a:bodyPr anchor="t" rtlCol="false" tIns="0" lIns="0" bIns="0" rIns="0">
            <a:spAutoFit/>
          </a:bodyPr>
          <a:lstStyle/>
          <a:p>
            <a:pPr algn="ctr">
              <a:lnSpc>
                <a:spcPts val="5493"/>
              </a:lnSpc>
              <a:spcBef>
                <a:spcPct val="0"/>
              </a:spcBef>
            </a:pPr>
            <a:r>
              <a:rPr lang="en-US" sz="3923">
                <a:solidFill>
                  <a:srgbClr val="F800C0"/>
                </a:solidFill>
                <a:latin typeface="HK Modular"/>
                <a:ea typeface="HK Modular"/>
                <a:cs typeface="HK Modular"/>
                <a:sym typeface="HK Modular"/>
              </a:rPr>
              <a:t>EL RETO</a:t>
            </a:r>
          </a:p>
        </p:txBody>
      </p:sp>
      <p:sp>
        <p:nvSpPr>
          <p:cNvPr name="TextBox 16" id="16"/>
          <p:cNvSpPr txBox="true"/>
          <p:nvPr/>
        </p:nvSpPr>
        <p:spPr>
          <a:xfrm rot="0">
            <a:off x="1028700" y="3514543"/>
            <a:ext cx="7795853" cy="6919097"/>
          </a:xfrm>
          <a:prstGeom prst="rect">
            <a:avLst/>
          </a:prstGeom>
        </p:spPr>
        <p:txBody>
          <a:bodyPr anchor="t" rtlCol="false" tIns="0" lIns="0" bIns="0" rIns="0">
            <a:spAutoFit/>
          </a:bodyPr>
          <a:lstStyle/>
          <a:p>
            <a:pPr algn="ctr">
              <a:lnSpc>
                <a:spcPts val="2905"/>
              </a:lnSpc>
            </a:pPr>
          </a:p>
          <a:p>
            <a:pPr algn="ctr">
              <a:lnSpc>
                <a:spcPts val="2905"/>
              </a:lnSpc>
            </a:pPr>
            <a:r>
              <a:rPr lang="en-US" sz="2075">
                <a:solidFill>
                  <a:srgbClr val="FFFFFF"/>
                </a:solidFill>
                <a:latin typeface="Poppins"/>
                <a:ea typeface="Poppins"/>
                <a:cs typeface="Poppins"/>
                <a:sym typeface="Poppins"/>
              </a:rPr>
              <a:t>Cada uno tiene que entregar su propuesta donde deberá elegir:</a:t>
            </a:r>
          </a:p>
          <a:p>
            <a:pPr algn="ctr">
              <a:lnSpc>
                <a:spcPts val="2905"/>
              </a:lnSpc>
            </a:pPr>
          </a:p>
          <a:p>
            <a:pPr algn="l" marL="448091" indent="-224046" lvl="1">
              <a:lnSpc>
                <a:spcPts val="2905"/>
              </a:lnSpc>
              <a:buFont typeface="Arial"/>
              <a:buChar char="•"/>
            </a:pPr>
            <a:r>
              <a:rPr lang="en-US" sz="2075">
                <a:solidFill>
                  <a:srgbClr val="FFFFFF"/>
                </a:solidFill>
                <a:latin typeface="Poppins"/>
                <a:ea typeface="Poppins"/>
                <a:cs typeface="Poppins"/>
                <a:sym typeface="Poppins"/>
              </a:rPr>
              <a:t>El sector de la empresa (Fintech, Videojuegos, Educación, Salud, Deportes, Moda, Inteligencia Artificial, Turismo, etc.).</a:t>
            </a:r>
          </a:p>
          <a:p>
            <a:pPr algn="l" marL="448091" indent="-224046" lvl="1">
              <a:lnSpc>
                <a:spcPts val="2905"/>
              </a:lnSpc>
              <a:buFont typeface="Arial"/>
              <a:buChar char="•"/>
            </a:pPr>
            <a:r>
              <a:rPr lang="en-US" sz="2075">
                <a:solidFill>
                  <a:srgbClr val="FFFFFF"/>
                </a:solidFill>
                <a:latin typeface="Poppins"/>
                <a:ea typeface="Poppins"/>
                <a:cs typeface="Poppins"/>
                <a:sym typeface="Poppins"/>
              </a:rPr>
              <a:t>El nombre de la empresa.</a:t>
            </a:r>
          </a:p>
          <a:p>
            <a:pPr algn="l" marL="448091" indent="-224046" lvl="1">
              <a:lnSpc>
                <a:spcPts val="2905"/>
              </a:lnSpc>
              <a:buFont typeface="Arial"/>
              <a:buChar char="•"/>
            </a:pPr>
            <a:r>
              <a:rPr lang="en-US" sz="2075">
                <a:solidFill>
                  <a:srgbClr val="FFFFFF"/>
                </a:solidFill>
                <a:latin typeface="Poppins"/>
                <a:ea typeface="Poppins"/>
                <a:cs typeface="Poppins"/>
                <a:sym typeface="Poppins"/>
              </a:rPr>
              <a:t>El producto o servicio que ofrecerá.</a:t>
            </a:r>
          </a:p>
          <a:p>
            <a:pPr algn="l" marL="448091" indent="-224046" lvl="1">
              <a:lnSpc>
                <a:spcPts val="2905"/>
              </a:lnSpc>
              <a:buFont typeface="Arial"/>
              <a:buChar char="•"/>
            </a:pPr>
            <a:r>
              <a:rPr lang="en-US" sz="2075">
                <a:solidFill>
                  <a:srgbClr val="FFFFFF"/>
                </a:solidFill>
                <a:latin typeface="Poppins"/>
                <a:ea typeface="Poppins"/>
                <a:cs typeface="Poppins"/>
                <a:sym typeface="Poppins"/>
              </a:rPr>
              <a:t>A partir de esa información deberán construir una propuesta de Manual de Identidad, pensando en que ese producto será lanzado al mercado y deberá transmitir confianza, personalidad y una experiencia coherente para sus usuarios.</a:t>
            </a:r>
          </a:p>
          <a:p>
            <a:pPr algn="l" marL="448091" indent="-224046" lvl="1">
              <a:lnSpc>
                <a:spcPts val="2905"/>
              </a:lnSpc>
              <a:buFont typeface="Arial"/>
              <a:buChar char="•"/>
            </a:pPr>
            <a:r>
              <a:rPr lang="en-US" sz="2075">
                <a:solidFill>
                  <a:srgbClr val="FFFFFF"/>
                </a:solidFill>
                <a:latin typeface="Poppins"/>
                <a:ea typeface="Poppins"/>
                <a:cs typeface="Poppins"/>
                <a:sym typeface="Poppins"/>
              </a:rPr>
              <a:t>No diseñarán únicamente un logo, construirán la identidad completa de un producto.</a:t>
            </a:r>
          </a:p>
          <a:p>
            <a:pPr algn="ctr">
              <a:lnSpc>
                <a:spcPts val="2905"/>
              </a:lnSpc>
            </a:pPr>
          </a:p>
          <a:p>
            <a:pPr algn="ctr">
              <a:lnSpc>
                <a:spcPts val="2905"/>
              </a:lnSpc>
            </a:pPr>
          </a:p>
          <a:p>
            <a:pPr algn="ctr">
              <a:lnSpc>
                <a:spcPts val="2905"/>
              </a:lnSpc>
              <a:spcBef>
                <a:spcPct val="0"/>
              </a:spcBef>
            </a:pP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996192" y="1886718"/>
            <a:ext cx="12686619" cy="673536"/>
          </a:xfrm>
          <a:prstGeom prst="rect">
            <a:avLst/>
          </a:prstGeom>
        </p:spPr>
        <p:txBody>
          <a:bodyPr anchor="t" rtlCol="false" tIns="0" lIns="0" bIns="0" rIns="0">
            <a:spAutoFit/>
          </a:bodyPr>
          <a:lstStyle/>
          <a:p>
            <a:pPr algn="ctr">
              <a:lnSpc>
                <a:spcPts val="5493"/>
              </a:lnSpc>
              <a:spcBef>
                <a:spcPct val="0"/>
              </a:spcBef>
            </a:pPr>
            <a:r>
              <a:rPr lang="en-US" sz="3923">
                <a:solidFill>
                  <a:srgbClr val="FF914D"/>
                </a:solidFill>
                <a:latin typeface="HK Modular"/>
                <a:ea typeface="HK Modular"/>
                <a:cs typeface="HK Modular"/>
                <a:sym typeface="HK Modular"/>
              </a:rPr>
              <a:t>MANUAL DE IDENTIDAD</a:t>
            </a:r>
          </a:p>
        </p:txBody>
      </p:sp>
      <p:sp>
        <p:nvSpPr>
          <p:cNvPr name="Freeform 13" id="13"/>
          <p:cNvSpPr/>
          <p:nvPr/>
        </p:nvSpPr>
        <p:spPr>
          <a:xfrm flipH="false" flipV="false" rot="0">
            <a:off x="8063110" y="-360986"/>
            <a:ext cx="2552782" cy="2552782"/>
          </a:xfrm>
          <a:custGeom>
            <a:avLst/>
            <a:gdLst/>
            <a:ahLst/>
            <a:cxnLst/>
            <a:rect r="r" b="b" t="t" l="l"/>
            <a:pathLst>
              <a:path h="2552782" w="2552782">
                <a:moveTo>
                  <a:pt x="0" y="0"/>
                </a:moveTo>
                <a:lnTo>
                  <a:pt x="2552782" y="0"/>
                </a:lnTo>
                <a:lnTo>
                  <a:pt x="2552782" y="2552782"/>
                </a:lnTo>
                <a:lnTo>
                  <a:pt x="0" y="2552782"/>
                </a:lnTo>
                <a:lnTo>
                  <a:pt x="0" y="0"/>
                </a:lnTo>
                <a:close/>
              </a:path>
            </a:pathLst>
          </a:custGeom>
          <a:blipFill>
            <a:blip r:embed="rId3"/>
            <a:stretch>
              <a:fillRect l="0" t="0" r="0" b="0"/>
            </a:stretch>
          </a:blipFill>
        </p:spPr>
      </p:sp>
      <p:sp>
        <p:nvSpPr>
          <p:cNvPr name="Freeform 14" id="14"/>
          <p:cNvSpPr/>
          <p:nvPr/>
        </p:nvSpPr>
        <p:spPr>
          <a:xfrm flipH="false" flipV="false" rot="0">
            <a:off x="8997135" y="6988019"/>
            <a:ext cx="1058806" cy="2036165"/>
          </a:xfrm>
          <a:custGeom>
            <a:avLst/>
            <a:gdLst/>
            <a:ahLst/>
            <a:cxnLst/>
            <a:rect r="r" b="b" t="t" l="l"/>
            <a:pathLst>
              <a:path h="2036165" w="1058806">
                <a:moveTo>
                  <a:pt x="0" y="0"/>
                </a:moveTo>
                <a:lnTo>
                  <a:pt x="1058805" y="0"/>
                </a:lnTo>
                <a:lnTo>
                  <a:pt x="1058805" y="2036165"/>
                </a:lnTo>
                <a:lnTo>
                  <a:pt x="0" y="2036165"/>
                </a:lnTo>
                <a:lnTo>
                  <a:pt x="0" y="0"/>
                </a:lnTo>
                <a:close/>
              </a:path>
            </a:pathLst>
          </a:custGeom>
          <a:blipFill>
            <a:blip r:embed="rId4"/>
            <a:stretch>
              <a:fillRect l="0" t="0" r="0" b="0"/>
            </a:stretch>
          </a:blipFill>
        </p:spPr>
      </p:sp>
      <p:sp>
        <p:nvSpPr>
          <p:cNvPr name="TextBox 15" id="15"/>
          <p:cNvSpPr txBox="true"/>
          <p:nvPr/>
        </p:nvSpPr>
        <p:spPr>
          <a:xfrm rot="0">
            <a:off x="1603860" y="6345067"/>
            <a:ext cx="15845354"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Deben tenerlo en su bitacora con commit de Hoy</a:t>
            </a:r>
          </a:p>
        </p:txBody>
      </p:sp>
      <p:sp>
        <p:nvSpPr>
          <p:cNvPr name="TextBox 16" id="16"/>
          <p:cNvSpPr txBox="true"/>
          <p:nvPr/>
        </p:nvSpPr>
        <p:spPr>
          <a:xfrm rot="0">
            <a:off x="2910058" y="2698133"/>
            <a:ext cx="12686619" cy="673536"/>
          </a:xfrm>
          <a:prstGeom prst="rect">
            <a:avLst/>
          </a:prstGeom>
        </p:spPr>
        <p:txBody>
          <a:bodyPr anchor="t" rtlCol="false" tIns="0" lIns="0" bIns="0" rIns="0">
            <a:spAutoFit/>
          </a:bodyPr>
          <a:lstStyle/>
          <a:p>
            <a:pPr algn="ctr">
              <a:lnSpc>
                <a:spcPts val="5493"/>
              </a:lnSpc>
              <a:spcBef>
                <a:spcPct val="0"/>
              </a:spcBef>
            </a:pPr>
            <a:r>
              <a:rPr lang="en-US" sz="3923">
                <a:solidFill>
                  <a:srgbClr val="F800C0"/>
                </a:solidFill>
                <a:latin typeface="HK Modular"/>
                <a:ea typeface="HK Modular"/>
                <a:cs typeface="HK Modular"/>
                <a:sym typeface="HK Modular"/>
              </a:rPr>
              <a:t>EJERCICIO EN CLASE</a:t>
            </a:r>
          </a:p>
        </p:txBody>
      </p:sp>
      <p:sp>
        <p:nvSpPr>
          <p:cNvPr name="TextBox 17" id="17"/>
          <p:cNvSpPr txBox="true"/>
          <p:nvPr/>
        </p:nvSpPr>
        <p:spPr>
          <a:xfrm rot="0">
            <a:off x="2034267" y="4256859"/>
            <a:ext cx="14610467" cy="2145358"/>
          </a:xfrm>
          <a:prstGeom prst="rect">
            <a:avLst/>
          </a:prstGeom>
        </p:spPr>
        <p:txBody>
          <a:bodyPr anchor="t" rtlCol="false" tIns="0" lIns="0" bIns="0" rIns="0">
            <a:spAutoFit/>
          </a:bodyPr>
          <a:lstStyle/>
          <a:p>
            <a:pPr algn="ctr">
              <a:lnSpc>
                <a:spcPts val="2452"/>
              </a:lnSpc>
            </a:pPr>
            <a:r>
              <a:rPr lang="en-US" sz="1751">
                <a:solidFill>
                  <a:srgbClr val="FFFFFF"/>
                </a:solidFill>
                <a:latin typeface="HK Modular"/>
                <a:ea typeface="HK Modular"/>
                <a:cs typeface="HK Modular"/>
                <a:sym typeface="HK Modular"/>
              </a:rPr>
              <a:t>En DOSW Company no construimos únicamente software. Construimos productos que las personas recuerdan, entienden y disfrutan usar.</a:t>
            </a:r>
          </a:p>
          <a:p>
            <a:pPr algn="ctr">
              <a:lnSpc>
                <a:spcPts val="2452"/>
              </a:lnSpc>
            </a:pPr>
            <a:r>
              <a:rPr lang="en-US" sz="1751">
                <a:solidFill>
                  <a:srgbClr val="FFFFFF"/>
                </a:solidFill>
                <a:latin typeface="HK Modular"/>
                <a:ea typeface="HK Modular"/>
                <a:cs typeface="HK Modular"/>
                <a:sym typeface="HK Modular"/>
              </a:rPr>
              <a:t>Este proyecto será su primera oportunidad para demostrar que pueden pensar como un verdadero equipo de Producto, Diseño y Tecnología.</a:t>
            </a:r>
          </a:p>
          <a:p>
            <a:pPr algn="ctr">
              <a:lnSpc>
                <a:spcPts val="2452"/>
              </a:lnSpc>
            </a:pPr>
            <a:r>
              <a:rPr lang="en-US" sz="1751">
                <a:solidFill>
                  <a:srgbClr val="FFFFFF"/>
                </a:solidFill>
                <a:latin typeface="HK Modular"/>
                <a:ea typeface="HK Modular"/>
                <a:cs typeface="HK Modular"/>
                <a:sym typeface="HK Modular"/>
              </a:rPr>
              <a:t>¿Aceptan el reto? 🚀</a:t>
            </a:r>
          </a:p>
          <a:p>
            <a:pPr algn="ctr">
              <a:lnSpc>
                <a:spcPts val="2452"/>
              </a:lnSpc>
            </a:pPr>
          </a:p>
          <a:p>
            <a:pPr algn="ctr">
              <a:lnSpc>
                <a:spcPts val="2452"/>
              </a:lnSpc>
              <a:spcBef>
                <a:spcPct val="0"/>
              </a:spcBef>
            </a:pPr>
          </a:p>
        </p:txBody>
      </p:sp>
      <p:sp>
        <p:nvSpPr>
          <p:cNvPr name="TextBox 18" id="18"/>
          <p:cNvSpPr txBox="true"/>
          <p:nvPr/>
        </p:nvSpPr>
        <p:spPr>
          <a:xfrm rot="0">
            <a:off x="1603860" y="9552837"/>
            <a:ext cx="15845354"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La mejor propuesta va a ganar un Bono de 1 unidad para el parcial de Corte</a:t>
            </a:r>
          </a:p>
        </p:txBody>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803176" y="2326937"/>
            <a:ext cx="10681648" cy="1032889"/>
          </a:xfrm>
          <a:prstGeom prst="rect">
            <a:avLst/>
          </a:prstGeom>
        </p:spPr>
        <p:txBody>
          <a:bodyPr anchor="t" rtlCol="false" tIns="0" lIns="0" bIns="0" rIns="0">
            <a:spAutoFit/>
          </a:bodyPr>
          <a:lstStyle/>
          <a:p>
            <a:pPr algn="ctr">
              <a:lnSpc>
                <a:spcPts val="8393"/>
              </a:lnSpc>
              <a:spcBef>
                <a:spcPct val="0"/>
              </a:spcBef>
            </a:pPr>
            <a:r>
              <a:rPr lang="en-US" sz="5995">
                <a:solidFill>
                  <a:srgbClr val="F800C0"/>
                </a:solidFill>
                <a:latin typeface="HK Modular"/>
                <a:ea typeface="HK Modular"/>
                <a:cs typeface="HK Modular"/>
                <a:sym typeface="HK Modular"/>
              </a:rPr>
              <a:t>TAREA</a:t>
            </a:r>
          </a:p>
        </p:txBody>
      </p:sp>
      <p:sp>
        <p:nvSpPr>
          <p:cNvPr name="TextBox 13" id="13"/>
          <p:cNvSpPr txBox="true"/>
          <p:nvPr/>
        </p:nvSpPr>
        <p:spPr>
          <a:xfrm rot="0">
            <a:off x="2218472" y="4013346"/>
            <a:ext cx="13599328" cy="960121"/>
          </a:xfrm>
          <a:prstGeom prst="rect">
            <a:avLst/>
          </a:prstGeom>
        </p:spPr>
        <p:txBody>
          <a:bodyPr anchor="t" rtlCol="false" tIns="0" lIns="0" bIns="0" rIns="0">
            <a:spAutoFit/>
          </a:bodyPr>
          <a:lstStyle/>
          <a:p>
            <a:pPr algn="ctr" marL="582925" indent="-291463" lvl="1">
              <a:lnSpc>
                <a:spcPts val="3779"/>
              </a:lnSpc>
              <a:buAutoNum type="arabicPeriod" startAt="1"/>
            </a:pPr>
            <a:r>
              <a:rPr lang="en-US" sz="2699">
                <a:solidFill>
                  <a:srgbClr val="FFFFFF"/>
                </a:solidFill>
                <a:latin typeface="Poppins"/>
                <a:ea typeface="Poppins"/>
                <a:cs typeface="Poppins"/>
                <a:sym typeface="Poppins"/>
              </a:rPr>
              <a:t>Taller #5 Disponible en Teams para que lo revisen y lo completen - Analisis de Requerimientos Tech Cup</a:t>
            </a:r>
          </a:p>
        </p:txBody>
      </p:sp>
      <p:sp>
        <p:nvSpPr>
          <p:cNvPr name="TextBox 14" id="14"/>
          <p:cNvSpPr txBox="true"/>
          <p:nvPr/>
        </p:nvSpPr>
        <p:spPr>
          <a:xfrm rot="0">
            <a:off x="2344336" y="5792617"/>
            <a:ext cx="13599328" cy="960121"/>
          </a:xfrm>
          <a:prstGeom prst="rect">
            <a:avLst/>
          </a:prstGeom>
        </p:spPr>
        <p:txBody>
          <a:bodyPr anchor="t" rtlCol="false" tIns="0" lIns="0" bIns="0" rIns="0">
            <a:spAutoFit/>
          </a:bodyPr>
          <a:lstStyle/>
          <a:p>
            <a:pPr algn="ctr" marL="582925" indent="-291463" lvl="1">
              <a:lnSpc>
                <a:spcPts val="3779"/>
              </a:lnSpc>
              <a:buAutoNum type="arabicPeriod" startAt="1"/>
            </a:pPr>
            <a:r>
              <a:rPr lang="en-US" sz="2699">
                <a:solidFill>
                  <a:srgbClr val="FFFFFF"/>
                </a:solidFill>
                <a:latin typeface="Poppins"/>
                <a:ea typeface="Poppins"/>
                <a:cs typeface="Poppins"/>
                <a:sym typeface="Poppins"/>
              </a:rPr>
              <a:t>Revisen como funciona figma  - traigan ideas de uso de otras paginas de diseño de wiremocks</a:t>
            </a:r>
          </a:p>
        </p:txBody>
      </p:sp>
      <p:sp>
        <p:nvSpPr>
          <p:cNvPr name="Freeform 15" id="15"/>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3"/>
            <a:stretch>
              <a:fillRect l="0" t="0" r="0" b="0"/>
            </a:stretch>
          </a:blipFill>
        </p:spPr>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5472804" y="3263074"/>
            <a:ext cx="7342393" cy="4130096"/>
          </a:xfrm>
          <a:custGeom>
            <a:avLst/>
            <a:gdLst/>
            <a:ahLst/>
            <a:cxnLst/>
            <a:rect r="r" b="b" t="t" l="l"/>
            <a:pathLst>
              <a:path h="4130096" w="7342393">
                <a:moveTo>
                  <a:pt x="0" y="0"/>
                </a:moveTo>
                <a:lnTo>
                  <a:pt x="7342392" y="0"/>
                </a:lnTo>
                <a:lnTo>
                  <a:pt x="7342392" y="4130097"/>
                </a:lnTo>
                <a:lnTo>
                  <a:pt x="0" y="4130097"/>
                </a:lnTo>
                <a:lnTo>
                  <a:pt x="0" y="0"/>
                </a:lnTo>
                <a:close/>
              </a:path>
            </a:pathLst>
          </a:custGeom>
          <a:blipFill>
            <a:blip r:embed="rId3"/>
            <a:stretch>
              <a:fillRect l="0" t="0" r="0" b="0"/>
            </a:stretch>
          </a:blipFill>
        </p:spPr>
      </p:sp>
      <p:sp>
        <p:nvSpPr>
          <p:cNvPr name="TextBox 13" id="13"/>
          <p:cNvSpPr txBox="true"/>
          <p:nvPr/>
        </p:nvSpPr>
        <p:spPr>
          <a:xfrm rot="0">
            <a:off x="3331289" y="7916064"/>
            <a:ext cx="10955440" cy="1611888"/>
          </a:xfrm>
          <a:prstGeom prst="rect">
            <a:avLst/>
          </a:prstGeom>
        </p:spPr>
        <p:txBody>
          <a:bodyPr anchor="t" rtlCol="false" tIns="0" lIns="0" bIns="0" rIns="0">
            <a:spAutoFit/>
          </a:bodyPr>
          <a:lstStyle/>
          <a:p>
            <a:pPr algn="ctr">
              <a:lnSpc>
                <a:spcPts val="6476"/>
              </a:lnSpc>
              <a:spcBef>
                <a:spcPct val="0"/>
              </a:spcBef>
            </a:pPr>
            <a:r>
              <a:rPr lang="en-US" sz="4626">
                <a:solidFill>
                  <a:srgbClr val="FF751F"/>
                </a:solidFill>
                <a:latin typeface="HK Modular"/>
                <a:ea typeface="HK Modular"/>
                <a:cs typeface="HK Modular"/>
                <a:sym typeface="HK Modular"/>
              </a:rPr>
              <a:t>PROXIMA SESION DE LABORATORIO </a:t>
            </a:r>
          </a:p>
        </p:txBody>
      </p:sp>
      <p:sp>
        <p:nvSpPr>
          <p:cNvPr name="TextBox 14" id="14"/>
          <p:cNvSpPr txBox="true"/>
          <p:nvPr/>
        </p:nvSpPr>
        <p:spPr>
          <a:xfrm rot="0">
            <a:off x="2561247" y="1827378"/>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FF751F"/>
                </a:solidFill>
                <a:latin typeface="HK Modular"/>
                <a:ea typeface="HK Modular"/>
                <a:cs typeface="HK Modular"/>
                <a:sym typeface="HK Modular"/>
              </a:rPr>
              <a:t>NOS VEMOS EN LA </a:t>
            </a:r>
          </a:p>
        </p:txBody>
      </p:sp>
      <p:sp>
        <p:nvSpPr>
          <p:cNvPr name="Freeform 15" id="15"/>
          <p:cNvSpPr/>
          <p:nvPr/>
        </p:nvSpPr>
        <p:spPr>
          <a:xfrm flipH="false" flipV="false" rot="0">
            <a:off x="7984528" y="-334597"/>
            <a:ext cx="2318944" cy="2318944"/>
          </a:xfrm>
          <a:custGeom>
            <a:avLst/>
            <a:gdLst/>
            <a:ahLst/>
            <a:cxnLst/>
            <a:rect r="r" b="b" t="t" l="l"/>
            <a:pathLst>
              <a:path h="2318944" w="2318944">
                <a:moveTo>
                  <a:pt x="0" y="0"/>
                </a:moveTo>
                <a:lnTo>
                  <a:pt x="2318944" y="0"/>
                </a:lnTo>
                <a:lnTo>
                  <a:pt x="2318944" y="2318944"/>
                </a:lnTo>
                <a:lnTo>
                  <a:pt x="0" y="2318944"/>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B5BAC97FAEABB4E9C157EE386378C88" ma:contentTypeVersion="3" ma:contentTypeDescription="Crear nuevo documento." ma:contentTypeScope="" ma:versionID="a485e506546b9dc49e4f01043526fcc8">
  <xsd:schema xmlns:xsd="http://www.w3.org/2001/XMLSchema" xmlns:xs="http://www.w3.org/2001/XMLSchema" xmlns:p="http://schemas.microsoft.com/office/2006/metadata/properties" xmlns:ns2="a4ca1935-4d02-4ee2-b565-35cc2fa3819b" targetNamespace="http://schemas.microsoft.com/office/2006/metadata/properties" ma:root="true" ma:fieldsID="869b673358c31917cf7b18db7e5787e9" ns2:_="">
    <xsd:import namespace="a4ca1935-4d02-4ee2-b565-35cc2fa3819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ca1935-4d02-4ee2-b565-35cc2fa381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DC581CF-60D8-469D-93FA-E4A3E1D656C2}"/>
</file>

<file path=customXml/itemProps2.xml><?xml version="1.0" encoding="utf-8"?>
<ds:datastoreItem xmlns:ds="http://schemas.openxmlformats.org/officeDocument/2006/customXml" ds:itemID="{1B0C2468-BE0C-4A3B-9A66-360ACC6CDBA8}"/>
</file>

<file path=customXml/itemProps3.xml><?xml version="1.0" encoding="utf-8"?>
<ds:datastoreItem xmlns:ds="http://schemas.openxmlformats.org/officeDocument/2006/customXml" ds:itemID="{9F8E7B85-3622-4DF3-BB68-49EFAB591E8B}"/>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DOSW 1 - S04</dc:title>
  <cp:revision>1</cp:revision>
  <dcterms:created xsi:type="dcterms:W3CDTF">2006-08-16T00:00:00Z</dcterms:created>
  <dcterms:modified xsi:type="dcterms:W3CDTF">2011-08-01T06:04:30Z</dcterms:modified>
  <dc:identifier>DAHA5XnBJ3s</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0x0101002B5BAC97FAEABB4E9C157EE386378C88</vt:lpwstr>
  </property>
</Properties>
</file>