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sldIdLst>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Lst>
  <p:sldSz cx="18288000" cy="10287000"/>
  <p:notesSz cx="6858000" cy="9144000"/>
  <p:embeddedFontLst>
    <p:embeddedFont>
      <p:font typeface="Canva Sans" panose="020B0604020202020204" charset="0"/>
      <p:regular r:id="rId83"/>
    </p:embeddedFont>
    <p:embeddedFont>
      <p:font typeface="HK Modular" panose="020B0604020202020204" charset="0"/>
      <p:regular r:id="rId84"/>
    </p:embeddedFont>
    <p:embeddedFont>
      <p:font typeface="Open Sans" panose="020B0606030504020204" pitchFamily="34" charset="0"/>
      <p:regular r:id="rId85"/>
    </p:embeddedFont>
    <p:embeddedFont>
      <p:font typeface="Poppins" panose="00000500000000000000" pitchFamily="2" charset="0"/>
      <p:regular r:id="rId86"/>
    </p:embeddedFont>
    <p:embeddedFont>
      <p:font typeface="Poppins Bold" panose="020B0604020202020204" charset="0"/>
      <p:regular r:id="rId87"/>
    </p:embeddedFont>
    <p:embeddedFont>
      <p:font typeface="Poppins Italics" panose="020B0604020202020204" charset="0"/>
      <p:regular r:id="rId8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104" d="100"/>
          <a:sy n="104" d="100"/>
        </p:scale>
        <p:origin x="474"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2.fntdata"/><Relationship Id="rId89" Type="http://schemas.openxmlformats.org/officeDocument/2006/relationships/presProps" Target="pres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viewProps" Target="viewProps.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font" Target="fonts/font3.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font" Target="fonts/font1.fntdata"/><Relationship Id="rId88" Type="http://schemas.openxmlformats.org/officeDocument/2006/relationships/font" Target="fonts/font6.fntdata"/><Relationship Id="rId9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font" Target="fonts/font4.fntdata"/><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tableStyles" Target="tableStyle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5.fntdata"/><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15.svg"/><Relationship Id="rId4" Type="http://schemas.openxmlformats.org/officeDocument/2006/relationships/image" Target="../media/image14.svg"/></Relationships>
</file>

<file path=ppt/slides/_rels/slide1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18.svg"/><Relationship Id="rId4" Type="http://schemas.openxmlformats.org/officeDocument/2006/relationships/image" Target="../media/image17.sv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21.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5.sv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svg"/><Relationship Id="rId4" Type="http://schemas.openxmlformats.org/officeDocument/2006/relationships/image" Target="../media/image27.sv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8.svg"/><Relationship Id="rId4" Type="http://schemas.openxmlformats.org/officeDocument/2006/relationships/image" Target="../media/image27.sv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sv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8.sv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8.sv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8.sv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0.sv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31.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2.png"/><Relationship Id="rId4" Type="http://schemas.openxmlformats.org/officeDocument/2006/relationships/image" Target="../media/image35.png"/></Relationships>
</file>

<file path=ppt/slides/_rels/slide4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38.png"/><Relationship Id="rId4" Type="http://schemas.openxmlformats.org/officeDocument/2006/relationships/image" Target="../media/image2.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41.sv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4.svg"/><Relationship Id="rId5" Type="http://schemas.openxmlformats.org/officeDocument/2006/relationships/image" Target="../media/image2.png"/><Relationship Id="rId4" Type="http://schemas.openxmlformats.org/officeDocument/2006/relationships/image" Target="../media/image43.svg"/></Relationships>
</file>

<file path=ppt/slides/_rels/slide51.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46.png"/></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4.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47.png"/><Relationship Id="rId4" Type="http://schemas.openxmlformats.org/officeDocument/2006/relationships/image" Target="../media/image49.png"/></Relationships>
</file>

<file path=ppt/slides/_rels/slide55.xml.rels><?xml version="1.0" encoding="UTF-8" standalone="yes"?>
<Relationships xmlns="http://schemas.openxmlformats.org/package/2006/relationships"><Relationship Id="rId3" Type="http://schemas.openxmlformats.org/officeDocument/2006/relationships/image" Target="../media/image48.svg"/><Relationship Id="rId7"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56.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7.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55.png"/><Relationship Id="rId4" Type="http://schemas.openxmlformats.org/officeDocument/2006/relationships/image" Target="../media/image54.svg"/></Relationships>
</file>

<file path=ppt/slides/_rels/slide58.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57.svg"/><Relationship Id="rId4" Type="http://schemas.openxmlformats.org/officeDocument/2006/relationships/image" Target="../media/image56.svg"/></Relationships>
</file>

<file path=ppt/slides/_rels/slide59.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0.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60.png"/><Relationship Id="rId4" Type="http://schemas.openxmlformats.org/officeDocument/2006/relationships/image" Target="../media/image62.png"/></Relationships>
</file>

<file path=ppt/slides/_rels/slide6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64.png"/></Relationships>
</file>

<file path=ppt/slides/_rels/slide6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66.png"/></Relationships>
</file>

<file path=ppt/slides/_rels/slide70.xml.rels><?xml version="1.0" encoding="UTF-8" standalone="yes"?>
<Relationships xmlns="http://schemas.openxmlformats.org/package/2006/relationships"><Relationship Id="rId3" Type="http://schemas.openxmlformats.org/officeDocument/2006/relationships/image" Target="../media/image67.png"/><Relationship Id="rId7"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5.png"/></Relationships>
</file>

<file path=ppt/slides/_rels/slide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56.sv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70.svg"/></Relationships>
</file>

<file path=ppt/slides/_rels/slide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73.png"/><Relationship Id="rId4" Type="http://schemas.openxmlformats.org/officeDocument/2006/relationships/image" Target="../media/image72.png"/></Relationships>
</file>

<file path=ppt/slides/_rels/slide76.xml.rels><?xml version="1.0" encoding="UTF-8" standalone="yes"?>
<Relationships xmlns="http://schemas.openxmlformats.org/package/2006/relationships"><Relationship Id="rId3" Type="http://schemas.openxmlformats.org/officeDocument/2006/relationships/image" Target="../media/image74.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77.xml.rels><?xml version="1.0" encoding="UTF-8" standalone="yes"?>
<Relationships xmlns="http://schemas.openxmlformats.org/package/2006/relationships"><Relationship Id="rId3" Type="http://schemas.openxmlformats.org/officeDocument/2006/relationships/image" Target="../media/image76.svg"/><Relationship Id="rId7" Type="http://schemas.openxmlformats.org/officeDocument/2006/relationships/image" Target="../media/image2.png"/><Relationship Id="rId2" Type="http://schemas.openxmlformats.org/officeDocument/2006/relationships/image" Target="../media/image75.jpeg"/><Relationship Id="rId1" Type="http://schemas.openxmlformats.org/officeDocument/2006/relationships/slideLayout" Target="../slideLayouts/slideLayout7.xml"/><Relationship Id="rId6" Type="http://schemas.openxmlformats.org/officeDocument/2006/relationships/image" Target="../media/image79.png"/><Relationship Id="rId5" Type="http://schemas.openxmlformats.org/officeDocument/2006/relationships/image" Target="../media/image78.svg"/><Relationship Id="rId4" Type="http://schemas.openxmlformats.org/officeDocument/2006/relationships/image" Target="../media/image77.svg"/></Relationships>
</file>

<file path=ppt/slides/_rels/slide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rot="-10800000">
            <a:off x="-874366" y="8434822"/>
            <a:ext cx="10731144" cy="4199330"/>
            <a:chOff x="0" y="0"/>
            <a:chExt cx="3083604" cy="1206681"/>
          </a:xfrm>
        </p:grpSpPr>
        <p:sp>
          <p:nvSpPr>
            <p:cNvPr id="7" name="Freeform 7"/>
            <p:cNvSpPr/>
            <p:nvPr/>
          </p:nvSpPr>
          <p:spPr>
            <a:xfrm>
              <a:off x="0" y="0"/>
              <a:ext cx="3083604" cy="1206681"/>
            </a:xfrm>
            <a:custGeom>
              <a:avLst/>
              <a:gdLst/>
              <a:ahLst/>
              <a:cxnLst/>
              <a:rect l="l" t="t" r="r" b="b"/>
              <a:pathLst>
                <a:path w="3083604" h="1206681">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1">
              <a:gsLst>
                <a:gs pos="0">
                  <a:srgbClr val="000000">
                    <a:alpha val="0"/>
                  </a:srgbClr>
                </a:gs>
                <a:gs pos="100000">
                  <a:srgbClr val="FF00BF">
                    <a:alpha val="100000"/>
                  </a:srgbClr>
                </a:gs>
              </a:gsLst>
              <a:lin ang="0"/>
            </a:gradFill>
          </p:spPr>
          <p:txBody>
            <a:bodyPr/>
            <a:lstStyle/>
            <a:p>
              <a:endParaRPr lang="es-CO"/>
            </a:p>
          </p:txBody>
        </p:sp>
        <p:sp>
          <p:nvSpPr>
            <p:cNvPr id="8" name="TextBox 8"/>
            <p:cNvSpPr txBox="1"/>
            <p:nvPr/>
          </p:nvSpPr>
          <p:spPr>
            <a:xfrm>
              <a:off x="0" y="-38100"/>
              <a:ext cx="3083604" cy="124478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339501" y="-2648321"/>
            <a:ext cx="10731144" cy="4199330"/>
            <a:chOff x="0" y="0"/>
            <a:chExt cx="3083604" cy="1206681"/>
          </a:xfrm>
        </p:grpSpPr>
        <p:sp>
          <p:nvSpPr>
            <p:cNvPr id="10" name="Freeform 10"/>
            <p:cNvSpPr/>
            <p:nvPr/>
          </p:nvSpPr>
          <p:spPr>
            <a:xfrm>
              <a:off x="0" y="0"/>
              <a:ext cx="3083604" cy="1206681"/>
            </a:xfrm>
            <a:custGeom>
              <a:avLst/>
              <a:gdLst/>
              <a:ahLst/>
              <a:cxnLst/>
              <a:rect l="l" t="t" r="r" b="b"/>
              <a:pathLst>
                <a:path w="3083604" h="1206681">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1">
              <a:gsLst>
                <a:gs pos="0">
                  <a:srgbClr val="000000">
                    <a:alpha val="0"/>
                  </a:srgbClr>
                </a:gs>
                <a:gs pos="100000">
                  <a:srgbClr val="FF00BF">
                    <a:alpha val="100000"/>
                  </a:srgbClr>
                </a:gs>
              </a:gsLst>
              <a:lin ang="0"/>
            </a:gradFill>
          </p:spPr>
          <p:txBody>
            <a:bodyPr/>
            <a:lstStyle/>
            <a:p>
              <a:endParaRPr lang="es-CO"/>
            </a:p>
          </p:txBody>
        </p:sp>
        <p:sp>
          <p:nvSpPr>
            <p:cNvPr id="11" name="TextBox 11"/>
            <p:cNvSpPr txBox="1"/>
            <p:nvPr/>
          </p:nvSpPr>
          <p:spPr>
            <a:xfrm>
              <a:off x="0" y="-38100"/>
              <a:ext cx="3083604" cy="1244781"/>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2188759" y="4542816"/>
            <a:ext cx="14301484" cy="1369531"/>
          </a:xfrm>
          <a:prstGeom prst="rect">
            <a:avLst/>
          </a:prstGeom>
        </p:spPr>
        <p:txBody>
          <a:bodyPr lIns="0" tIns="0" rIns="0" bIns="0" rtlCol="0" anchor="t">
            <a:spAutoFit/>
          </a:bodyPr>
          <a:lstStyle/>
          <a:p>
            <a:pPr algn="ctr">
              <a:lnSpc>
                <a:spcPts val="11237"/>
              </a:lnSpc>
              <a:spcBef>
                <a:spcPct val="0"/>
              </a:spcBef>
            </a:pPr>
            <a:r>
              <a:rPr lang="en-US" sz="8026">
                <a:solidFill>
                  <a:srgbClr val="FA18C2"/>
                </a:solidFill>
                <a:latin typeface="HK Modular"/>
                <a:ea typeface="HK Modular"/>
                <a:cs typeface="HK Modular"/>
                <a:sym typeface="HK Modular"/>
              </a:rPr>
              <a:t>AGILISMO</a:t>
            </a:r>
          </a:p>
        </p:txBody>
      </p:sp>
      <p:sp>
        <p:nvSpPr>
          <p:cNvPr id="13" name="Freeform 13"/>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3"/>
            <a:stretch>
              <a:fillRect/>
            </a:stretch>
          </a:blipFill>
        </p:spPr>
        <p:txBody>
          <a:bodyPr/>
          <a:lstStyle/>
          <a:p>
            <a:endParaRPr lang="es-CO"/>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9144000" y="3534991"/>
            <a:ext cx="8115300" cy="6240114"/>
          </a:xfrm>
          <a:custGeom>
            <a:avLst/>
            <a:gdLst/>
            <a:ahLst/>
            <a:cxnLst/>
            <a:rect l="l" t="t" r="r" b="b"/>
            <a:pathLst>
              <a:path w="8115300" h="6240114">
                <a:moveTo>
                  <a:pt x="0" y="0"/>
                </a:moveTo>
                <a:lnTo>
                  <a:pt x="8115300" y="0"/>
                </a:lnTo>
                <a:lnTo>
                  <a:pt x="8115300" y="6240114"/>
                </a:lnTo>
                <a:lnTo>
                  <a:pt x="0" y="6240114"/>
                </a:lnTo>
                <a:lnTo>
                  <a:pt x="0" y="0"/>
                </a:lnTo>
                <a:close/>
              </a:path>
            </a:pathLst>
          </a:custGeom>
          <a:blipFill>
            <a:blip r:embed="rId3"/>
            <a:stretch>
              <a:fillRect/>
            </a:stretch>
          </a:blipFill>
        </p:spPr>
        <p:txBody>
          <a:bodyPr/>
          <a:lstStyle/>
          <a:p>
            <a:endParaRPr lang="es-CO"/>
          </a:p>
        </p:txBody>
      </p:sp>
      <p:sp>
        <p:nvSpPr>
          <p:cNvPr id="7" name="TextBox 7"/>
          <p:cNvSpPr txBox="1"/>
          <p:nvPr/>
        </p:nvSpPr>
        <p:spPr>
          <a:xfrm>
            <a:off x="1028700" y="1816063"/>
            <a:ext cx="16230600" cy="993012"/>
          </a:xfrm>
          <a:prstGeom prst="rect">
            <a:avLst/>
          </a:prstGeom>
        </p:spPr>
        <p:txBody>
          <a:bodyPr lIns="0" tIns="0" rIns="0" bIns="0" rtlCol="0" anchor="t">
            <a:spAutoFit/>
          </a:bodyPr>
          <a:lstStyle/>
          <a:p>
            <a:pPr algn="ctr">
              <a:lnSpc>
                <a:spcPts val="8072"/>
              </a:lnSpc>
              <a:spcBef>
                <a:spcPct val="0"/>
              </a:spcBef>
            </a:pPr>
            <a:r>
              <a:rPr lang="en-US" sz="5766">
                <a:solidFill>
                  <a:srgbClr val="F800C0"/>
                </a:solidFill>
                <a:latin typeface="HK Modular"/>
                <a:ea typeface="HK Modular"/>
                <a:cs typeface="HK Modular"/>
                <a:sym typeface="HK Modular"/>
              </a:rPr>
              <a:t>¿QUÉ ES LO TRADICIONAL?</a:t>
            </a:r>
          </a:p>
        </p:txBody>
      </p:sp>
      <p:sp>
        <p:nvSpPr>
          <p:cNvPr id="8" name="TextBox 8"/>
          <p:cNvSpPr txBox="1"/>
          <p:nvPr/>
        </p:nvSpPr>
        <p:spPr>
          <a:xfrm>
            <a:off x="1416928" y="4733447"/>
            <a:ext cx="6719325" cy="2299563"/>
          </a:xfrm>
          <a:prstGeom prst="rect">
            <a:avLst/>
          </a:prstGeom>
        </p:spPr>
        <p:txBody>
          <a:bodyPr lIns="0" tIns="0" rIns="0" bIns="0" rtlCol="0" anchor="t">
            <a:spAutoFit/>
          </a:bodyPr>
          <a:lstStyle/>
          <a:p>
            <a:pPr algn="ctr">
              <a:lnSpc>
                <a:spcPts val="4502"/>
              </a:lnSpc>
              <a:spcBef>
                <a:spcPct val="0"/>
              </a:spcBef>
            </a:pPr>
            <a:r>
              <a:rPr lang="en-US" sz="3216">
                <a:solidFill>
                  <a:srgbClr val="FFFFFF"/>
                </a:solidFill>
                <a:latin typeface="Poppins"/>
                <a:ea typeface="Poppins"/>
                <a:cs typeface="Poppins"/>
                <a:sym typeface="Poppins"/>
              </a:rPr>
              <a:t>Es un enfoque de gestión de proyectos con diferentes fases que se ejecutan de manera secuencial</a:t>
            </a:r>
          </a:p>
        </p:txBody>
      </p:sp>
      <p:sp>
        <p:nvSpPr>
          <p:cNvPr id="9" name="TextBox 9"/>
          <p:cNvSpPr txBox="1"/>
          <p:nvPr/>
        </p:nvSpPr>
        <p:spPr>
          <a:xfrm>
            <a:off x="2424675" y="3795959"/>
            <a:ext cx="6719325" cy="585063"/>
          </a:xfrm>
          <a:prstGeom prst="rect">
            <a:avLst/>
          </a:prstGeom>
        </p:spPr>
        <p:txBody>
          <a:bodyPr lIns="0" tIns="0" rIns="0" bIns="0" rtlCol="0" anchor="t">
            <a:spAutoFit/>
          </a:bodyPr>
          <a:lstStyle/>
          <a:p>
            <a:pPr algn="l">
              <a:lnSpc>
                <a:spcPts val="4502"/>
              </a:lnSpc>
              <a:spcBef>
                <a:spcPct val="0"/>
              </a:spcBef>
            </a:pPr>
            <a:r>
              <a:rPr lang="en-US" sz="3216" b="1">
                <a:solidFill>
                  <a:srgbClr val="E78939"/>
                </a:solidFill>
                <a:latin typeface="Poppins Bold"/>
                <a:ea typeface="Poppins Bold"/>
                <a:cs typeface="Poppins Bold"/>
                <a:sym typeface="Poppins Bold"/>
              </a:rPr>
              <a:t>Waterfall</a:t>
            </a:r>
            <a:r>
              <a:rPr lang="en-US" sz="3216">
                <a:solidFill>
                  <a:srgbClr val="E78939"/>
                </a:solidFill>
                <a:latin typeface="Poppins"/>
                <a:ea typeface="Poppins"/>
                <a:cs typeface="Poppins"/>
                <a:sym typeface="Poppins"/>
              </a:rPr>
              <a:t> (Cascada)</a:t>
            </a:r>
          </a:p>
        </p:txBody>
      </p:sp>
      <p:sp>
        <p:nvSpPr>
          <p:cNvPr id="10" name="TextBox 10"/>
          <p:cNvSpPr txBox="1"/>
          <p:nvPr/>
        </p:nvSpPr>
        <p:spPr>
          <a:xfrm>
            <a:off x="443832" y="7967117"/>
            <a:ext cx="9032031" cy="1291183"/>
          </a:xfrm>
          <a:prstGeom prst="rect">
            <a:avLst/>
          </a:prstGeom>
        </p:spPr>
        <p:txBody>
          <a:bodyPr lIns="0" tIns="0" rIns="0" bIns="0" rtlCol="0" anchor="t">
            <a:spAutoFit/>
          </a:bodyPr>
          <a:lstStyle/>
          <a:p>
            <a:pPr marL="521624" lvl="1" indent="-260812" algn="l">
              <a:lnSpc>
                <a:spcPts val="3382"/>
              </a:lnSpc>
              <a:buFont typeface="Arial"/>
              <a:buChar char="•"/>
            </a:pPr>
            <a:r>
              <a:rPr lang="en-US" sz="2416">
                <a:solidFill>
                  <a:srgbClr val="FFFFFF"/>
                </a:solidFill>
                <a:latin typeface="Poppins"/>
                <a:ea typeface="Poppins"/>
                <a:cs typeface="Poppins"/>
                <a:sym typeface="Poppins"/>
              </a:rPr>
              <a:t>Proyectos con requerimientos muy bien definidos y resultados predecibles.</a:t>
            </a:r>
          </a:p>
          <a:p>
            <a:pPr marL="521624" lvl="1" indent="-260812" algn="l">
              <a:lnSpc>
                <a:spcPts val="3382"/>
              </a:lnSpc>
              <a:buFont typeface="Arial"/>
              <a:buChar char="•"/>
            </a:pPr>
            <a:r>
              <a:rPr lang="en-US" sz="2416">
                <a:solidFill>
                  <a:srgbClr val="FFFFFF"/>
                </a:solidFill>
                <a:latin typeface="Poppins"/>
                <a:ea typeface="Poppins"/>
                <a:cs typeface="Poppins"/>
                <a:sym typeface="Poppins"/>
              </a:rPr>
              <a:t>Proyectos con requerimientos fijos y pocos cambios.</a:t>
            </a:r>
          </a:p>
        </p:txBody>
      </p:sp>
      <p:sp>
        <p:nvSpPr>
          <p:cNvPr id="11" name="Freeform 11"/>
          <p:cNvSpPr/>
          <p:nvPr/>
        </p:nvSpPr>
        <p:spPr>
          <a:xfrm>
            <a:off x="7774581" y="-226699"/>
            <a:ext cx="2418495" cy="2418495"/>
          </a:xfrm>
          <a:custGeom>
            <a:avLst/>
            <a:gdLst/>
            <a:ahLst/>
            <a:cxnLst/>
            <a:rect l="l" t="t" r="r" b="b"/>
            <a:pathLst>
              <a:path w="2418495" h="2418495">
                <a:moveTo>
                  <a:pt x="0" y="0"/>
                </a:moveTo>
                <a:lnTo>
                  <a:pt x="2418495" y="0"/>
                </a:lnTo>
                <a:lnTo>
                  <a:pt x="2418495" y="2418495"/>
                </a:lnTo>
                <a:lnTo>
                  <a:pt x="0" y="2418495"/>
                </a:lnTo>
                <a:lnTo>
                  <a:pt x="0" y="0"/>
                </a:lnTo>
                <a:close/>
              </a:path>
            </a:pathLst>
          </a:custGeom>
          <a:blipFill>
            <a:blip r:embed="rId4"/>
            <a:stretch>
              <a:fillRect/>
            </a:stretch>
          </a:blipFill>
        </p:spPr>
        <p:txBody>
          <a:bodyPr/>
          <a:lstStyle/>
          <a:p>
            <a:endParaRPr lang="es-CO"/>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8824546" y="4439296"/>
            <a:ext cx="8261811" cy="4163178"/>
          </a:xfrm>
          <a:custGeom>
            <a:avLst/>
            <a:gdLst/>
            <a:ahLst/>
            <a:cxnLst/>
            <a:rect l="l" t="t" r="r" b="b"/>
            <a:pathLst>
              <a:path w="8261811" h="4163178">
                <a:moveTo>
                  <a:pt x="0" y="0"/>
                </a:moveTo>
                <a:lnTo>
                  <a:pt x="8261811" y="0"/>
                </a:lnTo>
                <a:lnTo>
                  <a:pt x="8261811" y="4163179"/>
                </a:lnTo>
                <a:lnTo>
                  <a:pt x="0" y="4163179"/>
                </a:lnTo>
                <a:lnTo>
                  <a:pt x="0" y="0"/>
                </a:lnTo>
                <a:close/>
              </a:path>
            </a:pathLst>
          </a:custGeom>
          <a:blipFill>
            <a:blip r:embed="rId3"/>
            <a:stretch>
              <a:fillRect/>
            </a:stretch>
          </a:blipFill>
        </p:spPr>
        <p:txBody>
          <a:bodyPr/>
          <a:lstStyle/>
          <a:p>
            <a:endParaRPr lang="es-CO"/>
          </a:p>
        </p:txBody>
      </p:sp>
      <p:sp>
        <p:nvSpPr>
          <p:cNvPr id="7" name="TextBox 7"/>
          <p:cNvSpPr txBox="1"/>
          <p:nvPr/>
        </p:nvSpPr>
        <p:spPr>
          <a:xfrm>
            <a:off x="1028700" y="1816063"/>
            <a:ext cx="16230600" cy="2018187"/>
          </a:xfrm>
          <a:prstGeom prst="rect">
            <a:avLst/>
          </a:prstGeom>
        </p:spPr>
        <p:txBody>
          <a:bodyPr lIns="0" tIns="0" rIns="0" bIns="0" rtlCol="0" anchor="t">
            <a:spAutoFit/>
          </a:bodyPr>
          <a:lstStyle/>
          <a:p>
            <a:pPr algn="ctr">
              <a:lnSpc>
                <a:spcPts val="8072"/>
              </a:lnSpc>
              <a:spcBef>
                <a:spcPct val="0"/>
              </a:spcBef>
            </a:pPr>
            <a:r>
              <a:rPr lang="en-US" sz="5766">
                <a:solidFill>
                  <a:srgbClr val="DD7E28"/>
                </a:solidFill>
                <a:latin typeface="HK Modular"/>
                <a:ea typeface="HK Modular"/>
                <a:cs typeface="HK Modular"/>
                <a:sym typeface="HK Modular"/>
              </a:rPr>
              <a:t>¿QUÉ SON LAS METODOLOGÍAS ÁGILES?</a:t>
            </a:r>
          </a:p>
        </p:txBody>
      </p:sp>
      <p:sp>
        <p:nvSpPr>
          <p:cNvPr id="8" name="TextBox 8"/>
          <p:cNvSpPr txBox="1"/>
          <p:nvPr/>
        </p:nvSpPr>
        <p:spPr>
          <a:xfrm>
            <a:off x="1416928" y="4733447"/>
            <a:ext cx="6719325" cy="2299563"/>
          </a:xfrm>
          <a:prstGeom prst="rect">
            <a:avLst/>
          </a:prstGeom>
        </p:spPr>
        <p:txBody>
          <a:bodyPr lIns="0" tIns="0" rIns="0" bIns="0" rtlCol="0" anchor="t">
            <a:spAutoFit/>
          </a:bodyPr>
          <a:lstStyle/>
          <a:p>
            <a:pPr algn="ctr">
              <a:lnSpc>
                <a:spcPts val="4502"/>
              </a:lnSpc>
              <a:spcBef>
                <a:spcPct val="0"/>
              </a:spcBef>
            </a:pPr>
            <a:r>
              <a:rPr lang="en-US" sz="3216">
                <a:solidFill>
                  <a:srgbClr val="FFFFFF"/>
                </a:solidFill>
                <a:latin typeface="Poppins"/>
                <a:ea typeface="Poppins"/>
                <a:cs typeface="Poppins"/>
                <a:sym typeface="Poppins"/>
              </a:rPr>
              <a:t>“Is an approach that divides work into phases, emphasizing </a:t>
            </a:r>
            <a:r>
              <a:rPr lang="en-US" sz="3216" b="1">
                <a:solidFill>
                  <a:srgbClr val="FFFFFF"/>
                </a:solidFill>
                <a:latin typeface="Poppins Bold"/>
                <a:ea typeface="Poppins Bold"/>
                <a:cs typeface="Poppins Bold"/>
                <a:sym typeface="Poppins Bold"/>
              </a:rPr>
              <a:t>continuous delivery</a:t>
            </a:r>
            <a:r>
              <a:rPr lang="en-US" sz="3216">
                <a:solidFill>
                  <a:srgbClr val="FFFFFF"/>
                </a:solidFill>
                <a:latin typeface="Poppins"/>
                <a:ea typeface="Poppins"/>
                <a:cs typeface="Poppins"/>
                <a:sym typeface="Poppins"/>
              </a:rPr>
              <a:t> and </a:t>
            </a:r>
            <a:r>
              <a:rPr lang="en-US" sz="3216" b="1">
                <a:solidFill>
                  <a:srgbClr val="FFFFFF"/>
                </a:solidFill>
                <a:latin typeface="Poppins Bold"/>
                <a:ea typeface="Poppins Bold"/>
                <a:cs typeface="Poppins Bold"/>
                <a:sym typeface="Poppins Bold"/>
              </a:rPr>
              <a:t>improvement</a:t>
            </a:r>
            <a:r>
              <a:rPr lang="en-US" sz="3216">
                <a:solidFill>
                  <a:srgbClr val="FFFFFF"/>
                </a:solidFill>
                <a:latin typeface="Poppins"/>
                <a:ea typeface="Poppins"/>
                <a:cs typeface="Poppins"/>
                <a:sym typeface="Poppins"/>
              </a:rPr>
              <a:t>”.</a:t>
            </a:r>
          </a:p>
        </p:txBody>
      </p:sp>
      <p:sp>
        <p:nvSpPr>
          <p:cNvPr id="9" name="TextBox 9"/>
          <p:cNvSpPr txBox="1"/>
          <p:nvPr/>
        </p:nvSpPr>
        <p:spPr>
          <a:xfrm>
            <a:off x="1416928" y="7095619"/>
            <a:ext cx="6719325" cy="400912"/>
          </a:xfrm>
          <a:prstGeom prst="rect">
            <a:avLst/>
          </a:prstGeom>
        </p:spPr>
        <p:txBody>
          <a:bodyPr lIns="0" tIns="0" rIns="0" bIns="0" rtlCol="0" anchor="t">
            <a:spAutoFit/>
          </a:bodyPr>
          <a:lstStyle/>
          <a:p>
            <a:pPr algn="r">
              <a:lnSpc>
                <a:spcPts val="3102"/>
              </a:lnSpc>
              <a:spcBef>
                <a:spcPct val="0"/>
              </a:spcBef>
            </a:pPr>
            <a:r>
              <a:rPr lang="en-US" sz="2216">
                <a:solidFill>
                  <a:srgbClr val="FFFFFF"/>
                </a:solidFill>
                <a:latin typeface="Poppins"/>
                <a:ea typeface="Poppins"/>
                <a:cs typeface="Poppins"/>
                <a:sym typeface="Poppins"/>
              </a:rPr>
              <a:t>-</a:t>
            </a:r>
            <a:r>
              <a:rPr lang="en-US" sz="2216" i="1">
                <a:solidFill>
                  <a:srgbClr val="FFFFFF"/>
                </a:solidFill>
                <a:latin typeface="Poppins Italics"/>
                <a:ea typeface="Poppins Italics"/>
                <a:cs typeface="Poppins Italics"/>
                <a:sym typeface="Poppins Italics"/>
              </a:rPr>
              <a:t>Atlassian</a:t>
            </a:r>
            <a:r>
              <a:rPr lang="en-US" sz="2216">
                <a:solidFill>
                  <a:srgbClr val="FFFFFF"/>
                </a:solidFill>
                <a:latin typeface="Poppins"/>
                <a:ea typeface="Poppins"/>
                <a:cs typeface="Poppins"/>
                <a:sym typeface="Poppins"/>
              </a:rPr>
              <a:t>-</a:t>
            </a:r>
          </a:p>
        </p:txBody>
      </p:sp>
      <p:sp>
        <p:nvSpPr>
          <p:cNvPr id="10" name="TextBox 10"/>
          <p:cNvSpPr txBox="1"/>
          <p:nvPr/>
        </p:nvSpPr>
        <p:spPr>
          <a:xfrm>
            <a:off x="10367032" y="8749776"/>
            <a:ext cx="6719325" cy="400912"/>
          </a:xfrm>
          <a:prstGeom prst="rect">
            <a:avLst/>
          </a:prstGeom>
        </p:spPr>
        <p:txBody>
          <a:bodyPr lIns="0" tIns="0" rIns="0" bIns="0" rtlCol="0" anchor="t">
            <a:spAutoFit/>
          </a:bodyPr>
          <a:lstStyle/>
          <a:p>
            <a:pPr algn="r">
              <a:lnSpc>
                <a:spcPts val="3102"/>
              </a:lnSpc>
              <a:spcBef>
                <a:spcPct val="0"/>
              </a:spcBef>
            </a:pPr>
            <a:r>
              <a:rPr lang="en-US" sz="2216">
                <a:solidFill>
                  <a:srgbClr val="FFFFFF"/>
                </a:solidFill>
                <a:latin typeface="Poppins"/>
                <a:ea typeface="Poppins"/>
                <a:cs typeface="Poppins"/>
                <a:sym typeface="Poppins"/>
              </a:rPr>
              <a:t>-</a:t>
            </a:r>
            <a:r>
              <a:rPr lang="en-US" sz="2216" i="1">
                <a:solidFill>
                  <a:srgbClr val="FFFFFF"/>
                </a:solidFill>
                <a:latin typeface="Poppins Italics"/>
                <a:ea typeface="Poppins Italics"/>
                <a:cs typeface="Poppins Italics"/>
                <a:sym typeface="Poppins Italics"/>
              </a:rPr>
              <a:t>Ailoitte. Diciembre 2025</a:t>
            </a:r>
            <a:r>
              <a:rPr lang="en-US" sz="2216">
                <a:solidFill>
                  <a:srgbClr val="FFFFFF"/>
                </a:solidFill>
                <a:latin typeface="Poppins"/>
                <a:ea typeface="Poppins"/>
                <a:cs typeface="Poppins"/>
                <a:sym typeface="Poppins"/>
              </a:rPr>
              <a:t>-</a:t>
            </a:r>
          </a:p>
        </p:txBody>
      </p:sp>
      <p:sp>
        <p:nvSpPr>
          <p:cNvPr id="11" name="Freeform 11"/>
          <p:cNvSpPr/>
          <p:nvPr/>
        </p:nvSpPr>
        <p:spPr>
          <a:xfrm>
            <a:off x="7774581" y="-226699"/>
            <a:ext cx="2418495" cy="2418495"/>
          </a:xfrm>
          <a:custGeom>
            <a:avLst/>
            <a:gdLst/>
            <a:ahLst/>
            <a:cxnLst/>
            <a:rect l="l" t="t" r="r" b="b"/>
            <a:pathLst>
              <a:path w="2418495" h="2418495">
                <a:moveTo>
                  <a:pt x="0" y="0"/>
                </a:moveTo>
                <a:lnTo>
                  <a:pt x="2418495" y="0"/>
                </a:lnTo>
                <a:lnTo>
                  <a:pt x="2418495" y="2418495"/>
                </a:lnTo>
                <a:lnTo>
                  <a:pt x="0" y="2418495"/>
                </a:lnTo>
                <a:lnTo>
                  <a:pt x="0" y="0"/>
                </a:lnTo>
                <a:close/>
              </a:path>
            </a:pathLst>
          </a:custGeom>
          <a:blipFill>
            <a:blip r:embed="rId4"/>
            <a:stretch>
              <a:fillRect/>
            </a:stretch>
          </a:blipFill>
        </p:spPr>
        <p:txBody>
          <a:bodyPr/>
          <a:lstStyle/>
          <a:p>
            <a:endParaRPr lang="es-CO"/>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1028700" y="1816063"/>
            <a:ext cx="16230600" cy="2018187"/>
          </a:xfrm>
          <a:prstGeom prst="rect">
            <a:avLst/>
          </a:prstGeom>
        </p:spPr>
        <p:txBody>
          <a:bodyPr lIns="0" tIns="0" rIns="0" bIns="0" rtlCol="0" anchor="t">
            <a:spAutoFit/>
          </a:bodyPr>
          <a:lstStyle/>
          <a:p>
            <a:pPr algn="ctr">
              <a:lnSpc>
                <a:spcPts val="8072"/>
              </a:lnSpc>
              <a:spcBef>
                <a:spcPct val="0"/>
              </a:spcBef>
            </a:pPr>
            <a:r>
              <a:rPr lang="en-US" sz="5766">
                <a:solidFill>
                  <a:srgbClr val="DD7E28"/>
                </a:solidFill>
                <a:latin typeface="HK Modular"/>
                <a:ea typeface="HK Modular"/>
                <a:cs typeface="HK Modular"/>
                <a:sym typeface="HK Modular"/>
              </a:rPr>
              <a:t>¿QUÉ SON LAS METODOLOGÍAS ÁGILES?</a:t>
            </a:r>
          </a:p>
        </p:txBody>
      </p:sp>
      <p:sp>
        <p:nvSpPr>
          <p:cNvPr id="7" name="TextBox 7"/>
          <p:cNvSpPr txBox="1"/>
          <p:nvPr/>
        </p:nvSpPr>
        <p:spPr>
          <a:xfrm>
            <a:off x="1522051" y="4805665"/>
            <a:ext cx="6719325" cy="2299563"/>
          </a:xfrm>
          <a:prstGeom prst="rect">
            <a:avLst/>
          </a:prstGeom>
        </p:spPr>
        <p:txBody>
          <a:bodyPr lIns="0" tIns="0" rIns="0" bIns="0" rtlCol="0" anchor="t">
            <a:spAutoFit/>
          </a:bodyPr>
          <a:lstStyle/>
          <a:p>
            <a:pPr algn="ctr">
              <a:lnSpc>
                <a:spcPts val="4502"/>
              </a:lnSpc>
              <a:spcBef>
                <a:spcPct val="0"/>
              </a:spcBef>
            </a:pPr>
            <a:r>
              <a:rPr lang="en-US" sz="3216">
                <a:solidFill>
                  <a:srgbClr val="F0F7FE"/>
                </a:solidFill>
                <a:latin typeface="Poppins"/>
                <a:ea typeface="Poppins"/>
                <a:cs typeface="Poppins"/>
                <a:sym typeface="Poppins"/>
              </a:rPr>
              <a:t>Capacidad de crear y responder al </a:t>
            </a:r>
            <a:r>
              <a:rPr lang="en-US" sz="3216" b="1">
                <a:solidFill>
                  <a:srgbClr val="F0F7FE"/>
                </a:solidFill>
                <a:latin typeface="Poppins Bold"/>
                <a:ea typeface="Poppins Bold"/>
                <a:cs typeface="Poppins Bold"/>
                <a:sym typeface="Poppins Bold"/>
              </a:rPr>
              <a:t>cambio</a:t>
            </a:r>
            <a:r>
              <a:rPr lang="en-US" sz="3216">
                <a:solidFill>
                  <a:srgbClr val="F0F7FE"/>
                </a:solidFill>
                <a:latin typeface="Poppins"/>
                <a:ea typeface="Poppins"/>
                <a:cs typeface="Poppins"/>
                <a:sym typeface="Poppins"/>
              </a:rPr>
              <a:t>, lidiando y teniendo éxito en un entorno incierto o caótico.</a:t>
            </a:r>
          </a:p>
        </p:txBody>
      </p:sp>
      <p:sp>
        <p:nvSpPr>
          <p:cNvPr id="8" name="Freeform 8"/>
          <p:cNvSpPr/>
          <p:nvPr/>
        </p:nvSpPr>
        <p:spPr>
          <a:xfrm>
            <a:off x="9578080" y="4845673"/>
            <a:ext cx="534663" cy="534663"/>
          </a:xfrm>
          <a:custGeom>
            <a:avLst/>
            <a:gdLst/>
            <a:ahLst/>
            <a:cxnLst/>
            <a:rect l="l" t="t" r="r" b="b"/>
            <a:pathLst>
              <a:path w="534663" h="534663">
                <a:moveTo>
                  <a:pt x="0" y="0"/>
                </a:moveTo>
                <a:lnTo>
                  <a:pt x="534663" y="0"/>
                </a:lnTo>
                <a:lnTo>
                  <a:pt x="534663" y="534664"/>
                </a:lnTo>
                <a:lnTo>
                  <a:pt x="0" y="53466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O"/>
          </a:p>
        </p:txBody>
      </p:sp>
      <p:sp>
        <p:nvSpPr>
          <p:cNvPr id="9" name="TextBox 9"/>
          <p:cNvSpPr txBox="1"/>
          <p:nvPr/>
        </p:nvSpPr>
        <p:spPr>
          <a:xfrm>
            <a:off x="10330470" y="4834240"/>
            <a:ext cx="6634627" cy="457836"/>
          </a:xfrm>
          <a:prstGeom prst="rect">
            <a:avLst/>
          </a:prstGeom>
        </p:spPr>
        <p:txBody>
          <a:bodyPr lIns="0" tIns="0" rIns="0" bIns="0" rtlCol="0" anchor="t">
            <a:spAutoFit/>
          </a:bodyPr>
          <a:lstStyle/>
          <a:p>
            <a:pPr algn="l">
              <a:lnSpc>
                <a:spcPts val="3639"/>
              </a:lnSpc>
              <a:spcBef>
                <a:spcPct val="0"/>
              </a:spcBef>
            </a:pPr>
            <a:r>
              <a:rPr lang="en-US" sz="2599">
                <a:solidFill>
                  <a:srgbClr val="FFFFFF"/>
                </a:solidFill>
                <a:latin typeface="Poppins"/>
                <a:ea typeface="Poppins"/>
                <a:cs typeface="Poppins"/>
                <a:sym typeface="Poppins"/>
              </a:rPr>
              <a:t>Mejora la colaboración y productividad.</a:t>
            </a:r>
          </a:p>
        </p:txBody>
      </p:sp>
      <p:sp>
        <p:nvSpPr>
          <p:cNvPr id="10" name="Freeform 10"/>
          <p:cNvSpPr/>
          <p:nvPr/>
        </p:nvSpPr>
        <p:spPr>
          <a:xfrm>
            <a:off x="9578080" y="5582205"/>
            <a:ext cx="534663" cy="534663"/>
          </a:xfrm>
          <a:custGeom>
            <a:avLst/>
            <a:gdLst/>
            <a:ahLst/>
            <a:cxnLst/>
            <a:rect l="l" t="t" r="r" b="b"/>
            <a:pathLst>
              <a:path w="534663" h="534663">
                <a:moveTo>
                  <a:pt x="0" y="0"/>
                </a:moveTo>
                <a:lnTo>
                  <a:pt x="534663" y="0"/>
                </a:lnTo>
                <a:lnTo>
                  <a:pt x="534663" y="534664"/>
                </a:lnTo>
                <a:lnTo>
                  <a:pt x="0" y="53466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O"/>
          </a:p>
        </p:txBody>
      </p:sp>
      <p:sp>
        <p:nvSpPr>
          <p:cNvPr id="11" name="TextBox 11"/>
          <p:cNvSpPr txBox="1"/>
          <p:nvPr/>
        </p:nvSpPr>
        <p:spPr>
          <a:xfrm>
            <a:off x="10330470" y="5570772"/>
            <a:ext cx="6928830" cy="457836"/>
          </a:xfrm>
          <a:prstGeom prst="rect">
            <a:avLst/>
          </a:prstGeom>
        </p:spPr>
        <p:txBody>
          <a:bodyPr lIns="0" tIns="0" rIns="0" bIns="0" rtlCol="0" anchor="t">
            <a:spAutoFit/>
          </a:bodyPr>
          <a:lstStyle/>
          <a:p>
            <a:pPr algn="l">
              <a:lnSpc>
                <a:spcPts val="3639"/>
              </a:lnSpc>
              <a:spcBef>
                <a:spcPct val="0"/>
              </a:spcBef>
            </a:pPr>
            <a:r>
              <a:rPr lang="en-US" sz="2599">
                <a:solidFill>
                  <a:srgbClr val="FFFFFF"/>
                </a:solidFill>
                <a:latin typeface="Poppins"/>
                <a:ea typeface="Poppins"/>
                <a:cs typeface="Poppins"/>
                <a:sym typeface="Poppins"/>
              </a:rPr>
              <a:t>Identifica y remueve riesgos potenciales.</a:t>
            </a:r>
          </a:p>
        </p:txBody>
      </p:sp>
      <p:sp>
        <p:nvSpPr>
          <p:cNvPr id="12" name="Freeform 12"/>
          <p:cNvSpPr/>
          <p:nvPr/>
        </p:nvSpPr>
        <p:spPr>
          <a:xfrm>
            <a:off x="9578080" y="6374044"/>
            <a:ext cx="534663" cy="534663"/>
          </a:xfrm>
          <a:custGeom>
            <a:avLst/>
            <a:gdLst/>
            <a:ahLst/>
            <a:cxnLst/>
            <a:rect l="l" t="t" r="r" b="b"/>
            <a:pathLst>
              <a:path w="534663" h="534663">
                <a:moveTo>
                  <a:pt x="0" y="0"/>
                </a:moveTo>
                <a:lnTo>
                  <a:pt x="534663" y="0"/>
                </a:lnTo>
                <a:lnTo>
                  <a:pt x="534663" y="534663"/>
                </a:lnTo>
                <a:lnTo>
                  <a:pt x="0" y="53466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O"/>
          </a:p>
        </p:txBody>
      </p:sp>
      <p:sp>
        <p:nvSpPr>
          <p:cNvPr id="13" name="TextBox 13"/>
          <p:cNvSpPr txBox="1"/>
          <p:nvPr/>
        </p:nvSpPr>
        <p:spPr>
          <a:xfrm>
            <a:off x="10330470" y="6362610"/>
            <a:ext cx="6033925" cy="457836"/>
          </a:xfrm>
          <a:prstGeom prst="rect">
            <a:avLst/>
          </a:prstGeom>
        </p:spPr>
        <p:txBody>
          <a:bodyPr lIns="0" tIns="0" rIns="0" bIns="0" rtlCol="0" anchor="t">
            <a:spAutoFit/>
          </a:bodyPr>
          <a:lstStyle/>
          <a:p>
            <a:pPr algn="l">
              <a:lnSpc>
                <a:spcPts val="3639"/>
              </a:lnSpc>
              <a:spcBef>
                <a:spcPct val="0"/>
              </a:spcBef>
            </a:pPr>
            <a:r>
              <a:rPr lang="en-US" sz="2599">
                <a:solidFill>
                  <a:srgbClr val="FFFFFF"/>
                </a:solidFill>
                <a:latin typeface="Poppins"/>
                <a:ea typeface="Poppins"/>
                <a:cs typeface="Poppins"/>
                <a:sym typeface="Poppins"/>
              </a:rPr>
              <a:t>Entrega de productos de calidad.</a:t>
            </a:r>
          </a:p>
        </p:txBody>
      </p:sp>
      <p:sp>
        <p:nvSpPr>
          <p:cNvPr id="14" name="Freeform 14"/>
          <p:cNvSpPr/>
          <p:nvPr/>
        </p:nvSpPr>
        <p:spPr>
          <a:xfrm>
            <a:off x="9578080" y="7179372"/>
            <a:ext cx="534663" cy="534663"/>
          </a:xfrm>
          <a:custGeom>
            <a:avLst/>
            <a:gdLst/>
            <a:ahLst/>
            <a:cxnLst/>
            <a:rect l="l" t="t" r="r" b="b"/>
            <a:pathLst>
              <a:path w="534663" h="534663">
                <a:moveTo>
                  <a:pt x="0" y="0"/>
                </a:moveTo>
                <a:lnTo>
                  <a:pt x="534663" y="0"/>
                </a:lnTo>
                <a:lnTo>
                  <a:pt x="534663" y="534663"/>
                </a:lnTo>
                <a:lnTo>
                  <a:pt x="0" y="53466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O"/>
          </a:p>
        </p:txBody>
      </p:sp>
      <p:sp>
        <p:nvSpPr>
          <p:cNvPr id="15" name="TextBox 15"/>
          <p:cNvSpPr txBox="1"/>
          <p:nvPr/>
        </p:nvSpPr>
        <p:spPr>
          <a:xfrm>
            <a:off x="10330470" y="7167938"/>
            <a:ext cx="6033925" cy="457836"/>
          </a:xfrm>
          <a:prstGeom prst="rect">
            <a:avLst/>
          </a:prstGeom>
        </p:spPr>
        <p:txBody>
          <a:bodyPr lIns="0" tIns="0" rIns="0" bIns="0" rtlCol="0" anchor="t">
            <a:spAutoFit/>
          </a:bodyPr>
          <a:lstStyle/>
          <a:p>
            <a:pPr algn="l">
              <a:lnSpc>
                <a:spcPts val="3639"/>
              </a:lnSpc>
              <a:spcBef>
                <a:spcPct val="0"/>
              </a:spcBef>
            </a:pPr>
            <a:r>
              <a:rPr lang="en-US" sz="2599">
                <a:solidFill>
                  <a:srgbClr val="FFFFFF"/>
                </a:solidFill>
                <a:latin typeface="Poppins"/>
                <a:ea typeface="Poppins"/>
                <a:cs typeface="Poppins"/>
                <a:sym typeface="Poppins"/>
              </a:rPr>
              <a:t>Simplifica la planeación.</a:t>
            </a:r>
          </a:p>
        </p:txBody>
      </p:sp>
      <p:sp>
        <p:nvSpPr>
          <p:cNvPr id="16" name="Freeform 16"/>
          <p:cNvSpPr/>
          <p:nvPr/>
        </p:nvSpPr>
        <p:spPr>
          <a:xfrm>
            <a:off x="9578080" y="7914060"/>
            <a:ext cx="534663" cy="534663"/>
          </a:xfrm>
          <a:custGeom>
            <a:avLst/>
            <a:gdLst/>
            <a:ahLst/>
            <a:cxnLst/>
            <a:rect l="l" t="t" r="r" b="b"/>
            <a:pathLst>
              <a:path w="534663" h="534663">
                <a:moveTo>
                  <a:pt x="0" y="0"/>
                </a:moveTo>
                <a:lnTo>
                  <a:pt x="534663" y="0"/>
                </a:lnTo>
                <a:lnTo>
                  <a:pt x="534663" y="534663"/>
                </a:lnTo>
                <a:lnTo>
                  <a:pt x="0" y="53466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O"/>
          </a:p>
        </p:txBody>
      </p:sp>
      <p:sp>
        <p:nvSpPr>
          <p:cNvPr id="17" name="TextBox 17"/>
          <p:cNvSpPr txBox="1"/>
          <p:nvPr/>
        </p:nvSpPr>
        <p:spPr>
          <a:xfrm>
            <a:off x="10330470" y="7902626"/>
            <a:ext cx="6928830" cy="457836"/>
          </a:xfrm>
          <a:prstGeom prst="rect">
            <a:avLst/>
          </a:prstGeom>
        </p:spPr>
        <p:txBody>
          <a:bodyPr lIns="0" tIns="0" rIns="0" bIns="0" rtlCol="0" anchor="t">
            <a:spAutoFit/>
          </a:bodyPr>
          <a:lstStyle/>
          <a:p>
            <a:pPr algn="l">
              <a:lnSpc>
                <a:spcPts val="3639"/>
              </a:lnSpc>
              <a:spcBef>
                <a:spcPct val="0"/>
              </a:spcBef>
            </a:pPr>
            <a:r>
              <a:rPr lang="en-US" sz="2599">
                <a:solidFill>
                  <a:srgbClr val="FFFFFF"/>
                </a:solidFill>
                <a:latin typeface="Poppins"/>
                <a:ea typeface="Poppins"/>
                <a:cs typeface="Poppins"/>
                <a:sym typeface="Poppins"/>
              </a:rPr>
              <a:t>Ayuda a prevenir errores y re-procesos.</a:t>
            </a:r>
          </a:p>
        </p:txBody>
      </p:sp>
      <p:sp>
        <p:nvSpPr>
          <p:cNvPr id="18" name="Freeform 18"/>
          <p:cNvSpPr/>
          <p:nvPr/>
        </p:nvSpPr>
        <p:spPr>
          <a:xfrm>
            <a:off x="9578080" y="8734473"/>
            <a:ext cx="534663" cy="534663"/>
          </a:xfrm>
          <a:custGeom>
            <a:avLst/>
            <a:gdLst/>
            <a:ahLst/>
            <a:cxnLst/>
            <a:rect l="l" t="t" r="r" b="b"/>
            <a:pathLst>
              <a:path w="534663" h="534663">
                <a:moveTo>
                  <a:pt x="0" y="0"/>
                </a:moveTo>
                <a:lnTo>
                  <a:pt x="534663" y="0"/>
                </a:lnTo>
                <a:lnTo>
                  <a:pt x="534663" y="534664"/>
                </a:lnTo>
                <a:lnTo>
                  <a:pt x="0" y="53466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O"/>
          </a:p>
        </p:txBody>
      </p:sp>
      <p:sp>
        <p:nvSpPr>
          <p:cNvPr id="19" name="TextBox 19"/>
          <p:cNvSpPr txBox="1"/>
          <p:nvPr/>
        </p:nvSpPr>
        <p:spPr>
          <a:xfrm>
            <a:off x="10330470" y="8723040"/>
            <a:ext cx="6033925" cy="457836"/>
          </a:xfrm>
          <a:prstGeom prst="rect">
            <a:avLst/>
          </a:prstGeom>
        </p:spPr>
        <p:txBody>
          <a:bodyPr lIns="0" tIns="0" rIns="0" bIns="0" rtlCol="0" anchor="t">
            <a:spAutoFit/>
          </a:bodyPr>
          <a:lstStyle/>
          <a:p>
            <a:pPr algn="l">
              <a:lnSpc>
                <a:spcPts val="3639"/>
              </a:lnSpc>
              <a:spcBef>
                <a:spcPct val="0"/>
              </a:spcBef>
            </a:pPr>
            <a:r>
              <a:rPr lang="en-US" sz="2599">
                <a:solidFill>
                  <a:srgbClr val="FFFFFF"/>
                </a:solidFill>
                <a:latin typeface="Poppins"/>
                <a:ea typeface="Poppins"/>
                <a:cs typeface="Poppins"/>
                <a:sym typeface="Poppins"/>
              </a:rPr>
              <a:t>Reduce costos.</a:t>
            </a:r>
          </a:p>
        </p:txBody>
      </p:sp>
      <p:sp>
        <p:nvSpPr>
          <p:cNvPr id="20" name="TextBox 20"/>
          <p:cNvSpPr txBox="1"/>
          <p:nvPr/>
        </p:nvSpPr>
        <p:spPr>
          <a:xfrm>
            <a:off x="1522051" y="7703641"/>
            <a:ext cx="6719325" cy="1030833"/>
          </a:xfrm>
          <a:prstGeom prst="rect">
            <a:avLst/>
          </a:prstGeom>
        </p:spPr>
        <p:txBody>
          <a:bodyPr lIns="0" tIns="0" rIns="0" bIns="0" rtlCol="0" anchor="t">
            <a:spAutoFit/>
          </a:bodyPr>
          <a:lstStyle/>
          <a:p>
            <a:pPr algn="ctr">
              <a:lnSpc>
                <a:spcPts val="4082"/>
              </a:lnSpc>
            </a:pPr>
            <a:r>
              <a:rPr lang="en-US" sz="2916">
                <a:solidFill>
                  <a:srgbClr val="FFFFFF"/>
                </a:solidFill>
                <a:latin typeface="Poppins"/>
                <a:ea typeface="Poppins"/>
                <a:cs typeface="Poppins"/>
                <a:sym typeface="Poppins"/>
              </a:rPr>
              <a:t>Divide el proyecto en pequeños segmentos (historias de usuario)</a:t>
            </a:r>
          </a:p>
        </p:txBody>
      </p:sp>
      <p:sp>
        <p:nvSpPr>
          <p:cNvPr id="21" name="Freeform 21"/>
          <p:cNvSpPr/>
          <p:nvPr/>
        </p:nvSpPr>
        <p:spPr>
          <a:xfrm>
            <a:off x="7774581" y="-226699"/>
            <a:ext cx="2418495" cy="2418495"/>
          </a:xfrm>
          <a:custGeom>
            <a:avLst/>
            <a:gdLst/>
            <a:ahLst/>
            <a:cxnLst/>
            <a:rect l="l" t="t" r="r" b="b"/>
            <a:pathLst>
              <a:path w="2418495" h="2418495">
                <a:moveTo>
                  <a:pt x="0" y="0"/>
                </a:moveTo>
                <a:lnTo>
                  <a:pt x="2418495" y="0"/>
                </a:lnTo>
                <a:lnTo>
                  <a:pt x="2418495" y="2418495"/>
                </a:lnTo>
                <a:lnTo>
                  <a:pt x="0" y="2418495"/>
                </a:lnTo>
                <a:lnTo>
                  <a:pt x="0" y="0"/>
                </a:lnTo>
                <a:close/>
              </a:path>
            </a:pathLst>
          </a:custGeom>
          <a:blipFill>
            <a:blip r:embed="rId4"/>
            <a:stretch>
              <a:fillRect/>
            </a:stretch>
          </a:blipFill>
        </p:spPr>
        <p:txBody>
          <a:bodyPr/>
          <a:lstStyle/>
          <a:p>
            <a:endParaRPr lang="es-CO"/>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3694323" y="3222760"/>
            <a:ext cx="10602406" cy="6035540"/>
          </a:xfrm>
          <a:custGeom>
            <a:avLst/>
            <a:gdLst/>
            <a:ahLst/>
            <a:cxnLst/>
            <a:rect l="l" t="t" r="r" b="b"/>
            <a:pathLst>
              <a:path w="10602406" h="6035540">
                <a:moveTo>
                  <a:pt x="0" y="0"/>
                </a:moveTo>
                <a:lnTo>
                  <a:pt x="10602405" y="0"/>
                </a:lnTo>
                <a:lnTo>
                  <a:pt x="10602405" y="6035540"/>
                </a:lnTo>
                <a:lnTo>
                  <a:pt x="0" y="6035540"/>
                </a:lnTo>
                <a:lnTo>
                  <a:pt x="0" y="0"/>
                </a:lnTo>
                <a:close/>
              </a:path>
            </a:pathLst>
          </a:custGeom>
          <a:blipFill>
            <a:blip r:embed="rId3"/>
            <a:stretch>
              <a:fillRect l="-7521" t="-6069" r="-12305"/>
            </a:stretch>
          </a:blipFill>
        </p:spPr>
        <p:txBody>
          <a:bodyPr/>
          <a:lstStyle/>
          <a:p>
            <a:endParaRPr lang="es-CO"/>
          </a:p>
        </p:txBody>
      </p:sp>
      <p:sp>
        <p:nvSpPr>
          <p:cNvPr id="7" name="TextBox 7"/>
          <p:cNvSpPr txBox="1"/>
          <p:nvPr/>
        </p:nvSpPr>
        <p:spPr>
          <a:xfrm>
            <a:off x="1028700" y="1816063"/>
            <a:ext cx="16230600" cy="993012"/>
          </a:xfrm>
          <a:prstGeom prst="rect">
            <a:avLst/>
          </a:prstGeom>
        </p:spPr>
        <p:txBody>
          <a:bodyPr lIns="0" tIns="0" rIns="0" bIns="0" rtlCol="0" anchor="t">
            <a:spAutoFit/>
          </a:bodyPr>
          <a:lstStyle/>
          <a:p>
            <a:pPr algn="ctr">
              <a:lnSpc>
                <a:spcPts val="8072"/>
              </a:lnSpc>
              <a:spcBef>
                <a:spcPct val="0"/>
              </a:spcBef>
            </a:pPr>
            <a:r>
              <a:rPr lang="en-US" sz="5766">
                <a:solidFill>
                  <a:srgbClr val="DD7E28"/>
                </a:solidFill>
                <a:latin typeface="HK Modular"/>
                <a:ea typeface="HK Modular"/>
                <a:cs typeface="HK Modular"/>
                <a:sym typeface="HK Modular"/>
              </a:rPr>
              <a:t>BENEFICIOS</a:t>
            </a:r>
          </a:p>
        </p:txBody>
      </p:sp>
      <p:sp>
        <p:nvSpPr>
          <p:cNvPr id="8" name="Freeform 8"/>
          <p:cNvSpPr/>
          <p:nvPr/>
        </p:nvSpPr>
        <p:spPr>
          <a:xfrm>
            <a:off x="7774581" y="-226699"/>
            <a:ext cx="2418495" cy="2418495"/>
          </a:xfrm>
          <a:custGeom>
            <a:avLst/>
            <a:gdLst/>
            <a:ahLst/>
            <a:cxnLst/>
            <a:rect l="l" t="t" r="r" b="b"/>
            <a:pathLst>
              <a:path w="2418495" h="2418495">
                <a:moveTo>
                  <a:pt x="0" y="0"/>
                </a:moveTo>
                <a:lnTo>
                  <a:pt x="2418495" y="0"/>
                </a:lnTo>
                <a:lnTo>
                  <a:pt x="2418495" y="2418495"/>
                </a:lnTo>
                <a:lnTo>
                  <a:pt x="0" y="2418495"/>
                </a:lnTo>
                <a:lnTo>
                  <a:pt x="0" y="0"/>
                </a:lnTo>
                <a:close/>
              </a:path>
            </a:pathLst>
          </a:custGeom>
          <a:blipFill>
            <a:blip r:embed="rId4"/>
            <a:stretch>
              <a:fillRect/>
            </a:stretch>
          </a:blipFill>
        </p:spPr>
        <p:txBody>
          <a:bodyPr/>
          <a:lstStyle/>
          <a:p>
            <a:endParaRPr lang="es-CO"/>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2609578" y="3408989"/>
            <a:ext cx="13287578" cy="5721924"/>
          </a:xfrm>
          <a:custGeom>
            <a:avLst/>
            <a:gdLst/>
            <a:ahLst/>
            <a:cxnLst/>
            <a:rect l="l" t="t" r="r" b="b"/>
            <a:pathLst>
              <a:path w="13287578" h="5721924">
                <a:moveTo>
                  <a:pt x="0" y="0"/>
                </a:moveTo>
                <a:lnTo>
                  <a:pt x="13287578" y="0"/>
                </a:lnTo>
                <a:lnTo>
                  <a:pt x="13287578" y="5721923"/>
                </a:lnTo>
                <a:lnTo>
                  <a:pt x="0" y="5721923"/>
                </a:lnTo>
                <a:lnTo>
                  <a:pt x="0" y="0"/>
                </a:lnTo>
                <a:close/>
              </a:path>
            </a:pathLst>
          </a:custGeom>
          <a:blipFill>
            <a:blip r:embed="rId3"/>
            <a:stretch>
              <a:fillRect l="-10045" t="-22680" r="-8892" b="-16498"/>
            </a:stretch>
          </a:blipFill>
        </p:spPr>
        <p:txBody>
          <a:bodyPr/>
          <a:lstStyle/>
          <a:p>
            <a:endParaRPr lang="es-CO"/>
          </a:p>
        </p:txBody>
      </p:sp>
      <p:sp>
        <p:nvSpPr>
          <p:cNvPr id="7" name="TextBox 7"/>
          <p:cNvSpPr txBox="1"/>
          <p:nvPr/>
        </p:nvSpPr>
        <p:spPr>
          <a:xfrm>
            <a:off x="1138067" y="1816063"/>
            <a:ext cx="16230600" cy="993012"/>
          </a:xfrm>
          <a:prstGeom prst="rect">
            <a:avLst/>
          </a:prstGeom>
        </p:spPr>
        <p:txBody>
          <a:bodyPr lIns="0" tIns="0" rIns="0" bIns="0" rtlCol="0" anchor="t">
            <a:spAutoFit/>
          </a:bodyPr>
          <a:lstStyle/>
          <a:p>
            <a:pPr algn="ctr">
              <a:lnSpc>
                <a:spcPts val="8072"/>
              </a:lnSpc>
              <a:spcBef>
                <a:spcPct val="0"/>
              </a:spcBef>
            </a:pPr>
            <a:r>
              <a:rPr lang="en-US" sz="5766">
                <a:solidFill>
                  <a:srgbClr val="DD7E28"/>
                </a:solidFill>
                <a:latin typeface="HK Modular"/>
                <a:ea typeface="HK Modular"/>
                <a:cs typeface="HK Modular"/>
                <a:sym typeface="HK Modular"/>
              </a:rPr>
              <a:t>DESVENTAJAS</a:t>
            </a:r>
          </a:p>
        </p:txBody>
      </p:sp>
      <p:sp>
        <p:nvSpPr>
          <p:cNvPr id="8" name="Freeform 8"/>
          <p:cNvSpPr/>
          <p:nvPr/>
        </p:nvSpPr>
        <p:spPr>
          <a:xfrm>
            <a:off x="7774581" y="-226699"/>
            <a:ext cx="2418495" cy="2418495"/>
          </a:xfrm>
          <a:custGeom>
            <a:avLst/>
            <a:gdLst/>
            <a:ahLst/>
            <a:cxnLst/>
            <a:rect l="l" t="t" r="r" b="b"/>
            <a:pathLst>
              <a:path w="2418495" h="2418495">
                <a:moveTo>
                  <a:pt x="0" y="0"/>
                </a:moveTo>
                <a:lnTo>
                  <a:pt x="2418495" y="0"/>
                </a:lnTo>
                <a:lnTo>
                  <a:pt x="2418495" y="2418495"/>
                </a:lnTo>
                <a:lnTo>
                  <a:pt x="0" y="2418495"/>
                </a:lnTo>
                <a:lnTo>
                  <a:pt x="0" y="0"/>
                </a:lnTo>
                <a:close/>
              </a:path>
            </a:pathLst>
          </a:custGeom>
          <a:blipFill>
            <a:blip r:embed="rId4"/>
            <a:stretch>
              <a:fillRect/>
            </a:stretch>
          </a:blipFill>
        </p:spPr>
        <p:txBody>
          <a:bodyPr/>
          <a:lstStyle/>
          <a:p>
            <a:endParaRPr lang="es-CO"/>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881286" y="7249576"/>
            <a:ext cx="4913911" cy="2364820"/>
          </a:xfrm>
          <a:custGeom>
            <a:avLst/>
            <a:gdLst/>
            <a:ahLst/>
            <a:cxnLst/>
            <a:rect l="l" t="t" r="r" b="b"/>
            <a:pathLst>
              <a:path w="4913911" h="2364820">
                <a:moveTo>
                  <a:pt x="0" y="0"/>
                </a:moveTo>
                <a:lnTo>
                  <a:pt x="4913910" y="0"/>
                </a:lnTo>
                <a:lnTo>
                  <a:pt x="4913910" y="2364820"/>
                </a:lnTo>
                <a:lnTo>
                  <a:pt x="0" y="2364820"/>
                </a:lnTo>
                <a:lnTo>
                  <a:pt x="0" y="0"/>
                </a:lnTo>
                <a:close/>
              </a:path>
            </a:pathLst>
          </a:custGeom>
          <a:blipFill>
            <a:blip r:embed="rId3"/>
            <a:stretch>
              <a:fillRect/>
            </a:stretch>
          </a:blipFill>
        </p:spPr>
        <p:txBody>
          <a:bodyPr/>
          <a:lstStyle/>
          <a:p>
            <a:endParaRPr lang="es-CO"/>
          </a:p>
        </p:txBody>
      </p:sp>
      <p:sp>
        <p:nvSpPr>
          <p:cNvPr id="7" name="TextBox 7"/>
          <p:cNvSpPr txBox="1"/>
          <p:nvPr/>
        </p:nvSpPr>
        <p:spPr>
          <a:xfrm>
            <a:off x="1386794" y="2372833"/>
            <a:ext cx="5613880" cy="853854"/>
          </a:xfrm>
          <a:prstGeom prst="rect">
            <a:avLst/>
          </a:prstGeom>
        </p:spPr>
        <p:txBody>
          <a:bodyPr lIns="0" tIns="0" rIns="0" bIns="0" rtlCol="0" anchor="t">
            <a:spAutoFit/>
          </a:bodyPr>
          <a:lstStyle/>
          <a:p>
            <a:pPr algn="ctr">
              <a:lnSpc>
                <a:spcPts val="7012"/>
              </a:lnSpc>
              <a:spcBef>
                <a:spcPct val="0"/>
              </a:spcBef>
            </a:pPr>
            <a:r>
              <a:rPr lang="en-US" sz="5008">
                <a:solidFill>
                  <a:srgbClr val="E78939"/>
                </a:solidFill>
                <a:latin typeface="HK Modular"/>
                <a:ea typeface="HK Modular"/>
                <a:cs typeface="HK Modular"/>
                <a:sym typeface="HK Modular"/>
              </a:rPr>
              <a:t>AGILE</a:t>
            </a:r>
          </a:p>
        </p:txBody>
      </p:sp>
      <p:sp>
        <p:nvSpPr>
          <p:cNvPr id="8" name="TextBox 8"/>
          <p:cNvSpPr txBox="1"/>
          <p:nvPr/>
        </p:nvSpPr>
        <p:spPr>
          <a:xfrm>
            <a:off x="8247014" y="2429983"/>
            <a:ext cx="7945527" cy="833084"/>
          </a:xfrm>
          <a:prstGeom prst="rect">
            <a:avLst/>
          </a:prstGeom>
        </p:spPr>
        <p:txBody>
          <a:bodyPr lIns="0" tIns="0" rIns="0" bIns="0" rtlCol="0" anchor="t">
            <a:spAutoFit/>
          </a:bodyPr>
          <a:lstStyle/>
          <a:p>
            <a:pPr algn="ctr">
              <a:lnSpc>
                <a:spcPts val="3431"/>
              </a:lnSpc>
            </a:pPr>
            <a:r>
              <a:rPr lang="en-US" sz="2451">
                <a:solidFill>
                  <a:srgbClr val="FFFFFF"/>
                </a:solidFill>
                <a:latin typeface="Open Sans"/>
                <a:ea typeface="Open Sans"/>
                <a:cs typeface="Open Sans"/>
                <a:sym typeface="Open Sans"/>
              </a:rPr>
              <a:t>Capacidad de crear y responder al cambio, lidiando y teniendo exito en un entorno incierto o caotico</a:t>
            </a:r>
          </a:p>
        </p:txBody>
      </p:sp>
      <p:sp>
        <p:nvSpPr>
          <p:cNvPr id="9" name="TextBox 9"/>
          <p:cNvSpPr txBox="1"/>
          <p:nvPr/>
        </p:nvSpPr>
        <p:spPr>
          <a:xfrm>
            <a:off x="1497148" y="4939077"/>
            <a:ext cx="5682186" cy="1739679"/>
          </a:xfrm>
          <a:prstGeom prst="rect">
            <a:avLst/>
          </a:prstGeom>
        </p:spPr>
        <p:txBody>
          <a:bodyPr lIns="0" tIns="0" rIns="0" bIns="0" rtlCol="0" anchor="t">
            <a:spAutoFit/>
          </a:bodyPr>
          <a:lstStyle/>
          <a:p>
            <a:pPr algn="ctr">
              <a:lnSpc>
                <a:spcPts val="7012"/>
              </a:lnSpc>
              <a:spcBef>
                <a:spcPct val="0"/>
              </a:spcBef>
            </a:pPr>
            <a:r>
              <a:rPr lang="en-US" sz="5008">
                <a:solidFill>
                  <a:srgbClr val="E78939"/>
                </a:solidFill>
                <a:latin typeface="HK Modular"/>
                <a:ea typeface="HK Modular"/>
                <a:cs typeface="HK Modular"/>
                <a:sym typeface="HK Modular"/>
              </a:rPr>
              <a:t>MANIFIESTO AGILE</a:t>
            </a:r>
          </a:p>
        </p:txBody>
      </p:sp>
      <p:sp>
        <p:nvSpPr>
          <p:cNvPr id="10" name="TextBox 10"/>
          <p:cNvSpPr txBox="1"/>
          <p:nvPr/>
        </p:nvSpPr>
        <p:spPr>
          <a:xfrm>
            <a:off x="8247014" y="5452082"/>
            <a:ext cx="7945527" cy="404459"/>
          </a:xfrm>
          <a:prstGeom prst="rect">
            <a:avLst/>
          </a:prstGeom>
        </p:spPr>
        <p:txBody>
          <a:bodyPr lIns="0" tIns="0" rIns="0" bIns="0" rtlCol="0" anchor="t">
            <a:spAutoFit/>
          </a:bodyPr>
          <a:lstStyle/>
          <a:p>
            <a:pPr algn="ctr">
              <a:lnSpc>
                <a:spcPts val="3431"/>
              </a:lnSpc>
            </a:pPr>
            <a:r>
              <a:rPr lang="en-US" sz="2451">
                <a:solidFill>
                  <a:srgbClr val="FFFFFF"/>
                </a:solidFill>
                <a:latin typeface="Open Sans"/>
                <a:ea typeface="Open Sans"/>
                <a:cs typeface="Open Sans"/>
                <a:sym typeface="Open Sans"/>
              </a:rPr>
              <a:t>Creado el 17 de febrero de 2001</a:t>
            </a:r>
          </a:p>
        </p:txBody>
      </p:sp>
      <p:sp>
        <p:nvSpPr>
          <p:cNvPr id="11" name="TextBox 11"/>
          <p:cNvSpPr txBox="1"/>
          <p:nvPr/>
        </p:nvSpPr>
        <p:spPr>
          <a:xfrm>
            <a:off x="8462458" y="8732918"/>
            <a:ext cx="7945527" cy="404459"/>
          </a:xfrm>
          <a:prstGeom prst="rect">
            <a:avLst/>
          </a:prstGeom>
        </p:spPr>
        <p:txBody>
          <a:bodyPr lIns="0" tIns="0" rIns="0" bIns="0" rtlCol="0" anchor="t">
            <a:spAutoFit/>
          </a:bodyPr>
          <a:lstStyle/>
          <a:p>
            <a:pPr algn="ctr">
              <a:lnSpc>
                <a:spcPts val="3431"/>
              </a:lnSpc>
            </a:pPr>
            <a:r>
              <a:rPr lang="en-US" sz="2451">
                <a:solidFill>
                  <a:srgbClr val="FFFFFF"/>
                </a:solidFill>
                <a:latin typeface="Open Sans"/>
                <a:ea typeface="Open Sans"/>
                <a:cs typeface="Open Sans"/>
                <a:sym typeface="Open Sans"/>
              </a:rPr>
              <a:t>Establecen 12 principios y 4 aspectos o pilares</a:t>
            </a:r>
          </a:p>
        </p:txBody>
      </p:sp>
      <p:sp>
        <p:nvSpPr>
          <p:cNvPr id="12" name="TextBox 12"/>
          <p:cNvSpPr txBox="1"/>
          <p:nvPr/>
        </p:nvSpPr>
        <p:spPr>
          <a:xfrm>
            <a:off x="8247014" y="6385359"/>
            <a:ext cx="7945527" cy="1690334"/>
          </a:xfrm>
          <a:prstGeom prst="rect">
            <a:avLst/>
          </a:prstGeom>
        </p:spPr>
        <p:txBody>
          <a:bodyPr lIns="0" tIns="0" rIns="0" bIns="0" rtlCol="0" anchor="t">
            <a:spAutoFit/>
          </a:bodyPr>
          <a:lstStyle/>
          <a:p>
            <a:pPr algn="ctr">
              <a:lnSpc>
                <a:spcPts val="3431"/>
              </a:lnSpc>
            </a:pPr>
            <a:r>
              <a:rPr lang="en-US" sz="2451">
                <a:solidFill>
                  <a:srgbClr val="FFFFFF"/>
                </a:solidFill>
                <a:latin typeface="Open Sans"/>
                <a:ea typeface="Open Sans"/>
                <a:cs typeface="Open Sans"/>
                <a:sym typeface="Open Sans"/>
              </a:rPr>
              <a:t>Es una declaracion de valores y principios, declarados por un grupo de expertos en desarrollo de software, que busca ofrecer una alternativa a los metodos tradicionales de gestion de proyectos.</a:t>
            </a:r>
          </a:p>
        </p:txBody>
      </p:sp>
      <p:sp>
        <p:nvSpPr>
          <p:cNvPr id="13" name="TextBox 13"/>
          <p:cNvSpPr txBox="1"/>
          <p:nvPr/>
        </p:nvSpPr>
        <p:spPr>
          <a:xfrm>
            <a:off x="8247014" y="3501192"/>
            <a:ext cx="7945527" cy="833084"/>
          </a:xfrm>
          <a:prstGeom prst="rect">
            <a:avLst/>
          </a:prstGeom>
        </p:spPr>
        <p:txBody>
          <a:bodyPr lIns="0" tIns="0" rIns="0" bIns="0" rtlCol="0" anchor="t">
            <a:spAutoFit/>
          </a:bodyPr>
          <a:lstStyle/>
          <a:p>
            <a:pPr algn="ctr">
              <a:lnSpc>
                <a:spcPts val="3431"/>
              </a:lnSpc>
            </a:pPr>
            <a:r>
              <a:rPr lang="en-US" sz="2451">
                <a:solidFill>
                  <a:srgbClr val="FFFFFF"/>
                </a:solidFill>
                <a:latin typeface="Open Sans"/>
                <a:ea typeface="Open Sans"/>
                <a:cs typeface="Open Sans"/>
                <a:sym typeface="Open Sans"/>
              </a:rPr>
              <a:t>70% de empresas estan en transformacion agil, acelerando la entrega de productos en un 64%</a:t>
            </a:r>
          </a:p>
        </p:txBody>
      </p:sp>
      <p:sp>
        <p:nvSpPr>
          <p:cNvPr id="14" name="Freeform 14"/>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4"/>
            <a:stretch>
              <a:fillRect/>
            </a:stretch>
          </a:blipFill>
        </p:spPr>
        <p:txBody>
          <a:bodyPr/>
          <a:lstStyle/>
          <a:p>
            <a:endParaRPr lang="es-CO"/>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3395550" y="3940984"/>
            <a:ext cx="11496900" cy="5317316"/>
          </a:xfrm>
          <a:custGeom>
            <a:avLst/>
            <a:gdLst/>
            <a:ahLst/>
            <a:cxnLst/>
            <a:rect l="l" t="t" r="r" b="b"/>
            <a:pathLst>
              <a:path w="11496900" h="5317316">
                <a:moveTo>
                  <a:pt x="0" y="0"/>
                </a:moveTo>
                <a:lnTo>
                  <a:pt x="11496900" y="0"/>
                </a:lnTo>
                <a:lnTo>
                  <a:pt x="11496900" y="5317316"/>
                </a:lnTo>
                <a:lnTo>
                  <a:pt x="0" y="5317316"/>
                </a:lnTo>
                <a:lnTo>
                  <a:pt x="0" y="0"/>
                </a:lnTo>
                <a:close/>
              </a:path>
            </a:pathLst>
          </a:custGeom>
          <a:blipFill>
            <a:blip r:embed="rId3"/>
            <a:stretch>
              <a:fillRect/>
            </a:stretch>
          </a:blipFill>
        </p:spPr>
        <p:txBody>
          <a:bodyPr/>
          <a:lstStyle/>
          <a:p>
            <a:endParaRPr lang="es-CO"/>
          </a:p>
        </p:txBody>
      </p:sp>
      <p:sp>
        <p:nvSpPr>
          <p:cNvPr id="7" name="TextBox 7"/>
          <p:cNvSpPr txBox="1"/>
          <p:nvPr/>
        </p:nvSpPr>
        <p:spPr>
          <a:xfrm>
            <a:off x="3240602" y="1967800"/>
            <a:ext cx="11806796" cy="853854"/>
          </a:xfrm>
          <a:prstGeom prst="rect">
            <a:avLst/>
          </a:prstGeom>
        </p:spPr>
        <p:txBody>
          <a:bodyPr lIns="0" tIns="0" rIns="0" bIns="0" rtlCol="0" anchor="t">
            <a:spAutoFit/>
          </a:bodyPr>
          <a:lstStyle/>
          <a:p>
            <a:pPr algn="ctr">
              <a:lnSpc>
                <a:spcPts val="7012"/>
              </a:lnSpc>
              <a:spcBef>
                <a:spcPct val="0"/>
              </a:spcBef>
            </a:pPr>
            <a:r>
              <a:rPr lang="en-US" sz="5008">
                <a:solidFill>
                  <a:srgbClr val="E78939"/>
                </a:solidFill>
                <a:latin typeface="HK Modular"/>
                <a:ea typeface="HK Modular"/>
                <a:cs typeface="HK Modular"/>
                <a:sym typeface="HK Modular"/>
              </a:rPr>
              <a:t>MANIFIESTO AGILE</a:t>
            </a:r>
          </a:p>
        </p:txBody>
      </p:sp>
      <p:sp>
        <p:nvSpPr>
          <p:cNvPr id="8" name="TextBox 8"/>
          <p:cNvSpPr txBox="1"/>
          <p:nvPr/>
        </p:nvSpPr>
        <p:spPr>
          <a:xfrm>
            <a:off x="7139632" y="2917919"/>
            <a:ext cx="4227470" cy="647458"/>
          </a:xfrm>
          <a:prstGeom prst="rect">
            <a:avLst/>
          </a:prstGeom>
        </p:spPr>
        <p:txBody>
          <a:bodyPr lIns="0" tIns="0" rIns="0" bIns="0" rtlCol="0" anchor="t">
            <a:spAutoFit/>
          </a:bodyPr>
          <a:lstStyle/>
          <a:p>
            <a:pPr algn="ctr">
              <a:lnSpc>
                <a:spcPts val="5280"/>
              </a:lnSpc>
              <a:spcBef>
                <a:spcPct val="0"/>
              </a:spcBef>
            </a:pPr>
            <a:r>
              <a:rPr lang="en-US" sz="3771">
                <a:solidFill>
                  <a:srgbClr val="FA18C2"/>
                </a:solidFill>
                <a:latin typeface="HK Modular"/>
                <a:ea typeface="HK Modular"/>
                <a:cs typeface="HK Modular"/>
                <a:sym typeface="HK Modular"/>
              </a:rPr>
              <a:t>PRINCIPIOS</a:t>
            </a:r>
          </a:p>
        </p:txBody>
      </p:sp>
      <p:sp>
        <p:nvSpPr>
          <p:cNvPr id="9" name="Freeform 9"/>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4"/>
            <a:stretch>
              <a:fillRect/>
            </a:stretch>
          </a:blipFill>
        </p:spPr>
        <p:txBody>
          <a:bodyPr/>
          <a:lstStyle/>
          <a:p>
            <a:endParaRPr lang="es-CO"/>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10295091" y="2583632"/>
            <a:ext cx="7390718" cy="1739679"/>
          </a:xfrm>
          <a:prstGeom prst="rect">
            <a:avLst/>
          </a:prstGeom>
        </p:spPr>
        <p:txBody>
          <a:bodyPr lIns="0" tIns="0" rIns="0" bIns="0" rtlCol="0" anchor="t">
            <a:spAutoFit/>
          </a:bodyPr>
          <a:lstStyle/>
          <a:p>
            <a:pPr algn="ctr">
              <a:lnSpc>
                <a:spcPts val="7012"/>
              </a:lnSpc>
              <a:spcBef>
                <a:spcPct val="0"/>
              </a:spcBef>
            </a:pPr>
            <a:r>
              <a:rPr lang="en-US" sz="5008">
                <a:solidFill>
                  <a:srgbClr val="DD7E28"/>
                </a:solidFill>
                <a:latin typeface="HK Modular"/>
                <a:ea typeface="HK Modular"/>
                <a:cs typeface="HK Modular"/>
                <a:sym typeface="HK Modular"/>
              </a:rPr>
              <a:t>MANIFIESTO AGILE</a:t>
            </a:r>
          </a:p>
        </p:txBody>
      </p:sp>
      <p:sp>
        <p:nvSpPr>
          <p:cNvPr id="7" name="TextBox 7"/>
          <p:cNvSpPr txBox="1"/>
          <p:nvPr/>
        </p:nvSpPr>
        <p:spPr>
          <a:xfrm>
            <a:off x="12079657" y="4496042"/>
            <a:ext cx="4227470" cy="647458"/>
          </a:xfrm>
          <a:prstGeom prst="rect">
            <a:avLst/>
          </a:prstGeom>
        </p:spPr>
        <p:txBody>
          <a:bodyPr lIns="0" tIns="0" rIns="0" bIns="0" rtlCol="0" anchor="t">
            <a:spAutoFit/>
          </a:bodyPr>
          <a:lstStyle/>
          <a:p>
            <a:pPr algn="ctr">
              <a:lnSpc>
                <a:spcPts val="5280"/>
              </a:lnSpc>
              <a:spcBef>
                <a:spcPct val="0"/>
              </a:spcBef>
            </a:pPr>
            <a:r>
              <a:rPr lang="en-US" sz="3771">
                <a:solidFill>
                  <a:srgbClr val="FA18C2"/>
                </a:solidFill>
                <a:latin typeface="HK Modular"/>
                <a:ea typeface="HK Modular"/>
                <a:cs typeface="HK Modular"/>
                <a:sym typeface="HK Modular"/>
              </a:rPr>
              <a:t>PILARES</a:t>
            </a:r>
          </a:p>
        </p:txBody>
      </p:sp>
      <p:sp>
        <p:nvSpPr>
          <p:cNvPr id="8" name="Freeform 8"/>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3"/>
            <a:stretch>
              <a:fillRect/>
            </a:stretch>
          </a:blipFill>
        </p:spPr>
        <p:txBody>
          <a:bodyPr/>
          <a:lstStyle/>
          <a:p>
            <a:endParaRPr lang="es-CO"/>
          </a:p>
        </p:txBody>
      </p:sp>
      <p:sp>
        <p:nvSpPr>
          <p:cNvPr id="9" name="Freeform 9"/>
          <p:cNvSpPr/>
          <p:nvPr/>
        </p:nvSpPr>
        <p:spPr>
          <a:xfrm>
            <a:off x="1816063" y="1867380"/>
            <a:ext cx="8479028" cy="8077288"/>
          </a:xfrm>
          <a:custGeom>
            <a:avLst/>
            <a:gdLst/>
            <a:ahLst/>
            <a:cxnLst/>
            <a:rect l="l" t="t" r="r" b="b"/>
            <a:pathLst>
              <a:path w="8479028" h="8077288">
                <a:moveTo>
                  <a:pt x="0" y="0"/>
                </a:moveTo>
                <a:lnTo>
                  <a:pt x="8479028" y="0"/>
                </a:lnTo>
                <a:lnTo>
                  <a:pt x="8479028" y="8077288"/>
                </a:lnTo>
                <a:lnTo>
                  <a:pt x="0" y="8077288"/>
                </a:lnTo>
                <a:lnTo>
                  <a:pt x="0" y="0"/>
                </a:lnTo>
                <a:close/>
              </a:path>
            </a:pathLst>
          </a:custGeom>
          <a:blipFill>
            <a:blip r:embed="rId4"/>
            <a:stretch>
              <a:fillRect t="-14882"/>
            </a:stretch>
          </a:blipFill>
        </p:spPr>
        <p:txBody>
          <a:bodyPr/>
          <a:lstStyle/>
          <a:p>
            <a:endParaRPr lang="es-CO"/>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6360315" y="7204764"/>
            <a:ext cx="6164473" cy="3082236"/>
          </a:xfrm>
          <a:custGeom>
            <a:avLst/>
            <a:gdLst/>
            <a:ahLst/>
            <a:cxnLst/>
            <a:rect l="l" t="t" r="r" b="b"/>
            <a:pathLst>
              <a:path w="6164473" h="3082236">
                <a:moveTo>
                  <a:pt x="0" y="0"/>
                </a:moveTo>
                <a:lnTo>
                  <a:pt x="6164473" y="0"/>
                </a:lnTo>
                <a:lnTo>
                  <a:pt x="6164473" y="3082236"/>
                </a:lnTo>
                <a:lnTo>
                  <a:pt x="0" y="3082236"/>
                </a:lnTo>
                <a:lnTo>
                  <a:pt x="0" y="0"/>
                </a:lnTo>
                <a:close/>
              </a:path>
            </a:pathLst>
          </a:custGeom>
          <a:blipFill>
            <a:blip r:embed="rId3"/>
            <a:stretch>
              <a:fillRect/>
            </a:stretch>
          </a:blipFill>
        </p:spPr>
        <p:txBody>
          <a:bodyPr/>
          <a:lstStyle/>
          <a:p>
            <a:endParaRPr lang="es-CO"/>
          </a:p>
        </p:txBody>
      </p:sp>
      <p:sp>
        <p:nvSpPr>
          <p:cNvPr id="7" name="TextBox 7"/>
          <p:cNvSpPr txBox="1"/>
          <p:nvPr/>
        </p:nvSpPr>
        <p:spPr>
          <a:xfrm>
            <a:off x="2834518" y="2096546"/>
            <a:ext cx="12584532" cy="853854"/>
          </a:xfrm>
          <a:prstGeom prst="rect">
            <a:avLst/>
          </a:prstGeom>
        </p:spPr>
        <p:txBody>
          <a:bodyPr lIns="0" tIns="0" rIns="0" bIns="0" rtlCol="0" anchor="t">
            <a:spAutoFit/>
          </a:bodyPr>
          <a:lstStyle/>
          <a:p>
            <a:pPr algn="ctr">
              <a:lnSpc>
                <a:spcPts val="7012"/>
              </a:lnSpc>
              <a:spcBef>
                <a:spcPct val="0"/>
              </a:spcBef>
            </a:pPr>
            <a:r>
              <a:rPr lang="en-US" sz="5008">
                <a:solidFill>
                  <a:srgbClr val="E78939"/>
                </a:solidFill>
                <a:latin typeface="HK Modular"/>
                <a:ea typeface="HK Modular"/>
                <a:cs typeface="HK Modular"/>
                <a:sym typeface="HK Modular"/>
              </a:rPr>
              <a:t>SCRUM</a:t>
            </a:r>
          </a:p>
        </p:txBody>
      </p:sp>
      <p:sp>
        <p:nvSpPr>
          <p:cNvPr id="8" name="TextBox 8"/>
          <p:cNvSpPr txBox="1"/>
          <p:nvPr/>
        </p:nvSpPr>
        <p:spPr>
          <a:xfrm>
            <a:off x="1975266" y="3312810"/>
            <a:ext cx="14511550" cy="833084"/>
          </a:xfrm>
          <a:prstGeom prst="rect">
            <a:avLst/>
          </a:prstGeom>
        </p:spPr>
        <p:txBody>
          <a:bodyPr lIns="0" tIns="0" rIns="0" bIns="0" rtlCol="0" anchor="t">
            <a:spAutoFit/>
          </a:bodyPr>
          <a:lstStyle/>
          <a:p>
            <a:pPr algn="ctr">
              <a:lnSpc>
                <a:spcPts val="3431"/>
              </a:lnSpc>
            </a:pPr>
            <a:r>
              <a:rPr lang="en-US" sz="2451">
                <a:solidFill>
                  <a:srgbClr val="FFFFFF"/>
                </a:solidFill>
                <a:latin typeface="Open Sans"/>
                <a:ea typeface="Open Sans"/>
                <a:cs typeface="Open Sans"/>
                <a:sym typeface="Open Sans"/>
              </a:rPr>
              <a:t>Marco de trabajo liviano que ayuda a las personas, equipos y organizaciones  a generar valor a traves de soluciones adaptativas a problemas complejos</a:t>
            </a:r>
          </a:p>
        </p:txBody>
      </p:sp>
      <p:sp>
        <p:nvSpPr>
          <p:cNvPr id="9" name="TextBox 9"/>
          <p:cNvSpPr txBox="1"/>
          <p:nvPr/>
        </p:nvSpPr>
        <p:spPr>
          <a:xfrm>
            <a:off x="1997592" y="4539326"/>
            <a:ext cx="14511550" cy="833084"/>
          </a:xfrm>
          <a:prstGeom prst="rect">
            <a:avLst/>
          </a:prstGeom>
        </p:spPr>
        <p:txBody>
          <a:bodyPr lIns="0" tIns="0" rIns="0" bIns="0" rtlCol="0" anchor="t">
            <a:spAutoFit/>
          </a:bodyPr>
          <a:lstStyle/>
          <a:p>
            <a:pPr algn="ctr">
              <a:lnSpc>
                <a:spcPts val="3431"/>
              </a:lnSpc>
            </a:pPr>
            <a:r>
              <a:rPr lang="en-US" sz="2451">
                <a:solidFill>
                  <a:srgbClr val="FFFFFF"/>
                </a:solidFill>
                <a:latin typeface="Open Sans"/>
                <a:ea typeface="Open Sans"/>
                <a:cs typeface="Open Sans"/>
                <a:sym typeface="Open Sans"/>
              </a:rPr>
              <a:t>Usado no solamente en software ya que es efectivo en transferencia iterativa e incremental del conocimiento</a:t>
            </a:r>
          </a:p>
        </p:txBody>
      </p:sp>
      <p:sp>
        <p:nvSpPr>
          <p:cNvPr id="10" name="TextBox 10"/>
          <p:cNvSpPr txBox="1"/>
          <p:nvPr/>
        </p:nvSpPr>
        <p:spPr>
          <a:xfrm>
            <a:off x="2186776" y="5762935"/>
            <a:ext cx="14511550" cy="1261709"/>
          </a:xfrm>
          <a:prstGeom prst="rect">
            <a:avLst/>
          </a:prstGeom>
        </p:spPr>
        <p:txBody>
          <a:bodyPr lIns="0" tIns="0" rIns="0" bIns="0" rtlCol="0" anchor="t">
            <a:spAutoFit/>
          </a:bodyPr>
          <a:lstStyle/>
          <a:p>
            <a:pPr algn="ctr">
              <a:lnSpc>
                <a:spcPts val="3431"/>
              </a:lnSpc>
            </a:pPr>
            <a:r>
              <a:rPr lang="en-US" sz="2451">
                <a:solidFill>
                  <a:srgbClr val="FFFFFF"/>
                </a:solidFill>
                <a:latin typeface="Open Sans"/>
                <a:ea typeface="Open Sans"/>
                <a:cs typeface="Open Sans"/>
                <a:sym typeface="Open Sans"/>
              </a:rPr>
              <a:t>Scrum se basa en el EMPIRISMO es decir se basa en tomar decisiones basado en las observaciones para aplicar los cambios en el mercado, su progreso es en base a la observacion y la experimentacion</a:t>
            </a:r>
          </a:p>
        </p:txBody>
      </p:sp>
      <p:sp>
        <p:nvSpPr>
          <p:cNvPr id="11" name="Freeform 11"/>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4"/>
            <a:stretch>
              <a:fillRect/>
            </a:stretch>
          </a:blipFill>
        </p:spPr>
        <p:txBody>
          <a:bodyPr/>
          <a:lstStyle/>
          <a:p>
            <a:endParaRPr lang="es-CO"/>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2834518" y="2096546"/>
            <a:ext cx="12584532" cy="853854"/>
          </a:xfrm>
          <a:prstGeom prst="rect">
            <a:avLst/>
          </a:prstGeom>
        </p:spPr>
        <p:txBody>
          <a:bodyPr lIns="0" tIns="0" rIns="0" bIns="0" rtlCol="0" anchor="t">
            <a:spAutoFit/>
          </a:bodyPr>
          <a:lstStyle/>
          <a:p>
            <a:pPr algn="ctr">
              <a:lnSpc>
                <a:spcPts val="7012"/>
              </a:lnSpc>
              <a:spcBef>
                <a:spcPct val="0"/>
              </a:spcBef>
            </a:pPr>
            <a:r>
              <a:rPr lang="en-US" sz="5008">
                <a:solidFill>
                  <a:srgbClr val="E78939"/>
                </a:solidFill>
                <a:latin typeface="HK Modular"/>
                <a:ea typeface="HK Modular"/>
                <a:cs typeface="HK Modular"/>
                <a:sym typeface="HK Modular"/>
              </a:rPr>
              <a:t>PILARES SCRUM</a:t>
            </a:r>
          </a:p>
        </p:txBody>
      </p:sp>
      <p:sp>
        <p:nvSpPr>
          <p:cNvPr id="7" name="TextBox 7"/>
          <p:cNvSpPr txBox="1"/>
          <p:nvPr/>
        </p:nvSpPr>
        <p:spPr>
          <a:xfrm>
            <a:off x="136123" y="4135135"/>
            <a:ext cx="8408300" cy="573533"/>
          </a:xfrm>
          <a:prstGeom prst="rect">
            <a:avLst/>
          </a:prstGeom>
        </p:spPr>
        <p:txBody>
          <a:bodyPr lIns="0" tIns="0" rIns="0" bIns="0" rtlCol="0" anchor="t">
            <a:spAutoFit/>
          </a:bodyPr>
          <a:lstStyle/>
          <a:p>
            <a:pPr algn="ctr">
              <a:lnSpc>
                <a:spcPts val="4685"/>
              </a:lnSpc>
              <a:spcBef>
                <a:spcPct val="0"/>
              </a:spcBef>
            </a:pPr>
            <a:r>
              <a:rPr lang="en-US" sz="3346">
                <a:solidFill>
                  <a:srgbClr val="FFFFFF"/>
                </a:solidFill>
                <a:latin typeface="HK Modular"/>
                <a:ea typeface="HK Modular"/>
                <a:cs typeface="HK Modular"/>
                <a:sym typeface="HK Modular"/>
              </a:rPr>
              <a:t>TRANSPARENCIA</a:t>
            </a:r>
          </a:p>
        </p:txBody>
      </p:sp>
      <p:sp>
        <p:nvSpPr>
          <p:cNvPr id="8" name="TextBox 8"/>
          <p:cNvSpPr txBox="1"/>
          <p:nvPr/>
        </p:nvSpPr>
        <p:spPr>
          <a:xfrm>
            <a:off x="136123" y="5685344"/>
            <a:ext cx="8408300" cy="573533"/>
          </a:xfrm>
          <a:prstGeom prst="rect">
            <a:avLst/>
          </a:prstGeom>
        </p:spPr>
        <p:txBody>
          <a:bodyPr lIns="0" tIns="0" rIns="0" bIns="0" rtlCol="0" anchor="t">
            <a:spAutoFit/>
          </a:bodyPr>
          <a:lstStyle/>
          <a:p>
            <a:pPr algn="ctr">
              <a:lnSpc>
                <a:spcPts val="4685"/>
              </a:lnSpc>
              <a:spcBef>
                <a:spcPct val="0"/>
              </a:spcBef>
            </a:pPr>
            <a:r>
              <a:rPr lang="en-US" sz="3346">
                <a:solidFill>
                  <a:srgbClr val="FFFFFF"/>
                </a:solidFill>
                <a:latin typeface="HK Modular"/>
                <a:ea typeface="HK Modular"/>
                <a:cs typeface="HK Modular"/>
                <a:sym typeface="HK Modular"/>
              </a:rPr>
              <a:t>INSPECCION</a:t>
            </a:r>
          </a:p>
        </p:txBody>
      </p:sp>
      <p:sp>
        <p:nvSpPr>
          <p:cNvPr id="9" name="TextBox 9"/>
          <p:cNvSpPr txBox="1"/>
          <p:nvPr/>
        </p:nvSpPr>
        <p:spPr>
          <a:xfrm>
            <a:off x="136123" y="7603398"/>
            <a:ext cx="8408300" cy="573533"/>
          </a:xfrm>
          <a:prstGeom prst="rect">
            <a:avLst/>
          </a:prstGeom>
        </p:spPr>
        <p:txBody>
          <a:bodyPr lIns="0" tIns="0" rIns="0" bIns="0" rtlCol="0" anchor="t">
            <a:spAutoFit/>
          </a:bodyPr>
          <a:lstStyle/>
          <a:p>
            <a:pPr algn="ctr">
              <a:lnSpc>
                <a:spcPts val="4685"/>
              </a:lnSpc>
              <a:spcBef>
                <a:spcPct val="0"/>
              </a:spcBef>
            </a:pPr>
            <a:r>
              <a:rPr lang="en-US" sz="3346">
                <a:solidFill>
                  <a:srgbClr val="FFFFFF"/>
                </a:solidFill>
                <a:latin typeface="HK Modular"/>
                <a:ea typeface="HK Modular"/>
                <a:cs typeface="HK Modular"/>
                <a:sym typeface="HK Modular"/>
              </a:rPr>
              <a:t>ADAPTACION</a:t>
            </a:r>
          </a:p>
        </p:txBody>
      </p:sp>
      <p:sp>
        <p:nvSpPr>
          <p:cNvPr id="10" name="TextBox 10"/>
          <p:cNvSpPr txBox="1"/>
          <p:nvPr/>
        </p:nvSpPr>
        <p:spPr>
          <a:xfrm>
            <a:off x="8899937" y="4304209"/>
            <a:ext cx="8166233" cy="404459"/>
          </a:xfrm>
          <a:prstGeom prst="rect">
            <a:avLst/>
          </a:prstGeom>
        </p:spPr>
        <p:txBody>
          <a:bodyPr lIns="0" tIns="0" rIns="0" bIns="0" rtlCol="0" anchor="t">
            <a:spAutoFit/>
          </a:bodyPr>
          <a:lstStyle/>
          <a:p>
            <a:pPr algn="ctr">
              <a:lnSpc>
                <a:spcPts val="3431"/>
              </a:lnSpc>
            </a:pPr>
            <a:r>
              <a:rPr lang="en-US" sz="2451">
                <a:solidFill>
                  <a:srgbClr val="FFFFFF"/>
                </a:solidFill>
                <a:latin typeface="Open Sans"/>
                <a:ea typeface="Open Sans"/>
                <a:cs typeface="Open Sans"/>
                <a:sym typeface="Open Sans"/>
              </a:rPr>
              <a:t>Mostrando y no ocultando los problemas emergentes</a:t>
            </a:r>
          </a:p>
        </p:txBody>
      </p:sp>
      <p:sp>
        <p:nvSpPr>
          <p:cNvPr id="11" name="TextBox 11"/>
          <p:cNvSpPr txBox="1"/>
          <p:nvPr/>
        </p:nvSpPr>
        <p:spPr>
          <a:xfrm>
            <a:off x="8899937" y="5784169"/>
            <a:ext cx="8166233" cy="833084"/>
          </a:xfrm>
          <a:prstGeom prst="rect">
            <a:avLst/>
          </a:prstGeom>
        </p:spPr>
        <p:txBody>
          <a:bodyPr lIns="0" tIns="0" rIns="0" bIns="0" rtlCol="0" anchor="t">
            <a:spAutoFit/>
          </a:bodyPr>
          <a:lstStyle/>
          <a:p>
            <a:pPr algn="ctr">
              <a:lnSpc>
                <a:spcPts val="3431"/>
              </a:lnSpc>
            </a:pPr>
            <a:r>
              <a:rPr lang="en-US" sz="2451">
                <a:solidFill>
                  <a:srgbClr val="FFFFFF"/>
                </a:solidFill>
                <a:latin typeface="Open Sans"/>
                <a:ea typeface="Open Sans"/>
                <a:cs typeface="Open Sans"/>
                <a:sym typeface="Open Sans"/>
              </a:rPr>
              <a:t>Sobre eventos y artefactos SCRUM, asi siempre se lleva a una oportunidad de mejora</a:t>
            </a:r>
          </a:p>
        </p:txBody>
      </p:sp>
      <p:sp>
        <p:nvSpPr>
          <p:cNvPr id="12" name="TextBox 12"/>
          <p:cNvSpPr txBox="1"/>
          <p:nvPr/>
        </p:nvSpPr>
        <p:spPr>
          <a:xfrm>
            <a:off x="9093067" y="7487909"/>
            <a:ext cx="8166233" cy="833084"/>
          </a:xfrm>
          <a:prstGeom prst="rect">
            <a:avLst/>
          </a:prstGeom>
        </p:spPr>
        <p:txBody>
          <a:bodyPr lIns="0" tIns="0" rIns="0" bIns="0" rtlCol="0" anchor="t">
            <a:spAutoFit/>
          </a:bodyPr>
          <a:lstStyle/>
          <a:p>
            <a:pPr algn="ctr">
              <a:lnSpc>
                <a:spcPts val="3431"/>
              </a:lnSpc>
            </a:pPr>
            <a:r>
              <a:rPr lang="en-US" sz="2451">
                <a:solidFill>
                  <a:srgbClr val="FFFFFF"/>
                </a:solidFill>
                <a:latin typeface="Open Sans"/>
                <a:ea typeface="Open Sans"/>
                <a:cs typeface="Open Sans"/>
                <a:sym typeface="Open Sans"/>
              </a:rPr>
              <a:t>Ajuste a los cambios, lo antes posible para minimizar una mayor desviacion</a:t>
            </a:r>
          </a:p>
        </p:txBody>
      </p:sp>
      <p:sp>
        <p:nvSpPr>
          <p:cNvPr id="13" name="Freeform 13"/>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3"/>
            <a:stretch>
              <a:fillRect/>
            </a:stretch>
          </a:blipFill>
        </p:spPr>
        <p:txBody>
          <a:bodyPr/>
          <a:lstStyle/>
          <a:p>
            <a:endParaRPr lang="es-CO"/>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2834518" y="2096546"/>
            <a:ext cx="12584532" cy="853854"/>
          </a:xfrm>
          <a:prstGeom prst="rect">
            <a:avLst/>
          </a:prstGeom>
        </p:spPr>
        <p:txBody>
          <a:bodyPr lIns="0" tIns="0" rIns="0" bIns="0" rtlCol="0" anchor="t">
            <a:spAutoFit/>
          </a:bodyPr>
          <a:lstStyle/>
          <a:p>
            <a:pPr algn="ctr">
              <a:lnSpc>
                <a:spcPts val="7012"/>
              </a:lnSpc>
              <a:spcBef>
                <a:spcPct val="0"/>
              </a:spcBef>
            </a:pPr>
            <a:r>
              <a:rPr lang="en-US" sz="5008">
                <a:solidFill>
                  <a:srgbClr val="E78939"/>
                </a:solidFill>
                <a:latin typeface="HK Modular"/>
                <a:ea typeface="HK Modular"/>
                <a:cs typeface="HK Modular"/>
                <a:sym typeface="HK Modular"/>
              </a:rPr>
              <a:t>VALORES SCRUM</a:t>
            </a:r>
          </a:p>
        </p:txBody>
      </p:sp>
      <p:sp>
        <p:nvSpPr>
          <p:cNvPr id="7" name="TextBox 7"/>
          <p:cNvSpPr txBox="1"/>
          <p:nvPr/>
        </p:nvSpPr>
        <p:spPr>
          <a:xfrm>
            <a:off x="136123" y="3436231"/>
            <a:ext cx="8408300" cy="573533"/>
          </a:xfrm>
          <a:prstGeom prst="rect">
            <a:avLst/>
          </a:prstGeom>
        </p:spPr>
        <p:txBody>
          <a:bodyPr lIns="0" tIns="0" rIns="0" bIns="0" rtlCol="0" anchor="t">
            <a:spAutoFit/>
          </a:bodyPr>
          <a:lstStyle/>
          <a:p>
            <a:pPr algn="ctr">
              <a:lnSpc>
                <a:spcPts val="4685"/>
              </a:lnSpc>
              <a:spcBef>
                <a:spcPct val="0"/>
              </a:spcBef>
            </a:pPr>
            <a:r>
              <a:rPr lang="en-US" sz="3346">
                <a:solidFill>
                  <a:srgbClr val="FFFFFF"/>
                </a:solidFill>
                <a:latin typeface="HK Modular"/>
                <a:ea typeface="HK Modular"/>
                <a:cs typeface="HK Modular"/>
                <a:sym typeface="HK Modular"/>
              </a:rPr>
              <a:t>CORAJE</a:t>
            </a:r>
          </a:p>
        </p:txBody>
      </p:sp>
      <p:sp>
        <p:nvSpPr>
          <p:cNvPr id="8" name="TextBox 8"/>
          <p:cNvSpPr txBox="1"/>
          <p:nvPr/>
        </p:nvSpPr>
        <p:spPr>
          <a:xfrm>
            <a:off x="9668556" y="3436231"/>
            <a:ext cx="8408300" cy="573533"/>
          </a:xfrm>
          <a:prstGeom prst="rect">
            <a:avLst/>
          </a:prstGeom>
        </p:spPr>
        <p:txBody>
          <a:bodyPr lIns="0" tIns="0" rIns="0" bIns="0" rtlCol="0" anchor="t">
            <a:spAutoFit/>
          </a:bodyPr>
          <a:lstStyle/>
          <a:p>
            <a:pPr algn="ctr">
              <a:lnSpc>
                <a:spcPts val="4685"/>
              </a:lnSpc>
              <a:spcBef>
                <a:spcPct val="0"/>
              </a:spcBef>
            </a:pPr>
            <a:r>
              <a:rPr lang="en-US" sz="3346">
                <a:solidFill>
                  <a:srgbClr val="FFFFFF"/>
                </a:solidFill>
                <a:latin typeface="HK Modular"/>
                <a:ea typeface="HK Modular"/>
                <a:cs typeface="HK Modular"/>
                <a:sym typeface="HK Modular"/>
              </a:rPr>
              <a:t>ENFOQUE</a:t>
            </a:r>
          </a:p>
        </p:txBody>
      </p:sp>
      <p:sp>
        <p:nvSpPr>
          <p:cNvPr id="9" name="TextBox 9"/>
          <p:cNvSpPr txBox="1"/>
          <p:nvPr/>
        </p:nvSpPr>
        <p:spPr>
          <a:xfrm>
            <a:off x="136123" y="5764175"/>
            <a:ext cx="8408300" cy="573533"/>
          </a:xfrm>
          <a:prstGeom prst="rect">
            <a:avLst/>
          </a:prstGeom>
        </p:spPr>
        <p:txBody>
          <a:bodyPr lIns="0" tIns="0" rIns="0" bIns="0" rtlCol="0" anchor="t">
            <a:spAutoFit/>
          </a:bodyPr>
          <a:lstStyle/>
          <a:p>
            <a:pPr algn="ctr">
              <a:lnSpc>
                <a:spcPts val="4685"/>
              </a:lnSpc>
              <a:spcBef>
                <a:spcPct val="0"/>
              </a:spcBef>
            </a:pPr>
            <a:r>
              <a:rPr lang="en-US" sz="3346">
                <a:solidFill>
                  <a:srgbClr val="FFFFFF"/>
                </a:solidFill>
                <a:latin typeface="HK Modular"/>
                <a:ea typeface="HK Modular"/>
                <a:cs typeface="HK Modular"/>
                <a:sym typeface="HK Modular"/>
              </a:rPr>
              <a:t>COMPROMISO</a:t>
            </a:r>
          </a:p>
        </p:txBody>
      </p:sp>
      <p:sp>
        <p:nvSpPr>
          <p:cNvPr id="10" name="TextBox 10"/>
          <p:cNvSpPr txBox="1"/>
          <p:nvPr/>
        </p:nvSpPr>
        <p:spPr>
          <a:xfrm>
            <a:off x="9668556" y="5764175"/>
            <a:ext cx="8408300" cy="573533"/>
          </a:xfrm>
          <a:prstGeom prst="rect">
            <a:avLst/>
          </a:prstGeom>
        </p:spPr>
        <p:txBody>
          <a:bodyPr lIns="0" tIns="0" rIns="0" bIns="0" rtlCol="0" anchor="t">
            <a:spAutoFit/>
          </a:bodyPr>
          <a:lstStyle/>
          <a:p>
            <a:pPr algn="ctr">
              <a:lnSpc>
                <a:spcPts val="4685"/>
              </a:lnSpc>
              <a:spcBef>
                <a:spcPct val="0"/>
              </a:spcBef>
            </a:pPr>
            <a:r>
              <a:rPr lang="en-US" sz="3346">
                <a:solidFill>
                  <a:srgbClr val="FFFFFF"/>
                </a:solidFill>
                <a:latin typeface="HK Modular"/>
                <a:ea typeface="HK Modular"/>
                <a:cs typeface="HK Modular"/>
                <a:sym typeface="HK Modular"/>
              </a:rPr>
              <a:t>RESPETO</a:t>
            </a:r>
          </a:p>
        </p:txBody>
      </p:sp>
      <p:sp>
        <p:nvSpPr>
          <p:cNvPr id="11" name="TextBox 11"/>
          <p:cNvSpPr txBox="1"/>
          <p:nvPr/>
        </p:nvSpPr>
        <p:spPr>
          <a:xfrm>
            <a:off x="5049217" y="8270780"/>
            <a:ext cx="8408300" cy="573533"/>
          </a:xfrm>
          <a:prstGeom prst="rect">
            <a:avLst/>
          </a:prstGeom>
        </p:spPr>
        <p:txBody>
          <a:bodyPr lIns="0" tIns="0" rIns="0" bIns="0" rtlCol="0" anchor="t">
            <a:spAutoFit/>
          </a:bodyPr>
          <a:lstStyle/>
          <a:p>
            <a:pPr algn="ctr">
              <a:lnSpc>
                <a:spcPts val="4685"/>
              </a:lnSpc>
              <a:spcBef>
                <a:spcPct val="0"/>
              </a:spcBef>
            </a:pPr>
            <a:r>
              <a:rPr lang="en-US" sz="3346">
                <a:solidFill>
                  <a:srgbClr val="FFFFFF"/>
                </a:solidFill>
                <a:latin typeface="HK Modular"/>
                <a:ea typeface="HK Modular"/>
                <a:cs typeface="HK Modular"/>
                <a:sym typeface="HK Modular"/>
              </a:rPr>
              <a:t>APERTURA</a:t>
            </a:r>
          </a:p>
        </p:txBody>
      </p:sp>
      <p:sp>
        <p:nvSpPr>
          <p:cNvPr id="12" name="TextBox 12"/>
          <p:cNvSpPr txBox="1"/>
          <p:nvPr/>
        </p:nvSpPr>
        <p:spPr>
          <a:xfrm>
            <a:off x="595860" y="4310416"/>
            <a:ext cx="8166233" cy="404459"/>
          </a:xfrm>
          <a:prstGeom prst="rect">
            <a:avLst/>
          </a:prstGeom>
        </p:spPr>
        <p:txBody>
          <a:bodyPr lIns="0" tIns="0" rIns="0" bIns="0" rtlCol="0" anchor="t">
            <a:spAutoFit/>
          </a:bodyPr>
          <a:lstStyle/>
          <a:p>
            <a:pPr algn="ctr">
              <a:lnSpc>
                <a:spcPts val="3431"/>
              </a:lnSpc>
            </a:pPr>
            <a:r>
              <a:rPr lang="en-US" sz="2451">
                <a:solidFill>
                  <a:srgbClr val="FFFFFF"/>
                </a:solidFill>
                <a:latin typeface="Open Sans"/>
                <a:ea typeface="Open Sans"/>
                <a:cs typeface="Open Sans"/>
                <a:sym typeface="Open Sans"/>
              </a:rPr>
              <a:t>Tratar de hacer lo correcto, mejora constante</a:t>
            </a:r>
          </a:p>
        </p:txBody>
      </p:sp>
      <p:sp>
        <p:nvSpPr>
          <p:cNvPr id="13" name="TextBox 13"/>
          <p:cNvSpPr txBox="1"/>
          <p:nvPr/>
        </p:nvSpPr>
        <p:spPr>
          <a:xfrm>
            <a:off x="9668556" y="4310416"/>
            <a:ext cx="8166233" cy="404459"/>
          </a:xfrm>
          <a:prstGeom prst="rect">
            <a:avLst/>
          </a:prstGeom>
        </p:spPr>
        <p:txBody>
          <a:bodyPr lIns="0" tIns="0" rIns="0" bIns="0" rtlCol="0" anchor="t">
            <a:spAutoFit/>
          </a:bodyPr>
          <a:lstStyle/>
          <a:p>
            <a:pPr algn="ctr">
              <a:lnSpc>
                <a:spcPts val="3431"/>
              </a:lnSpc>
            </a:pPr>
            <a:r>
              <a:rPr lang="en-US" sz="2451">
                <a:solidFill>
                  <a:srgbClr val="FFFFFF"/>
                </a:solidFill>
                <a:latin typeface="Open Sans"/>
                <a:ea typeface="Open Sans"/>
                <a:cs typeface="Open Sans"/>
                <a:sym typeface="Open Sans"/>
              </a:rPr>
              <a:t>Focalizacion, hacer algo significativo</a:t>
            </a:r>
          </a:p>
        </p:txBody>
      </p:sp>
      <p:sp>
        <p:nvSpPr>
          <p:cNvPr id="14" name="TextBox 14"/>
          <p:cNvSpPr txBox="1"/>
          <p:nvPr/>
        </p:nvSpPr>
        <p:spPr>
          <a:xfrm>
            <a:off x="257157" y="6642508"/>
            <a:ext cx="8166233" cy="404459"/>
          </a:xfrm>
          <a:prstGeom prst="rect">
            <a:avLst/>
          </a:prstGeom>
        </p:spPr>
        <p:txBody>
          <a:bodyPr lIns="0" tIns="0" rIns="0" bIns="0" rtlCol="0" anchor="t">
            <a:spAutoFit/>
          </a:bodyPr>
          <a:lstStyle/>
          <a:p>
            <a:pPr algn="ctr">
              <a:lnSpc>
                <a:spcPts val="3431"/>
              </a:lnSpc>
            </a:pPr>
            <a:r>
              <a:rPr lang="en-US" sz="2451">
                <a:solidFill>
                  <a:srgbClr val="FFFFFF"/>
                </a:solidFill>
                <a:latin typeface="Open Sans"/>
                <a:ea typeface="Open Sans"/>
                <a:cs typeface="Open Sans"/>
                <a:sym typeface="Open Sans"/>
              </a:rPr>
              <a:t>Logro de los objetivos</a:t>
            </a:r>
          </a:p>
        </p:txBody>
      </p:sp>
      <p:sp>
        <p:nvSpPr>
          <p:cNvPr id="15" name="TextBox 15"/>
          <p:cNvSpPr txBox="1"/>
          <p:nvPr/>
        </p:nvSpPr>
        <p:spPr>
          <a:xfrm>
            <a:off x="9910624" y="6642508"/>
            <a:ext cx="8166233" cy="404459"/>
          </a:xfrm>
          <a:prstGeom prst="rect">
            <a:avLst/>
          </a:prstGeom>
        </p:spPr>
        <p:txBody>
          <a:bodyPr lIns="0" tIns="0" rIns="0" bIns="0" rtlCol="0" anchor="t">
            <a:spAutoFit/>
          </a:bodyPr>
          <a:lstStyle/>
          <a:p>
            <a:pPr algn="ctr">
              <a:lnSpc>
                <a:spcPts val="3431"/>
              </a:lnSpc>
            </a:pPr>
            <a:r>
              <a:rPr lang="en-US" sz="2451">
                <a:solidFill>
                  <a:srgbClr val="FFFFFF"/>
                </a:solidFill>
                <a:latin typeface="Open Sans"/>
                <a:ea typeface="Open Sans"/>
                <a:cs typeface="Open Sans"/>
                <a:sym typeface="Open Sans"/>
              </a:rPr>
              <a:t>Entre miembros del equipo</a:t>
            </a:r>
          </a:p>
        </p:txBody>
      </p:sp>
      <p:sp>
        <p:nvSpPr>
          <p:cNvPr id="16" name="TextBox 16"/>
          <p:cNvSpPr txBox="1"/>
          <p:nvPr/>
        </p:nvSpPr>
        <p:spPr>
          <a:xfrm>
            <a:off x="5060883" y="9149112"/>
            <a:ext cx="8166233" cy="404459"/>
          </a:xfrm>
          <a:prstGeom prst="rect">
            <a:avLst/>
          </a:prstGeom>
        </p:spPr>
        <p:txBody>
          <a:bodyPr lIns="0" tIns="0" rIns="0" bIns="0" rtlCol="0" anchor="t">
            <a:spAutoFit/>
          </a:bodyPr>
          <a:lstStyle/>
          <a:p>
            <a:pPr algn="ctr">
              <a:lnSpc>
                <a:spcPts val="3431"/>
              </a:lnSpc>
            </a:pPr>
            <a:r>
              <a:rPr lang="en-US" sz="2451">
                <a:solidFill>
                  <a:srgbClr val="FFFFFF"/>
                </a:solidFill>
                <a:latin typeface="Open Sans"/>
                <a:ea typeface="Open Sans"/>
                <a:cs typeface="Open Sans"/>
                <a:sym typeface="Open Sans"/>
              </a:rPr>
              <a:t>Transparencia, abierto al progreso y trabajo en equipo</a:t>
            </a:r>
          </a:p>
        </p:txBody>
      </p:sp>
      <p:sp>
        <p:nvSpPr>
          <p:cNvPr id="17" name="Freeform 17"/>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3"/>
            <a:stretch>
              <a:fillRect/>
            </a:stretch>
          </a:blipFill>
        </p:spPr>
        <p:txBody>
          <a:bodyPr/>
          <a:lstStyle/>
          <a:p>
            <a:endParaRPr lang="es-CO"/>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2834518" y="2096546"/>
            <a:ext cx="12584532" cy="853854"/>
          </a:xfrm>
          <a:prstGeom prst="rect">
            <a:avLst/>
          </a:prstGeom>
        </p:spPr>
        <p:txBody>
          <a:bodyPr lIns="0" tIns="0" rIns="0" bIns="0" rtlCol="0" anchor="t">
            <a:spAutoFit/>
          </a:bodyPr>
          <a:lstStyle/>
          <a:p>
            <a:pPr algn="ctr">
              <a:lnSpc>
                <a:spcPts val="7012"/>
              </a:lnSpc>
              <a:spcBef>
                <a:spcPct val="0"/>
              </a:spcBef>
            </a:pPr>
            <a:r>
              <a:rPr lang="en-US" sz="5008">
                <a:solidFill>
                  <a:srgbClr val="E78939"/>
                </a:solidFill>
                <a:latin typeface="HK Modular"/>
                <a:ea typeface="HK Modular"/>
                <a:cs typeface="HK Modular"/>
                <a:sym typeface="HK Modular"/>
              </a:rPr>
              <a:t> ROLES SCRUM</a:t>
            </a:r>
          </a:p>
        </p:txBody>
      </p:sp>
      <p:sp>
        <p:nvSpPr>
          <p:cNvPr id="7" name="TextBox 7"/>
          <p:cNvSpPr txBox="1"/>
          <p:nvPr/>
        </p:nvSpPr>
        <p:spPr>
          <a:xfrm>
            <a:off x="-147138" y="3836212"/>
            <a:ext cx="8408300" cy="573533"/>
          </a:xfrm>
          <a:prstGeom prst="rect">
            <a:avLst/>
          </a:prstGeom>
        </p:spPr>
        <p:txBody>
          <a:bodyPr lIns="0" tIns="0" rIns="0" bIns="0" rtlCol="0" anchor="t">
            <a:spAutoFit/>
          </a:bodyPr>
          <a:lstStyle/>
          <a:p>
            <a:pPr algn="ctr">
              <a:lnSpc>
                <a:spcPts val="4685"/>
              </a:lnSpc>
              <a:spcBef>
                <a:spcPct val="0"/>
              </a:spcBef>
            </a:pPr>
            <a:r>
              <a:rPr lang="en-US" sz="3346">
                <a:solidFill>
                  <a:srgbClr val="FFFFFF"/>
                </a:solidFill>
                <a:latin typeface="HK Modular"/>
                <a:ea typeface="HK Modular"/>
                <a:cs typeface="HK Modular"/>
                <a:sym typeface="HK Modular"/>
              </a:rPr>
              <a:t>SCRUM MASTER</a:t>
            </a:r>
          </a:p>
        </p:txBody>
      </p:sp>
      <p:sp>
        <p:nvSpPr>
          <p:cNvPr id="8" name="TextBox 8"/>
          <p:cNvSpPr txBox="1"/>
          <p:nvPr/>
        </p:nvSpPr>
        <p:spPr>
          <a:xfrm>
            <a:off x="7830057" y="3684950"/>
            <a:ext cx="9602814" cy="1421015"/>
          </a:xfrm>
          <a:prstGeom prst="rect">
            <a:avLst/>
          </a:prstGeom>
        </p:spPr>
        <p:txBody>
          <a:bodyPr lIns="0" tIns="0" rIns="0" bIns="0" rtlCol="0" anchor="t">
            <a:spAutoFit/>
          </a:bodyPr>
          <a:lstStyle/>
          <a:p>
            <a:pPr algn="ctr">
              <a:lnSpc>
                <a:spcPts val="2296"/>
              </a:lnSpc>
            </a:pPr>
            <a:r>
              <a:rPr lang="en-US" sz="1640">
                <a:solidFill>
                  <a:srgbClr val="FFFFFF"/>
                </a:solidFill>
                <a:latin typeface="Open Sans"/>
                <a:ea typeface="Open Sans"/>
                <a:cs typeface="Open Sans"/>
                <a:sym typeface="Open Sans"/>
              </a:rPr>
              <a:t>Es el facilitador del proceso de desarrollo de Scrum. Además de celebrar reuniones diarias con el Scrum Team, el Scrum Master se asegura de que las reglas de Scrum se hagan cumplir y se apliquen según lo previsto, también es el encargado de entrenar y motivar al equipo, eliminar los impedimentos para los sprints y garantizar que el Equipo tenga las mejores condiciones posibles para cumplir sus objetivos y producir productos entregables.</a:t>
            </a:r>
          </a:p>
        </p:txBody>
      </p:sp>
      <p:sp>
        <p:nvSpPr>
          <p:cNvPr id="9" name="TextBox 9"/>
          <p:cNvSpPr txBox="1"/>
          <p:nvPr/>
        </p:nvSpPr>
        <p:spPr>
          <a:xfrm>
            <a:off x="-147138" y="6113499"/>
            <a:ext cx="8408300" cy="573533"/>
          </a:xfrm>
          <a:prstGeom prst="rect">
            <a:avLst/>
          </a:prstGeom>
        </p:spPr>
        <p:txBody>
          <a:bodyPr lIns="0" tIns="0" rIns="0" bIns="0" rtlCol="0" anchor="t">
            <a:spAutoFit/>
          </a:bodyPr>
          <a:lstStyle/>
          <a:p>
            <a:pPr algn="ctr">
              <a:lnSpc>
                <a:spcPts val="4685"/>
              </a:lnSpc>
              <a:spcBef>
                <a:spcPct val="0"/>
              </a:spcBef>
            </a:pPr>
            <a:r>
              <a:rPr lang="en-US" sz="3346">
                <a:solidFill>
                  <a:srgbClr val="FFFFFF"/>
                </a:solidFill>
                <a:latin typeface="HK Modular"/>
                <a:ea typeface="HK Modular"/>
                <a:cs typeface="HK Modular"/>
                <a:sym typeface="HK Modular"/>
              </a:rPr>
              <a:t>PRODUCT OWNER</a:t>
            </a:r>
          </a:p>
        </p:txBody>
      </p:sp>
      <p:sp>
        <p:nvSpPr>
          <p:cNvPr id="10" name="TextBox 10"/>
          <p:cNvSpPr txBox="1"/>
          <p:nvPr/>
        </p:nvSpPr>
        <p:spPr>
          <a:xfrm>
            <a:off x="8363166" y="5839389"/>
            <a:ext cx="8745118" cy="1806421"/>
          </a:xfrm>
          <a:prstGeom prst="rect">
            <a:avLst/>
          </a:prstGeom>
        </p:spPr>
        <p:txBody>
          <a:bodyPr lIns="0" tIns="0" rIns="0" bIns="0" rtlCol="0" anchor="t">
            <a:spAutoFit/>
          </a:bodyPr>
          <a:lstStyle/>
          <a:p>
            <a:pPr algn="ctr">
              <a:lnSpc>
                <a:spcPts val="2431"/>
              </a:lnSpc>
            </a:pPr>
            <a:r>
              <a:rPr lang="en-US" sz="1736">
                <a:solidFill>
                  <a:srgbClr val="FFFFFF"/>
                </a:solidFill>
                <a:latin typeface="Open Sans"/>
                <a:ea typeface="Open Sans"/>
                <a:cs typeface="Open Sans"/>
                <a:sym typeface="Open Sans"/>
              </a:rPr>
              <a:t>Representa a las partes interesadas, que suelen ser clientes. El Product Owner (Dueño del Producto) determina las expectativas del producto, registra los cambios en el producto y administra una lista de tareas pendientes detallada y constantemente actualizada para el proyecto. El Product Owner también es responsable de priorizar los objetivos de cada sprint.</a:t>
            </a:r>
          </a:p>
          <a:p>
            <a:pPr algn="ctr">
              <a:lnSpc>
                <a:spcPts val="2431"/>
              </a:lnSpc>
            </a:pPr>
            <a:endParaRPr lang="en-US" sz="1736">
              <a:solidFill>
                <a:srgbClr val="FFFFFF"/>
              </a:solidFill>
              <a:latin typeface="Open Sans"/>
              <a:ea typeface="Open Sans"/>
              <a:cs typeface="Open Sans"/>
              <a:sym typeface="Open Sans"/>
            </a:endParaRPr>
          </a:p>
        </p:txBody>
      </p:sp>
      <p:sp>
        <p:nvSpPr>
          <p:cNvPr id="11" name="TextBox 11"/>
          <p:cNvSpPr txBox="1"/>
          <p:nvPr/>
        </p:nvSpPr>
        <p:spPr>
          <a:xfrm>
            <a:off x="-147138" y="8390787"/>
            <a:ext cx="8408300" cy="573533"/>
          </a:xfrm>
          <a:prstGeom prst="rect">
            <a:avLst/>
          </a:prstGeom>
        </p:spPr>
        <p:txBody>
          <a:bodyPr lIns="0" tIns="0" rIns="0" bIns="0" rtlCol="0" anchor="t">
            <a:spAutoFit/>
          </a:bodyPr>
          <a:lstStyle/>
          <a:p>
            <a:pPr algn="ctr">
              <a:lnSpc>
                <a:spcPts val="4685"/>
              </a:lnSpc>
              <a:spcBef>
                <a:spcPct val="0"/>
              </a:spcBef>
            </a:pPr>
            <a:r>
              <a:rPr lang="en-US" sz="3346">
                <a:solidFill>
                  <a:srgbClr val="FFFFFF"/>
                </a:solidFill>
                <a:latin typeface="HK Modular"/>
                <a:ea typeface="HK Modular"/>
                <a:cs typeface="HK Modular"/>
                <a:sym typeface="HK Modular"/>
              </a:rPr>
              <a:t>SCRUM TEAM</a:t>
            </a:r>
          </a:p>
        </p:txBody>
      </p:sp>
      <p:sp>
        <p:nvSpPr>
          <p:cNvPr id="12" name="TextBox 12"/>
          <p:cNvSpPr txBox="1"/>
          <p:nvPr/>
        </p:nvSpPr>
        <p:spPr>
          <a:xfrm>
            <a:off x="8363166" y="8238387"/>
            <a:ext cx="8896134" cy="1806181"/>
          </a:xfrm>
          <a:prstGeom prst="rect">
            <a:avLst/>
          </a:prstGeom>
        </p:spPr>
        <p:txBody>
          <a:bodyPr lIns="0" tIns="0" rIns="0" bIns="0" rtlCol="0" anchor="t">
            <a:spAutoFit/>
          </a:bodyPr>
          <a:lstStyle/>
          <a:p>
            <a:pPr algn="ctr">
              <a:lnSpc>
                <a:spcPts val="2431"/>
              </a:lnSpc>
            </a:pPr>
            <a:r>
              <a:rPr lang="en-US" sz="1736">
                <a:solidFill>
                  <a:srgbClr val="FFFFFF"/>
                </a:solidFill>
                <a:latin typeface="Open Sans"/>
                <a:ea typeface="Open Sans"/>
                <a:cs typeface="Open Sans"/>
                <a:sym typeface="Open Sans"/>
              </a:rPr>
              <a:t>Es un grupo autoorganizado de 3 a 9 personas que tienen las habilidades comerciales, de diseño, analíticas y de desarrollo para llevar a cabo el trabajo real, resolver problemas y producir productos entregables. Los miembros del Scrum Team se autoadministran las tareas y son conjuntamente responsables de cumplir con los objetivos de cada sprint.</a:t>
            </a:r>
          </a:p>
          <a:p>
            <a:pPr algn="ctr">
              <a:lnSpc>
                <a:spcPts val="2431"/>
              </a:lnSpc>
            </a:pPr>
            <a:endParaRPr lang="en-US" sz="1736">
              <a:solidFill>
                <a:srgbClr val="FFFFFF"/>
              </a:solidFill>
              <a:latin typeface="Open Sans"/>
              <a:ea typeface="Open Sans"/>
              <a:cs typeface="Open Sans"/>
              <a:sym typeface="Open Sans"/>
            </a:endParaRPr>
          </a:p>
        </p:txBody>
      </p:sp>
      <p:sp>
        <p:nvSpPr>
          <p:cNvPr id="13" name="Freeform 13"/>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3"/>
            <a:stretch>
              <a:fillRect/>
            </a:stretch>
          </a:blipFill>
        </p:spPr>
        <p:txBody>
          <a:bodyPr/>
          <a:lstStyle/>
          <a:p>
            <a:endParaRPr lang="es-CO"/>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2834518" y="2096546"/>
            <a:ext cx="12584532" cy="853854"/>
          </a:xfrm>
          <a:prstGeom prst="rect">
            <a:avLst/>
          </a:prstGeom>
        </p:spPr>
        <p:txBody>
          <a:bodyPr lIns="0" tIns="0" rIns="0" bIns="0" rtlCol="0" anchor="t">
            <a:spAutoFit/>
          </a:bodyPr>
          <a:lstStyle/>
          <a:p>
            <a:pPr algn="ctr">
              <a:lnSpc>
                <a:spcPts val="7012"/>
              </a:lnSpc>
              <a:spcBef>
                <a:spcPct val="0"/>
              </a:spcBef>
            </a:pPr>
            <a:r>
              <a:rPr lang="en-US" sz="5008">
                <a:solidFill>
                  <a:srgbClr val="E78939"/>
                </a:solidFill>
                <a:latin typeface="HK Modular"/>
                <a:ea typeface="HK Modular"/>
                <a:cs typeface="HK Modular"/>
                <a:sym typeface="HK Modular"/>
              </a:rPr>
              <a:t>ARTEFACTOS SCRUM</a:t>
            </a:r>
          </a:p>
        </p:txBody>
      </p:sp>
      <p:sp>
        <p:nvSpPr>
          <p:cNvPr id="7" name="TextBox 7"/>
          <p:cNvSpPr txBox="1"/>
          <p:nvPr/>
        </p:nvSpPr>
        <p:spPr>
          <a:xfrm>
            <a:off x="-147138" y="3977407"/>
            <a:ext cx="8408300" cy="573533"/>
          </a:xfrm>
          <a:prstGeom prst="rect">
            <a:avLst/>
          </a:prstGeom>
        </p:spPr>
        <p:txBody>
          <a:bodyPr lIns="0" tIns="0" rIns="0" bIns="0" rtlCol="0" anchor="t">
            <a:spAutoFit/>
          </a:bodyPr>
          <a:lstStyle/>
          <a:p>
            <a:pPr algn="ctr">
              <a:lnSpc>
                <a:spcPts val="4685"/>
              </a:lnSpc>
              <a:spcBef>
                <a:spcPct val="0"/>
              </a:spcBef>
            </a:pPr>
            <a:r>
              <a:rPr lang="en-US" sz="3346">
                <a:solidFill>
                  <a:srgbClr val="FFFFFF"/>
                </a:solidFill>
                <a:latin typeface="HK Modular"/>
                <a:ea typeface="HK Modular"/>
                <a:cs typeface="HK Modular"/>
                <a:sym typeface="HK Modular"/>
              </a:rPr>
              <a:t>PRODUCT BACKLOG</a:t>
            </a:r>
          </a:p>
        </p:txBody>
      </p:sp>
      <p:sp>
        <p:nvSpPr>
          <p:cNvPr id="8" name="TextBox 8"/>
          <p:cNvSpPr txBox="1"/>
          <p:nvPr/>
        </p:nvSpPr>
        <p:spPr>
          <a:xfrm>
            <a:off x="-177916" y="6336551"/>
            <a:ext cx="8408300" cy="573533"/>
          </a:xfrm>
          <a:prstGeom prst="rect">
            <a:avLst/>
          </a:prstGeom>
        </p:spPr>
        <p:txBody>
          <a:bodyPr lIns="0" tIns="0" rIns="0" bIns="0" rtlCol="0" anchor="t">
            <a:spAutoFit/>
          </a:bodyPr>
          <a:lstStyle/>
          <a:p>
            <a:pPr algn="ctr">
              <a:lnSpc>
                <a:spcPts val="4685"/>
              </a:lnSpc>
              <a:spcBef>
                <a:spcPct val="0"/>
              </a:spcBef>
            </a:pPr>
            <a:r>
              <a:rPr lang="en-US" sz="3346">
                <a:solidFill>
                  <a:srgbClr val="FFFFFF"/>
                </a:solidFill>
                <a:latin typeface="HK Modular"/>
                <a:ea typeface="HK Modular"/>
                <a:cs typeface="HK Modular"/>
                <a:sym typeface="HK Modular"/>
              </a:rPr>
              <a:t>SPRINT BACKLOG</a:t>
            </a:r>
          </a:p>
        </p:txBody>
      </p:sp>
      <p:sp>
        <p:nvSpPr>
          <p:cNvPr id="9" name="TextBox 9"/>
          <p:cNvSpPr txBox="1"/>
          <p:nvPr/>
        </p:nvSpPr>
        <p:spPr>
          <a:xfrm>
            <a:off x="606943" y="8427491"/>
            <a:ext cx="6900138" cy="1165393"/>
          </a:xfrm>
          <a:prstGeom prst="rect">
            <a:avLst/>
          </a:prstGeom>
        </p:spPr>
        <p:txBody>
          <a:bodyPr lIns="0" tIns="0" rIns="0" bIns="0" rtlCol="0" anchor="t">
            <a:spAutoFit/>
          </a:bodyPr>
          <a:lstStyle/>
          <a:p>
            <a:pPr algn="ctr">
              <a:lnSpc>
                <a:spcPts val="4685"/>
              </a:lnSpc>
              <a:spcBef>
                <a:spcPct val="0"/>
              </a:spcBef>
            </a:pPr>
            <a:r>
              <a:rPr lang="en-US" sz="3346">
                <a:solidFill>
                  <a:srgbClr val="FFFFFF"/>
                </a:solidFill>
                <a:latin typeface="HK Modular"/>
                <a:ea typeface="HK Modular"/>
                <a:cs typeface="HK Modular"/>
                <a:sym typeface="HK Modular"/>
              </a:rPr>
              <a:t>PRODUCTO INCREMENTAL</a:t>
            </a:r>
          </a:p>
        </p:txBody>
      </p:sp>
      <p:sp>
        <p:nvSpPr>
          <p:cNvPr id="10" name="TextBox 10"/>
          <p:cNvSpPr txBox="1"/>
          <p:nvPr/>
        </p:nvSpPr>
        <p:spPr>
          <a:xfrm>
            <a:off x="8520345" y="3586528"/>
            <a:ext cx="8622565" cy="1556972"/>
          </a:xfrm>
          <a:prstGeom prst="rect">
            <a:avLst/>
          </a:prstGeom>
        </p:spPr>
        <p:txBody>
          <a:bodyPr lIns="0" tIns="0" rIns="0" bIns="0" rtlCol="0" anchor="t">
            <a:spAutoFit/>
          </a:bodyPr>
          <a:lstStyle/>
          <a:p>
            <a:pPr algn="ctr">
              <a:lnSpc>
                <a:spcPts val="2520"/>
              </a:lnSpc>
            </a:pPr>
            <a:r>
              <a:rPr lang="en-US" sz="1800">
                <a:solidFill>
                  <a:srgbClr val="FFFFFF"/>
                </a:solidFill>
                <a:latin typeface="Open Sans"/>
                <a:ea typeface="Open Sans"/>
                <a:cs typeface="Open Sans"/>
                <a:sym typeface="Open Sans"/>
              </a:rPr>
              <a:t>Es una lista ordenada de elementos y características que podrían ser necesarios en el producto final del proyecto. Es una fuente única de requisitos. Se actualiza a medida que se modifican o agregan nuevos requisitos, correcciones, funciones y detalles en función de la nueva información y la lista de requisitos que obtengan de los clientes o usuarios.</a:t>
            </a:r>
          </a:p>
        </p:txBody>
      </p:sp>
      <p:sp>
        <p:nvSpPr>
          <p:cNvPr id="11" name="TextBox 11"/>
          <p:cNvSpPr txBox="1"/>
          <p:nvPr/>
        </p:nvSpPr>
        <p:spPr>
          <a:xfrm>
            <a:off x="8230384" y="5964849"/>
            <a:ext cx="9202487" cy="1841191"/>
          </a:xfrm>
          <a:prstGeom prst="rect">
            <a:avLst/>
          </a:prstGeom>
        </p:spPr>
        <p:txBody>
          <a:bodyPr lIns="0" tIns="0" rIns="0" bIns="0" rtlCol="0" anchor="t">
            <a:spAutoFit/>
          </a:bodyPr>
          <a:lstStyle/>
          <a:p>
            <a:pPr algn="ctr">
              <a:lnSpc>
                <a:spcPts val="2491"/>
              </a:lnSpc>
            </a:pPr>
            <a:r>
              <a:rPr lang="en-US" sz="1779">
                <a:solidFill>
                  <a:srgbClr val="FFFFFF"/>
                </a:solidFill>
                <a:latin typeface="Open Sans"/>
                <a:ea typeface="Open Sans"/>
                <a:cs typeface="Open Sans"/>
                <a:sym typeface="Open Sans"/>
              </a:rPr>
              <a:t>Es la lista de tareas extraídas del Product Backlog con las que el Scrum Team se ha comprometido durante la planificación del sprint. No debes agregar trabajo a la lista de actividades pendientes del sprint a la mitad de este. Si lo estás haciendo vas a desbarrancar el proyecto, dedica más tiempo a la fase de planificación del sprint para tener una idea concreta de qué trabajo realizarás durante los sprints siguientes.</a:t>
            </a:r>
          </a:p>
          <a:p>
            <a:pPr algn="ctr">
              <a:lnSpc>
                <a:spcPts val="2491"/>
              </a:lnSpc>
            </a:pPr>
            <a:endParaRPr lang="en-US" sz="1779">
              <a:solidFill>
                <a:srgbClr val="FFFFFF"/>
              </a:solidFill>
              <a:latin typeface="Open Sans"/>
              <a:ea typeface="Open Sans"/>
              <a:cs typeface="Open Sans"/>
              <a:sym typeface="Open Sans"/>
            </a:endParaRPr>
          </a:p>
        </p:txBody>
      </p:sp>
      <p:sp>
        <p:nvSpPr>
          <p:cNvPr id="12" name="TextBox 12"/>
          <p:cNvSpPr txBox="1"/>
          <p:nvPr/>
        </p:nvSpPr>
        <p:spPr>
          <a:xfrm>
            <a:off x="8626578" y="8465591"/>
            <a:ext cx="8410098" cy="1556842"/>
          </a:xfrm>
          <a:prstGeom prst="rect">
            <a:avLst/>
          </a:prstGeom>
        </p:spPr>
        <p:txBody>
          <a:bodyPr lIns="0" tIns="0" rIns="0" bIns="0" rtlCol="0" anchor="t">
            <a:spAutoFit/>
          </a:bodyPr>
          <a:lstStyle/>
          <a:p>
            <a:pPr algn="ctr">
              <a:lnSpc>
                <a:spcPts val="2520"/>
              </a:lnSpc>
            </a:pPr>
            <a:r>
              <a:rPr lang="en-US" sz="1800">
                <a:solidFill>
                  <a:srgbClr val="FFFFFF"/>
                </a:solidFill>
                <a:latin typeface="Open Sans"/>
                <a:ea typeface="Open Sans"/>
                <a:cs typeface="Open Sans"/>
                <a:sym typeface="Open Sans"/>
              </a:rPr>
              <a:t>Es lo que se entrega al final de cada sprint. Este artefacto generalmente consiste en un nuevo producto o función, una mejora o corrección de errores, o cualquier otra cosa que haya solicitado el usuario o cliente y en ocasiones el mismo Scrum Team.</a:t>
            </a:r>
          </a:p>
          <a:p>
            <a:pPr algn="ctr">
              <a:lnSpc>
                <a:spcPts val="2520"/>
              </a:lnSpc>
            </a:pPr>
            <a:endParaRPr lang="en-US" sz="1800">
              <a:solidFill>
                <a:srgbClr val="FFFFFF"/>
              </a:solidFill>
              <a:latin typeface="Open Sans"/>
              <a:ea typeface="Open Sans"/>
              <a:cs typeface="Open Sans"/>
              <a:sym typeface="Open Sans"/>
            </a:endParaRPr>
          </a:p>
        </p:txBody>
      </p:sp>
      <p:sp>
        <p:nvSpPr>
          <p:cNvPr id="13" name="Freeform 13"/>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3"/>
            <a:stretch>
              <a:fillRect/>
            </a:stretch>
          </a:blipFill>
        </p:spPr>
        <p:txBody>
          <a:bodyPr/>
          <a:lstStyle/>
          <a:p>
            <a:endParaRPr lang="es-CO"/>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2834518" y="2096546"/>
            <a:ext cx="12584532" cy="853854"/>
          </a:xfrm>
          <a:prstGeom prst="rect">
            <a:avLst/>
          </a:prstGeom>
        </p:spPr>
        <p:txBody>
          <a:bodyPr lIns="0" tIns="0" rIns="0" bIns="0" rtlCol="0" anchor="t">
            <a:spAutoFit/>
          </a:bodyPr>
          <a:lstStyle/>
          <a:p>
            <a:pPr algn="ctr">
              <a:lnSpc>
                <a:spcPts val="7012"/>
              </a:lnSpc>
              <a:spcBef>
                <a:spcPct val="0"/>
              </a:spcBef>
            </a:pPr>
            <a:r>
              <a:rPr lang="en-US" sz="5008">
                <a:solidFill>
                  <a:srgbClr val="E78939"/>
                </a:solidFill>
                <a:latin typeface="HK Modular"/>
                <a:ea typeface="HK Modular"/>
                <a:cs typeface="HK Modular"/>
                <a:sym typeface="HK Modular"/>
              </a:rPr>
              <a:t> CEREMONIAS SCRUM</a:t>
            </a:r>
          </a:p>
        </p:txBody>
      </p:sp>
      <p:sp>
        <p:nvSpPr>
          <p:cNvPr id="7" name="Freeform 7"/>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3"/>
            <a:stretch>
              <a:fillRect/>
            </a:stretch>
          </a:blipFill>
        </p:spPr>
        <p:txBody>
          <a:bodyPr/>
          <a:lstStyle/>
          <a:p>
            <a:endParaRPr lang="es-CO"/>
          </a:p>
        </p:txBody>
      </p:sp>
      <p:sp>
        <p:nvSpPr>
          <p:cNvPr id="8" name="Freeform 8"/>
          <p:cNvSpPr/>
          <p:nvPr/>
        </p:nvSpPr>
        <p:spPr>
          <a:xfrm>
            <a:off x="1448671" y="3272739"/>
            <a:ext cx="15810629" cy="6403305"/>
          </a:xfrm>
          <a:custGeom>
            <a:avLst/>
            <a:gdLst/>
            <a:ahLst/>
            <a:cxnLst/>
            <a:rect l="l" t="t" r="r" b="b"/>
            <a:pathLst>
              <a:path w="15810629" h="6403305">
                <a:moveTo>
                  <a:pt x="0" y="0"/>
                </a:moveTo>
                <a:lnTo>
                  <a:pt x="15810629" y="0"/>
                </a:lnTo>
                <a:lnTo>
                  <a:pt x="15810629" y="6403305"/>
                </a:lnTo>
                <a:lnTo>
                  <a:pt x="0" y="6403305"/>
                </a:lnTo>
                <a:lnTo>
                  <a:pt x="0" y="0"/>
                </a:lnTo>
                <a:close/>
              </a:path>
            </a:pathLst>
          </a:custGeom>
          <a:blipFill>
            <a:blip r:embed="rId4"/>
            <a:stretch>
              <a:fillRect/>
            </a:stretch>
          </a:blipFill>
        </p:spPr>
        <p:txBody>
          <a:bodyPr/>
          <a:lstStyle/>
          <a:p>
            <a:endParaRPr lang="es-CO"/>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2477340" y="3748220"/>
            <a:ext cx="1834164" cy="1834164"/>
          </a:xfrm>
          <a:custGeom>
            <a:avLst/>
            <a:gdLst/>
            <a:ahLst/>
            <a:cxnLst/>
            <a:rect l="l" t="t" r="r" b="b"/>
            <a:pathLst>
              <a:path w="1834164" h="1834164">
                <a:moveTo>
                  <a:pt x="0" y="0"/>
                </a:moveTo>
                <a:lnTo>
                  <a:pt x="1834165" y="0"/>
                </a:lnTo>
                <a:lnTo>
                  <a:pt x="1834165" y="1834164"/>
                </a:lnTo>
                <a:lnTo>
                  <a:pt x="0" y="183416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O"/>
          </a:p>
        </p:txBody>
      </p:sp>
      <p:sp>
        <p:nvSpPr>
          <p:cNvPr id="7" name="Freeform 7"/>
          <p:cNvSpPr/>
          <p:nvPr/>
        </p:nvSpPr>
        <p:spPr>
          <a:xfrm>
            <a:off x="8400543" y="3678766"/>
            <a:ext cx="2057400" cy="2057400"/>
          </a:xfrm>
          <a:custGeom>
            <a:avLst/>
            <a:gdLst/>
            <a:ahLst/>
            <a:cxnLst/>
            <a:rect l="l" t="t" r="r" b="b"/>
            <a:pathLst>
              <a:path w="2057400" h="2057400">
                <a:moveTo>
                  <a:pt x="0" y="0"/>
                </a:moveTo>
                <a:lnTo>
                  <a:pt x="2057400" y="0"/>
                </a:lnTo>
                <a:lnTo>
                  <a:pt x="2057400" y="2057400"/>
                </a:lnTo>
                <a:lnTo>
                  <a:pt x="0" y="20574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p:cNvSpPr/>
          <p:nvPr/>
        </p:nvSpPr>
        <p:spPr>
          <a:xfrm>
            <a:off x="13930537" y="3749268"/>
            <a:ext cx="1916398" cy="1916398"/>
          </a:xfrm>
          <a:custGeom>
            <a:avLst/>
            <a:gdLst/>
            <a:ahLst/>
            <a:cxnLst/>
            <a:rect l="l" t="t" r="r" b="b"/>
            <a:pathLst>
              <a:path w="1916398" h="1916398">
                <a:moveTo>
                  <a:pt x="0" y="0"/>
                </a:moveTo>
                <a:lnTo>
                  <a:pt x="1916398" y="0"/>
                </a:lnTo>
                <a:lnTo>
                  <a:pt x="1916398" y="1916397"/>
                </a:lnTo>
                <a:lnTo>
                  <a:pt x="0" y="191639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CO"/>
          </a:p>
        </p:txBody>
      </p:sp>
      <p:sp>
        <p:nvSpPr>
          <p:cNvPr id="9" name="TextBox 9"/>
          <p:cNvSpPr txBox="1"/>
          <p:nvPr/>
        </p:nvSpPr>
        <p:spPr>
          <a:xfrm>
            <a:off x="2834518" y="2096546"/>
            <a:ext cx="12584532" cy="853854"/>
          </a:xfrm>
          <a:prstGeom prst="rect">
            <a:avLst/>
          </a:prstGeom>
        </p:spPr>
        <p:txBody>
          <a:bodyPr lIns="0" tIns="0" rIns="0" bIns="0" rtlCol="0" anchor="t">
            <a:spAutoFit/>
          </a:bodyPr>
          <a:lstStyle/>
          <a:p>
            <a:pPr algn="ctr">
              <a:lnSpc>
                <a:spcPts val="7012"/>
              </a:lnSpc>
              <a:spcBef>
                <a:spcPct val="0"/>
              </a:spcBef>
            </a:pPr>
            <a:r>
              <a:rPr lang="en-US" sz="5008">
                <a:solidFill>
                  <a:srgbClr val="E78939"/>
                </a:solidFill>
                <a:latin typeface="HK Modular"/>
                <a:ea typeface="HK Modular"/>
                <a:cs typeface="HK Modular"/>
                <a:sym typeface="HK Modular"/>
              </a:rPr>
              <a:t> CEREMONIAS SCRUM</a:t>
            </a:r>
          </a:p>
        </p:txBody>
      </p:sp>
      <p:sp>
        <p:nvSpPr>
          <p:cNvPr id="10" name="TextBox 10"/>
          <p:cNvSpPr txBox="1"/>
          <p:nvPr/>
        </p:nvSpPr>
        <p:spPr>
          <a:xfrm>
            <a:off x="1526554" y="5921241"/>
            <a:ext cx="3735737" cy="1376981"/>
          </a:xfrm>
          <a:prstGeom prst="rect">
            <a:avLst/>
          </a:prstGeom>
        </p:spPr>
        <p:txBody>
          <a:bodyPr lIns="0" tIns="0" rIns="0" bIns="0" rtlCol="0" anchor="t">
            <a:spAutoFit/>
          </a:bodyPr>
          <a:lstStyle/>
          <a:p>
            <a:pPr algn="ctr">
              <a:lnSpc>
                <a:spcPts val="3684"/>
              </a:lnSpc>
              <a:spcBef>
                <a:spcPct val="0"/>
              </a:spcBef>
            </a:pPr>
            <a:r>
              <a:rPr lang="en-US" sz="2631">
                <a:solidFill>
                  <a:srgbClr val="FFFFFF"/>
                </a:solidFill>
                <a:latin typeface="HK Modular"/>
                <a:ea typeface="HK Modular"/>
                <a:cs typeface="HK Modular"/>
                <a:sym typeface="HK Modular"/>
              </a:rPr>
              <a:t>ORGANIZACION DEL TRABAJO PENDIENTE</a:t>
            </a:r>
          </a:p>
        </p:txBody>
      </p:sp>
      <p:sp>
        <p:nvSpPr>
          <p:cNvPr id="11" name="TextBox 11"/>
          <p:cNvSpPr txBox="1"/>
          <p:nvPr/>
        </p:nvSpPr>
        <p:spPr>
          <a:xfrm>
            <a:off x="7595828" y="5957357"/>
            <a:ext cx="3666831" cy="1703306"/>
          </a:xfrm>
          <a:prstGeom prst="rect">
            <a:avLst/>
          </a:prstGeom>
        </p:spPr>
        <p:txBody>
          <a:bodyPr lIns="0" tIns="0" rIns="0" bIns="0" rtlCol="0" anchor="t">
            <a:spAutoFit/>
          </a:bodyPr>
          <a:lstStyle/>
          <a:p>
            <a:pPr algn="ctr">
              <a:lnSpc>
                <a:spcPts val="3398"/>
              </a:lnSpc>
              <a:spcBef>
                <a:spcPct val="0"/>
              </a:spcBef>
            </a:pPr>
            <a:r>
              <a:rPr lang="en-US" sz="2427">
                <a:solidFill>
                  <a:srgbClr val="FFFFFF"/>
                </a:solidFill>
                <a:latin typeface="HK Modular"/>
                <a:ea typeface="HK Modular"/>
                <a:cs typeface="HK Modular"/>
                <a:sym typeface="HK Modular"/>
              </a:rPr>
              <a:t>PLANIFICACION DEL SPRINT (SPRINT PLANNING)</a:t>
            </a:r>
          </a:p>
        </p:txBody>
      </p:sp>
      <p:sp>
        <p:nvSpPr>
          <p:cNvPr id="12" name="TextBox 12"/>
          <p:cNvSpPr txBox="1"/>
          <p:nvPr/>
        </p:nvSpPr>
        <p:spPr>
          <a:xfrm>
            <a:off x="12901318" y="6153940"/>
            <a:ext cx="3974835" cy="911582"/>
          </a:xfrm>
          <a:prstGeom prst="rect">
            <a:avLst/>
          </a:prstGeom>
        </p:spPr>
        <p:txBody>
          <a:bodyPr lIns="0" tIns="0" rIns="0" bIns="0" rtlCol="0" anchor="t">
            <a:spAutoFit/>
          </a:bodyPr>
          <a:lstStyle/>
          <a:p>
            <a:pPr algn="ctr">
              <a:lnSpc>
                <a:spcPts val="3684"/>
              </a:lnSpc>
              <a:spcBef>
                <a:spcPct val="0"/>
              </a:spcBef>
            </a:pPr>
            <a:r>
              <a:rPr lang="en-US" sz="2631">
                <a:solidFill>
                  <a:srgbClr val="FFFFFF"/>
                </a:solidFill>
                <a:latin typeface="HK Modular"/>
                <a:ea typeface="HK Modular"/>
                <a:cs typeface="HK Modular"/>
                <a:sym typeface="HK Modular"/>
              </a:rPr>
              <a:t>EJECUCION DEL SPRINT</a:t>
            </a:r>
          </a:p>
        </p:txBody>
      </p:sp>
      <p:sp>
        <p:nvSpPr>
          <p:cNvPr id="13" name="Freeform 13"/>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6"/>
            <a:stretch>
              <a:fillRect/>
            </a:stretch>
          </a:blipFill>
        </p:spPr>
        <p:txBody>
          <a:bodyPr/>
          <a:lstStyle/>
          <a:p>
            <a:endParaRPr lang="es-CO"/>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2374331" y="3781300"/>
            <a:ext cx="2040184" cy="2040184"/>
          </a:xfrm>
          <a:custGeom>
            <a:avLst/>
            <a:gdLst/>
            <a:ahLst/>
            <a:cxnLst/>
            <a:rect l="l" t="t" r="r" b="b"/>
            <a:pathLst>
              <a:path w="2040184" h="2040184">
                <a:moveTo>
                  <a:pt x="0" y="0"/>
                </a:moveTo>
                <a:lnTo>
                  <a:pt x="2040184" y="0"/>
                </a:lnTo>
                <a:lnTo>
                  <a:pt x="2040184" y="2040183"/>
                </a:lnTo>
                <a:lnTo>
                  <a:pt x="0" y="204018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O"/>
          </a:p>
        </p:txBody>
      </p:sp>
      <p:sp>
        <p:nvSpPr>
          <p:cNvPr id="7" name="Freeform 7"/>
          <p:cNvSpPr/>
          <p:nvPr/>
        </p:nvSpPr>
        <p:spPr>
          <a:xfrm>
            <a:off x="8294902" y="3904554"/>
            <a:ext cx="1916929" cy="1916929"/>
          </a:xfrm>
          <a:custGeom>
            <a:avLst/>
            <a:gdLst/>
            <a:ahLst/>
            <a:cxnLst/>
            <a:rect l="l" t="t" r="r" b="b"/>
            <a:pathLst>
              <a:path w="1916929" h="1916929">
                <a:moveTo>
                  <a:pt x="0" y="0"/>
                </a:moveTo>
                <a:lnTo>
                  <a:pt x="1916930" y="0"/>
                </a:lnTo>
                <a:lnTo>
                  <a:pt x="1916930" y="1916929"/>
                </a:lnTo>
                <a:lnTo>
                  <a:pt x="0" y="191692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p:cNvSpPr/>
          <p:nvPr/>
        </p:nvSpPr>
        <p:spPr>
          <a:xfrm>
            <a:off x="13775418" y="4117546"/>
            <a:ext cx="1490946" cy="1490946"/>
          </a:xfrm>
          <a:custGeom>
            <a:avLst/>
            <a:gdLst/>
            <a:ahLst/>
            <a:cxnLst/>
            <a:rect l="l" t="t" r="r" b="b"/>
            <a:pathLst>
              <a:path w="1490946" h="1490946">
                <a:moveTo>
                  <a:pt x="0" y="0"/>
                </a:moveTo>
                <a:lnTo>
                  <a:pt x="1490946" y="0"/>
                </a:lnTo>
                <a:lnTo>
                  <a:pt x="1490946" y="1490946"/>
                </a:lnTo>
                <a:lnTo>
                  <a:pt x="0" y="149094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CO"/>
          </a:p>
        </p:txBody>
      </p:sp>
      <p:sp>
        <p:nvSpPr>
          <p:cNvPr id="9" name="TextBox 9"/>
          <p:cNvSpPr txBox="1"/>
          <p:nvPr/>
        </p:nvSpPr>
        <p:spPr>
          <a:xfrm>
            <a:off x="2834518" y="2096546"/>
            <a:ext cx="12584532" cy="853854"/>
          </a:xfrm>
          <a:prstGeom prst="rect">
            <a:avLst/>
          </a:prstGeom>
        </p:spPr>
        <p:txBody>
          <a:bodyPr lIns="0" tIns="0" rIns="0" bIns="0" rtlCol="0" anchor="t">
            <a:spAutoFit/>
          </a:bodyPr>
          <a:lstStyle/>
          <a:p>
            <a:pPr algn="ctr">
              <a:lnSpc>
                <a:spcPts val="7012"/>
              </a:lnSpc>
              <a:spcBef>
                <a:spcPct val="0"/>
              </a:spcBef>
            </a:pPr>
            <a:r>
              <a:rPr lang="en-US" sz="5008">
                <a:solidFill>
                  <a:srgbClr val="E78939"/>
                </a:solidFill>
                <a:latin typeface="HK Modular"/>
                <a:ea typeface="HK Modular"/>
                <a:cs typeface="HK Modular"/>
                <a:sym typeface="HK Modular"/>
              </a:rPr>
              <a:t> CEREMONIAS SCRUM</a:t>
            </a:r>
          </a:p>
        </p:txBody>
      </p:sp>
      <p:sp>
        <p:nvSpPr>
          <p:cNvPr id="10" name="TextBox 10"/>
          <p:cNvSpPr txBox="1"/>
          <p:nvPr/>
        </p:nvSpPr>
        <p:spPr>
          <a:xfrm>
            <a:off x="1526554" y="5921241"/>
            <a:ext cx="3735737" cy="911582"/>
          </a:xfrm>
          <a:prstGeom prst="rect">
            <a:avLst/>
          </a:prstGeom>
        </p:spPr>
        <p:txBody>
          <a:bodyPr lIns="0" tIns="0" rIns="0" bIns="0" rtlCol="0" anchor="t">
            <a:spAutoFit/>
          </a:bodyPr>
          <a:lstStyle/>
          <a:p>
            <a:pPr algn="ctr">
              <a:lnSpc>
                <a:spcPts val="3684"/>
              </a:lnSpc>
              <a:spcBef>
                <a:spcPct val="0"/>
              </a:spcBef>
            </a:pPr>
            <a:r>
              <a:rPr lang="en-US" sz="2631">
                <a:solidFill>
                  <a:srgbClr val="FFFFFF"/>
                </a:solidFill>
                <a:latin typeface="HK Modular"/>
                <a:ea typeface="HK Modular"/>
                <a:cs typeface="HK Modular"/>
                <a:sym typeface="HK Modular"/>
              </a:rPr>
              <a:t>REUNION DIARIA (DAILY)</a:t>
            </a:r>
          </a:p>
        </p:txBody>
      </p:sp>
      <p:sp>
        <p:nvSpPr>
          <p:cNvPr id="11" name="TextBox 11"/>
          <p:cNvSpPr txBox="1"/>
          <p:nvPr/>
        </p:nvSpPr>
        <p:spPr>
          <a:xfrm>
            <a:off x="7265949" y="6153940"/>
            <a:ext cx="3974835" cy="446183"/>
          </a:xfrm>
          <a:prstGeom prst="rect">
            <a:avLst/>
          </a:prstGeom>
        </p:spPr>
        <p:txBody>
          <a:bodyPr lIns="0" tIns="0" rIns="0" bIns="0" rtlCol="0" anchor="t">
            <a:spAutoFit/>
          </a:bodyPr>
          <a:lstStyle/>
          <a:p>
            <a:pPr algn="ctr">
              <a:lnSpc>
                <a:spcPts val="3684"/>
              </a:lnSpc>
              <a:spcBef>
                <a:spcPct val="0"/>
              </a:spcBef>
            </a:pPr>
            <a:r>
              <a:rPr lang="en-US" sz="2631">
                <a:solidFill>
                  <a:srgbClr val="FFFFFF"/>
                </a:solidFill>
                <a:latin typeface="HK Modular"/>
                <a:ea typeface="HK Modular"/>
                <a:cs typeface="HK Modular"/>
                <a:sym typeface="HK Modular"/>
              </a:rPr>
              <a:t>SPRINT REVIEW</a:t>
            </a:r>
          </a:p>
        </p:txBody>
      </p:sp>
      <p:sp>
        <p:nvSpPr>
          <p:cNvPr id="12" name="TextBox 12"/>
          <p:cNvSpPr txBox="1"/>
          <p:nvPr/>
        </p:nvSpPr>
        <p:spPr>
          <a:xfrm>
            <a:off x="12533474" y="5921241"/>
            <a:ext cx="3974835" cy="911582"/>
          </a:xfrm>
          <a:prstGeom prst="rect">
            <a:avLst/>
          </a:prstGeom>
        </p:spPr>
        <p:txBody>
          <a:bodyPr lIns="0" tIns="0" rIns="0" bIns="0" rtlCol="0" anchor="t">
            <a:spAutoFit/>
          </a:bodyPr>
          <a:lstStyle/>
          <a:p>
            <a:pPr algn="ctr">
              <a:lnSpc>
                <a:spcPts val="3684"/>
              </a:lnSpc>
              <a:spcBef>
                <a:spcPct val="0"/>
              </a:spcBef>
            </a:pPr>
            <a:r>
              <a:rPr lang="en-US" sz="2631">
                <a:solidFill>
                  <a:srgbClr val="FFFFFF"/>
                </a:solidFill>
                <a:latin typeface="HK Modular"/>
                <a:ea typeface="HK Modular"/>
                <a:cs typeface="HK Modular"/>
                <a:sym typeface="HK Modular"/>
              </a:rPr>
              <a:t>SPRINT RETROSPECTIVE</a:t>
            </a:r>
          </a:p>
        </p:txBody>
      </p:sp>
      <p:sp>
        <p:nvSpPr>
          <p:cNvPr id="13" name="Freeform 13"/>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6"/>
            <a:stretch>
              <a:fillRect/>
            </a:stretch>
          </a:blipFill>
        </p:spPr>
        <p:txBody>
          <a:bodyPr/>
          <a:lstStyle/>
          <a:p>
            <a:endParaRPr lang="es-CO"/>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3798379" y="4421527"/>
            <a:ext cx="2544757" cy="2544757"/>
          </a:xfrm>
          <a:custGeom>
            <a:avLst/>
            <a:gdLst/>
            <a:ahLst/>
            <a:cxnLst/>
            <a:rect l="l" t="t" r="r" b="b"/>
            <a:pathLst>
              <a:path w="2544757" h="2544757">
                <a:moveTo>
                  <a:pt x="0" y="0"/>
                </a:moveTo>
                <a:lnTo>
                  <a:pt x="2544757" y="0"/>
                </a:lnTo>
                <a:lnTo>
                  <a:pt x="2544757" y="2544757"/>
                </a:lnTo>
                <a:lnTo>
                  <a:pt x="0" y="2544757"/>
                </a:lnTo>
                <a:lnTo>
                  <a:pt x="0" y="0"/>
                </a:lnTo>
                <a:close/>
              </a:path>
            </a:pathLst>
          </a:custGeom>
          <a:blipFill>
            <a:blip r:embed="rId3"/>
            <a:stretch>
              <a:fillRect/>
            </a:stretch>
          </a:blipFill>
        </p:spPr>
        <p:txBody>
          <a:bodyPr/>
          <a:lstStyle/>
          <a:p>
            <a:endParaRPr lang="es-CO"/>
          </a:p>
        </p:txBody>
      </p:sp>
      <p:sp>
        <p:nvSpPr>
          <p:cNvPr id="7" name="Freeform 7"/>
          <p:cNvSpPr/>
          <p:nvPr/>
        </p:nvSpPr>
        <p:spPr>
          <a:xfrm>
            <a:off x="8117562" y="4421527"/>
            <a:ext cx="2583307" cy="2544757"/>
          </a:xfrm>
          <a:custGeom>
            <a:avLst/>
            <a:gdLst/>
            <a:ahLst/>
            <a:cxnLst/>
            <a:rect l="l" t="t" r="r" b="b"/>
            <a:pathLst>
              <a:path w="2583307" h="2544757">
                <a:moveTo>
                  <a:pt x="0" y="0"/>
                </a:moveTo>
                <a:lnTo>
                  <a:pt x="2583306" y="0"/>
                </a:lnTo>
                <a:lnTo>
                  <a:pt x="2583306" y="2544757"/>
                </a:lnTo>
                <a:lnTo>
                  <a:pt x="0" y="2544757"/>
                </a:lnTo>
                <a:lnTo>
                  <a:pt x="0" y="0"/>
                </a:lnTo>
                <a:close/>
              </a:path>
            </a:pathLst>
          </a:custGeom>
          <a:blipFill>
            <a:blip r:embed="rId4"/>
            <a:stretch>
              <a:fillRect l="-16391" r="-46788" b="-38733"/>
            </a:stretch>
          </a:blipFill>
        </p:spPr>
        <p:txBody>
          <a:bodyPr/>
          <a:lstStyle/>
          <a:p>
            <a:endParaRPr lang="es-CO"/>
          </a:p>
        </p:txBody>
      </p:sp>
      <p:sp>
        <p:nvSpPr>
          <p:cNvPr id="8" name="Freeform 8"/>
          <p:cNvSpPr/>
          <p:nvPr/>
        </p:nvSpPr>
        <p:spPr>
          <a:xfrm>
            <a:off x="11989377" y="4421527"/>
            <a:ext cx="2893197" cy="2544757"/>
          </a:xfrm>
          <a:custGeom>
            <a:avLst/>
            <a:gdLst/>
            <a:ahLst/>
            <a:cxnLst/>
            <a:rect l="l" t="t" r="r" b="b"/>
            <a:pathLst>
              <a:path w="2893197" h="2544757">
                <a:moveTo>
                  <a:pt x="0" y="0"/>
                </a:moveTo>
                <a:lnTo>
                  <a:pt x="2893198" y="0"/>
                </a:lnTo>
                <a:lnTo>
                  <a:pt x="2893198" y="2544757"/>
                </a:lnTo>
                <a:lnTo>
                  <a:pt x="0" y="2544757"/>
                </a:lnTo>
                <a:lnTo>
                  <a:pt x="0" y="0"/>
                </a:lnTo>
                <a:close/>
              </a:path>
            </a:pathLst>
          </a:custGeom>
          <a:blipFill>
            <a:blip r:embed="rId5"/>
            <a:stretch>
              <a:fillRect l="-9465" r="-8567" b="-50069"/>
            </a:stretch>
          </a:blipFill>
        </p:spPr>
        <p:txBody>
          <a:bodyPr/>
          <a:lstStyle/>
          <a:p>
            <a:endParaRPr lang="es-CO"/>
          </a:p>
        </p:txBody>
      </p:sp>
      <p:sp>
        <p:nvSpPr>
          <p:cNvPr id="9" name="TextBox 9"/>
          <p:cNvSpPr txBox="1"/>
          <p:nvPr/>
        </p:nvSpPr>
        <p:spPr>
          <a:xfrm>
            <a:off x="0" y="1816063"/>
            <a:ext cx="18288000" cy="993012"/>
          </a:xfrm>
          <a:prstGeom prst="rect">
            <a:avLst/>
          </a:prstGeom>
        </p:spPr>
        <p:txBody>
          <a:bodyPr lIns="0" tIns="0" rIns="0" bIns="0" rtlCol="0" anchor="t">
            <a:spAutoFit/>
          </a:bodyPr>
          <a:lstStyle/>
          <a:p>
            <a:pPr algn="ctr">
              <a:lnSpc>
                <a:spcPts val="8072"/>
              </a:lnSpc>
              <a:spcBef>
                <a:spcPct val="0"/>
              </a:spcBef>
            </a:pPr>
            <a:r>
              <a:rPr lang="en-US" sz="5766">
                <a:solidFill>
                  <a:srgbClr val="E78939"/>
                </a:solidFill>
                <a:latin typeface="HK Modular"/>
                <a:ea typeface="HK Modular"/>
                <a:cs typeface="HK Modular"/>
                <a:sym typeface="HK Modular"/>
              </a:rPr>
              <a:t>HERRAMIENTAS PARA AGILE</a:t>
            </a:r>
          </a:p>
        </p:txBody>
      </p:sp>
      <p:sp>
        <p:nvSpPr>
          <p:cNvPr id="10" name="TextBox 10"/>
          <p:cNvSpPr txBox="1"/>
          <p:nvPr/>
        </p:nvSpPr>
        <p:spPr>
          <a:xfrm>
            <a:off x="3495405" y="7468322"/>
            <a:ext cx="3150707" cy="817880"/>
          </a:xfrm>
          <a:prstGeom prst="rect">
            <a:avLst/>
          </a:prstGeom>
        </p:spPr>
        <p:txBody>
          <a:bodyPr lIns="0" tIns="0" rIns="0" bIns="0" rtlCol="0" anchor="t">
            <a:spAutoFit/>
          </a:bodyPr>
          <a:lstStyle/>
          <a:p>
            <a:pPr algn="ctr">
              <a:lnSpc>
                <a:spcPts val="3639"/>
              </a:lnSpc>
            </a:pPr>
            <a:r>
              <a:rPr lang="en-US" sz="2599" b="1">
                <a:solidFill>
                  <a:srgbClr val="FFFFFF"/>
                </a:solidFill>
                <a:latin typeface="Poppins Bold"/>
                <a:ea typeface="Poppins Bold"/>
                <a:cs typeface="Poppins Bold"/>
                <a:sym typeface="Poppins Bold"/>
              </a:rPr>
              <a:t>Jira</a:t>
            </a:r>
          </a:p>
          <a:p>
            <a:pPr algn="ctr">
              <a:lnSpc>
                <a:spcPts val="2799"/>
              </a:lnSpc>
              <a:spcBef>
                <a:spcPct val="0"/>
              </a:spcBef>
            </a:pPr>
            <a:r>
              <a:rPr lang="en-US" sz="1999" i="1">
                <a:solidFill>
                  <a:srgbClr val="FFFFFF"/>
                </a:solidFill>
                <a:latin typeface="Poppins Italics"/>
                <a:ea typeface="Poppins Italics"/>
                <a:cs typeface="Poppins Italics"/>
                <a:sym typeface="Poppins Italics"/>
              </a:rPr>
              <a:t>(Atlassian)</a:t>
            </a:r>
          </a:p>
        </p:txBody>
      </p:sp>
      <p:sp>
        <p:nvSpPr>
          <p:cNvPr id="11" name="TextBox 11"/>
          <p:cNvSpPr txBox="1"/>
          <p:nvPr/>
        </p:nvSpPr>
        <p:spPr>
          <a:xfrm>
            <a:off x="7833862" y="7468322"/>
            <a:ext cx="3150707" cy="817880"/>
          </a:xfrm>
          <a:prstGeom prst="rect">
            <a:avLst/>
          </a:prstGeom>
        </p:spPr>
        <p:txBody>
          <a:bodyPr lIns="0" tIns="0" rIns="0" bIns="0" rtlCol="0" anchor="t">
            <a:spAutoFit/>
          </a:bodyPr>
          <a:lstStyle/>
          <a:p>
            <a:pPr algn="ctr">
              <a:lnSpc>
                <a:spcPts val="3639"/>
              </a:lnSpc>
            </a:pPr>
            <a:r>
              <a:rPr lang="en-US" sz="2599" b="1">
                <a:solidFill>
                  <a:srgbClr val="FFFFFF"/>
                </a:solidFill>
                <a:latin typeface="Poppins Bold"/>
                <a:ea typeface="Poppins Bold"/>
                <a:cs typeface="Poppins Bold"/>
                <a:sym typeface="Poppins Bold"/>
              </a:rPr>
              <a:t>Azure boards</a:t>
            </a:r>
          </a:p>
          <a:p>
            <a:pPr algn="ctr">
              <a:lnSpc>
                <a:spcPts val="2799"/>
              </a:lnSpc>
              <a:spcBef>
                <a:spcPct val="0"/>
              </a:spcBef>
            </a:pPr>
            <a:r>
              <a:rPr lang="en-US" sz="1999" i="1">
                <a:solidFill>
                  <a:srgbClr val="FFFFFF"/>
                </a:solidFill>
                <a:latin typeface="Poppins Italics"/>
                <a:ea typeface="Poppins Italics"/>
                <a:cs typeface="Poppins Italics"/>
                <a:sym typeface="Poppins Italics"/>
              </a:rPr>
              <a:t>(Microsoft)</a:t>
            </a:r>
          </a:p>
        </p:txBody>
      </p:sp>
      <p:sp>
        <p:nvSpPr>
          <p:cNvPr id="12" name="TextBox 12"/>
          <p:cNvSpPr txBox="1"/>
          <p:nvPr/>
        </p:nvSpPr>
        <p:spPr>
          <a:xfrm>
            <a:off x="11860623" y="7318146"/>
            <a:ext cx="3150707" cy="915036"/>
          </a:xfrm>
          <a:prstGeom prst="rect">
            <a:avLst/>
          </a:prstGeom>
        </p:spPr>
        <p:txBody>
          <a:bodyPr lIns="0" tIns="0" rIns="0" bIns="0" rtlCol="0" anchor="t">
            <a:spAutoFit/>
          </a:bodyPr>
          <a:lstStyle/>
          <a:p>
            <a:pPr algn="ctr">
              <a:lnSpc>
                <a:spcPts val="3639"/>
              </a:lnSpc>
            </a:pPr>
            <a:r>
              <a:rPr lang="en-US" sz="2599" b="1">
                <a:solidFill>
                  <a:srgbClr val="FFFFFF"/>
                </a:solidFill>
                <a:latin typeface="Poppins Bold"/>
                <a:ea typeface="Poppins Bold"/>
                <a:cs typeface="Poppins Bold"/>
                <a:sym typeface="Poppins Bold"/>
              </a:rPr>
              <a:t>GitLab</a:t>
            </a:r>
          </a:p>
          <a:p>
            <a:pPr algn="ctr">
              <a:lnSpc>
                <a:spcPts val="3639"/>
              </a:lnSpc>
              <a:spcBef>
                <a:spcPct val="0"/>
              </a:spcBef>
            </a:pPr>
            <a:r>
              <a:rPr lang="en-US" sz="2599" i="1">
                <a:solidFill>
                  <a:srgbClr val="FFFFFF"/>
                </a:solidFill>
                <a:latin typeface="Poppins Italics"/>
                <a:ea typeface="Poppins Italics"/>
                <a:cs typeface="Poppins Italics"/>
                <a:sym typeface="Poppins Italics"/>
              </a:rPr>
              <a:t>(GitLab)</a:t>
            </a:r>
          </a:p>
        </p:txBody>
      </p:sp>
      <p:sp>
        <p:nvSpPr>
          <p:cNvPr id="13" name="TextBox 13"/>
          <p:cNvSpPr txBox="1"/>
          <p:nvPr/>
        </p:nvSpPr>
        <p:spPr>
          <a:xfrm>
            <a:off x="7239172" y="2723351"/>
            <a:ext cx="4028390" cy="501924"/>
          </a:xfrm>
          <a:prstGeom prst="rect">
            <a:avLst/>
          </a:prstGeom>
        </p:spPr>
        <p:txBody>
          <a:bodyPr lIns="0" tIns="0" rIns="0" bIns="0" rtlCol="0" anchor="t">
            <a:spAutoFit/>
          </a:bodyPr>
          <a:lstStyle/>
          <a:p>
            <a:pPr algn="ctr">
              <a:lnSpc>
                <a:spcPts val="3834"/>
              </a:lnSpc>
            </a:pPr>
            <a:r>
              <a:rPr lang="en-US" sz="2739" b="1">
                <a:solidFill>
                  <a:srgbClr val="F800C0"/>
                </a:solidFill>
                <a:latin typeface="Poppins Bold"/>
                <a:ea typeface="Poppins Bold"/>
                <a:cs typeface="Poppins Bold"/>
                <a:sym typeface="Poppins Bold"/>
              </a:rPr>
              <a:t>Top 3</a:t>
            </a:r>
          </a:p>
        </p:txBody>
      </p:sp>
      <p:sp>
        <p:nvSpPr>
          <p:cNvPr id="14" name="Freeform 14"/>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6"/>
            <a:stretch>
              <a:fillRect/>
            </a:stretch>
          </a:blipFill>
        </p:spPr>
        <p:txBody>
          <a:bodyPr/>
          <a:lstStyle/>
          <a:p>
            <a:endParaRPr lang="es-CO"/>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rot="-10800000">
            <a:off x="-874366" y="8434822"/>
            <a:ext cx="10731144" cy="4199330"/>
            <a:chOff x="0" y="0"/>
            <a:chExt cx="3083604" cy="1206681"/>
          </a:xfrm>
        </p:grpSpPr>
        <p:sp>
          <p:nvSpPr>
            <p:cNvPr id="7" name="Freeform 7"/>
            <p:cNvSpPr/>
            <p:nvPr/>
          </p:nvSpPr>
          <p:spPr>
            <a:xfrm>
              <a:off x="0" y="0"/>
              <a:ext cx="3083604" cy="1206681"/>
            </a:xfrm>
            <a:custGeom>
              <a:avLst/>
              <a:gdLst/>
              <a:ahLst/>
              <a:cxnLst/>
              <a:rect l="l" t="t" r="r" b="b"/>
              <a:pathLst>
                <a:path w="3083604" h="1206681">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1">
              <a:gsLst>
                <a:gs pos="0">
                  <a:srgbClr val="000000">
                    <a:alpha val="0"/>
                  </a:srgbClr>
                </a:gs>
                <a:gs pos="100000">
                  <a:srgbClr val="FF00BF">
                    <a:alpha val="100000"/>
                  </a:srgbClr>
                </a:gs>
              </a:gsLst>
              <a:lin ang="0"/>
            </a:gradFill>
          </p:spPr>
          <p:txBody>
            <a:bodyPr/>
            <a:lstStyle/>
            <a:p>
              <a:endParaRPr lang="es-CO"/>
            </a:p>
          </p:txBody>
        </p:sp>
        <p:sp>
          <p:nvSpPr>
            <p:cNvPr id="8" name="TextBox 8"/>
            <p:cNvSpPr txBox="1"/>
            <p:nvPr/>
          </p:nvSpPr>
          <p:spPr>
            <a:xfrm>
              <a:off x="0" y="-38100"/>
              <a:ext cx="3083604" cy="124478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339501" y="-2648321"/>
            <a:ext cx="10731144" cy="4199330"/>
            <a:chOff x="0" y="0"/>
            <a:chExt cx="3083604" cy="1206681"/>
          </a:xfrm>
        </p:grpSpPr>
        <p:sp>
          <p:nvSpPr>
            <p:cNvPr id="10" name="Freeform 10"/>
            <p:cNvSpPr/>
            <p:nvPr/>
          </p:nvSpPr>
          <p:spPr>
            <a:xfrm>
              <a:off x="0" y="0"/>
              <a:ext cx="3083604" cy="1206681"/>
            </a:xfrm>
            <a:custGeom>
              <a:avLst/>
              <a:gdLst/>
              <a:ahLst/>
              <a:cxnLst/>
              <a:rect l="l" t="t" r="r" b="b"/>
              <a:pathLst>
                <a:path w="3083604" h="1206681">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1">
              <a:gsLst>
                <a:gs pos="0">
                  <a:srgbClr val="000000">
                    <a:alpha val="0"/>
                  </a:srgbClr>
                </a:gs>
                <a:gs pos="100000">
                  <a:srgbClr val="FF00BF">
                    <a:alpha val="100000"/>
                  </a:srgbClr>
                </a:gs>
              </a:gsLst>
              <a:lin ang="0"/>
            </a:gradFill>
          </p:spPr>
          <p:txBody>
            <a:bodyPr/>
            <a:lstStyle/>
            <a:p>
              <a:endParaRPr lang="es-CO"/>
            </a:p>
          </p:txBody>
        </p:sp>
        <p:sp>
          <p:nvSpPr>
            <p:cNvPr id="11" name="TextBox 11"/>
            <p:cNvSpPr txBox="1"/>
            <p:nvPr/>
          </p:nvSpPr>
          <p:spPr>
            <a:xfrm>
              <a:off x="0" y="-38100"/>
              <a:ext cx="3083604" cy="1244781"/>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3087770" y="4331635"/>
            <a:ext cx="12112459" cy="2377212"/>
          </a:xfrm>
          <a:prstGeom prst="rect">
            <a:avLst/>
          </a:prstGeom>
        </p:spPr>
        <p:txBody>
          <a:bodyPr lIns="0" tIns="0" rIns="0" bIns="0" rtlCol="0" anchor="t">
            <a:spAutoFit/>
          </a:bodyPr>
          <a:lstStyle/>
          <a:p>
            <a:pPr algn="ctr">
              <a:lnSpc>
                <a:spcPts val="9517"/>
              </a:lnSpc>
              <a:spcBef>
                <a:spcPct val="0"/>
              </a:spcBef>
            </a:pPr>
            <a:r>
              <a:rPr lang="en-US" sz="6798">
                <a:solidFill>
                  <a:srgbClr val="FA18C2"/>
                </a:solidFill>
                <a:latin typeface="HK Modular"/>
                <a:ea typeface="HK Modular"/>
                <a:cs typeface="HK Modular"/>
                <a:sym typeface="HK Modular"/>
              </a:rPr>
              <a:t>ATRIBUTOS DE CALIDAD</a:t>
            </a:r>
          </a:p>
        </p:txBody>
      </p:sp>
      <p:sp>
        <p:nvSpPr>
          <p:cNvPr id="13" name="Freeform 13"/>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3"/>
            <a:stretch>
              <a:fillRect/>
            </a:stretch>
          </a:blipFill>
        </p:spPr>
        <p:txBody>
          <a:bodyPr/>
          <a:lstStyle/>
          <a:p>
            <a:endParaRPr lang="es-CO"/>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2834518" y="2096546"/>
            <a:ext cx="12584532" cy="853854"/>
          </a:xfrm>
          <a:prstGeom prst="rect">
            <a:avLst/>
          </a:prstGeom>
        </p:spPr>
        <p:txBody>
          <a:bodyPr lIns="0" tIns="0" rIns="0" bIns="0" rtlCol="0" anchor="t">
            <a:spAutoFit/>
          </a:bodyPr>
          <a:lstStyle/>
          <a:p>
            <a:pPr algn="ctr">
              <a:lnSpc>
                <a:spcPts val="7012"/>
              </a:lnSpc>
              <a:spcBef>
                <a:spcPct val="0"/>
              </a:spcBef>
            </a:pPr>
            <a:r>
              <a:rPr lang="en-US" sz="5008">
                <a:solidFill>
                  <a:srgbClr val="E78939"/>
                </a:solidFill>
                <a:latin typeface="HK Modular"/>
                <a:ea typeface="HK Modular"/>
                <a:cs typeface="HK Modular"/>
                <a:sym typeface="HK Modular"/>
              </a:rPr>
              <a:t>¿QUE SON?</a:t>
            </a:r>
          </a:p>
        </p:txBody>
      </p:sp>
      <p:sp>
        <p:nvSpPr>
          <p:cNvPr id="7" name="TextBox 7"/>
          <p:cNvSpPr txBox="1"/>
          <p:nvPr/>
        </p:nvSpPr>
        <p:spPr>
          <a:xfrm>
            <a:off x="3644456" y="3411473"/>
            <a:ext cx="11217823" cy="1105024"/>
          </a:xfrm>
          <a:prstGeom prst="rect">
            <a:avLst/>
          </a:prstGeom>
        </p:spPr>
        <p:txBody>
          <a:bodyPr lIns="0" tIns="0" rIns="0" bIns="0" rtlCol="0" anchor="t">
            <a:spAutoFit/>
          </a:bodyPr>
          <a:lstStyle/>
          <a:p>
            <a:pPr algn="ctr">
              <a:lnSpc>
                <a:spcPts val="2992"/>
              </a:lnSpc>
            </a:pPr>
            <a:r>
              <a:rPr lang="en-US" sz="2137">
                <a:solidFill>
                  <a:srgbClr val="FFFFFF"/>
                </a:solidFill>
                <a:latin typeface="Open Sans"/>
                <a:ea typeface="Open Sans"/>
                <a:cs typeface="Open Sans"/>
                <a:sym typeface="Open Sans"/>
              </a:rPr>
              <a:t>La calidad es un conjunto de propiedades inherentes a algo que permiten determinar su valor según el contexto, esa calidad se evalua mediante atributos especificos que permiten medir funcionalidades y condiciones no funcionales</a:t>
            </a:r>
          </a:p>
        </p:txBody>
      </p:sp>
      <p:sp>
        <p:nvSpPr>
          <p:cNvPr id="8" name="TextBox 8"/>
          <p:cNvSpPr txBox="1"/>
          <p:nvPr/>
        </p:nvSpPr>
        <p:spPr>
          <a:xfrm>
            <a:off x="3535089" y="4973697"/>
            <a:ext cx="11217823" cy="731285"/>
          </a:xfrm>
          <a:prstGeom prst="rect">
            <a:avLst/>
          </a:prstGeom>
        </p:spPr>
        <p:txBody>
          <a:bodyPr lIns="0" tIns="0" rIns="0" bIns="0" rtlCol="0" anchor="t">
            <a:spAutoFit/>
          </a:bodyPr>
          <a:lstStyle/>
          <a:p>
            <a:pPr algn="ctr">
              <a:lnSpc>
                <a:spcPts val="2992"/>
              </a:lnSpc>
            </a:pPr>
            <a:r>
              <a:rPr lang="en-US" sz="2137">
                <a:solidFill>
                  <a:srgbClr val="FFFFFF"/>
                </a:solidFill>
                <a:latin typeface="Open Sans"/>
                <a:ea typeface="Open Sans"/>
                <a:cs typeface="Open Sans"/>
                <a:sym typeface="Open Sans"/>
              </a:rPr>
              <a:t>Ayudan a abordar la complejidad del desarrollo de software, ya que cada atributo influye en el funcionamiento e impacto final del producto</a:t>
            </a:r>
          </a:p>
        </p:txBody>
      </p:sp>
      <p:sp>
        <p:nvSpPr>
          <p:cNvPr id="9" name="TextBox 9"/>
          <p:cNvSpPr txBox="1"/>
          <p:nvPr/>
        </p:nvSpPr>
        <p:spPr>
          <a:xfrm>
            <a:off x="2389724" y="6490979"/>
            <a:ext cx="3736676" cy="573533"/>
          </a:xfrm>
          <a:prstGeom prst="rect">
            <a:avLst/>
          </a:prstGeom>
        </p:spPr>
        <p:txBody>
          <a:bodyPr lIns="0" tIns="0" rIns="0" bIns="0" rtlCol="0" anchor="t">
            <a:spAutoFit/>
          </a:bodyPr>
          <a:lstStyle/>
          <a:p>
            <a:pPr algn="ctr">
              <a:lnSpc>
                <a:spcPts val="4685"/>
              </a:lnSpc>
              <a:spcBef>
                <a:spcPct val="0"/>
              </a:spcBef>
            </a:pPr>
            <a:r>
              <a:rPr lang="en-US" sz="3346">
                <a:solidFill>
                  <a:srgbClr val="FFFFFF"/>
                </a:solidFill>
                <a:latin typeface="HK Modular"/>
                <a:ea typeface="HK Modular"/>
                <a:cs typeface="HK Modular"/>
                <a:sym typeface="HK Modular"/>
              </a:rPr>
              <a:t>FUNCIONAL</a:t>
            </a:r>
          </a:p>
        </p:txBody>
      </p:sp>
      <p:sp>
        <p:nvSpPr>
          <p:cNvPr id="10" name="TextBox 10"/>
          <p:cNvSpPr txBox="1"/>
          <p:nvPr/>
        </p:nvSpPr>
        <p:spPr>
          <a:xfrm>
            <a:off x="2021880" y="7438287"/>
            <a:ext cx="4251658" cy="573533"/>
          </a:xfrm>
          <a:prstGeom prst="rect">
            <a:avLst/>
          </a:prstGeom>
        </p:spPr>
        <p:txBody>
          <a:bodyPr lIns="0" tIns="0" rIns="0" bIns="0" rtlCol="0" anchor="t">
            <a:spAutoFit/>
          </a:bodyPr>
          <a:lstStyle/>
          <a:p>
            <a:pPr algn="ctr">
              <a:lnSpc>
                <a:spcPts val="4685"/>
              </a:lnSpc>
              <a:spcBef>
                <a:spcPct val="0"/>
              </a:spcBef>
            </a:pPr>
            <a:r>
              <a:rPr lang="en-US" sz="3346">
                <a:solidFill>
                  <a:srgbClr val="FFFFFF"/>
                </a:solidFill>
                <a:latin typeface="HK Modular"/>
                <a:ea typeface="HK Modular"/>
                <a:cs typeface="HK Modular"/>
                <a:sym typeface="HK Modular"/>
              </a:rPr>
              <a:t>PERFORMANCE</a:t>
            </a:r>
          </a:p>
        </p:txBody>
      </p:sp>
      <p:sp>
        <p:nvSpPr>
          <p:cNvPr id="11" name="TextBox 11"/>
          <p:cNvSpPr txBox="1"/>
          <p:nvPr/>
        </p:nvSpPr>
        <p:spPr>
          <a:xfrm>
            <a:off x="1203426" y="8440444"/>
            <a:ext cx="5336799" cy="573533"/>
          </a:xfrm>
          <a:prstGeom prst="rect">
            <a:avLst/>
          </a:prstGeom>
        </p:spPr>
        <p:txBody>
          <a:bodyPr lIns="0" tIns="0" rIns="0" bIns="0" rtlCol="0" anchor="t">
            <a:spAutoFit/>
          </a:bodyPr>
          <a:lstStyle/>
          <a:p>
            <a:pPr algn="ctr">
              <a:lnSpc>
                <a:spcPts val="4685"/>
              </a:lnSpc>
              <a:spcBef>
                <a:spcPct val="0"/>
              </a:spcBef>
            </a:pPr>
            <a:r>
              <a:rPr lang="en-US" sz="3346">
                <a:solidFill>
                  <a:srgbClr val="FFFFFF"/>
                </a:solidFill>
                <a:latin typeface="HK Modular"/>
                <a:ea typeface="HK Modular"/>
                <a:cs typeface="HK Modular"/>
                <a:sym typeface="HK Modular"/>
              </a:rPr>
              <a:t>COMPATIBILIDAD</a:t>
            </a:r>
          </a:p>
        </p:txBody>
      </p:sp>
      <p:sp>
        <p:nvSpPr>
          <p:cNvPr id="12" name="TextBox 12"/>
          <p:cNvSpPr txBox="1"/>
          <p:nvPr/>
        </p:nvSpPr>
        <p:spPr>
          <a:xfrm>
            <a:off x="7618378" y="6490979"/>
            <a:ext cx="4122913" cy="573533"/>
          </a:xfrm>
          <a:prstGeom prst="rect">
            <a:avLst/>
          </a:prstGeom>
        </p:spPr>
        <p:txBody>
          <a:bodyPr lIns="0" tIns="0" rIns="0" bIns="0" rtlCol="0" anchor="t">
            <a:spAutoFit/>
          </a:bodyPr>
          <a:lstStyle/>
          <a:p>
            <a:pPr algn="ctr">
              <a:lnSpc>
                <a:spcPts val="4685"/>
              </a:lnSpc>
              <a:spcBef>
                <a:spcPct val="0"/>
              </a:spcBef>
            </a:pPr>
            <a:r>
              <a:rPr lang="en-US" sz="3346">
                <a:solidFill>
                  <a:srgbClr val="FFFFFF"/>
                </a:solidFill>
                <a:latin typeface="HK Modular"/>
                <a:ea typeface="HK Modular"/>
                <a:cs typeface="HK Modular"/>
                <a:sym typeface="HK Modular"/>
              </a:rPr>
              <a:t>USABILIDAD</a:t>
            </a:r>
          </a:p>
        </p:txBody>
      </p:sp>
      <p:sp>
        <p:nvSpPr>
          <p:cNvPr id="13" name="TextBox 13"/>
          <p:cNvSpPr txBox="1"/>
          <p:nvPr/>
        </p:nvSpPr>
        <p:spPr>
          <a:xfrm>
            <a:off x="7618378" y="7438287"/>
            <a:ext cx="4122913" cy="573533"/>
          </a:xfrm>
          <a:prstGeom prst="rect">
            <a:avLst/>
          </a:prstGeom>
        </p:spPr>
        <p:txBody>
          <a:bodyPr lIns="0" tIns="0" rIns="0" bIns="0" rtlCol="0" anchor="t">
            <a:spAutoFit/>
          </a:bodyPr>
          <a:lstStyle/>
          <a:p>
            <a:pPr algn="ctr">
              <a:lnSpc>
                <a:spcPts val="4685"/>
              </a:lnSpc>
              <a:spcBef>
                <a:spcPct val="0"/>
              </a:spcBef>
            </a:pPr>
            <a:r>
              <a:rPr lang="en-US" sz="3346">
                <a:solidFill>
                  <a:srgbClr val="FFFFFF"/>
                </a:solidFill>
                <a:latin typeface="HK Modular"/>
                <a:ea typeface="HK Modular"/>
                <a:cs typeface="HK Modular"/>
                <a:sym typeface="HK Modular"/>
              </a:rPr>
              <a:t>FIABILIDAD</a:t>
            </a:r>
          </a:p>
        </p:txBody>
      </p:sp>
      <p:sp>
        <p:nvSpPr>
          <p:cNvPr id="14" name="TextBox 14"/>
          <p:cNvSpPr txBox="1"/>
          <p:nvPr/>
        </p:nvSpPr>
        <p:spPr>
          <a:xfrm>
            <a:off x="12800822" y="6490979"/>
            <a:ext cx="4122913" cy="573533"/>
          </a:xfrm>
          <a:prstGeom prst="rect">
            <a:avLst/>
          </a:prstGeom>
        </p:spPr>
        <p:txBody>
          <a:bodyPr lIns="0" tIns="0" rIns="0" bIns="0" rtlCol="0" anchor="t">
            <a:spAutoFit/>
          </a:bodyPr>
          <a:lstStyle/>
          <a:p>
            <a:pPr algn="ctr">
              <a:lnSpc>
                <a:spcPts val="4685"/>
              </a:lnSpc>
              <a:spcBef>
                <a:spcPct val="0"/>
              </a:spcBef>
            </a:pPr>
            <a:r>
              <a:rPr lang="en-US" sz="3346">
                <a:solidFill>
                  <a:srgbClr val="FFFFFF"/>
                </a:solidFill>
                <a:latin typeface="HK Modular"/>
                <a:ea typeface="HK Modular"/>
                <a:cs typeface="HK Modular"/>
                <a:sym typeface="HK Modular"/>
              </a:rPr>
              <a:t>SEGURIDAD</a:t>
            </a:r>
          </a:p>
        </p:txBody>
      </p:sp>
      <p:sp>
        <p:nvSpPr>
          <p:cNvPr id="15" name="TextBox 15"/>
          <p:cNvSpPr txBox="1"/>
          <p:nvPr/>
        </p:nvSpPr>
        <p:spPr>
          <a:xfrm>
            <a:off x="12112100" y="8383294"/>
            <a:ext cx="5281623" cy="573533"/>
          </a:xfrm>
          <a:prstGeom prst="rect">
            <a:avLst/>
          </a:prstGeom>
        </p:spPr>
        <p:txBody>
          <a:bodyPr lIns="0" tIns="0" rIns="0" bIns="0" rtlCol="0" anchor="t">
            <a:spAutoFit/>
          </a:bodyPr>
          <a:lstStyle/>
          <a:p>
            <a:pPr algn="ctr">
              <a:lnSpc>
                <a:spcPts val="4685"/>
              </a:lnSpc>
              <a:spcBef>
                <a:spcPct val="0"/>
              </a:spcBef>
            </a:pPr>
            <a:r>
              <a:rPr lang="en-US" sz="3346">
                <a:solidFill>
                  <a:srgbClr val="FFFFFF"/>
                </a:solidFill>
                <a:latin typeface="HK Modular"/>
                <a:ea typeface="HK Modular"/>
                <a:cs typeface="HK Modular"/>
                <a:sym typeface="HK Modular"/>
              </a:rPr>
              <a:t>MANTENIBILIDAD</a:t>
            </a:r>
          </a:p>
        </p:txBody>
      </p:sp>
      <p:sp>
        <p:nvSpPr>
          <p:cNvPr id="16" name="TextBox 16"/>
          <p:cNvSpPr txBox="1"/>
          <p:nvPr/>
        </p:nvSpPr>
        <p:spPr>
          <a:xfrm>
            <a:off x="12584621" y="7438287"/>
            <a:ext cx="4674679" cy="573533"/>
          </a:xfrm>
          <a:prstGeom prst="rect">
            <a:avLst/>
          </a:prstGeom>
        </p:spPr>
        <p:txBody>
          <a:bodyPr lIns="0" tIns="0" rIns="0" bIns="0" rtlCol="0" anchor="t">
            <a:spAutoFit/>
          </a:bodyPr>
          <a:lstStyle/>
          <a:p>
            <a:pPr algn="ctr">
              <a:lnSpc>
                <a:spcPts val="4685"/>
              </a:lnSpc>
              <a:spcBef>
                <a:spcPct val="0"/>
              </a:spcBef>
            </a:pPr>
            <a:r>
              <a:rPr lang="en-US" sz="3346">
                <a:solidFill>
                  <a:srgbClr val="FFFFFF"/>
                </a:solidFill>
                <a:latin typeface="HK Modular"/>
                <a:ea typeface="HK Modular"/>
                <a:cs typeface="HK Modular"/>
                <a:sym typeface="HK Modular"/>
              </a:rPr>
              <a:t>PORTABILIDAD</a:t>
            </a:r>
          </a:p>
        </p:txBody>
      </p:sp>
      <p:sp>
        <p:nvSpPr>
          <p:cNvPr id="17" name="Freeform 17"/>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3"/>
            <a:stretch>
              <a:fillRect/>
            </a:stretch>
          </a:blipFill>
        </p:spPr>
        <p:txBody>
          <a:bodyPr/>
          <a:lstStyle/>
          <a:p>
            <a:endParaRPr lang="es-CO"/>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rot="-10800000">
            <a:off x="-874366" y="8434822"/>
            <a:ext cx="10731144" cy="4199330"/>
            <a:chOff x="0" y="0"/>
            <a:chExt cx="3083604" cy="1206681"/>
          </a:xfrm>
        </p:grpSpPr>
        <p:sp>
          <p:nvSpPr>
            <p:cNvPr id="7" name="Freeform 7"/>
            <p:cNvSpPr/>
            <p:nvPr/>
          </p:nvSpPr>
          <p:spPr>
            <a:xfrm>
              <a:off x="0" y="0"/>
              <a:ext cx="3083604" cy="1206681"/>
            </a:xfrm>
            <a:custGeom>
              <a:avLst/>
              <a:gdLst/>
              <a:ahLst/>
              <a:cxnLst/>
              <a:rect l="l" t="t" r="r" b="b"/>
              <a:pathLst>
                <a:path w="3083604" h="1206681">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1">
              <a:gsLst>
                <a:gs pos="0">
                  <a:srgbClr val="000000">
                    <a:alpha val="0"/>
                  </a:srgbClr>
                </a:gs>
                <a:gs pos="100000">
                  <a:srgbClr val="FF00BF">
                    <a:alpha val="100000"/>
                  </a:srgbClr>
                </a:gs>
              </a:gsLst>
              <a:lin ang="0"/>
            </a:gradFill>
          </p:spPr>
          <p:txBody>
            <a:bodyPr/>
            <a:lstStyle/>
            <a:p>
              <a:endParaRPr lang="es-CO"/>
            </a:p>
          </p:txBody>
        </p:sp>
        <p:sp>
          <p:nvSpPr>
            <p:cNvPr id="8" name="TextBox 8"/>
            <p:cNvSpPr txBox="1"/>
            <p:nvPr/>
          </p:nvSpPr>
          <p:spPr>
            <a:xfrm>
              <a:off x="0" y="-38100"/>
              <a:ext cx="3083604" cy="124478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339501" y="-2648321"/>
            <a:ext cx="10731144" cy="4199330"/>
            <a:chOff x="0" y="0"/>
            <a:chExt cx="3083604" cy="1206681"/>
          </a:xfrm>
        </p:grpSpPr>
        <p:sp>
          <p:nvSpPr>
            <p:cNvPr id="10" name="Freeform 10"/>
            <p:cNvSpPr/>
            <p:nvPr/>
          </p:nvSpPr>
          <p:spPr>
            <a:xfrm>
              <a:off x="0" y="0"/>
              <a:ext cx="3083604" cy="1206681"/>
            </a:xfrm>
            <a:custGeom>
              <a:avLst/>
              <a:gdLst/>
              <a:ahLst/>
              <a:cxnLst/>
              <a:rect l="l" t="t" r="r" b="b"/>
              <a:pathLst>
                <a:path w="3083604" h="1206681">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1">
              <a:gsLst>
                <a:gs pos="0">
                  <a:srgbClr val="000000">
                    <a:alpha val="0"/>
                  </a:srgbClr>
                </a:gs>
                <a:gs pos="100000">
                  <a:srgbClr val="FF00BF">
                    <a:alpha val="100000"/>
                  </a:srgbClr>
                </a:gs>
              </a:gsLst>
              <a:lin ang="0"/>
            </a:gradFill>
          </p:spPr>
          <p:txBody>
            <a:bodyPr/>
            <a:lstStyle/>
            <a:p>
              <a:endParaRPr lang="es-CO"/>
            </a:p>
          </p:txBody>
        </p:sp>
        <p:sp>
          <p:nvSpPr>
            <p:cNvPr id="11" name="TextBox 11"/>
            <p:cNvSpPr txBox="1"/>
            <p:nvPr/>
          </p:nvSpPr>
          <p:spPr>
            <a:xfrm>
              <a:off x="0" y="-38100"/>
              <a:ext cx="3083604" cy="1244781"/>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1538493" y="4161642"/>
            <a:ext cx="15211015" cy="1858941"/>
          </a:xfrm>
          <a:prstGeom prst="rect">
            <a:avLst/>
          </a:prstGeom>
        </p:spPr>
        <p:txBody>
          <a:bodyPr lIns="0" tIns="0" rIns="0" bIns="0" rtlCol="0" anchor="t">
            <a:spAutoFit/>
          </a:bodyPr>
          <a:lstStyle/>
          <a:p>
            <a:pPr algn="ctr">
              <a:lnSpc>
                <a:spcPts val="7471"/>
              </a:lnSpc>
              <a:spcBef>
                <a:spcPct val="0"/>
              </a:spcBef>
            </a:pPr>
            <a:r>
              <a:rPr lang="en-US" sz="5337">
                <a:solidFill>
                  <a:srgbClr val="F400BC"/>
                </a:solidFill>
                <a:latin typeface="HK Modular"/>
                <a:ea typeface="HK Modular"/>
                <a:cs typeface="HK Modular"/>
                <a:sym typeface="HK Modular"/>
              </a:rPr>
              <a:t>EPICA - FEATURE /HISTORIAS DE USUARIO Y TAREAS</a:t>
            </a:r>
          </a:p>
        </p:txBody>
      </p:sp>
      <p:sp>
        <p:nvSpPr>
          <p:cNvPr id="13" name="Freeform 13"/>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3"/>
            <a:stretch>
              <a:fillRect/>
            </a:stretch>
          </a:blipFill>
        </p:spPr>
        <p:txBody>
          <a:bodyPr/>
          <a:lstStyle/>
          <a:p>
            <a:endParaRPr lang="es-CO"/>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1028700" y="1596881"/>
            <a:ext cx="16323777" cy="2018187"/>
          </a:xfrm>
          <a:prstGeom prst="rect">
            <a:avLst/>
          </a:prstGeom>
        </p:spPr>
        <p:txBody>
          <a:bodyPr lIns="0" tIns="0" rIns="0" bIns="0" rtlCol="0" anchor="t">
            <a:spAutoFit/>
          </a:bodyPr>
          <a:lstStyle/>
          <a:p>
            <a:pPr algn="ctr">
              <a:lnSpc>
                <a:spcPts val="8072"/>
              </a:lnSpc>
              <a:spcBef>
                <a:spcPct val="0"/>
              </a:spcBef>
            </a:pPr>
            <a:r>
              <a:rPr lang="en-US" sz="5766">
                <a:solidFill>
                  <a:srgbClr val="E78939"/>
                </a:solidFill>
                <a:latin typeface="HK Modular"/>
                <a:ea typeface="HK Modular"/>
                <a:cs typeface="HK Modular"/>
                <a:sym typeface="HK Modular"/>
              </a:rPr>
              <a:t>AGILE: NIVELES DE DESCOMPOSICIÓN DEL TRABAJO</a:t>
            </a:r>
          </a:p>
        </p:txBody>
      </p:sp>
      <p:sp>
        <p:nvSpPr>
          <p:cNvPr id="7" name="Freeform 7"/>
          <p:cNvSpPr/>
          <p:nvPr/>
        </p:nvSpPr>
        <p:spPr>
          <a:xfrm>
            <a:off x="7633321" y="3903962"/>
            <a:ext cx="9719156" cy="5673557"/>
          </a:xfrm>
          <a:custGeom>
            <a:avLst/>
            <a:gdLst/>
            <a:ahLst/>
            <a:cxnLst/>
            <a:rect l="l" t="t" r="r" b="b"/>
            <a:pathLst>
              <a:path w="9719156" h="5673557">
                <a:moveTo>
                  <a:pt x="0" y="0"/>
                </a:moveTo>
                <a:lnTo>
                  <a:pt x="9719156" y="0"/>
                </a:lnTo>
                <a:lnTo>
                  <a:pt x="9719156" y="5673558"/>
                </a:lnTo>
                <a:lnTo>
                  <a:pt x="0" y="5673558"/>
                </a:lnTo>
                <a:lnTo>
                  <a:pt x="0" y="0"/>
                </a:lnTo>
                <a:close/>
              </a:path>
            </a:pathLst>
          </a:custGeom>
          <a:blipFill>
            <a:blip r:embed="rId3"/>
            <a:stretch>
              <a:fillRect/>
            </a:stretch>
          </a:blipFill>
        </p:spPr>
        <p:txBody>
          <a:bodyPr/>
          <a:lstStyle/>
          <a:p>
            <a:endParaRPr lang="es-CO"/>
          </a:p>
        </p:txBody>
      </p:sp>
      <p:sp>
        <p:nvSpPr>
          <p:cNvPr id="8" name="TextBox 8"/>
          <p:cNvSpPr txBox="1"/>
          <p:nvPr/>
        </p:nvSpPr>
        <p:spPr>
          <a:xfrm>
            <a:off x="1028700" y="4850556"/>
            <a:ext cx="5709500" cy="3156889"/>
          </a:xfrm>
          <a:prstGeom prst="rect">
            <a:avLst/>
          </a:prstGeom>
        </p:spPr>
        <p:txBody>
          <a:bodyPr lIns="0" tIns="0" rIns="0" bIns="0" rtlCol="0" anchor="t">
            <a:spAutoFit/>
          </a:bodyPr>
          <a:lstStyle/>
          <a:p>
            <a:pPr algn="ctr">
              <a:lnSpc>
                <a:spcPts val="5023"/>
              </a:lnSpc>
              <a:spcBef>
                <a:spcPct val="0"/>
              </a:spcBef>
            </a:pPr>
            <a:r>
              <a:rPr lang="en-US" sz="3588">
                <a:solidFill>
                  <a:srgbClr val="FFFFFF"/>
                </a:solidFill>
                <a:latin typeface="Poppins"/>
                <a:ea typeface="Poppins"/>
                <a:cs typeface="Poppins"/>
                <a:sym typeface="Poppins"/>
              </a:rPr>
              <a:t>Niveles de desglose del trabajo: desde lo más grande y estratégico hasta lo más pequeño y operativo.</a:t>
            </a:r>
          </a:p>
        </p:txBody>
      </p:sp>
      <p:sp>
        <p:nvSpPr>
          <p:cNvPr id="9" name="Freeform 9"/>
          <p:cNvSpPr/>
          <p:nvPr/>
        </p:nvSpPr>
        <p:spPr>
          <a:xfrm>
            <a:off x="7977668" y="-433200"/>
            <a:ext cx="2332663" cy="2332663"/>
          </a:xfrm>
          <a:custGeom>
            <a:avLst/>
            <a:gdLst/>
            <a:ahLst/>
            <a:cxnLst/>
            <a:rect l="l" t="t" r="r" b="b"/>
            <a:pathLst>
              <a:path w="2332663" h="2332663">
                <a:moveTo>
                  <a:pt x="0" y="0"/>
                </a:moveTo>
                <a:lnTo>
                  <a:pt x="2332664" y="0"/>
                </a:lnTo>
                <a:lnTo>
                  <a:pt x="2332664" y="2332664"/>
                </a:lnTo>
                <a:lnTo>
                  <a:pt x="0" y="2332664"/>
                </a:lnTo>
                <a:lnTo>
                  <a:pt x="0" y="0"/>
                </a:lnTo>
                <a:close/>
              </a:path>
            </a:pathLst>
          </a:custGeom>
          <a:blipFill>
            <a:blip r:embed="rId4"/>
            <a:stretch>
              <a:fillRect/>
            </a:stretch>
          </a:blipFill>
        </p:spPr>
        <p:txBody>
          <a:bodyPr/>
          <a:lstStyle/>
          <a:p>
            <a:endParaRPr lang="es-CO"/>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2834518" y="2096546"/>
            <a:ext cx="12584532" cy="853854"/>
          </a:xfrm>
          <a:prstGeom prst="rect">
            <a:avLst/>
          </a:prstGeom>
        </p:spPr>
        <p:txBody>
          <a:bodyPr lIns="0" tIns="0" rIns="0" bIns="0" rtlCol="0" anchor="t">
            <a:spAutoFit/>
          </a:bodyPr>
          <a:lstStyle/>
          <a:p>
            <a:pPr algn="ctr">
              <a:lnSpc>
                <a:spcPts val="7012"/>
              </a:lnSpc>
              <a:spcBef>
                <a:spcPct val="0"/>
              </a:spcBef>
            </a:pPr>
            <a:r>
              <a:rPr lang="en-US" sz="5008">
                <a:solidFill>
                  <a:srgbClr val="E78939"/>
                </a:solidFill>
                <a:latin typeface="HK Modular"/>
                <a:ea typeface="HK Modular"/>
                <a:cs typeface="HK Modular"/>
                <a:sym typeface="HK Modular"/>
              </a:rPr>
              <a:t>EPICA</a:t>
            </a:r>
          </a:p>
        </p:txBody>
      </p:sp>
      <p:sp>
        <p:nvSpPr>
          <p:cNvPr id="7" name="TextBox 7"/>
          <p:cNvSpPr txBox="1"/>
          <p:nvPr/>
        </p:nvSpPr>
        <p:spPr>
          <a:xfrm>
            <a:off x="3517872" y="3356297"/>
            <a:ext cx="11217823" cy="1105024"/>
          </a:xfrm>
          <a:prstGeom prst="rect">
            <a:avLst/>
          </a:prstGeom>
        </p:spPr>
        <p:txBody>
          <a:bodyPr lIns="0" tIns="0" rIns="0" bIns="0" rtlCol="0" anchor="t">
            <a:spAutoFit/>
          </a:bodyPr>
          <a:lstStyle/>
          <a:p>
            <a:pPr algn="ctr">
              <a:lnSpc>
                <a:spcPts val="2992"/>
              </a:lnSpc>
            </a:pPr>
            <a:r>
              <a:rPr lang="en-US" sz="2137">
                <a:solidFill>
                  <a:srgbClr val="FFFFFF"/>
                </a:solidFill>
                <a:latin typeface="Open Sans"/>
                <a:ea typeface="Open Sans"/>
                <a:cs typeface="Open Sans"/>
                <a:sym typeface="Open Sans"/>
              </a:rPr>
              <a:t>Es una gran iniciativa o necesidad de negocio que describe un objetivo amplio. Es demasiado grande para ser desarrollada en un solo sprint, por lo que debe dividirse en features y user stories</a:t>
            </a:r>
          </a:p>
        </p:txBody>
      </p:sp>
      <p:sp>
        <p:nvSpPr>
          <p:cNvPr id="8" name="TextBox 8"/>
          <p:cNvSpPr txBox="1"/>
          <p:nvPr/>
        </p:nvSpPr>
        <p:spPr>
          <a:xfrm>
            <a:off x="4387906" y="4832796"/>
            <a:ext cx="9477755" cy="647525"/>
          </a:xfrm>
          <a:prstGeom prst="rect">
            <a:avLst/>
          </a:prstGeom>
        </p:spPr>
        <p:txBody>
          <a:bodyPr lIns="0" tIns="0" rIns="0" bIns="0" rtlCol="0" anchor="t">
            <a:spAutoFit/>
          </a:bodyPr>
          <a:lstStyle/>
          <a:p>
            <a:pPr algn="ctr">
              <a:lnSpc>
                <a:spcPts val="5281"/>
              </a:lnSpc>
              <a:spcBef>
                <a:spcPct val="0"/>
              </a:spcBef>
            </a:pPr>
            <a:r>
              <a:rPr lang="en-US" sz="3772">
                <a:solidFill>
                  <a:srgbClr val="FA18C2"/>
                </a:solidFill>
                <a:latin typeface="HK Modular"/>
                <a:ea typeface="HK Modular"/>
                <a:cs typeface="HK Modular"/>
                <a:sym typeface="HK Modular"/>
              </a:rPr>
              <a:t>¿COMO SE GENERA?</a:t>
            </a:r>
          </a:p>
        </p:txBody>
      </p:sp>
      <p:sp>
        <p:nvSpPr>
          <p:cNvPr id="9" name="TextBox 9"/>
          <p:cNvSpPr txBox="1"/>
          <p:nvPr/>
        </p:nvSpPr>
        <p:spPr>
          <a:xfrm>
            <a:off x="3339212" y="5889896"/>
            <a:ext cx="11217823" cy="1098232"/>
          </a:xfrm>
          <a:prstGeom prst="rect">
            <a:avLst/>
          </a:prstGeom>
        </p:spPr>
        <p:txBody>
          <a:bodyPr lIns="0" tIns="0" rIns="0" bIns="0" rtlCol="0" anchor="t">
            <a:spAutoFit/>
          </a:bodyPr>
          <a:lstStyle/>
          <a:p>
            <a:pPr marL="461489" lvl="1" indent="-230745" algn="ctr">
              <a:lnSpc>
                <a:spcPts val="2992"/>
              </a:lnSpc>
              <a:buFont typeface="Arial"/>
              <a:buChar char="•"/>
            </a:pPr>
            <a:r>
              <a:rPr lang="en-US" sz="2137">
                <a:solidFill>
                  <a:srgbClr val="FFFFFF"/>
                </a:solidFill>
                <a:latin typeface="Open Sans"/>
                <a:ea typeface="Open Sans"/>
                <a:cs typeface="Open Sans"/>
                <a:sym typeface="Open Sans"/>
              </a:rPr>
              <a:t>Se origina desde la vision del producto o un objetivo estrategico de negocio</a:t>
            </a:r>
          </a:p>
          <a:p>
            <a:pPr marL="461489" lvl="1" indent="-230745" algn="ctr">
              <a:lnSpc>
                <a:spcPts val="2992"/>
              </a:lnSpc>
              <a:buFont typeface="Arial"/>
              <a:buChar char="•"/>
            </a:pPr>
            <a:r>
              <a:rPr lang="en-US" sz="2137">
                <a:solidFill>
                  <a:srgbClr val="FFFFFF"/>
                </a:solidFill>
                <a:latin typeface="Open Sans"/>
                <a:ea typeface="Open Sans"/>
                <a:cs typeface="Open Sans"/>
                <a:sym typeface="Open Sans"/>
              </a:rPr>
              <a:t>Normalmente la redactan product owners o stakeholders</a:t>
            </a:r>
          </a:p>
          <a:p>
            <a:pPr marL="461489" lvl="1" indent="-230745" algn="ctr">
              <a:lnSpc>
                <a:spcPts val="2992"/>
              </a:lnSpc>
              <a:buFont typeface="Arial"/>
              <a:buChar char="•"/>
            </a:pPr>
            <a:r>
              <a:rPr lang="en-US" sz="2137">
                <a:solidFill>
                  <a:srgbClr val="FFFFFF"/>
                </a:solidFill>
                <a:latin typeface="Open Sans"/>
                <a:ea typeface="Open Sans"/>
                <a:cs typeface="Open Sans"/>
                <a:sym typeface="Open Sans"/>
              </a:rPr>
              <a:t>Sirve como contenedor de funcionalidades relacionadas</a:t>
            </a:r>
          </a:p>
        </p:txBody>
      </p:sp>
      <p:sp>
        <p:nvSpPr>
          <p:cNvPr id="10" name="TextBox 10"/>
          <p:cNvSpPr txBox="1"/>
          <p:nvPr/>
        </p:nvSpPr>
        <p:spPr>
          <a:xfrm>
            <a:off x="4387906" y="7428762"/>
            <a:ext cx="9477755" cy="647525"/>
          </a:xfrm>
          <a:prstGeom prst="rect">
            <a:avLst/>
          </a:prstGeom>
        </p:spPr>
        <p:txBody>
          <a:bodyPr lIns="0" tIns="0" rIns="0" bIns="0" rtlCol="0" anchor="t">
            <a:spAutoFit/>
          </a:bodyPr>
          <a:lstStyle/>
          <a:p>
            <a:pPr algn="ctr">
              <a:lnSpc>
                <a:spcPts val="5281"/>
              </a:lnSpc>
              <a:spcBef>
                <a:spcPct val="0"/>
              </a:spcBef>
            </a:pPr>
            <a:r>
              <a:rPr lang="en-US" sz="3772">
                <a:solidFill>
                  <a:srgbClr val="FA18C2"/>
                </a:solidFill>
                <a:latin typeface="HK Modular"/>
                <a:ea typeface="HK Modular"/>
                <a:cs typeface="HK Modular"/>
                <a:sym typeface="HK Modular"/>
              </a:rPr>
              <a:t>EJEMPLO</a:t>
            </a:r>
          </a:p>
        </p:txBody>
      </p:sp>
      <p:sp>
        <p:nvSpPr>
          <p:cNvPr id="11" name="TextBox 11"/>
          <p:cNvSpPr txBox="1"/>
          <p:nvPr/>
        </p:nvSpPr>
        <p:spPr>
          <a:xfrm>
            <a:off x="3517872" y="8343260"/>
            <a:ext cx="11217823" cy="726757"/>
          </a:xfrm>
          <a:prstGeom prst="rect">
            <a:avLst/>
          </a:prstGeom>
        </p:spPr>
        <p:txBody>
          <a:bodyPr lIns="0" tIns="0" rIns="0" bIns="0" rtlCol="0" anchor="t">
            <a:spAutoFit/>
          </a:bodyPr>
          <a:lstStyle/>
          <a:p>
            <a:pPr algn="ctr">
              <a:lnSpc>
                <a:spcPts val="2992"/>
              </a:lnSpc>
            </a:pPr>
            <a:r>
              <a:rPr lang="en-US" sz="2137">
                <a:solidFill>
                  <a:srgbClr val="FFFFFF"/>
                </a:solidFill>
                <a:latin typeface="Open Sans"/>
                <a:ea typeface="Open Sans"/>
                <a:cs typeface="Open Sans"/>
                <a:sym typeface="Open Sans"/>
              </a:rPr>
              <a:t>“Un cliente de un banco digital desea poder realizar pagos moviles para no depender de ir a una sucursal fisica”</a:t>
            </a:r>
          </a:p>
        </p:txBody>
      </p:sp>
      <p:sp>
        <p:nvSpPr>
          <p:cNvPr id="12" name="Freeform 12"/>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3"/>
            <a:stretch>
              <a:fillRect/>
            </a:stretch>
          </a:blipFill>
        </p:spPr>
        <p:txBody>
          <a:bodyPr/>
          <a:lstStyle/>
          <a:p>
            <a:endParaRPr lang="es-CO"/>
          </a:p>
        </p:txBody>
      </p:sp>
      <p:sp>
        <p:nvSpPr>
          <p:cNvPr id="13" name="TextBox 13"/>
          <p:cNvSpPr txBox="1"/>
          <p:nvPr/>
        </p:nvSpPr>
        <p:spPr>
          <a:xfrm>
            <a:off x="3339212" y="9220200"/>
            <a:ext cx="11217823" cy="355282"/>
          </a:xfrm>
          <a:prstGeom prst="rect">
            <a:avLst/>
          </a:prstGeom>
        </p:spPr>
        <p:txBody>
          <a:bodyPr lIns="0" tIns="0" rIns="0" bIns="0" rtlCol="0" anchor="t">
            <a:spAutoFit/>
          </a:bodyPr>
          <a:lstStyle/>
          <a:p>
            <a:pPr algn="ctr">
              <a:lnSpc>
                <a:spcPts val="2992"/>
              </a:lnSpc>
            </a:pPr>
            <a:r>
              <a:rPr lang="en-US" sz="2137">
                <a:solidFill>
                  <a:srgbClr val="FFFFFF"/>
                </a:solidFill>
                <a:latin typeface="Open Sans"/>
                <a:ea typeface="Open Sans"/>
                <a:cs typeface="Open Sans"/>
                <a:sym typeface="Open Sans"/>
              </a:rPr>
              <a:t>“Sistema para gestionar horarios”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2834518" y="2096546"/>
            <a:ext cx="12584532" cy="853854"/>
          </a:xfrm>
          <a:prstGeom prst="rect">
            <a:avLst/>
          </a:prstGeom>
        </p:spPr>
        <p:txBody>
          <a:bodyPr lIns="0" tIns="0" rIns="0" bIns="0" rtlCol="0" anchor="t">
            <a:spAutoFit/>
          </a:bodyPr>
          <a:lstStyle/>
          <a:p>
            <a:pPr algn="ctr">
              <a:lnSpc>
                <a:spcPts val="7012"/>
              </a:lnSpc>
              <a:spcBef>
                <a:spcPct val="0"/>
              </a:spcBef>
            </a:pPr>
            <a:r>
              <a:rPr lang="en-US" sz="5008">
                <a:solidFill>
                  <a:srgbClr val="E78939"/>
                </a:solidFill>
                <a:latin typeface="HK Modular"/>
                <a:ea typeface="HK Modular"/>
                <a:cs typeface="HK Modular"/>
                <a:sym typeface="HK Modular"/>
              </a:rPr>
              <a:t>FEATURE</a:t>
            </a:r>
          </a:p>
        </p:txBody>
      </p:sp>
      <p:sp>
        <p:nvSpPr>
          <p:cNvPr id="7" name="TextBox 7"/>
          <p:cNvSpPr txBox="1"/>
          <p:nvPr/>
        </p:nvSpPr>
        <p:spPr>
          <a:xfrm>
            <a:off x="3517872" y="3356297"/>
            <a:ext cx="11217823" cy="731285"/>
          </a:xfrm>
          <a:prstGeom prst="rect">
            <a:avLst/>
          </a:prstGeom>
        </p:spPr>
        <p:txBody>
          <a:bodyPr lIns="0" tIns="0" rIns="0" bIns="0" rtlCol="0" anchor="t">
            <a:spAutoFit/>
          </a:bodyPr>
          <a:lstStyle/>
          <a:p>
            <a:pPr algn="ctr">
              <a:lnSpc>
                <a:spcPts val="2992"/>
              </a:lnSpc>
            </a:pPr>
            <a:r>
              <a:rPr lang="en-US" sz="2137">
                <a:solidFill>
                  <a:srgbClr val="FFFFFF"/>
                </a:solidFill>
                <a:latin typeface="Open Sans"/>
                <a:ea typeface="Open Sans"/>
                <a:cs typeface="Open Sans"/>
                <a:sym typeface="Open Sans"/>
              </a:rPr>
              <a:t>Es una funcionalidad concreta que aporta valor y ayuda a cumplir la epica. Puede completarse en varios sprints, pero es mas pequeña y especifica que la epica</a:t>
            </a:r>
          </a:p>
        </p:txBody>
      </p:sp>
      <p:sp>
        <p:nvSpPr>
          <p:cNvPr id="8" name="TextBox 8"/>
          <p:cNvSpPr txBox="1"/>
          <p:nvPr/>
        </p:nvSpPr>
        <p:spPr>
          <a:xfrm>
            <a:off x="4387906" y="4832796"/>
            <a:ext cx="9477755" cy="647525"/>
          </a:xfrm>
          <a:prstGeom prst="rect">
            <a:avLst/>
          </a:prstGeom>
        </p:spPr>
        <p:txBody>
          <a:bodyPr lIns="0" tIns="0" rIns="0" bIns="0" rtlCol="0" anchor="t">
            <a:spAutoFit/>
          </a:bodyPr>
          <a:lstStyle/>
          <a:p>
            <a:pPr algn="ctr">
              <a:lnSpc>
                <a:spcPts val="5281"/>
              </a:lnSpc>
              <a:spcBef>
                <a:spcPct val="0"/>
              </a:spcBef>
            </a:pPr>
            <a:r>
              <a:rPr lang="en-US" sz="3772">
                <a:solidFill>
                  <a:srgbClr val="FA18C2"/>
                </a:solidFill>
                <a:latin typeface="HK Modular"/>
                <a:ea typeface="HK Modular"/>
                <a:cs typeface="HK Modular"/>
                <a:sym typeface="HK Modular"/>
              </a:rPr>
              <a:t>¿COMO SE GENERA?</a:t>
            </a:r>
          </a:p>
        </p:txBody>
      </p:sp>
      <p:sp>
        <p:nvSpPr>
          <p:cNvPr id="9" name="TextBox 9"/>
          <p:cNvSpPr txBox="1"/>
          <p:nvPr/>
        </p:nvSpPr>
        <p:spPr>
          <a:xfrm>
            <a:off x="3339212" y="5889896"/>
            <a:ext cx="11217823" cy="1102995"/>
          </a:xfrm>
          <a:prstGeom prst="rect">
            <a:avLst/>
          </a:prstGeom>
        </p:spPr>
        <p:txBody>
          <a:bodyPr lIns="0" tIns="0" rIns="0" bIns="0" rtlCol="0" anchor="t">
            <a:spAutoFit/>
          </a:bodyPr>
          <a:lstStyle/>
          <a:p>
            <a:pPr marL="461489" lvl="1" indent="-230745" algn="ctr">
              <a:lnSpc>
                <a:spcPts val="2992"/>
              </a:lnSpc>
              <a:buFont typeface="Arial"/>
              <a:buChar char="•"/>
            </a:pPr>
            <a:r>
              <a:rPr lang="en-US" sz="2137">
                <a:solidFill>
                  <a:srgbClr val="FFFFFF"/>
                </a:solidFill>
                <a:latin typeface="Open Sans"/>
                <a:ea typeface="Open Sans"/>
                <a:cs typeface="Open Sans"/>
                <a:sym typeface="Open Sans"/>
              </a:rPr>
              <a:t>Se deriva de la epica dividiendo en partes mas manejables</a:t>
            </a:r>
          </a:p>
          <a:p>
            <a:pPr marL="461489" lvl="1" indent="-230745" algn="ctr">
              <a:lnSpc>
                <a:spcPts val="2992"/>
              </a:lnSpc>
              <a:buFont typeface="Arial"/>
              <a:buChar char="•"/>
            </a:pPr>
            <a:r>
              <a:rPr lang="en-US" sz="2137">
                <a:solidFill>
                  <a:srgbClr val="FFFFFF"/>
                </a:solidFill>
                <a:latin typeface="Open Sans"/>
                <a:ea typeface="Open Sans"/>
                <a:cs typeface="Open Sans"/>
                <a:sym typeface="Open Sans"/>
              </a:rPr>
              <a:t>La define normalmente el product owner junto con el equipo tecnico</a:t>
            </a:r>
          </a:p>
          <a:p>
            <a:pPr marL="461489" lvl="1" indent="-230745" algn="ctr">
              <a:lnSpc>
                <a:spcPts val="2992"/>
              </a:lnSpc>
              <a:buFont typeface="Arial"/>
              <a:buChar char="•"/>
            </a:pPr>
            <a:r>
              <a:rPr lang="en-US" sz="2137">
                <a:solidFill>
                  <a:srgbClr val="FFFFFF"/>
                </a:solidFill>
                <a:latin typeface="Open Sans"/>
                <a:ea typeface="Open Sans"/>
                <a:cs typeface="Open Sans"/>
                <a:sym typeface="Open Sans"/>
              </a:rPr>
              <a:t>Cada feature se descompone en historias de usuario</a:t>
            </a:r>
          </a:p>
        </p:txBody>
      </p:sp>
      <p:sp>
        <p:nvSpPr>
          <p:cNvPr id="10" name="TextBox 10"/>
          <p:cNvSpPr txBox="1"/>
          <p:nvPr/>
        </p:nvSpPr>
        <p:spPr>
          <a:xfrm>
            <a:off x="4387906" y="7612684"/>
            <a:ext cx="9477755" cy="647525"/>
          </a:xfrm>
          <a:prstGeom prst="rect">
            <a:avLst/>
          </a:prstGeom>
        </p:spPr>
        <p:txBody>
          <a:bodyPr lIns="0" tIns="0" rIns="0" bIns="0" rtlCol="0" anchor="t">
            <a:spAutoFit/>
          </a:bodyPr>
          <a:lstStyle/>
          <a:p>
            <a:pPr algn="ctr">
              <a:lnSpc>
                <a:spcPts val="5281"/>
              </a:lnSpc>
              <a:spcBef>
                <a:spcPct val="0"/>
              </a:spcBef>
            </a:pPr>
            <a:r>
              <a:rPr lang="en-US" sz="3772">
                <a:solidFill>
                  <a:srgbClr val="FA18C2"/>
                </a:solidFill>
                <a:latin typeface="HK Modular"/>
                <a:ea typeface="HK Modular"/>
                <a:cs typeface="HK Modular"/>
                <a:sym typeface="HK Modular"/>
              </a:rPr>
              <a:t>EJEMPLO</a:t>
            </a:r>
          </a:p>
        </p:txBody>
      </p:sp>
      <p:sp>
        <p:nvSpPr>
          <p:cNvPr id="11" name="TextBox 11"/>
          <p:cNvSpPr txBox="1"/>
          <p:nvPr/>
        </p:nvSpPr>
        <p:spPr>
          <a:xfrm>
            <a:off x="3517872" y="8531543"/>
            <a:ext cx="11217823" cy="355282"/>
          </a:xfrm>
          <a:prstGeom prst="rect">
            <a:avLst/>
          </a:prstGeom>
        </p:spPr>
        <p:txBody>
          <a:bodyPr lIns="0" tIns="0" rIns="0" bIns="0" rtlCol="0" anchor="t">
            <a:spAutoFit/>
          </a:bodyPr>
          <a:lstStyle/>
          <a:p>
            <a:pPr algn="ctr">
              <a:lnSpc>
                <a:spcPts val="2992"/>
              </a:lnSpc>
            </a:pPr>
            <a:r>
              <a:rPr lang="en-US" sz="2137">
                <a:solidFill>
                  <a:srgbClr val="FFFFFF"/>
                </a:solidFill>
                <a:latin typeface="Open Sans"/>
                <a:ea typeface="Open Sans"/>
                <a:cs typeface="Open Sans"/>
                <a:sym typeface="Open Sans"/>
              </a:rPr>
              <a:t>“Implementar pagos a traves de codigo QR desde la aplicacion movil”</a:t>
            </a:r>
          </a:p>
        </p:txBody>
      </p:sp>
      <p:sp>
        <p:nvSpPr>
          <p:cNvPr id="12" name="Freeform 12"/>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3"/>
            <a:stretch>
              <a:fillRect/>
            </a:stretch>
          </a:blipFill>
        </p:spPr>
        <p:txBody>
          <a:bodyPr/>
          <a:lstStyle/>
          <a:p>
            <a:endParaRPr lang="es-CO"/>
          </a:p>
        </p:txBody>
      </p:sp>
      <p:sp>
        <p:nvSpPr>
          <p:cNvPr id="13" name="TextBox 13"/>
          <p:cNvSpPr txBox="1"/>
          <p:nvPr/>
        </p:nvSpPr>
        <p:spPr>
          <a:xfrm>
            <a:off x="3339212" y="9220200"/>
            <a:ext cx="11217823" cy="355282"/>
          </a:xfrm>
          <a:prstGeom prst="rect">
            <a:avLst/>
          </a:prstGeom>
        </p:spPr>
        <p:txBody>
          <a:bodyPr lIns="0" tIns="0" rIns="0" bIns="0" rtlCol="0" anchor="t">
            <a:spAutoFit/>
          </a:bodyPr>
          <a:lstStyle/>
          <a:p>
            <a:pPr algn="ctr">
              <a:lnSpc>
                <a:spcPts val="2992"/>
              </a:lnSpc>
            </a:pPr>
            <a:r>
              <a:rPr lang="en-US" sz="2137">
                <a:solidFill>
                  <a:srgbClr val="FFFFFF"/>
                </a:solidFill>
                <a:latin typeface="Open Sans"/>
                <a:ea typeface="Open Sans"/>
                <a:cs typeface="Open Sans"/>
                <a:sym typeface="Open Sans"/>
              </a:rPr>
              <a:t>“Modulo de gestion de materias”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2834518" y="2096546"/>
            <a:ext cx="12584532" cy="853854"/>
          </a:xfrm>
          <a:prstGeom prst="rect">
            <a:avLst/>
          </a:prstGeom>
        </p:spPr>
        <p:txBody>
          <a:bodyPr lIns="0" tIns="0" rIns="0" bIns="0" rtlCol="0" anchor="t">
            <a:spAutoFit/>
          </a:bodyPr>
          <a:lstStyle/>
          <a:p>
            <a:pPr algn="ctr">
              <a:lnSpc>
                <a:spcPts val="7012"/>
              </a:lnSpc>
              <a:spcBef>
                <a:spcPct val="0"/>
              </a:spcBef>
            </a:pPr>
            <a:r>
              <a:rPr lang="en-US" sz="5008">
                <a:solidFill>
                  <a:srgbClr val="E78939"/>
                </a:solidFill>
                <a:latin typeface="HK Modular"/>
                <a:ea typeface="HK Modular"/>
                <a:cs typeface="HK Modular"/>
                <a:sym typeface="HK Modular"/>
              </a:rPr>
              <a:t>HISTORIA DE USUARIO</a:t>
            </a:r>
          </a:p>
        </p:txBody>
      </p:sp>
      <p:sp>
        <p:nvSpPr>
          <p:cNvPr id="7" name="TextBox 7"/>
          <p:cNvSpPr txBox="1"/>
          <p:nvPr/>
        </p:nvSpPr>
        <p:spPr>
          <a:xfrm>
            <a:off x="3517872" y="3356297"/>
            <a:ext cx="11217823" cy="731285"/>
          </a:xfrm>
          <a:prstGeom prst="rect">
            <a:avLst/>
          </a:prstGeom>
        </p:spPr>
        <p:txBody>
          <a:bodyPr lIns="0" tIns="0" rIns="0" bIns="0" rtlCol="0" anchor="t">
            <a:spAutoFit/>
          </a:bodyPr>
          <a:lstStyle/>
          <a:p>
            <a:pPr algn="ctr">
              <a:lnSpc>
                <a:spcPts val="2992"/>
              </a:lnSpc>
            </a:pPr>
            <a:r>
              <a:rPr lang="en-US" sz="2137">
                <a:solidFill>
                  <a:srgbClr val="FFFFFF"/>
                </a:solidFill>
                <a:latin typeface="Open Sans"/>
                <a:ea typeface="Open Sans"/>
                <a:cs typeface="Open Sans"/>
                <a:sym typeface="Open Sans"/>
              </a:rPr>
              <a:t>Una historia de usuario es la unidad más pequeña de trabajo en un backlog ágil. Representa una necesidad específica del usuario final, escrita desde su perspectiva.</a:t>
            </a:r>
          </a:p>
        </p:txBody>
      </p:sp>
      <p:sp>
        <p:nvSpPr>
          <p:cNvPr id="8" name="TextBox 8"/>
          <p:cNvSpPr txBox="1"/>
          <p:nvPr/>
        </p:nvSpPr>
        <p:spPr>
          <a:xfrm>
            <a:off x="4387906" y="4832796"/>
            <a:ext cx="9477755" cy="647525"/>
          </a:xfrm>
          <a:prstGeom prst="rect">
            <a:avLst/>
          </a:prstGeom>
        </p:spPr>
        <p:txBody>
          <a:bodyPr lIns="0" tIns="0" rIns="0" bIns="0" rtlCol="0" anchor="t">
            <a:spAutoFit/>
          </a:bodyPr>
          <a:lstStyle/>
          <a:p>
            <a:pPr algn="ctr">
              <a:lnSpc>
                <a:spcPts val="5281"/>
              </a:lnSpc>
              <a:spcBef>
                <a:spcPct val="0"/>
              </a:spcBef>
            </a:pPr>
            <a:r>
              <a:rPr lang="en-US" sz="3772">
                <a:solidFill>
                  <a:srgbClr val="F400BC"/>
                </a:solidFill>
                <a:latin typeface="HK Modular"/>
                <a:ea typeface="HK Modular"/>
                <a:cs typeface="HK Modular"/>
                <a:sym typeface="HK Modular"/>
              </a:rPr>
              <a:t>¿COMO SE GENERA?</a:t>
            </a:r>
          </a:p>
        </p:txBody>
      </p:sp>
      <p:sp>
        <p:nvSpPr>
          <p:cNvPr id="9" name="TextBox 9"/>
          <p:cNvSpPr txBox="1"/>
          <p:nvPr/>
        </p:nvSpPr>
        <p:spPr>
          <a:xfrm>
            <a:off x="3339212" y="5889896"/>
            <a:ext cx="11217823" cy="1098232"/>
          </a:xfrm>
          <a:prstGeom prst="rect">
            <a:avLst/>
          </a:prstGeom>
        </p:spPr>
        <p:txBody>
          <a:bodyPr lIns="0" tIns="0" rIns="0" bIns="0" rtlCol="0" anchor="t">
            <a:spAutoFit/>
          </a:bodyPr>
          <a:lstStyle/>
          <a:p>
            <a:pPr marL="461489" lvl="1" indent="-230745" algn="ctr">
              <a:lnSpc>
                <a:spcPts val="2992"/>
              </a:lnSpc>
              <a:buFont typeface="Arial"/>
              <a:buChar char="•"/>
            </a:pPr>
            <a:r>
              <a:rPr lang="en-US" sz="2137">
                <a:solidFill>
                  <a:srgbClr val="FFFFFF"/>
                </a:solidFill>
                <a:latin typeface="Open Sans"/>
                <a:ea typeface="Open Sans"/>
                <a:cs typeface="Open Sans"/>
                <a:sym typeface="Open Sans"/>
              </a:rPr>
              <a:t>Se deriva de una feature.</a:t>
            </a:r>
          </a:p>
          <a:p>
            <a:pPr marL="461489" lvl="1" indent="-230745" algn="ctr">
              <a:lnSpc>
                <a:spcPts val="2992"/>
              </a:lnSpc>
              <a:buFont typeface="Arial"/>
              <a:buChar char="•"/>
            </a:pPr>
            <a:r>
              <a:rPr lang="en-US" sz="2137">
                <a:solidFill>
                  <a:srgbClr val="FFFFFF"/>
                </a:solidFill>
                <a:latin typeface="Open Sans"/>
                <a:ea typeface="Open Sans"/>
                <a:cs typeface="Open Sans"/>
                <a:sym typeface="Open Sans"/>
              </a:rPr>
              <a:t>Se redacta en formato: Como [rol], quiero [funcionalidad], para [beneficio]</a:t>
            </a:r>
          </a:p>
          <a:p>
            <a:pPr marL="461489" lvl="1" indent="-230745" algn="ctr">
              <a:lnSpc>
                <a:spcPts val="2992"/>
              </a:lnSpc>
              <a:buFont typeface="Arial"/>
              <a:buChar char="•"/>
            </a:pPr>
            <a:r>
              <a:rPr lang="en-US" sz="2137">
                <a:solidFill>
                  <a:srgbClr val="FFFFFF"/>
                </a:solidFill>
                <a:latin typeface="Open Sans"/>
                <a:ea typeface="Open Sans"/>
                <a:cs typeface="Open Sans"/>
                <a:sym typeface="Open Sans"/>
              </a:rPr>
              <a:t>La complementan criterios de aceptación para saber cuándo está terminada.</a:t>
            </a:r>
          </a:p>
        </p:txBody>
      </p:sp>
      <p:sp>
        <p:nvSpPr>
          <p:cNvPr id="10" name="TextBox 10"/>
          <p:cNvSpPr txBox="1"/>
          <p:nvPr/>
        </p:nvSpPr>
        <p:spPr>
          <a:xfrm>
            <a:off x="4387906" y="7612684"/>
            <a:ext cx="9477755" cy="647525"/>
          </a:xfrm>
          <a:prstGeom prst="rect">
            <a:avLst/>
          </a:prstGeom>
        </p:spPr>
        <p:txBody>
          <a:bodyPr lIns="0" tIns="0" rIns="0" bIns="0" rtlCol="0" anchor="t">
            <a:spAutoFit/>
          </a:bodyPr>
          <a:lstStyle/>
          <a:p>
            <a:pPr algn="ctr">
              <a:lnSpc>
                <a:spcPts val="5281"/>
              </a:lnSpc>
              <a:spcBef>
                <a:spcPct val="0"/>
              </a:spcBef>
            </a:pPr>
            <a:r>
              <a:rPr lang="en-US" sz="3772">
                <a:solidFill>
                  <a:srgbClr val="F400BC"/>
                </a:solidFill>
                <a:latin typeface="HK Modular"/>
                <a:ea typeface="HK Modular"/>
                <a:cs typeface="HK Modular"/>
                <a:sym typeface="HK Modular"/>
              </a:rPr>
              <a:t>EJEMPLO</a:t>
            </a:r>
          </a:p>
        </p:txBody>
      </p:sp>
      <p:sp>
        <p:nvSpPr>
          <p:cNvPr id="11" name="TextBox 11"/>
          <p:cNvSpPr txBox="1"/>
          <p:nvPr/>
        </p:nvSpPr>
        <p:spPr>
          <a:xfrm>
            <a:off x="3535089" y="8403084"/>
            <a:ext cx="11217823" cy="726757"/>
          </a:xfrm>
          <a:prstGeom prst="rect">
            <a:avLst/>
          </a:prstGeom>
        </p:spPr>
        <p:txBody>
          <a:bodyPr lIns="0" tIns="0" rIns="0" bIns="0" rtlCol="0" anchor="t">
            <a:spAutoFit/>
          </a:bodyPr>
          <a:lstStyle/>
          <a:p>
            <a:pPr algn="ctr">
              <a:lnSpc>
                <a:spcPts val="2992"/>
              </a:lnSpc>
            </a:pPr>
            <a:r>
              <a:rPr lang="en-US" sz="2137">
                <a:solidFill>
                  <a:srgbClr val="FFFFFF"/>
                </a:solidFill>
                <a:latin typeface="Open Sans"/>
                <a:ea typeface="Open Sans"/>
                <a:cs typeface="Open Sans"/>
                <a:sym typeface="Open Sans"/>
              </a:rPr>
              <a:t>“Como cliente quiero escanear un codigo QR desde la camara de mi celular para pagar rapidamente sin ingresar datos manuales”</a:t>
            </a:r>
          </a:p>
        </p:txBody>
      </p:sp>
      <p:sp>
        <p:nvSpPr>
          <p:cNvPr id="12" name="Freeform 12"/>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3"/>
            <a:stretch>
              <a:fillRect/>
            </a:stretch>
          </a:blipFill>
        </p:spPr>
        <p:txBody>
          <a:bodyPr/>
          <a:lstStyle/>
          <a:p>
            <a:endParaRPr lang="es-CO"/>
          </a:p>
        </p:txBody>
      </p:sp>
      <p:sp>
        <p:nvSpPr>
          <p:cNvPr id="13" name="TextBox 13"/>
          <p:cNvSpPr txBox="1"/>
          <p:nvPr/>
        </p:nvSpPr>
        <p:spPr>
          <a:xfrm>
            <a:off x="5952824" y="9356366"/>
            <a:ext cx="6347919" cy="715595"/>
          </a:xfrm>
          <a:prstGeom prst="rect">
            <a:avLst/>
          </a:prstGeom>
        </p:spPr>
        <p:txBody>
          <a:bodyPr lIns="0" tIns="0" rIns="0" bIns="0" rtlCol="0" anchor="t">
            <a:spAutoFit/>
          </a:bodyPr>
          <a:lstStyle/>
          <a:p>
            <a:pPr algn="ctr">
              <a:lnSpc>
                <a:spcPts val="2839"/>
              </a:lnSpc>
            </a:pPr>
            <a:r>
              <a:rPr lang="en-US" sz="2028">
                <a:solidFill>
                  <a:srgbClr val="FFFFFF"/>
                </a:solidFill>
                <a:latin typeface="Poppins"/>
                <a:ea typeface="Poppins"/>
                <a:cs typeface="Poppins"/>
                <a:sym typeface="Poppins"/>
              </a:rPr>
              <a:t>Como Director de Centro quiero crear una materia en el sistema.</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2834518" y="2096546"/>
            <a:ext cx="12584532" cy="853854"/>
          </a:xfrm>
          <a:prstGeom prst="rect">
            <a:avLst/>
          </a:prstGeom>
        </p:spPr>
        <p:txBody>
          <a:bodyPr lIns="0" tIns="0" rIns="0" bIns="0" rtlCol="0" anchor="t">
            <a:spAutoFit/>
          </a:bodyPr>
          <a:lstStyle/>
          <a:p>
            <a:pPr algn="ctr">
              <a:lnSpc>
                <a:spcPts val="7012"/>
              </a:lnSpc>
              <a:spcBef>
                <a:spcPct val="0"/>
              </a:spcBef>
            </a:pPr>
            <a:r>
              <a:rPr lang="en-US" sz="5008">
                <a:solidFill>
                  <a:srgbClr val="E78939"/>
                </a:solidFill>
                <a:latin typeface="HK Modular"/>
                <a:ea typeface="HK Modular"/>
                <a:cs typeface="HK Modular"/>
                <a:sym typeface="HK Modular"/>
              </a:rPr>
              <a:t>TAREA</a:t>
            </a:r>
          </a:p>
        </p:txBody>
      </p:sp>
      <p:sp>
        <p:nvSpPr>
          <p:cNvPr id="7" name="TextBox 7"/>
          <p:cNvSpPr txBox="1"/>
          <p:nvPr/>
        </p:nvSpPr>
        <p:spPr>
          <a:xfrm>
            <a:off x="3517872" y="3337247"/>
            <a:ext cx="11217823" cy="745807"/>
          </a:xfrm>
          <a:prstGeom prst="rect">
            <a:avLst/>
          </a:prstGeom>
        </p:spPr>
        <p:txBody>
          <a:bodyPr lIns="0" tIns="0" rIns="0" bIns="0" rtlCol="0" anchor="t">
            <a:spAutoFit/>
          </a:bodyPr>
          <a:lstStyle/>
          <a:p>
            <a:pPr algn="ctr">
              <a:lnSpc>
                <a:spcPts val="2992"/>
              </a:lnSpc>
            </a:pPr>
            <a:r>
              <a:rPr lang="en-US" sz="2137">
                <a:solidFill>
                  <a:srgbClr val="FFFFFF"/>
                </a:solidFill>
                <a:latin typeface="Poppins"/>
                <a:ea typeface="Poppins"/>
                <a:cs typeface="Poppins"/>
                <a:sym typeface="Poppins"/>
              </a:rPr>
              <a:t>Son las acciones técnicas específicas necesarias para completar una historia de usuario.</a:t>
            </a:r>
          </a:p>
        </p:txBody>
      </p:sp>
      <p:sp>
        <p:nvSpPr>
          <p:cNvPr id="8" name="TextBox 8"/>
          <p:cNvSpPr txBox="1"/>
          <p:nvPr/>
        </p:nvSpPr>
        <p:spPr>
          <a:xfrm>
            <a:off x="4387906" y="4832796"/>
            <a:ext cx="9477755" cy="647525"/>
          </a:xfrm>
          <a:prstGeom prst="rect">
            <a:avLst/>
          </a:prstGeom>
        </p:spPr>
        <p:txBody>
          <a:bodyPr lIns="0" tIns="0" rIns="0" bIns="0" rtlCol="0" anchor="t">
            <a:spAutoFit/>
          </a:bodyPr>
          <a:lstStyle/>
          <a:p>
            <a:pPr algn="ctr">
              <a:lnSpc>
                <a:spcPts val="5281"/>
              </a:lnSpc>
              <a:spcBef>
                <a:spcPct val="0"/>
              </a:spcBef>
            </a:pPr>
            <a:r>
              <a:rPr lang="en-US" sz="3772">
                <a:solidFill>
                  <a:srgbClr val="F400BC"/>
                </a:solidFill>
                <a:latin typeface="HK Modular"/>
                <a:ea typeface="HK Modular"/>
                <a:cs typeface="HK Modular"/>
                <a:sym typeface="HK Modular"/>
              </a:rPr>
              <a:t>¿COMO SE GENERA?</a:t>
            </a:r>
          </a:p>
        </p:txBody>
      </p:sp>
      <p:sp>
        <p:nvSpPr>
          <p:cNvPr id="9" name="TextBox 9"/>
          <p:cNvSpPr txBox="1"/>
          <p:nvPr/>
        </p:nvSpPr>
        <p:spPr>
          <a:xfrm>
            <a:off x="3339212" y="5889896"/>
            <a:ext cx="11217823" cy="726757"/>
          </a:xfrm>
          <a:prstGeom prst="rect">
            <a:avLst/>
          </a:prstGeom>
        </p:spPr>
        <p:txBody>
          <a:bodyPr lIns="0" tIns="0" rIns="0" bIns="0" rtlCol="0" anchor="t">
            <a:spAutoFit/>
          </a:bodyPr>
          <a:lstStyle/>
          <a:p>
            <a:pPr algn="ctr">
              <a:lnSpc>
                <a:spcPts val="2992"/>
              </a:lnSpc>
            </a:pPr>
            <a:r>
              <a:rPr lang="en-US" sz="2137">
                <a:solidFill>
                  <a:srgbClr val="FFFFFF"/>
                </a:solidFill>
                <a:latin typeface="Open Sans"/>
                <a:ea typeface="Open Sans"/>
                <a:cs typeface="Open Sans"/>
                <a:sym typeface="Open Sans"/>
              </a:rPr>
              <a:t>Nivel alto de detalle</a:t>
            </a:r>
          </a:p>
          <a:p>
            <a:pPr algn="ctr">
              <a:lnSpc>
                <a:spcPts val="2992"/>
              </a:lnSpc>
            </a:pPr>
            <a:r>
              <a:rPr lang="en-US" sz="2137">
                <a:solidFill>
                  <a:srgbClr val="FFFFFF"/>
                </a:solidFill>
                <a:latin typeface="Open Sans"/>
                <a:ea typeface="Open Sans"/>
                <a:cs typeface="Open Sans"/>
                <a:sym typeface="Open Sans"/>
              </a:rPr>
              <a:t>Asignable a una persona</a:t>
            </a:r>
          </a:p>
        </p:txBody>
      </p:sp>
      <p:sp>
        <p:nvSpPr>
          <p:cNvPr id="10" name="TextBox 10"/>
          <p:cNvSpPr txBox="1"/>
          <p:nvPr/>
        </p:nvSpPr>
        <p:spPr>
          <a:xfrm>
            <a:off x="4387906" y="7143099"/>
            <a:ext cx="9477755" cy="647525"/>
          </a:xfrm>
          <a:prstGeom prst="rect">
            <a:avLst/>
          </a:prstGeom>
        </p:spPr>
        <p:txBody>
          <a:bodyPr lIns="0" tIns="0" rIns="0" bIns="0" rtlCol="0" anchor="t">
            <a:spAutoFit/>
          </a:bodyPr>
          <a:lstStyle/>
          <a:p>
            <a:pPr algn="ctr">
              <a:lnSpc>
                <a:spcPts val="5281"/>
              </a:lnSpc>
              <a:spcBef>
                <a:spcPct val="0"/>
              </a:spcBef>
            </a:pPr>
            <a:r>
              <a:rPr lang="en-US" sz="3772">
                <a:solidFill>
                  <a:srgbClr val="F400BC"/>
                </a:solidFill>
                <a:latin typeface="HK Modular"/>
                <a:ea typeface="HK Modular"/>
                <a:cs typeface="HK Modular"/>
                <a:sym typeface="HK Modular"/>
              </a:rPr>
              <a:t>EJEMPLO</a:t>
            </a:r>
          </a:p>
        </p:txBody>
      </p:sp>
      <p:sp>
        <p:nvSpPr>
          <p:cNvPr id="11" name="Freeform 11"/>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3"/>
            <a:stretch>
              <a:fillRect/>
            </a:stretch>
          </a:blipFill>
        </p:spPr>
        <p:txBody>
          <a:bodyPr/>
          <a:lstStyle/>
          <a:p>
            <a:endParaRPr lang="es-CO"/>
          </a:p>
        </p:txBody>
      </p:sp>
      <p:sp>
        <p:nvSpPr>
          <p:cNvPr id="12" name="TextBox 12"/>
          <p:cNvSpPr txBox="1"/>
          <p:nvPr/>
        </p:nvSpPr>
        <p:spPr>
          <a:xfrm>
            <a:off x="4079808" y="7733474"/>
            <a:ext cx="9477755" cy="2135516"/>
          </a:xfrm>
          <a:prstGeom prst="rect">
            <a:avLst/>
          </a:prstGeom>
        </p:spPr>
        <p:txBody>
          <a:bodyPr lIns="0" tIns="0" rIns="0" bIns="0" rtlCol="0" anchor="t">
            <a:spAutoFit/>
          </a:bodyPr>
          <a:lstStyle/>
          <a:p>
            <a:pPr algn="ctr">
              <a:lnSpc>
                <a:spcPts val="2839"/>
              </a:lnSpc>
            </a:pPr>
            <a:endParaRPr/>
          </a:p>
          <a:p>
            <a:pPr marL="437875" lvl="1" indent="-218938" algn="ctr">
              <a:lnSpc>
                <a:spcPts val="2839"/>
              </a:lnSpc>
              <a:buFont typeface="Arial"/>
              <a:buChar char="•"/>
            </a:pPr>
            <a:r>
              <a:rPr lang="en-US" sz="2028">
                <a:solidFill>
                  <a:srgbClr val="FFFFFF"/>
                </a:solidFill>
                <a:latin typeface="Poppins"/>
                <a:ea typeface="Poppins"/>
                <a:cs typeface="Poppins"/>
                <a:sym typeface="Poppins"/>
              </a:rPr>
              <a:t>Crear la tabla materia con los datos ...</a:t>
            </a:r>
          </a:p>
          <a:p>
            <a:pPr marL="437875" lvl="1" indent="-218938" algn="ctr">
              <a:lnSpc>
                <a:spcPts val="2839"/>
              </a:lnSpc>
              <a:buFont typeface="Arial"/>
              <a:buChar char="•"/>
            </a:pPr>
            <a:r>
              <a:rPr lang="en-US" sz="2028">
                <a:solidFill>
                  <a:srgbClr val="FFFFFF"/>
                </a:solidFill>
                <a:latin typeface="Poppins"/>
                <a:ea typeface="Poppins"/>
                <a:cs typeface="Poppins"/>
                <a:sym typeface="Poppins"/>
              </a:rPr>
              <a:t>Implementar la lógica para crear una materia.</a:t>
            </a:r>
          </a:p>
          <a:p>
            <a:pPr marL="437875" lvl="1" indent="-218938" algn="ctr">
              <a:lnSpc>
                <a:spcPts val="2839"/>
              </a:lnSpc>
              <a:buFont typeface="Arial"/>
              <a:buChar char="•"/>
            </a:pPr>
            <a:r>
              <a:rPr lang="en-US" sz="2028">
                <a:solidFill>
                  <a:srgbClr val="FFFFFF"/>
                </a:solidFill>
                <a:latin typeface="Poppins"/>
                <a:ea typeface="Poppins"/>
                <a:cs typeface="Poppins"/>
                <a:sym typeface="Poppins"/>
              </a:rPr>
              <a:t>Integrar la base de datos con el backed.</a:t>
            </a:r>
          </a:p>
          <a:p>
            <a:pPr marL="437875" lvl="1" indent="-218938" algn="ctr">
              <a:lnSpc>
                <a:spcPts val="2839"/>
              </a:lnSpc>
              <a:buFont typeface="Arial"/>
              <a:buChar char="•"/>
            </a:pPr>
            <a:r>
              <a:rPr lang="en-US" sz="2028">
                <a:solidFill>
                  <a:srgbClr val="FFFFFF"/>
                </a:solidFill>
                <a:latin typeface="Poppins"/>
                <a:ea typeface="Poppins"/>
                <a:cs typeface="Poppins"/>
                <a:sym typeface="Poppins"/>
              </a:rPr>
              <a:t>Implementar la pantalla para la creación de una materia.</a:t>
            </a:r>
          </a:p>
          <a:p>
            <a:pPr algn="ctr">
              <a:lnSpc>
                <a:spcPts val="2839"/>
              </a:lnSpc>
            </a:pPr>
            <a:endParaRPr lang="en-US" sz="2028">
              <a:solidFill>
                <a:srgbClr val="FFFFFF"/>
              </a:solidFill>
              <a:latin typeface="Poppins"/>
              <a:ea typeface="Poppins"/>
              <a:cs typeface="Poppins"/>
              <a:sym typeface="Poppin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2018464" y="3968774"/>
            <a:ext cx="14344250" cy="5002557"/>
          </a:xfrm>
          <a:custGeom>
            <a:avLst/>
            <a:gdLst/>
            <a:ahLst/>
            <a:cxnLst/>
            <a:rect l="l" t="t" r="r" b="b"/>
            <a:pathLst>
              <a:path w="14344250" h="5002557">
                <a:moveTo>
                  <a:pt x="0" y="0"/>
                </a:moveTo>
                <a:lnTo>
                  <a:pt x="14344250" y="0"/>
                </a:lnTo>
                <a:lnTo>
                  <a:pt x="14344250" y="5002558"/>
                </a:lnTo>
                <a:lnTo>
                  <a:pt x="0" y="5002558"/>
                </a:lnTo>
                <a:lnTo>
                  <a:pt x="0" y="0"/>
                </a:lnTo>
                <a:close/>
              </a:path>
            </a:pathLst>
          </a:custGeom>
          <a:blipFill>
            <a:blip r:embed="rId3"/>
            <a:stretch>
              <a:fillRect/>
            </a:stretch>
          </a:blipFill>
        </p:spPr>
        <p:txBody>
          <a:bodyPr/>
          <a:lstStyle/>
          <a:p>
            <a:endParaRPr lang="es-CO"/>
          </a:p>
        </p:txBody>
      </p:sp>
      <p:sp>
        <p:nvSpPr>
          <p:cNvPr id="7" name="TextBox 7"/>
          <p:cNvSpPr txBox="1"/>
          <p:nvPr/>
        </p:nvSpPr>
        <p:spPr>
          <a:xfrm>
            <a:off x="1028700" y="1615931"/>
            <a:ext cx="16323777" cy="1562957"/>
          </a:xfrm>
          <a:prstGeom prst="rect">
            <a:avLst/>
          </a:prstGeom>
        </p:spPr>
        <p:txBody>
          <a:bodyPr lIns="0" tIns="0" rIns="0" bIns="0" rtlCol="0" anchor="t">
            <a:spAutoFit/>
          </a:bodyPr>
          <a:lstStyle/>
          <a:p>
            <a:pPr algn="ctr">
              <a:lnSpc>
                <a:spcPts val="6252"/>
              </a:lnSpc>
              <a:spcBef>
                <a:spcPct val="0"/>
              </a:spcBef>
            </a:pPr>
            <a:r>
              <a:rPr lang="en-US" sz="4466">
                <a:solidFill>
                  <a:srgbClr val="DD7E28"/>
                </a:solidFill>
                <a:latin typeface="HK Modular"/>
                <a:ea typeface="HK Modular"/>
                <a:cs typeface="HK Modular"/>
                <a:sym typeface="HK Modular"/>
              </a:rPr>
              <a:t>AGILE: NIVELES DE DESCOMPOSICIÓN DEL TRABAJO</a:t>
            </a:r>
          </a:p>
        </p:txBody>
      </p:sp>
      <p:sp>
        <p:nvSpPr>
          <p:cNvPr id="8" name="Freeform 8"/>
          <p:cNvSpPr/>
          <p:nvPr/>
        </p:nvSpPr>
        <p:spPr>
          <a:xfrm>
            <a:off x="7976880" y="-364733"/>
            <a:ext cx="2427418" cy="2427418"/>
          </a:xfrm>
          <a:custGeom>
            <a:avLst/>
            <a:gdLst/>
            <a:ahLst/>
            <a:cxnLst/>
            <a:rect l="l" t="t" r="r" b="b"/>
            <a:pathLst>
              <a:path w="2427418" h="2427418">
                <a:moveTo>
                  <a:pt x="0" y="0"/>
                </a:moveTo>
                <a:lnTo>
                  <a:pt x="2427418" y="0"/>
                </a:lnTo>
                <a:lnTo>
                  <a:pt x="2427418" y="2427418"/>
                </a:lnTo>
                <a:lnTo>
                  <a:pt x="0" y="2427418"/>
                </a:lnTo>
                <a:lnTo>
                  <a:pt x="0" y="0"/>
                </a:lnTo>
                <a:close/>
              </a:path>
            </a:pathLst>
          </a:custGeom>
          <a:blipFill>
            <a:blip r:embed="rId4"/>
            <a:stretch>
              <a:fillRect/>
            </a:stretch>
          </a:blipFill>
        </p:spPr>
        <p:txBody>
          <a:bodyPr/>
          <a:lstStyle/>
          <a:p>
            <a:endParaRPr lang="es-CO"/>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sp>
        <p:nvSpPr>
          <p:cNvPr id="3" name="Freeform 3"/>
          <p:cNvSpPr/>
          <p:nvPr/>
        </p:nvSpPr>
        <p:spPr>
          <a:xfrm>
            <a:off x="0" y="0"/>
            <a:ext cx="18288000" cy="10292285"/>
          </a:xfrm>
          <a:custGeom>
            <a:avLst/>
            <a:gdLst/>
            <a:ahLst/>
            <a:cxnLst/>
            <a:rect l="l" t="t" r="r" b="b"/>
            <a:pathLst>
              <a:path w="18288000" h="10292285">
                <a:moveTo>
                  <a:pt x="0" y="0"/>
                </a:moveTo>
                <a:lnTo>
                  <a:pt x="18288000" y="0"/>
                </a:lnTo>
                <a:lnTo>
                  <a:pt x="18288000" y="10292285"/>
                </a:lnTo>
                <a:lnTo>
                  <a:pt x="0" y="10292285"/>
                </a:lnTo>
                <a:lnTo>
                  <a:pt x="0" y="0"/>
                </a:lnTo>
                <a:close/>
              </a:path>
            </a:pathLst>
          </a:custGeom>
          <a:blipFill>
            <a:blip r:embed="rId3">
              <a:alphaModFix amt="18999"/>
            </a:blip>
            <a:stretch>
              <a:fillRect t="-9080" b="-9080"/>
            </a:stretch>
          </a:blipFill>
        </p:spPr>
        <p:txBody>
          <a:bodyPr/>
          <a:lstStyle/>
          <a:p>
            <a:endParaRPr lang="es-CO"/>
          </a:p>
        </p:txBody>
      </p:sp>
      <p:grpSp>
        <p:nvGrpSpPr>
          <p:cNvPr id="4" name="Group 4"/>
          <p:cNvGrpSpPr/>
          <p:nvPr/>
        </p:nvGrpSpPr>
        <p:grpSpPr>
          <a:xfrm rot="-5400000">
            <a:off x="3940201" y="-7697568"/>
            <a:ext cx="10626331" cy="19778728"/>
            <a:chOff x="0" y="0"/>
            <a:chExt cx="2798705" cy="5209212"/>
          </a:xfrm>
        </p:grpSpPr>
        <p:sp>
          <p:nvSpPr>
            <p:cNvPr id="5" name="Freeform 5"/>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6" name="TextBox 6"/>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7" name="TextBox 7"/>
          <p:cNvSpPr txBox="1"/>
          <p:nvPr/>
        </p:nvSpPr>
        <p:spPr>
          <a:xfrm>
            <a:off x="6810465" y="1419414"/>
            <a:ext cx="4760247" cy="772382"/>
          </a:xfrm>
          <a:prstGeom prst="rect">
            <a:avLst/>
          </a:prstGeom>
        </p:spPr>
        <p:txBody>
          <a:bodyPr lIns="0" tIns="0" rIns="0" bIns="0" rtlCol="0" anchor="t">
            <a:spAutoFit/>
          </a:bodyPr>
          <a:lstStyle/>
          <a:p>
            <a:pPr algn="l">
              <a:lnSpc>
                <a:spcPts val="6252"/>
              </a:lnSpc>
              <a:spcBef>
                <a:spcPct val="0"/>
              </a:spcBef>
            </a:pPr>
            <a:r>
              <a:rPr lang="en-US" sz="4466">
                <a:solidFill>
                  <a:srgbClr val="DD7E28"/>
                </a:solidFill>
                <a:latin typeface="HK Modular"/>
                <a:ea typeface="HK Modular"/>
                <a:cs typeface="HK Modular"/>
                <a:sym typeface="HK Modular"/>
              </a:rPr>
              <a:t>ACTIVIDAD</a:t>
            </a:r>
          </a:p>
        </p:txBody>
      </p:sp>
      <p:sp>
        <p:nvSpPr>
          <p:cNvPr id="8" name="Freeform 8"/>
          <p:cNvSpPr/>
          <p:nvPr/>
        </p:nvSpPr>
        <p:spPr>
          <a:xfrm>
            <a:off x="7976880" y="-364733"/>
            <a:ext cx="2427418" cy="2427418"/>
          </a:xfrm>
          <a:custGeom>
            <a:avLst/>
            <a:gdLst/>
            <a:ahLst/>
            <a:cxnLst/>
            <a:rect l="l" t="t" r="r" b="b"/>
            <a:pathLst>
              <a:path w="2427418" h="2427418">
                <a:moveTo>
                  <a:pt x="0" y="0"/>
                </a:moveTo>
                <a:lnTo>
                  <a:pt x="2427418" y="0"/>
                </a:lnTo>
                <a:lnTo>
                  <a:pt x="2427418" y="2427418"/>
                </a:lnTo>
                <a:lnTo>
                  <a:pt x="0" y="2427418"/>
                </a:lnTo>
                <a:lnTo>
                  <a:pt x="0" y="0"/>
                </a:lnTo>
                <a:close/>
              </a:path>
            </a:pathLst>
          </a:custGeom>
          <a:blipFill>
            <a:blip r:embed="rId4"/>
            <a:stretch>
              <a:fillRect/>
            </a:stretch>
          </a:blipFill>
        </p:spPr>
        <p:txBody>
          <a:bodyPr/>
          <a:lstStyle/>
          <a:p>
            <a:endParaRPr lang="es-CO"/>
          </a:p>
        </p:txBody>
      </p:sp>
      <p:sp>
        <p:nvSpPr>
          <p:cNvPr id="9" name="TextBox 9"/>
          <p:cNvSpPr txBox="1"/>
          <p:nvPr/>
        </p:nvSpPr>
        <p:spPr>
          <a:xfrm>
            <a:off x="3873385" y="2332029"/>
            <a:ext cx="10178679" cy="956734"/>
          </a:xfrm>
          <a:prstGeom prst="rect">
            <a:avLst/>
          </a:prstGeom>
        </p:spPr>
        <p:txBody>
          <a:bodyPr lIns="0" tIns="0" rIns="0" bIns="0" rtlCol="0" anchor="t">
            <a:spAutoFit/>
          </a:bodyPr>
          <a:lstStyle/>
          <a:p>
            <a:pPr algn="ctr">
              <a:lnSpc>
                <a:spcPts val="3772"/>
              </a:lnSpc>
            </a:pPr>
            <a:r>
              <a:rPr lang="en-US" sz="2694" b="1">
                <a:solidFill>
                  <a:srgbClr val="FFFFFF"/>
                </a:solidFill>
                <a:latin typeface="Poppins Bold"/>
                <a:ea typeface="Poppins Bold"/>
                <a:cs typeface="Poppins Bold"/>
                <a:sym typeface="Poppins Bold"/>
              </a:rPr>
              <a:t>Proyecto: </a:t>
            </a:r>
          </a:p>
          <a:p>
            <a:pPr algn="ctr">
              <a:lnSpc>
                <a:spcPts val="3772"/>
              </a:lnSpc>
              <a:spcBef>
                <a:spcPct val="0"/>
              </a:spcBef>
            </a:pPr>
            <a:r>
              <a:rPr lang="en-US" sz="2694" b="1">
                <a:solidFill>
                  <a:srgbClr val="FFFFFF"/>
                </a:solidFill>
                <a:latin typeface="Poppins Bold"/>
                <a:ea typeface="Poppins Bold"/>
                <a:cs typeface="Poppins Bold"/>
                <a:sym typeface="Poppins Bold"/>
              </a:rPr>
              <a:t>DOSW Fest - Organicemos un festival universitario</a:t>
            </a:r>
          </a:p>
        </p:txBody>
      </p:sp>
      <p:sp>
        <p:nvSpPr>
          <p:cNvPr id="10" name="TextBox 10"/>
          <p:cNvSpPr txBox="1"/>
          <p:nvPr/>
        </p:nvSpPr>
        <p:spPr>
          <a:xfrm>
            <a:off x="5452155" y="7524012"/>
            <a:ext cx="8301296" cy="714434"/>
          </a:xfrm>
          <a:prstGeom prst="rect">
            <a:avLst/>
          </a:prstGeom>
        </p:spPr>
        <p:txBody>
          <a:bodyPr lIns="0" tIns="0" rIns="0" bIns="0" rtlCol="0" anchor="t">
            <a:spAutoFit/>
          </a:bodyPr>
          <a:lstStyle/>
          <a:p>
            <a:pPr algn="ctr">
              <a:lnSpc>
                <a:spcPts val="5576"/>
              </a:lnSpc>
              <a:spcBef>
                <a:spcPct val="0"/>
              </a:spcBef>
            </a:pPr>
            <a:r>
              <a:rPr lang="en-US" sz="3983" b="1">
                <a:solidFill>
                  <a:srgbClr val="FFFFFF"/>
                </a:solidFill>
                <a:latin typeface="Poppins Bold"/>
                <a:ea typeface="Poppins Bold"/>
                <a:cs typeface="Poppins Bold"/>
                <a:sym typeface="Poppins Bold"/>
              </a:rPr>
              <a:t>Fecha: 31 de octubre de</a:t>
            </a:r>
            <a:r>
              <a:rPr lang="en-US" sz="3983">
                <a:solidFill>
                  <a:srgbClr val="FFFFFF"/>
                </a:solidFill>
                <a:latin typeface="Poppins"/>
                <a:ea typeface="Poppins"/>
                <a:cs typeface="Poppins"/>
                <a:sym typeface="Poppins"/>
              </a:rPr>
              <a:t> 2026</a:t>
            </a:r>
          </a:p>
        </p:txBody>
      </p:sp>
      <p:sp>
        <p:nvSpPr>
          <p:cNvPr id="11" name="TextBox 11"/>
          <p:cNvSpPr txBox="1"/>
          <p:nvPr/>
        </p:nvSpPr>
        <p:spPr>
          <a:xfrm>
            <a:off x="5452155" y="8543866"/>
            <a:ext cx="8301296" cy="714434"/>
          </a:xfrm>
          <a:prstGeom prst="rect">
            <a:avLst/>
          </a:prstGeom>
        </p:spPr>
        <p:txBody>
          <a:bodyPr lIns="0" tIns="0" rIns="0" bIns="0" rtlCol="0" anchor="t">
            <a:spAutoFit/>
          </a:bodyPr>
          <a:lstStyle/>
          <a:p>
            <a:pPr algn="ctr">
              <a:lnSpc>
                <a:spcPts val="5576"/>
              </a:lnSpc>
              <a:spcBef>
                <a:spcPct val="0"/>
              </a:spcBef>
            </a:pPr>
            <a:r>
              <a:rPr lang="en-US" sz="3983" b="1">
                <a:solidFill>
                  <a:srgbClr val="FFFFFF"/>
                </a:solidFill>
                <a:latin typeface="Poppins Bold"/>
                <a:ea typeface="Poppins Bold"/>
                <a:cs typeface="Poppins Bold"/>
                <a:sym typeface="Poppins Bold"/>
              </a:rPr>
              <a:t>Número de invitados: 500</a:t>
            </a:r>
          </a:p>
        </p:txBody>
      </p:sp>
      <p:sp>
        <p:nvSpPr>
          <p:cNvPr id="12" name="TextBox 12"/>
          <p:cNvSpPr txBox="1"/>
          <p:nvPr/>
        </p:nvSpPr>
        <p:spPr>
          <a:xfrm>
            <a:off x="3514946" y="3564988"/>
            <a:ext cx="11258109" cy="3890328"/>
          </a:xfrm>
          <a:prstGeom prst="rect">
            <a:avLst/>
          </a:prstGeom>
        </p:spPr>
        <p:txBody>
          <a:bodyPr lIns="0" tIns="0" rIns="0" bIns="0" rtlCol="0" anchor="t">
            <a:spAutoFit/>
          </a:bodyPr>
          <a:lstStyle/>
          <a:p>
            <a:pPr algn="ctr">
              <a:lnSpc>
                <a:spcPts val="3395"/>
              </a:lnSpc>
            </a:pPr>
            <a:r>
              <a:rPr lang="en-US" sz="2425" b="1">
                <a:solidFill>
                  <a:srgbClr val="FFFFFF"/>
                </a:solidFill>
                <a:latin typeface="Poppins Bold"/>
                <a:ea typeface="Poppins Bold"/>
                <a:cs typeface="Poppins Bold"/>
                <a:sym typeface="Poppins Bold"/>
              </a:rPr>
              <a:t>Misión: </a:t>
            </a:r>
          </a:p>
          <a:p>
            <a:pPr marL="392196" lvl="1" indent="-196098" algn="l">
              <a:lnSpc>
                <a:spcPts val="2543"/>
              </a:lnSpc>
              <a:buFont typeface="Arial"/>
              <a:buChar char="•"/>
            </a:pPr>
            <a:r>
              <a:rPr lang="en-US" sz="1816" b="1">
                <a:solidFill>
                  <a:srgbClr val="FFFFFF"/>
                </a:solidFill>
                <a:latin typeface="Poppins Bold"/>
                <a:ea typeface="Poppins Bold"/>
                <a:cs typeface="Poppins Bold"/>
                <a:sym typeface="Poppins Bold"/>
              </a:rPr>
              <a:t>DOSW Company fue contratada para organizar el DOSW FEST 2026, un festival universitario que se realizará dentro del campus.</a:t>
            </a:r>
          </a:p>
          <a:p>
            <a:pPr marL="392196" lvl="1" indent="-196098" algn="l">
              <a:lnSpc>
                <a:spcPts val="2543"/>
              </a:lnSpc>
              <a:buFont typeface="Arial"/>
              <a:buChar char="•"/>
            </a:pPr>
            <a:r>
              <a:rPr lang="en-US" sz="1816" b="1">
                <a:solidFill>
                  <a:srgbClr val="FFFFFF"/>
                </a:solidFill>
                <a:latin typeface="Poppins Bold"/>
                <a:ea typeface="Poppins Bold"/>
                <a:cs typeface="Poppins Bold"/>
                <a:sym typeface="Poppins Bold"/>
              </a:rPr>
              <a:t>Asistirán aproximadamente 500 personas y habrá:</a:t>
            </a:r>
          </a:p>
          <a:p>
            <a:pPr marL="392196" lvl="1" indent="-196098" algn="l">
              <a:lnSpc>
                <a:spcPts val="2543"/>
              </a:lnSpc>
              <a:buFont typeface="Arial"/>
              <a:buChar char="•"/>
            </a:pPr>
            <a:r>
              <a:rPr lang="en-US" sz="1816" b="1">
                <a:solidFill>
                  <a:srgbClr val="FFFFFF"/>
                </a:solidFill>
                <a:latin typeface="Poppins Bold"/>
                <a:ea typeface="Poppins Bold"/>
                <a:cs typeface="Poppins Bold"/>
                <a:sym typeface="Poppins Bold"/>
              </a:rPr>
              <a:t>🎸 bandas y DJs</a:t>
            </a:r>
          </a:p>
          <a:p>
            <a:pPr marL="392196" lvl="1" indent="-196098" algn="l">
              <a:lnSpc>
                <a:spcPts val="2543"/>
              </a:lnSpc>
              <a:buFont typeface="Arial"/>
              <a:buChar char="•"/>
            </a:pPr>
            <a:r>
              <a:rPr lang="en-US" sz="1816" b="1">
                <a:solidFill>
                  <a:srgbClr val="FFFFFF"/>
                </a:solidFill>
                <a:latin typeface="Poppins Bold"/>
                <a:ea typeface="Poppins Bold"/>
                <a:cs typeface="Poppins Bold"/>
                <a:sym typeface="Poppins Bold"/>
              </a:rPr>
              <a:t> 🍔 puestos de comida</a:t>
            </a:r>
          </a:p>
          <a:p>
            <a:pPr marL="392196" lvl="1" indent="-196098" algn="l">
              <a:lnSpc>
                <a:spcPts val="2543"/>
              </a:lnSpc>
              <a:buFont typeface="Arial"/>
              <a:buChar char="•"/>
            </a:pPr>
            <a:r>
              <a:rPr lang="en-US" sz="1816" b="1">
                <a:solidFill>
                  <a:srgbClr val="FFFFFF"/>
                </a:solidFill>
                <a:latin typeface="Poppins Bold"/>
                <a:ea typeface="Poppins Bold"/>
                <a:cs typeface="Poppins Bold"/>
                <a:sym typeface="Poppins Bold"/>
              </a:rPr>
              <a:t> 🎮 torneo de videojuegos</a:t>
            </a:r>
          </a:p>
          <a:p>
            <a:pPr marL="392196" lvl="1" indent="-196098" algn="l">
              <a:lnSpc>
                <a:spcPts val="2543"/>
              </a:lnSpc>
              <a:buFont typeface="Arial"/>
              <a:buChar char="•"/>
            </a:pPr>
            <a:r>
              <a:rPr lang="en-US" sz="1816" b="1">
                <a:solidFill>
                  <a:srgbClr val="FFFFFF"/>
                </a:solidFill>
                <a:latin typeface="Poppins Bold"/>
                <a:ea typeface="Poppins Bold"/>
                <a:cs typeface="Poppins Bold"/>
                <a:sym typeface="Poppins Bold"/>
              </a:rPr>
              <a:t> 🎤 karaoke</a:t>
            </a:r>
          </a:p>
          <a:p>
            <a:pPr marL="392196" lvl="1" indent="-196098" algn="l">
              <a:lnSpc>
                <a:spcPts val="2543"/>
              </a:lnSpc>
              <a:buFont typeface="Arial"/>
              <a:buChar char="•"/>
            </a:pPr>
            <a:r>
              <a:rPr lang="en-US" sz="1816" b="1">
                <a:solidFill>
                  <a:srgbClr val="FFFFFF"/>
                </a:solidFill>
                <a:latin typeface="Poppins Bold"/>
                <a:ea typeface="Poppins Bold"/>
                <a:cs typeface="Poppins Bold"/>
                <a:sym typeface="Poppins Bold"/>
              </a:rPr>
              <a:t> 🏆 concursos</a:t>
            </a:r>
          </a:p>
          <a:p>
            <a:pPr marL="392196" lvl="1" indent="-196098" algn="l">
              <a:lnSpc>
                <a:spcPts val="2543"/>
              </a:lnSpc>
              <a:buFont typeface="Arial"/>
              <a:buChar char="•"/>
            </a:pPr>
            <a:r>
              <a:rPr lang="en-US" sz="1816" b="1">
                <a:solidFill>
                  <a:srgbClr val="FFFFFF"/>
                </a:solidFill>
                <a:latin typeface="Poppins Bold"/>
                <a:ea typeface="Poppins Bold"/>
                <a:cs typeface="Poppins Bold"/>
                <a:sym typeface="Poppins Bold"/>
              </a:rPr>
              <a:t> 🎟️ ingreso mediante entradas</a:t>
            </a:r>
          </a:p>
          <a:p>
            <a:pPr marL="392196" lvl="1" indent="-196098" algn="l">
              <a:lnSpc>
                <a:spcPts val="2543"/>
              </a:lnSpc>
              <a:buFont typeface="Arial"/>
              <a:buChar char="•"/>
            </a:pPr>
            <a:r>
              <a:rPr lang="en-US" sz="1816" b="1">
                <a:solidFill>
                  <a:srgbClr val="FFFFFF"/>
                </a:solidFill>
                <a:latin typeface="Poppins Bold"/>
                <a:ea typeface="Poppins Bold"/>
                <a:cs typeface="Poppins Bold"/>
                <a:sym typeface="Poppins Bold"/>
              </a:rPr>
              <a:t> 🎁 premios</a:t>
            </a:r>
          </a:p>
          <a:p>
            <a:pPr algn="ctr">
              <a:lnSpc>
                <a:spcPts val="2543"/>
              </a:lnSpc>
              <a:spcBef>
                <a:spcPct val="0"/>
              </a:spcBef>
            </a:pPr>
            <a:endParaRPr lang="en-US" sz="1816" b="1">
              <a:solidFill>
                <a:srgbClr val="FFFFFF"/>
              </a:solidFill>
              <a:latin typeface="Poppins Bold"/>
              <a:ea typeface="Poppins Bold"/>
              <a:cs typeface="Poppins Bold"/>
              <a:sym typeface="Poppins Bo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6810465" y="1419414"/>
            <a:ext cx="4760247" cy="772382"/>
          </a:xfrm>
          <a:prstGeom prst="rect">
            <a:avLst/>
          </a:prstGeom>
        </p:spPr>
        <p:txBody>
          <a:bodyPr lIns="0" tIns="0" rIns="0" bIns="0" rtlCol="0" anchor="t">
            <a:spAutoFit/>
          </a:bodyPr>
          <a:lstStyle/>
          <a:p>
            <a:pPr algn="l">
              <a:lnSpc>
                <a:spcPts val="6252"/>
              </a:lnSpc>
              <a:spcBef>
                <a:spcPct val="0"/>
              </a:spcBef>
            </a:pPr>
            <a:r>
              <a:rPr lang="en-US" sz="4466">
                <a:solidFill>
                  <a:srgbClr val="DD7E28"/>
                </a:solidFill>
                <a:latin typeface="HK Modular"/>
                <a:ea typeface="HK Modular"/>
                <a:cs typeface="HK Modular"/>
                <a:sym typeface="HK Modular"/>
              </a:rPr>
              <a:t>ACTIVIDAD</a:t>
            </a:r>
          </a:p>
        </p:txBody>
      </p:sp>
      <p:sp>
        <p:nvSpPr>
          <p:cNvPr id="7" name="TextBox 7"/>
          <p:cNvSpPr txBox="1"/>
          <p:nvPr/>
        </p:nvSpPr>
        <p:spPr>
          <a:xfrm>
            <a:off x="4474016" y="3450688"/>
            <a:ext cx="8977418" cy="5818508"/>
          </a:xfrm>
          <a:prstGeom prst="rect">
            <a:avLst/>
          </a:prstGeom>
        </p:spPr>
        <p:txBody>
          <a:bodyPr lIns="0" tIns="0" rIns="0" bIns="0" rtlCol="0" anchor="t">
            <a:spAutoFit/>
          </a:bodyPr>
          <a:lstStyle/>
          <a:p>
            <a:pPr algn="l">
              <a:lnSpc>
                <a:spcPts val="2707"/>
              </a:lnSpc>
            </a:pPr>
            <a:endParaRPr/>
          </a:p>
          <a:p>
            <a:pPr marL="417580" lvl="1" indent="-208790" algn="l">
              <a:lnSpc>
                <a:spcPts val="2707"/>
              </a:lnSpc>
              <a:buFont typeface="Arial"/>
              <a:buChar char="•"/>
            </a:pPr>
            <a:r>
              <a:rPr lang="en-US" sz="1934">
                <a:solidFill>
                  <a:srgbClr val="FFFFFF"/>
                </a:solidFill>
                <a:latin typeface="Poppins"/>
                <a:ea typeface="Poppins"/>
                <a:cs typeface="Poppins"/>
                <a:sym typeface="Poppins"/>
              </a:rPr>
              <a:t>Solo pueden ingresar personas previamente registradas.</a:t>
            </a:r>
          </a:p>
          <a:p>
            <a:pPr marL="417580" lvl="1" indent="-208790" algn="l">
              <a:lnSpc>
                <a:spcPts val="2707"/>
              </a:lnSpc>
              <a:buFont typeface="Arial"/>
              <a:buChar char="•"/>
            </a:pPr>
            <a:r>
              <a:rPr lang="en-US" sz="1934">
                <a:solidFill>
                  <a:srgbClr val="FFFFFF"/>
                </a:solidFill>
                <a:latin typeface="Poppins"/>
                <a:ea typeface="Poppins"/>
                <a:cs typeface="Poppins"/>
                <a:sym typeface="Poppins"/>
              </a:rPr>
              <a:t>Cada asistente recibe un QR de entrada y solo puede utilizarse una vez.</a:t>
            </a:r>
          </a:p>
          <a:p>
            <a:pPr marL="417580" lvl="1" indent="-208790" algn="l">
              <a:lnSpc>
                <a:spcPts val="2707"/>
              </a:lnSpc>
              <a:buFont typeface="Arial"/>
              <a:buChar char="•"/>
            </a:pPr>
            <a:r>
              <a:rPr lang="en-US" sz="1934">
                <a:solidFill>
                  <a:srgbClr val="FFFFFF"/>
                </a:solidFill>
                <a:latin typeface="Poppins"/>
                <a:ea typeface="Poppins"/>
                <a:cs typeface="Poppins"/>
                <a:sym typeface="Poppins"/>
              </a:rPr>
              <a:t>Debe existir control de aforo.</a:t>
            </a:r>
          </a:p>
          <a:p>
            <a:pPr marL="417580" lvl="1" indent="-208790" algn="l">
              <a:lnSpc>
                <a:spcPts val="2707"/>
              </a:lnSpc>
              <a:buFont typeface="Arial"/>
              <a:buChar char="•"/>
            </a:pPr>
            <a:r>
              <a:rPr lang="en-US" sz="1934">
                <a:solidFill>
                  <a:srgbClr val="FFFFFF"/>
                </a:solidFill>
                <a:latin typeface="Poppins"/>
                <a:ea typeface="Poppins"/>
                <a:cs typeface="Poppins"/>
                <a:sym typeface="Poppins"/>
              </a:rPr>
              <a:t>Los estudiantes pueden inscribirse en actividades y concursos.</a:t>
            </a:r>
          </a:p>
          <a:p>
            <a:pPr marL="417580" lvl="1" indent="-208790" algn="l">
              <a:lnSpc>
                <a:spcPts val="2707"/>
              </a:lnSpc>
              <a:buFont typeface="Arial"/>
              <a:buChar char="•"/>
            </a:pPr>
            <a:r>
              <a:rPr lang="en-US" sz="1934">
                <a:solidFill>
                  <a:srgbClr val="FFFFFF"/>
                </a:solidFill>
                <a:latin typeface="Poppins"/>
                <a:ea typeface="Poppins"/>
                <a:cs typeface="Poppins"/>
                <a:sym typeface="Poppins"/>
              </a:rPr>
              <a:t>Una persona no puede participar en dos actividades que ocurran simultáneamente.</a:t>
            </a:r>
          </a:p>
          <a:p>
            <a:pPr marL="417580" lvl="1" indent="-208790" algn="l">
              <a:lnSpc>
                <a:spcPts val="2707"/>
              </a:lnSpc>
              <a:buFont typeface="Arial"/>
              <a:buChar char="•"/>
            </a:pPr>
            <a:r>
              <a:rPr lang="en-US" sz="1934">
                <a:solidFill>
                  <a:srgbClr val="FFFFFF"/>
                </a:solidFill>
                <a:latin typeface="Poppins"/>
                <a:ea typeface="Poppins"/>
                <a:cs typeface="Poppins"/>
                <a:sym typeface="Poppins"/>
              </a:rPr>
              <a:t>Las bandas deben conocer escenario y horario.</a:t>
            </a:r>
          </a:p>
          <a:p>
            <a:pPr marL="417580" lvl="1" indent="-208790" algn="l">
              <a:lnSpc>
                <a:spcPts val="2707"/>
              </a:lnSpc>
              <a:buFont typeface="Arial"/>
              <a:buChar char="•"/>
            </a:pPr>
            <a:r>
              <a:rPr lang="en-US" sz="1934">
                <a:solidFill>
                  <a:srgbClr val="FFFFFF"/>
                </a:solidFill>
                <a:latin typeface="Poppins"/>
                <a:ea typeface="Poppins"/>
                <a:cs typeface="Poppins"/>
                <a:sym typeface="Poppins"/>
              </a:rPr>
              <a:t>Los puestos de comida deben tener un espacio asignado.</a:t>
            </a:r>
          </a:p>
          <a:p>
            <a:pPr marL="417580" lvl="1" indent="-208790" algn="l">
              <a:lnSpc>
                <a:spcPts val="2707"/>
              </a:lnSpc>
              <a:buFont typeface="Arial"/>
              <a:buChar char="•"/>
            </a:pPr>
            <a:r>
              <a:rPr lang="en-US" sz="1934">
                <a:solidFill>
                  <a:srgbClr val="FFFFFF"/>
                </a:solidFill>
                <a:latin typeface="Poppins"/>
                <a:ea typeface="Poppins"/>
                <a:cs typeface="Poppins"/>
                <a:sym typeface="Poppins"/>
              </a:rPr>
              <a:t>Los asistentes deben poder conocer la programación.</a:t>
            </a:r>
          </a:p>
          <a:p>
            <a:pPr marL="417580" lvl="1" indent="-208790" algn="l">
              <a:lnSpc>
                <a:spcPts val="2707"/>
              </a:lnSpc>
              <a:buFont typeface="Arial"/>
              <a:buChar char="•"/>
            </a:pPr>
            <a:r>
              <a:rPr lang="en-US" sz="1934">
                <a:solidFill>
                  <a:srgbClr val="FFFFFF"/>
                </a:solidFill>
                <a:latin typeface="Poppins"/>
                <a:ea typeface="Poppins"/>
                <a:cs typeface="Poppins"/>
                <a:sym typeface="Poppins"/>
              </a:rPr>
              <a:t>Si una actividad cambia de horario, sus participantes deben enterarse.</a:t>
            </a:r>
          </a:p>
          <a:p>
            <a:pPr marL="417580" lvl="1" indent="-208790" algn="l">
              <a:lnSpc>
                <a:spcPts val="2707"/>
              </a:lnSpc>
              <a:buFont typeface="Arial"/>
              <a:buChar char="•"/>
            </a:pPr>
            <a:r>
              <a:rPr lang="en-US" sz="1934">
                <a:solidFill>
                  <a:srgbClr val="FFFFFF"/>
                </a:solidFill>
                <a:latin typeface="Poppins"/>
                <a:ea typeface="Poppins"/>
                <a:cs typeface="Poppins"/>
                <a:sym typeface="Poppins"/>
              </a:rPr>
              <a:t>Los ganadores de concursos reciben premios.</a:t>
            </a:r>
          </a:p>
          <a:p>
            <a:pPr marL="417580" lvl="1" indent="-208790" algn="l">
              <a:lnSpc>
                <a:spcPts val="2707"/>
              </a:lnSpc>
              <a:buFont typeface="Arial"/>
              <a:buChar char="•"/>
            </a:pPr>
            <a:r>
              <a:rPr lang="en-US" sz="1934">
                <a:solidFill>
                  <a:srgbClr val="FFFFFF"/>
                </a:solidFill>
                <a:latin typeface="Poppins"/>
                <a:ea typeface="Poppins"/>
                <a:cs typeface="Poppins"/>
                <a:sym typeface="Poppins"/>
              </a:rPr>
              <a:t>La organización necesita conocer en tiempo real cuántas personas ingresaron.</a:t>
            </a:r>
          </a:p>
          <a:p>
            <a:pPr marL="417580" lvl="1" indent="-208790" algn="l">
              <a:lnSpc>
                <a:spcPts val="2707"/>
              </a:lnSpc>
              <a:buFont typeface="Arial"/>
              <a:buChar char="•"/>
            </a:pPr>
            <a:r>
              <a:rPr lang="en-US" sz="1934">
                <a:solidFill>
                  <a:srgbClr val="FFFFFF"/>
                </a:solidFill>
                <a:latin typeface="Poppins"/>
                <a:ea typeface="Poppins"/>
                <a:cs typeface="Poppins"/>
                <a:sym typeface="Poppins"/>
              </a:rPr>
              <a:t>A las 10:00 p. m. debe terminar el evento.</a:t>
            </a:r>
          </a:p>
        </p:txBody>
      </p:sp>
      <p:sp>
        <p:nvSpPr>
          <p:cNvPr id="8" name="Freeform 8"/>
          <p:cNvSpPr/>
          <p:nvPr/>
        </p:nvSpPr>
        <p:spPr>
          <a:xfrm>
            <a:off x="7976880" y="-364733"/>
            <a:ext cx="2427418" cy="2427418"/>
          </a:xfrm>
          <a:custGeom>
            <a:avLst/>
            <a:gdLst/>
            <a:ahLst/>
            <a:cxnLst/>
            <a:rect l="l" t="t" r="r" b="b"/>
            <a:pathLst>
              <a:path w="2427418" h="2427418">
                <a:moveTo>
                  <a:pt x="0" y="0"/>
                </a:moveTo>
                <a:lnTo>
                  <a:pt x="2427418" y="0"/>
                </a:lnTo>
                <a:lnTo>
                  <a:pt x="2427418" y="2427418"/>
                </a:lnTo>
                <a:lnTo>
                  <a:pt x="0" y="2427418"/>
                </a:lnTo>
                <a:lnTo>
                  <a:pt x="0" y="0"/>
                </a:lnTo>
                <a:close/>
              </a:path>
            </a:pathLst>
          </a:custGeom>
          <a:blipFill>
            <a:blip r:embed="rId3"/>
            <a:stretch>
              <a:fillRect/>
            </a:stretch>
          </a:blipFill>
        </p:spPr>
        <p:txBody>
          <a:bodyPr/>
          <a:lstStyle/>
          <a:p>
            <a:endParaRPr lang="es-CO"/>
          </a:p>
        </p:txBody>
      </p:sp>
      <p:sp>
        <p:nvSpPr>
          <p:cNvPr id="9" name="Freeform 9"/>
          <p:cNvSpPr/>
          <p:nvPr/>
        </p:nvSpPr>
        <p:spPr>
          <a:xfrm>
            <a:off x="-504735" y="-131875"/>
            <a:ext cx="7315200" cy="2194560"/>
          </a:xfrm>
          <a:custGeom>
            <a:avLst/>
            <a:gdLst/>
            <a:ahLst/>
            <a:cxnLst/>
            <a:rect l="l" t="t" r="r" b="b"/>
            <a:pathLst>
              <a:path w="7315200" h="2194560">
                <a:moveTo>
                  <a:pt x="0" y="0"/>
                </a:moveTo>
                <a:lnTo>
                  <a:pt x="7315200" y="0"/>
                </a:lnTo>
                <a:lnTo>
                  <a:pt x="7315200" y="2194560"/>
                </a:lnTo>
                <a:lnTo>
                  <a:pt x="0" y="219456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0" name="TextBox 10"/>
          <p:cNvSpPr txBox="1"/>
          <p:nvPr/>
        </p:nvSpPr>
        <p:spPr>
          <a:xfrm>
            <a:off x="3873385" y="2332029"/>
            <a:ext cx="10178679" cy="956734"/>
          </a:xfrm>
          <a:prstGeom prst="rect">
            <a:avLst/>
          </a:prstGeom>
        </p:spPr>
        <p:txBody>
          <a:bodyPr lIns="0" tIns="0" rIns="0" bIns="0" rtlCol="0" anchor="t">
            <a:spAutoFit/>
          </a:bodyPr>
          <a:lstStyle/>
          <a:p>
            <a:pPr algn="ctr">
              <a:lnSpc>
                <a:spcPts val="3772"/>
              </a:lnSpc>
            </a:pPr>
            <a:r>
              <a:rPr lang="en-US" sz="2694" b="1">
                <a:solidFill>
                  <a:srgbClr val="FFFFFF"/>
                </a:solidFill>
                <a:latin typeface="Poppins Bold"/>
                <a:ea typeface="Poppins Bold"/>
                <a:cs typeface="Poppins Bold"/>
                <a:sym typeface="Poppins Bold"/>
              </a:rPr>
              <a:t>Proyecto: </a:t>
            </a:r>
          </a:p>
          <a:p>
            <a:pPr algn="ctr">
              <a:lnSpc>
                <a:spcPts val="3772"/>
              </a:lnSpc>
              <a:spcBef>
                <a:spcPct val="0"/>
              </a:spcBef>
            </a:pPr>
            <a:r>
              <a:rPr lang="en-US" sz="2694" b="1">
                <a:solidFill>
                  <a:srgbClr val="FFFFFF"/>
                </a:solidFill>
                <a:latin typeface="Poppins Bold"/>
                <a:ea typeface="Poppins Bold"/>
                <a:cs typeface="Poppins Bold"/>
                <a:sym typeface="Poppins Bold"/>
              </a:rPr>
              <a:t>DOSW Fest - Organicemos un festival universitario</a:t>
            </a:r>
          </a:p>
        </p:txBody>
      </p:sp>
      <p:sp>
        <p:nvSpPr>
          <p:cNvPr id="11" name="Freeform 11"/>
          <p:cNvSpPr/>
          <p:nvPr/>
        </p:nvSpPr>
        <p:spPr>
          <a:xfrm>
            <a:off x="11319347" y="-131875"/>
            <a:ext cx="7315200" cy="2194560"/>
          </a:xfrm>
          <a:custGeom>
            <a:avLst/>
            <a:gdLst/>
            <a:ahLst/>
            <a:cxnLst/>
            <a:rect l="l" t="t" r="r" b="b"/>
            <a:pathLst>
              <a:path w="7315200" h="2194560">
                <a:moveTo>
                  <a:pt x="0" y="0"/>
                </a:moveTo>
                <a:lnTo>
                  <a:pt x="7315200" y="0"/>
                </a:lnTo>
                <a:lnTo>
                  <a:pt x="7315200" y="2194560"/>
                </a:lnTo>
                <a:lnTo>
                  <a:pt x="0" y="219456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1251216" y="1628869"/>
            <a:ext cx="16230600" cy="772382"/>
          </a:xfrm>
          <a:prstGeom prst="rect">
            <a:avLst/>
          </a:prstGeom>
        </p:spPr>
        <p:txBody>
          <a:bodyPr lIns="0" tIns="0" rIns="0" bIns="0" rtlCol="0" anchor="t">
            <a:spAutoFit/>
          </a:bodyPr>
          <a:lstStyle/>
          <a:p>
            <a:pPr algn="l">
              <a:lnSpc>
                <a:spcPts val="6252"/>
              </a:lnSpc>
              <a:spcBef>
                <a:spcPct val="0"/>
              </a:spcBef>
            </a:pPr>
            <a:r>
              <a:rPr lang="en-US" sz="4466">
                <a:solidFill>
                  <a:srgbClr val="DD7E28"/>
                </a:solidFill>
                <a:latin typeface="HK Modular"/>
                <a:ea typeface="HK Modular"/>
                <a:cs typeface="HK Modular"/>
                <a:sym typeface="HK Modular"/>
              </a:rPr>
              <a:t>PRIMERA ETAPA - CUAL ES LA EPICA?</a:t>
            </a:r>
          </a:p>
        </p:txBody>
      </p:sp>
      <p:sp>
        <p:nvSpPr>
          <p:cNvPr id="7" name="Freeform 7"/>
          <p:cNvSpPr/>
          <p:nvPr/>
        </p:nvSpPr>
        <p:spPr>
          <a:xfrm>
            <a:off x="7976880" y="-364733"/>
            <a:ext cx="2427418" cy="2427418"/>
          </a:xfrm>
          <a:custGeom>
            <a:avLst/>
            <a:gdLst/>
            <a:ahLst/>
            <a:cxnLst/>
            <a:rect l="l" t="t" r="r" b="b"/>
            <a:pathLst>
              <a:path w="2427418" h="2427418">
                <a:moveTo>
                  <a:pt x="0" y="0"/>
                </a:moveTo>
                <a:lnTo>
                  <a:pt x="2427418" y="0"/>
                </a:lnTo>
                <a:lnTo>
                  <a:pt x="2427418" y="2427418"/>
                </a:lnTo>
                <a:lnTo>
                  <a:pt x="0" y="2427418"/>
                </a:lnTo>
                <a:lnTo>
                  <a:pt x="0" y="0"/>
                </a:lnTo>
                <a:close/>
              </a:path>
            </a:pathLst>
          </a:custGeom>
          <a:blipFill>
            <a:blip r:embed="rId3"/>
            <a:stretch>
              <a:fillRect/>
            </a:stretch>
          </a:blipFill>
        </p:spPr>
        <p:txBody>
          <a:bodyPr/>
          <a:lstStyle/>
          <a:p>
            <a:endParaRPr lang="es-CO"/>
          </a:p>
        </p:txBody>
      </p:sp>
      <p:sp>
        <p:nvSpPr>
          <p:cNvPr id="8" name="Freeform 8"/>
          <p:cNvSpPr/>
          <p:nvPr/>
        </p:nvSpPr>
        <p:spPr>
          <a:xfrm>
            <a:off x="8191524" y="6509512"/>
            <a:ext cx="2212774" cy="2748788"/>
          </a:xfrm>
          <a:custGeom>
            <a:avLst/>
            <a:gdLst/>
            <a:ahLst/>
            <a:cxnLst/>
            <a:rect l="l" t="t" r="r" b="b"/>
            <a:pathLst>
              <a:path w="2212774" h="2748788">
                <a:moveTo>
                  <a:pt x="0" y="0"/>
                </a:moveTo>
                <a:lnTo>
                  <a:pt x="2212774" y="0"/>
                </a:lnTo>
                <a:lnTo>
                  <a:pt x="2212774" y="2748788"/>
                </a:lnTo>
                <a:lnTo>
                  <a:pt x="0" y="2748788"/>
                </a:lnTo>
                <a:lnTo>
                  <a:pt x="0" y="0"/>
                </a:lnTo>
                <a:close/>
              </a:path>
            </a:pathLst>
          </a:custGeom>
          <a:blipFill>
            <a:blip r:embed="rId4"/>
            <a:stretch>
              <a:fillRect/>
            </a:stretch>
          </a:blipFill>
        </p:spPr>
        <p:txBody>
          <a:bodyPr/>
          <a:lstStyle/>
          <a:p>
            <a:endParaRPr lang="es-CO"/>
          </a:p>
        </p:txBody>
      </p:sp>
      <p:sp>
        <p:nvSpPr>
          <p:cNvPr id="9" name="TextBox 9"/>
          <p:cNvSpPr txBox="1"/>
          <p:nvPr/>
        </p:nvSpPr>
        <p:spPr>
          <a:xfrm>
            <a:off x="4697244" y="2917823"/>
            <a:ext cx="9112245" cy="559864"/>
          </a:xfrm>
          <a:prstGeom prst="rect">
            <a:avLst/>
          </a:prstGeom>
        </p:spPr>
        <p:txBody>
          <a:bodyPr lIns="0" tIns="0" rIns="0" bIns="0" rtlCol="0" anchor="t">
            <a:spAutoFit/>
          </a:bodyPr>
          <a:lstStyle/>
          <a:p>
            <a:pPr algn="ctr">
              <a:lnSpc>
                <a:spcPts val="4316"/>
              </a:lnSpc>
              <a:spcBef>
                <a:spcPct val="0"/>
              </a:spcBef>
            </a:pPr>
            <a:r>
              <a:rPr lang="en-US" sz="3083">
                <a:solidFill>
                  <a:srgbClr val="FFFFFF"/>
                </a:solidFill>
                <a:latin typeface="Poppins"/>
                <a:ea typeface="Poppins"/>
                <a:cs typeface="Poppins"/>
                <a:sym typeface="Poppins"/>
              </a:rPr>
              <a:t>Nombre: DOSW FEST 2026</a:t>
            </a:r>
          </a:p>
        </p:txBody>
      </p:sp>
      <p:sp>
        <p:nvSpPr>
          <p:cNvPr id="10" name="TextBox 10"/>
          <p:cNvSpPr txBox="1"/>
          <p:nvPr/>
        </p:nvSpPr>
        <p:spPr>
          <a:xfrm>
            <a:off x="4485178" y="3851655"/>
            <a:ext cx="9112245" cy="2188639"/>
          </a:xfrm>
          <a:prstGeom prst="rect">
            <a:avLst/>
          </a:prstGeom>
        </p:spPr>
        <p:txBody>
          <a:bodyPr lIns="0" tIns="0" rIns="0" bIns="0" rtlCol="0" anchor="t">
            <a:spAutoFit/>
          </a:bodyPr>
          <a:lstStyle/>
          <a:p>
            <a:pPr algn="ctr">
              <a:lnSpc>
                <a:spcPts val="4316"/>
              </a:lnSpc>
              <a:spcBef>
                <a:spcPct val="0"/>
              </a:spcBef>
            </a:pPr>
            <a:r>
              <a:rPr lang="en-US" sz="3083">
                <a:solidFill>
                  <a:srgbClr val="FFFFFF"/>
                </a:solidFill>
                <a:latin typeface="Poppins"/>
                <a:ea typeface="Poppins"/>
                <a:cs typeface="Poppins"/>
                <a:sym typeface="Poppins"/>
              </a:rPr>
              <a:t>Gestionar integralmente la experiencia y operación del DOSW FEST 2026, desde el registro de los asistentes hasta la ejecución y cierre del evento.</a:t>
            </a:r>
          </a:p>
        </p:txBody>
      </p:sp>
      <p:sp>
        <p:nvSpPr>
          <p:cNvPr id="11" name="TextBox 11"/>
          <p:cNvSpPr txBox="1"/>
          <p:nvPr/>
        </p:nvSpPr>
        <p:spPr>
          <a:xfrm>
            <a:off x="1326709" y="9374196"/>
            <a:ext cx="16079614" cy="559864"/>
          </a:xfrm>
          <a:prstGeom prst="rect">
            <a:avLst/>
          </a:prstGeom>
        </p:spPr>
        <p:txBody>
          <a:bodyPr lIns="0" tIns="0" rIns="0" bIns="0" rtlCol="0" anchor="t">
            <a:spAutoFit/>
          </a:bodyPr>
          <a:lstStyle/>
          <a:p>
            <a:pPr algn="ctr">
              <a:lnSpc>
                <a:spcPts val="4316"/>
              </a:lnSpc>
              <a:spcBef>
                <a:spcPct val="0"/>
              </a:spcBef>
            </a:pPr>
            <a:r>
              <a:rPr lang="en-US" sz="3083">
                <a:solidFill>
                  <a:srgbClr val="FFFFFF"/>
                </a:solidFill>
                <a:latin typeface="Poppins"/>
                <a:ea typeface="Poppins"/>
                <a:cs typeface="Poppins"/>
                <a:sym typeface="Poppins"/>
              </a:rPr>
              <a:t>Identifiquen entre 4 y 7 grandes funcionalidades necesarias para cumplir la Épica.</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3318394" y="1587055"/>
            <a:ext cx="11869947" cy="604741"/>
          </a:xfrm>
          <a:prstGeom prst="rect">
            <a:avLst/>
          </a:prstGeom>
        </p:spPr>
        <p:txBody>
          <a:bodyPr lIns="0" tIns="0" rIns="0" bIns="0" rtlCol="0" anchor="t">
            <a:spAutoFit/>
          </a:bodyPr>
          <a:lstStyle/>
          <a:p>
            <a:pPr algn="l">
              <a:lnSpc>
                <a:spcPts val="4992"/>
              </a:lnSpc>
              <a:spcBef>
                <a:spcPct val="0"/>
              </a:spcBef>
            </a:pPr>
            <a:r>
              <a:rPr lang="en-US" sz="3566">
                <a:solidFill>
                  <a:srgbClr val="DD7E28"/>
                </a:solidFill>
                <a:latin typeface="HK Modular"/>
                <a:ea typeface="HK Modular"/>
                <a:cs typeface="HK Modular"/>
                <a:sym typeface="HK Modular"/>
              </a:rPr>
              <a:t>SEGUNDA ETAPA - FUNCIONALIDADES</a:t>
            </a:r>
          </a:p>
        </p:txBody>
      </p:sp>
      <p:sp>
        <p:nvSpPr>
          <p:cNvPr id="7" name="Freeform 7"/>
          <p:cNvSpPr/>
          <p:nvPr/>
        </p:nvSpPr>
        <p:spPr>
          <a:xfrm>
            <a:off x="7976880" y="-364733"/>
            <a:ext cx="2427418" cy="2427418"/>
          </a:xfrm>
          <a:custGeom>
            <a:avLst/>
            <a:gdLst/>
            <a:ahLst/>
            <a:cxnLst/>
            <a:rect l="l" t="t" r="r" b="b"/>
            <a:pathLst>
              <a:path w="2427418" h="2427418">
                <a:moveTo>
                  <a:pt x="0" y="0"/>
                </a:moveTo>
                <a:lnTo>
                  <a:pt x="2427418" y="0"/>
                </a:lnTo>
                <a:lnTo>
                  <a:pt x="2427418" y="2427418"/>
                </a:lnTo>
                <a:lnTo>
                  <a:pt x="0" y="2427418"/>
                </a:lnTo>
                <a:lnTo>
                  <a:pt x="0" y="0"/>
                </a:lnTo>
                <a:close/>
              </a:path>
            </a:pathLst>
          </a:custGeom>
          <a:blipFill>
            <a:blip r:embed="rId3"/>
            <a:stretch>
              <a:fillRect/>
            </a:stretch>
          </a:blipFill>
        </p:spPr>
        <p:txBody>
          <a:bodyPr/>
          <a:lstStyle/>
          <a:p>
            <a:endParaRPr lang="es-CO"/>
          </a:p>
        </p:txBody>
      </p:sp>
      <p:sp>
        <p:nvSpPr>
          <p:cNvPr id="8" name="Freeform 8"/>
          <p:cNvSpPr/>
          <p:nvPr/>
        </p:nvSpPr>
        <p:spPr>
          <a:xfrm>
            <a:off x="1289898" y="5675574"/>
            <a:ext cx="4280056" cy="3274242"/>
          </a:xfrm>
          <a:custGeom>
            <a:avLst/>
            <a:gdLst/>
            <a:ahLst/>
            <a:cxnLst/>
            <a:rect l="l" t="t" r="r" b="b"/>
            <a:pathLst>
              <a:path w="4280056" h="3274242">
                <a:moveTo>
                  <a:pt x="0" y="0"/>
                </a:moveTo>
                <a:lnTo>
                  <a:pt x="4280055" y="0"/>
                </a:lnTo>
                <a:lnTo>
                  <a:pt x="4280055" y="3274243"/>
                </a:lnTo>
                <a:lnTo>
                  <a:pt x="0" y="32742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9" name="Freeform 9"/>
          <p:cNvSpPr/>
          <p:nvPr/>
        </p:nvSpPr>
        <p:spPr>
          <a:xfrm>
            <a:off x="7768403" y="5778033"/>
            <a:ext cx="2969929" cy="3299921"/>
          </a:xfrm>
          <a:custGeom>
            <a:avLst/>
            <a:gdLst/>
            <a:ahLst/>
            <a:cxnLst/>
            <a:rect l="l" t="t" r="r" b="b"/>
            <a:pathLst>
              <a:path w="2969929" h="3299921">
                <a:moveTo>
                  <a:pt x="0" y="0"/>
                </a:moveTo>
                <a:lnTo>
                  <a:pt x="2969928" y="0"/>
                </a:lnTo>
                <a:lnTo>
                  <a:pt x="2969928" y="3299921"/>
                </a:lnTo>
                <a:lnTo>
                  <a:pt x="0" y="32999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CO"/>
          </a:p>
        </p:txBody>
      </p:sp>
      <p:sp>
        <p:nvSpPr>
          <p:cNvPr id="10" name="Freeform 10"/>
          <p:cNvSpPr/>
          <p:nvPr/>
        </p:nvSpPr>
        <p:spPr>
          <a:xfrm>
            <a:off x="13395446" y="5958379"/>
            <a:ext cx="3913729" cy="2817885"/>
          </a:xfrm>
          <a:custGeom>
            <a:avLst/>
            <a:gdLst/>
            <a:ahLst/>
            <a:cxnLst/>
            <a:rect l="l" t="t" r="r" b="b"/>
            <a:pathLst>
              <a:path w="3913729" h="2817885">
                <a:moveTo>
                  <a:pt x="0" y="0"/>
                </a:moveTo>
                <a:lnTo>
                  <a:pt x="3913730" y="0"/>
                </a:lnTo>
                <a:lnTo>
                  <a:pt x="3913730" y="2817885"/>
                </a:lnTo>
                <a:lnTo>
                  <a:pt x="0" y="2817885"/>
                </a:lnTo>
                <a:lnTo>
                  <a:pt x="0" y="0"/>
                </a:lnTo>
                <a:close/>
              </a:path>
            </a:pathLst>
          </a:custGeom>
          <a:blipFill>
            <a:blip r:embed="rId6"/>
            <a:stretch>
              <a:fillRect/>
            </a:stretch>
          </a:blipFill>
        </p:spPr>
        <p:txBody>
          <a:bodyPr/>
          <a:lstStyle/>
          <a:p>
            <a:endParaRPr lang="es-CO"/>
          </a:p>
        </p:txBody>
      </p:sp>
      <p:sp>
        <p:nvSpPr>
          <p:cNvPr id="11" name="TextBox 11"/>
          <p:cNvSpPr txBox="1"/>
          <p:nvPr/>
        </p:nvSpPr>
        <p:spPr>
          <a:xfrm>
            <a:off x="4409775" y="2671825"/>
            <a:ext cx="9112245" cy="559864"/>
          </a:xfrm>
          <a:prstGeom prst="rect">
            <a:avLst/>
          </a:prstGeom>
        </p:spPr>
        <p:txBody>
          <a:bodyPr lIns="0" tIns="0" rIns="0" bIns="0" rtlCol="0" anchor="t">
            <a:spAutoFit/>
          </a:bodyPr>
          <a:lstStyle/>
          <a:p>
            <a:pPr marL="665645" lvl="1" indent="-332822" algn="ctr">
              <a:lnSpc>
                <a:spcPts val="4316"/>
              </a:lnSpc>
              <a:buAutoNum type="arabicPeriod"/>
            </a:pPr>
            <a:r>
              <a:rPr lang="en-US" sz="3083">
                <a:solidFill>
                  <a:srgbClr val="FFFFFF"/>
                </a:solidFill>
                <a:latin typeface="Poppins"/>
                <a:ea typeface="Poppins"/>
                <a:cs typeface="Poppins"/>
                <a:sym typeface="Poppins"/>
              </a:rPr>
              <a:t>Control de acceso al Festival</a:t>
            </a:r>
          </a:p>
        </p:txBody>
      </p:sp>
      <p:sp>
        <p:nvSpPr>
          <p:cNvPr id="12" name="TextBox 12"/>
          <p:cNvSpPr txBox="1"/>
          <p:nvPr/>
        </p:nvSpPr>
        <p:spPr>
          <a:xfrm>
            <a:off x="4587877" y="3765089"/>
            <a:ext cx="9112245" cy="1021716"/>
          </a:xfrm>
          <a:prstGeom prst="rect">
            <a:avLst/>
          </a:prstGeom>
        </p:spPr>
        <p:txBody>
          <a:bodyPr lIns="0" tIns="0" rIns="0" bIns="0" rtlCol="0" anchor="t">
            <a:spAutoFit/>
          </a:bodyPr>
          <a:lstStyle/>
          <a:p>
            <a:pPr algn="ctr">
              <a:lnSpc>
                <a:spcPts val="4059"/>
              </a:lnSpc>
              <a:spcBef>
                <a:spcPct val="0"/>
              </a:spcBef>
            </a:pPr>
            <a:r>
              <a:rPr lang="en-US" sz="2899">
                <a:solidFill>
                  <a:srgbClr val="F400BC"/>
                </a:solidFill>
                <a:latin typeface="HK Modular"/>
                <a:ea typeface="HK Modular"/>
                <a:cs typeface="HK Modular"/>
                <a:sym typeface="HK Modular"/>
              </a:rPr>
              <a:t>¿Quién obtiene valor de esta Feature?</a:t>
            </a:r>
          </a:p>
        </p:txBody>
      </p:sp>
      <p:sp>
        <p:nvSpPr>
          <p:cNvPr id="13" name="TextBox 13"/>
          <p:cNvSpPr txBox="1"/>
          <p:nvPr/>
        </p:nvSpPr>
        <p:spPr>
          <a:xfrm>
            <a:off x="2266039" y="4922265"/>
            <a:ext cx="2727759" cy="559864"/>
          </a:xfrm>
          <a:prstGeom prst="rect">
            <a:avLst/>
          </a:prstGeom>
        </p:spPr>
        <p:txBody>
          <a:bodyPr lIns="0" tIns="0" rIns="0" bIns="0" rtlCol="0" anchor="t">
            <a:spAutoFit/>
          </a:bodyPr>
          <a:lstStyle/>
          <a:p>
            <a:pPr algn="ctr">
              <a:lnSpc>
                <a:spcPts val="4316"/>
              </a:lnSpc>
            </a:pPr>
            <a:r>
              <a:rPr lang="en-US" sz="3083">
                <a:solidFill>
                  <a:srgbClr val="FFFFFF"/>
                </a:solidFill>
                <a:latin typeface="Poppins"/>
                <a:ea typeface="Poppins"/>
                <a:cs typeface="Poppins"/>
                <a:sym typeface="Poppins"/>
              </a:rPr>
              <a:t>Asistentes</a:t>
            </a:r>
          </a:p>
        </p:txBody>
      </p:sp>
      <p:sp>
        <p:nvSpPr>
          <p:cNvPr id="14" name="TextBox 14"/>
          <p:cNvSpPr txBox="1"/>
          <p:nvPr/>
        </p:nvSpPr>
        <p:spPr>
          <a:xfrm>
            <a:off x="7184837" y="4922265"/>
            <a:ext cx="4011503" cy="559864"/>
          </a:xfrm>
          <a:prstGeom prst="rect">
            <a:avLst/>
          </a:prstGeom>
        </p:spPr>
        <p:txBody>
          <a:bodyPr lIns="0" tIns="0" rIns="0" bIns="0" rtlCol="0" anchor="t">
            <a:spAutoFit/>
          </a:bodyPr>
          <a:lstStyle/>
          <a:p>
            <a:pPr algn="ctr">
              <a:lnSpc>
                <a:spcPts val="4316"/>
              </a:lnSpc>
            </a:pPr>
            <a:r>
              <a:rPr lang="en-US" sz="3083">
                <a:solidFill>
                  <a:srgbClr val="FFFFFF"/>
                </a:solidFill>
                <a:latin typeface="Poppins"/>
                <a:ea typeface="Poppins"/>
                <a:cs typeface="Poppins"/>
                <a:sym typeface="Poppins"/>
              </a:rPr>
              <a:t>Personal de Acceso</a:t>
            </a:r>
          </a:p>
        </p:txBody>
      </p:sp>
      <p:sp>
        <p:nvSpPr>
          <p:cNvPr id="15" name="TextBox 15"/>
          <p:cNvSpPr txBox="1"/>
          <p:nvPr/>
        </p:nvSpPr>
        <p:spPr>
          <a:xfrm>
            <a:off x="13182589" y="4922265"/>
            <a:ext cx="4011503" cy="559864"/>
          </a:xfrm>
          <a:prstGeom prst="rect">
            <a:avLst/>
          </a:prstGeom>
        </p:spPr>
        <p:txBody>
          <a:bodyPr lIns="0" tIns="0" rIns="0" bIns="0" rtlCol="0" anchor="t">
            <a:spAutoFit/>
          </a:bodyPr>
          <a:lstStyle/>
          <a:p>
            <a:pPr algn="ctr">
              <a:lnSpc>
                <a:spcPts val="4316"/>
              </a:lnSpc>
            </a:pPr>
            <a:r>
              <a:rPr lang="en-US" sz="3083">
                <a:solidFill>
                  <a:srgbClr val="FFFFFF"/>
                </a:solidFill>
                <a:latin typeface="Poppins"/>
                <a:ea typeface="Poppins"/>
                <a:cs typeface="Poppins"/>
                <a:sym typeface="Poppins"/>
              </a:rPr>
              <a:t>Administrador</a:t>
            </a:r>
          </a:p>
        </p:txBody>
      </p:sp>
      <p:sp>
        <p:nvSpPr>
          <p:cNvPr id="16" name="TextBox 16"/>
          <p:cNvSpPr txBox="1"/>
          <p:nvPr/>
        </p:nvSpPr>
        <p:spPr>
          <a:xfrm>
            <a:off x="3429926" y="9278607"/>
            <a:ext cx="12129120" cy="559864"/>
          </a:xfrm>
          <a:prstGeom prst="rect">
            <a:avLst/>
          </a:prstGeom>
        </p:spPr>
        <p:txBody>
          <a:bodyPr lIns="0" tIns="0" rIns="0" bIns="0" rtlCol="0" anchor="t">
            <a:spAutoFit/>
          </a:bodyPr>
          <a:lstStyle/>
          <a:p>
            <a:pPr algn="ctr">
              <a:lnSpc>
                <a:spcPts val="4316"/>
              </a:lnSpc>
              <a:spcBef>
                <a:spcPct val="0"/>
              </a:spcBef>
            </a:pPr>
            <a:r>
              <a:rPr lang="en-US" sz="3083">
                <a:solidFill>
                  <a:srgbClr val="FFFFFF"/>
                </a:solidFill>
                <a:latin typeface="Poppins"/>
                <a:ea typeface="Poppins"/>
                <a:cs typeface="Poppins"/>
                <a:sym typeface="Poppins"/>
              </a:rPr>
              <a:t>Ahora conviertan la Feature en necesidades de esos usuarios.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3318394" y="1587055"/>
            <a:ext cx="11869947" cy="604741"/>
          </a:xfrm>
          <a:prstGeom prst="rect">
            <a:avLst/>
          </a:prstGeom>
        </p:spPr>
        <p:txBody>
          <a:bodyPr lIns="0" tIns="0" rIns="0" bIns="0" rtlCol="0" anchor="t">
            <a:spAutoFit/>
          </a:bodyPr>
          <a:lstStyle/>
          <a:p>
            <a:pPr algn="l">
              <a:lnSpc>
                <a:spcPts val="4992"/>
              </a:lnSpc>
              <a:spcBef>
                <a:spcPct val="0"/>
              </a:spcBef>
            </a:pPr>
            <a:r>
              <a:rPr lang="en-US" sz="3566">
                <a:solidFill>
                  <a:srgbClr val="DD7E28"/>
                </a:solidFill>
                <a:latin typeface="HK Modular"/>
                <a:ea typeface="HK Modular"/>
                <a:cs typeface="HK Modular"/>
                <a:sym typeface="HK Modular"/>
              </a:rPr>
              <a:t>SEGUNDA ETAPA - FUNCIONALIDADES</a:t>
            </a:r>
          </a:p>
        </p:txBody>
      </p:sp>
      <p:sp>
        <p:nvSpPr>
          <p:cNvPr id="7" name="Freeform 7"/>
          <p:cNvSpPr/>
          <p:nvPr/>
        </p:nvSpPr>
        <p:spPr>
          <a:xfrm>
            <a:off x="7976880" y="-364733"/>
            <a:ext cx="2427418" cy="2427418"/>
          </a:xfrm>
          <a:custGeom>
            <a:avLst/>
            <a:gdLst/>
            <a:ahLst/>
            <a:cxnLst/>
            <a:rect l="l" t="t" r="r" b="b"/>
            <a:pathLst>
              <a:path w="2427418" h="2427418">
                <a:moveTo>
                  <a:pt x="0" y="0"/>
                </a:moveTo>
                <a:lnTo>
                  <a:pt x="2427418" y="0"/>
                </a:lnTo>
                <a:lnTo>
                  <a:pt x="2427418" y="2427418"/>
                </a:lnTo>
                <a:lnTo>
                  <a:pt x="0" y="2427418"/>
                </a:lnTo>
                <a:lnTo>
                  <a:pt x="0" y="0"/>
                </a:lnTo>
                <a:close/>
              </a:path>
            </a:pathLst>
          </a:custGeom>
          <a:blipFill>
            <a:blip r:embed="rId3"/>
            <a:stretch>
              <a:fillRect/>
            </a:stretch>
          </a:blipFill>
        </p:spPr>
        <p:txBody>
          <a:bodyPr/>
          <a:lstStyle/>
          <a:p>
            <a:endParaRPr lang="es-CO"/>
          </a:p>
        </p:txBody>
      </p:sp>
      <p:sp>
        <p:nvSpPr>
          <p:cNvPr id="8" name="Freeform 8"/>
          <p:cNvSpPr/>
          <p:nvPr/>
        </p:nvSpPr>
        <p:spPr>
          <a:xfrm>
            <a:off x="2488059" y="3803189"/>
            <a:ext cx="2639350" cy="2019103"/>
          </a:xfrm>
          <a:custGeom>
            <a:avLst/>
            <a:gdLst/>
            <a:ahLst/>
            <a:cxnLst/>
            <a:rect l="l" t="t" r="r" b="b"/>
            <a:pathLst>
              <a:path w="2639350" h="2019103">
                <a:moveTo>
                  <a:pt x="0" y="0"/>
                </a:moveTo>
                <a:lnTo>
                  <a:pt x="2639350" y="0"/>
                </a:lnTo>
                <a:lnTo>
                  <a:pt x="2639350" y="2019103"/>
                </a:lnTo>
                <a:lnTo>
                  <a:pt x="0" y="201910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9" name="Freeform 9"/>
          <p:cNvSpPr/>
          <p:nvPr/>
        </p:nvSpPr>
        <p:spPr>
          <a:xfrm>
            <a:off x="2818961" y="6578992"/>
            <a:ext cx="1977545" cy="2197272"/>
          </a:xfrm>
          <a:custGeom>
            <a:avLst/>
            <a:gdLst/>
            <a:ahLst/>
            <a:cxnLst/>
            <a:rect l="l" t="t" r="r" b="b"/>
            <a:pathLst>
              <a:path w="1977545" h="2197272">
                <a:moveTo>
                  <a:pt x="0" y="0"/>
                </a:moveTo>
                <a:lnTo>
                  <a:pt x="1977545" y="0"/>
                </a:lnTo>
                <a:lnTo>
                  <a:pt x="1977545" y="2197272"/>
                </a:lnTo>
                <a:lnTo>
                  <a:pt x="0" y="219727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CO"/>
          </a:p>
        </p:txBody>
      </p:sp>
      <p:sp>
        <p:nvSpPr>
          <p:cNvPr id="10" name="TextBox 10"/>
          <p:cNvSpPr txBox="1"/>
          <p:nvPr/>
        </p:nvSpPr>
        <p:spPr>
          <a:xfrm>
            <a:off x="4409775" y="2671825"/>
            <a:ext cx="9112245" cy="559864"/>
          </a:xfrm>
          <a:prstGeom prst="rect">
            <a:avLst/>
          </a:prstGeom>
        </p:spPr>
        <p:txBody>
          <a:bodyPr lIns="0" tIns="0" rIns="0" bIns="0" rtlCol="0" anchor="t">
            <a:spAutoFit/>
          </a:bodyPr>
          <a:lstStyle/>
          <a:p>
            <a:pPr marL="665645" lvl="1" indent="-332822" algn="ctr">
              <a:lnSpc>
                <a:spcPts val="4316"/>
              </a:lnSpc>
              <a:buAutoNum type="arabicPeriod"/>
            </a:pPr>
            <a:r>
              <a:rPr lang="en-US" sz="3083">
                <a:solidFill>
                  <a:srgbClr val="FFFFFF"/>
                </a:solidFill>
                <a:latin typeface="Poppins"/>
                <a:ea typeface="Poppins"/>
                <a:cs typeface="Poppins"/>
                <a:sym typeface="Poppins"/>
              </a:rPr>
              <a:t>Control de acceso al Festival</a:t>
            </a:r>
          </a:p>
        </p:txBody>
      </p:sp>
      <p:sp>
        <p:nvSpPr>
          <p:cNvPr id="11" name="TextBox 11"/>
          <p:cNvSpPr txBox="1"/>
          <p:nvPr/>
        </p:nvSpPr>
        <p:spPr>
          <a:xfrm>
            <a:off x="6040655" y="4213721"/>
            <a:ext cx="10327522" cy="1102789"/>
          </a:xfrm>
          <a:prstGeom prst="rect">
            <a:avLst/>
          </a:prstGeom>
        </p:spPr>
        <p:txBody>
          <a:bodyPr lIns="0" tIns="0" rIns="0" bIns="0" rtlCol="0" anchor="t">
            <a:spAutoFit/>
          </a:bodyPr>
          <a:lstStyle/>
          <a:p>
            <a:pPr algn="ctr">
              <a:lnSpc>
                <a:spcPts val="4316"/>
              </a:lnSpc>
            </a:pPr>
            <a:r>
              <a:rPr lang="en-US" sz="3083">
                <a:solidFill>
                  <a:srgbClr val="FFFFFF"/>
                </a:solidFill>
                <a:latin typeface="Poppins"/>
                <a:ea typeface="Poppins"/>
                <a:cs typeface="Poppins"/>
                <a:sym typeface="Poppins"/>
              </a:rPr>
              <a:t>Como asistente, quiero recibir una entrada digital con QR para ingresar al festival</a:t>
            </a:r>
          </a:p>
        </p:txBody>
      </p:sp>
      <p:sp>
        <p:nvSpPr>
          <p:cNvPr id="12" name="TextBox 12"/>
          <p:cNvSpPr txBox="1"/>
          <p:nvPr/>
        </p:nvSpPr>
        <p:spPr>
          <a:xfrm>
            <a:off x="5560330" y="6740491"/>
            <a:ext cx="11288172" cy="1102789"/>
          </a:xfrm>
          <a:prstGeom prst="rect">
            <a:avLst/>
          </a:prstGeom>
        </p:spPr>
        <p:txBody>
          <a:bodyPr lIns="0" tIns="0" rIns="0" bIns="0" rtlCol="0" anchor="t">
            <a:spAutoFit/>
          </a:bodyPr>
          <a:lstStyle/>
          <a:p>
            <a:pPr algn="ctr">
              <a:lnSpc>
                <a:spcPts val="4316"/>
              </a:lnSpc>
            </a:pPr>
            <a:r>
              <a:rPr lang="en-US" sz="3083">
                <a:solidFill>
                  <a:srgbClr val="FFFFFF"/>
                </a:solidFill>
                <a:latin typeface="Poppins"/>
                <a:ea typeface="Poppins"/>
                <a:cs typeface="Poppins"/>
                <a:sym typeface="Poppins"/>
              </a:rPr>
              <a:t>Como personal de acceso, quiero escanear el QR de un asistente para validar que puede ingresar.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3318394" y="1587055"/>
            <a:ext cx="11869947" cy="604741"/>
          </a:xfrm>
          <a:prstGeom prst="rect">
            <a:avLst/>
          </a:prstGeom>
        </p:spPr>
        <p:txBody>
          <a:bodyPr lIns="0" tIns="0" rIns="0" bIns="0" rtlCol="0" anchor="t">
            <a:spAutoFit/>
          </a:bodyPr>
          <a:lstStyle/>
          <a:p>
            <a:pPr algn="l">
              <a:lnSpc>
                <a:spcPts val="4992"/>
              </a:lnSpc>
              <a:spcBef>
                <a:spcPct val="0"/>
              </a:spcBef>
            </a:pPr>
            <a:r>
              <a:rPr lang="en-US" sz="3566">
                <a:solidFill>
                  <a:srgbClr val="DD7E28"/>
                </a:solidFill>
                <a:latin typeface="HK Modular"/>
                <a:ea typeface="HK Modular"/>
                <a:cs typeface="HK Modular"/>
                <a:sym typeface="HK Modular"/>
              </a:rPr>
              <a:t>SEGUNDA ETAPA - FUNCIONALIDADES</a:t>
            </a:r>
          </a:p>
        </p:txBody>
      </p:sp>
      <p:sp>
        <p:nvSpPr>
          <p:cNvPr id="7" name="Freeform 7"/>
          <p:cNvSpPr/>
          <p:nvPr/>
        </p:nvSpPr>
        <p:spPr>
          <a:xfrm>
            <a:off x="7976880" y="-364733"/>
            <a:ext cx="2427418" cy="2427418"/>
          </a:xfrm>
          <a:custGeom>
            <a:avLst/>
            <a:gdLst/>
            <a:ahLst/>
            <a:cxnLst/>
            <a:rect l="l" t="t" r="r" b="b"/>
            <a:pathLst>
              <a:path w="2427418" h="2427418">
                <a:moveTo>
                  <a:pt x="0" y="0"/>
                </a:moveTo>
                <a:lnTo>
                  <a:pt x="2427418" y="0"/>
                </a:lnTo>
                <a:lnTo>
                  <a:pt x="2427418" y="2427418"/>
                </a:lnTo>
                <a:lnTo>
                  <a:pt x="0" y="2427418"/>
                </a:lnTo>
                <a:lnTo>
                  <a:pt x="0" y="0"/>
                </a:lnTo>
                <a:close/>
              </a:path>
            </a:pathLst>
          </a:custGeom>
          <a:blipFill>
            <a:blip r:embed="rId3"/>
            <a:stretch>
              <a:fillRect/>
            </a:stretch>
          </a:blipFill>
        </p:spPr>
        <p:txBody>
          <a:bodyPr/>
          <a:lstStyle/>
          <a:p>
            <a:endParaRPr lang="es-CO"/>
          </a:p>
        </p:txBody>
      </p:sp>
      <p:sp>
        <p:nvSpPr>
          <p:cNvPr id="8" name="Freeform 8"/>
          <p:cNvSpPr/>
          <p:nvPr/>
        </p:nvSpPr>
        <p:spPr>
          <a:xfrm>
            <a:off x="2818961" y="6578992"/>
            <a:ext cx="1977545" cy="2197272"/>
          </a:xfrm>
          <a:custGeom>
            <a:avLst/>
            <a:gdLst/>
            <a:ahLst/>
            <a:cxnLst/>
            <a:rect l="l" t="t" r="r" b="b"/>
            <a:pathLst>
              <a:path w="1977545" h="2197272">
                <a:moveTo>
                  <a:pt x="0" y="0"/>
                </a:moveTo>
                <a:lnTo>
                  <a:pt x="1977545" y="0"/>
                </a:lnTo>
                <a:lnTo>
                  <a:pt x="1977545" y="2197272"/>
                </a:lnTo>
                <a:lnTo>
                  <a:pt x="0" y="219727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9" name="TextBox 9"/>
          <p:cNvSpPr txBox="1"/>
          <p:nvPr/>
        </p:nvSpPr>
        <p:spPr>
          <a:xfrm>
            <a:off x="4409775" y="2671825"/>
            <a:ext cx="9112245" cy="559864"/>
          </a:xfrm>
          <a:prstGeom prst="rect">
            <a:avLst/>
          </a:prstGeom>
        </p:spPr>
        <p:txBody>
          <a:bodyPr lIns="0" tIns="0" rIns="0" bIns="0" rtlCol="0" anchor="t">
            <a:spAutoFit/>
          </a:bodyPr>
          <a:lstStyle/>
          <a:p>
            <a:pPr marL="665645" lvl="1" indent="-332822" algn="ctr">
              <a:lnSpc>
                <a:spcPts val="4316"/>
              </a:lnSpc>
              <a:buAutoNum type="arabicPeriod"/>
            </a:pPr>
            <a:r>
              <a:rPr lang="en-US" sz="3083">
                <a:solidFill>
                  <a:srgbClr val="FFFFFF"/>
                </a:solidFill>
                <a:latin typeface="Poppins"/>
                <a:ea typeface="Poppins"/>
                <a:cs typeface="Poppins"/>
                <a:sym typeface="Poppins"/>
              </a:rPr>
              <a:t>Control de acceso al Festival</a:t>
            </a:r>
          </a:p>
        </p:txBody>
      </p:sp>
      <p:sp>
        <p:nvSpPr>
          <p:cNvPr id="10" name="TextBox 10"/>
          <p:cNvSpPr txBox="1"/>
          <p:nvPr/>
        </p:nvSpPr>
        <p:spPr>
          <a:xfrm>
            <a:off x="6040655" y="4213721"/>
            <a:ext cx="10327522" cy="1645714"/>
          </a:xfrm>
          <a:prstGeom prst="rect">
            <a:avLst/>
          </a:prstGeom>
        </p:spPr>
        <p:txBody>
          <a:bodyPr lIns="0" tIns="0" rIns="0" bIns="0" rtlCol="0" anchor="t">
            <a:spAutoFit/>
          </a:bodyPr>
          <a:lstStyle/>
          <a:p>
            <a:pPr algn="ctr">
              <a:lnSpc>
                <a:spcPts val="4316"/>
              </a:lnSpc>
            </a:pPr>
            <a:r>
              <a:rPr lang="en-US" sz="3083">
                <a:solidFill>
                  <a:srgbClr val="FFFFFF"/>
                </a:solidFill>
                <a:latin typeface="Poppins"/>
                <a:ea typeface="Poppins"/>
                <a:cs typeface="Poppins"/>
                <a:sym typeface="Poppins"/>
              </a:rPr>
              <a:t>Como organizador, quiero consultar el número de personas que se encuentran dentro del evento para controlar el aforo.</a:t>
            </a:r>
          </a:p>
        </p:txBody>
      </p:sp>
      <p:sp>
        <p:nvSpPr>
          <p:cNvPr id="11" name="TextBox 11"/>
          <p:cNvSpPr txBox="1"/>
          <p:nvPr/>
        </p:nvSpPr>
        <p:spPr>
          <a:xfrm>
            <a:off x="5560330" y="6740491"/>
            <a:ext cx="11288172" cy="1102789"/>
          </a:xfrm>
          <a:prstGeom prst="rect">
            <a:avLst/>
          </a:prstGeom>
        </p:spPr>
        <p:txBody>
          <a:bodyPr lIns="0" tIns="0" rIns="0" bIns="0" rtlCol="0" anchor="t">
            <a:spAutoFit/>
          </a:bodyPr>
          <a:lstStyle/>
          <a:p>
            <a:pPr algn="ctr">
              <a:lnSpc>
                <a:spcPts val="4316"/>
              </a:lnSpc>
            </a:pPr>
            <a:r>
              <a:rPr lang="en-US" sz="3083">
                <a:solidFill>
                  <a:srgbClr val="FFFFFF"/>
                </a:solidFill>
                <a:latin typeface="Poppins"/>
                <a:ea typeface="Poppins"/>
                <a:cs typeface="Poppins"/>
                <a:sym typeface="Poppins"/>
              </a:rPr>
              <a:t>Como personal de acceso, quiero conocer cuando un QR ya fue utilizado para evitar ingresos duplicados.</a:t>
            </a:r>
          </a:p>
        </p:txBody>
      </p:sp>
      <p:sp>
        <p:nvSpPr>
          <p:cNvPr id="12" name="Freeform 12"/>
          <p:cNvSpPr/>
          <p:nvPr/>
        </p:nvSpPr>
        <p:spPr>
          <a:xfrm>
            <a:off x="2621251" y="4051073"/>
            <a:ext cx="2372966" cy="1708536"/>
          </a:xfrm>
          <a:custGeom>
            <a:avLst/>
            <a:gdLst/>
            <a:ahLst/>
            <a:cxnLst/>
            <a:rect l="l" t="t" r="r" b="b"/>
            <a:pathLst>
              <a:path w="2372966" h="1708536">
                <a:moveTo>
                  <a:pt x="0" y="0"/>
                </a:moveTo>
                <a:lnTo>
                  <a:pt x="2372966" y="0"/>
                </a:lnTo>
                <a:lnTo>
                  <a:pt x="2372966" y="1708535"/>
                </a:lnTo>
                <a:lnTo>
                  <a:pt x="0" y="1708535"/>
                </a:lnTo>
                <a:lnTo>
                  <a:pt x="0" y="0"/>
                </a:lnTo>
                <a:close/>
              </a:path>
            </a:pathLst>
          </a:custGeom>
          <a:blipFill>
            <a:blip r:embed="rId5"/>
            <a:stretch>
              <a:fillRect/>
            </a:stretch>
          </a:blipFill>
        </p:spPr>
        <p:txBody>
          <a:bodyPr/>
          <a:lstStyle/>
          <a:p>
            <a:endParaRPr lang="es-CO"/>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3318394" y="1587055"/>
            <a:ext cx="11869947" cy="1233391"/>
          </a:xfrm>
          <a:prstGeom prst="rect">
            <a:avLst/>
          </a:prstGeom>
        </p:spPr>
        <p:txBody>
          <a:bodyPr lIns="0" tIns="0" rIns="0" bIns="0" rtlCol="0" anchor="t">
            <a:spAutoFit/>
          </a:bodyPr>
          <a:lstStyle/>
          <a:p>
            <a:pPr algn="ctr">
              <a:lnSpc>
                <a:spcPts val="4992"/>
              </a:lnSpc>
              <a:spcBef>
                <a:spcPct val="0"/>
              </a:spcBef>
            </a:pPr>
            <a:r>
              <a:rPr lang="en-US" sz="3566">
                <a:solidFill>
                  <a:srgbClr val="DD7E28"/>
                </a:solidFill>
                <a:latin typeface="HK Modular"/>
                <a:ea typeface="HK Modular"/>
                <a:cs typeface="HK Modular"/>
                <a:sym typeface="HK Modular"/>
              </a:rPr>
              <a:t>TERCERA ETAPA - CRITERIOS DE ACEPTACION</a:t>
            </a:r>
          </a:p>
        </p:txBody>
      </p:sp>
      <p:sp>
        <p:nvSpPr>
          <p:cNvPr id="7" name="Freeform 7"/>
          <p:cNvSpPr/>
          <p:nvPr/>
        </p:nvSpPr>
        <p:spPr>
          <a:xfrm>
            <a:off x="7976880" y="-364733"/>
            <a:ext cx="2427418" cy="2427418"/>
          </a:xfrm>
          <a:custGeom>
            <a:avLst/>
            <a:gdLst/>
            <a:ahLst/>
            <a:cxnLst/>
            <a:rect l="l" t="t" r="r" b="b"/>
            <a:pathLst>
              <a:path w="2427418" h="2427418">
                <a:moveTo>
                  <a:pt x="0" y="0"/>
                </a:moveTo>
                <a:lnTo>
                  <a:pt x="2427418" y="0"/>
                </a:lnTo>
                <a:lnTo>
                  <a:pt x="2427418" y="2427418"/>
                </a:lnTo>
                <a:lnTo>
                  <a:pt x="0" y="2427418"/>
                </a:lnTo>
                <a:lnTo>
                  <a:pt x="0" y="0"/>
                </a:lnTo>
                <a:close/>
              </a:path>
            </a:pathLst>
          </a:custGeom>
          <a:blipFill>
            <a:blip r:embed="rId3"/>
            <a:stretch>
              <a:fillRect/>
            </a:stretch>
          </a:blipFill>
        </p:spPr>
        <p:txBody>
          <a:bodyPr/>
          <a:lstStyle/>
          <a:p>
            <a:endParaRPr lang="es-CO"/>
          </a:p>
        </p:txBody>
      </p:sp>
      <p:sp>
        <p:nvSpPr>
          <p:cNvPr id="8" name="Freeform 8"/>
          <p:cNvSpPr/>
          <p:nvPr/>
        </p:nvSpPr>
        <p:spPr>
          <a:xfrm>
            <a:off x="1603684" y="4608334"/>
            <a:ext cx="4529145" cy="5032384"/>
          </a:xfrm>
          <a:custGeom>
            <a:avLst/>
            <a:gdLst/>
            <a:ahLst/>
            <a:cxnLst/>
            <a:rect l="l" t="t" r="r" b="b"/>
            <a:pathLst>
              <a:path w="4529145" h="5032384">
                <a:moveTo>
                  <a:pt x="0" y="0"/>
                </a:moveTo>
                <a:lnTo>
                  <a:pt x="4529145" y="0"/>
                </a:lnTo>
                <a:lnTo>
                  <a:pt x="4529145" y="5032383"/>
                </a:lnTo>
                <a:lnTo>
                  <a:pt x="0" y="503238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9" name="TextBox 9"/>
          <p:cNvSpPr txBox="1"/>
          <p:nvPr/>
        </p:nvSpPr>
        <p:spPr>
          <a:xfrm>
            <a:off x="1737966" y="3115020"/>
            <a:ext cx="14812067" cy="1102789"/>
          </a:xfrm>
          <a:prstGeom prst="rect">
            <a:avLst/>
          </a:prstGeom>
        </p:spPr>
        <p:txBody>
          <a:bodyPr lIns="0" tIns="0" rIns="0" bIns="0" rtlCol="0" anchor="t">
            <a:spAutoFit/>
          </a:bodyPr>
          <a:lstStyle/>
          <a:p>
            <a:pPr marL="665645" lvl="1" indent="-332822" algn="ctr">
              <a:lnSpc>
                <a:spcPts val="4316"/>
              </a:lnSpc>
              <a:buAutoNum type="arabicPeriod"/>
            </a:pPr>
            <a:r>
              <a:rPr lang="en-US" sz="3083">
                <a:solidFill>
                  <a:srgbClr val="FFFFFF"/>
                </a:solidFill>
                <a:latin typeface="Poppins"/>
                <a:ea typeface="Poppins"/>
                <a:cs typeface="Poppins"/>
                <a:sym typeface="Poppins"/>
              </a:rPr>
              <a:t>Como personal de acceso quiero escanear el QR de un asistente para validar su entrada al DOSW FEST.</a:t>
            </a:r>
          </a:p>
        </p:txBody>
      </p:sp>
      <p:sp>
        <p:nvSpPr>
          <p:cNvPr id="10" name="TextBox 10"/>
          <p:cNvSpPr txBox="1"/>
          <p:nvPr/>
        </p:nvSpPr>
        <p:spPr>
          <a:xfrm>
            <a:off x="8491961" y="4809242"/>
            <a:ext cx="7329115" cy="4578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¿Cuándo consideramos terminada esta HU?</a:t>
            </a:r>
          </a:p>
        </p:txBody>
      </p:sp>
      <p:sp>
        <p:nvSpPr>
          <p:cNvPr id="11" name="TextBox 11"/>
          <p:cNvSpPr txBox="1"/>
          <p:nvPr/>
        </p:nvSpPr>
        <p:spPr>
          <a:xfrm>
            <a:off x="9373619" y="5619502"/>
            <a:ext cx="5565800" cy="989965"/>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Canva Sans"/>
                <a:ea typeface="Canva Sans"/>
                <a:cs typeface="Canva Sans"/>
                <a:sym typeface="Canva Sans"/>
              </a:rPr>
              <a:t>DADO que un asistente tiene una entrada válida</a:t>
            </a:r>
          </a:p>
          <a:p>
            <a:pPr algn="ctr">
              <a:lnSpc>
                <a:spcPts val="2659"/>
              </a:lnSpc>
              <a:spcBef>
                <a:spcPct val="0"/>
              </a:spcBef>
            </a:pPr>
            <a:r>
              <a:rPr lang="en-US" sz="1899">
                <a:solidFill>
                  <a:srgbClr val="FFFFFF"/>
                </a:solidFill>
                <a:latin typeface="Canva Sans"/>
                <a:ea typeface="Canva Sans"/>
                <a:cs typeface="Canva Sans"/>
                <a:sym typeface="Canva Sans"/>
              </a:rPr>
              <a:t>CUANDO el personal escanea su QR</a:t>
            </a:r>
          </a:p>
          <a:p>
            <a:pPr algn="ctr">
              <a:lnSpc>
                <a:spcPts val="2659"/>
              </a:lnSpc>
              <a:spcBef>
                <a:spcPct val="0"/>
              </a:spcBef>
            </a:pPr>
            <a:r>
              <a:rPr lang="en-US" sz="1899">
                <a:solidFill>
                  <a:srgbClr val="FFFFFF"/>
                </a:solidFill>
                <a:latin typeface="Canva Sans"/>
                <a:ea typeface="Canva Sans"/>
                <a:cs typeface="Canva Sans"/>
                <a:sym typeface="Canva Sans"/>
              </a:rPr>
              <a:t>ENTONCES el sistema debe autorizar su ingreso.</a:t>
            </a:r>
          </a:p>
        </p:txBody>
      </p:sp>
      <p:sp>
        <p:nvSpPr>
          <p:cNvPr id="12" name="TextBox 12"/>
          <p:cNvSpPr txBox="1"/>
          <p:nvPr/>
        </p:nvSpPr>
        <p:spPr>
          <a:xfrm>
            <a:off x="8248776" y="7047126"/>
            <a:ext cx="7815486" cy="4578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Yo vuelvo a entrar con el mismo QR entonces.....</a:t>
            </a:r>
          </a:p>
        </p:txBody>
      </p:sp>
      <p:sp>
        <p:nvSpPr>
          <p:cNvPr id="13" name="TextBox 13"/>
          <p:cNvSpPr txBox="1"/>
          <p:nvPr/>
        </p:nvSpPr>
        <p:spPr>
          <a:xfrm>
            <a:off x="9373619" y="7718178"/>
            <a:ext cx="5565800" cy="1323340"/>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Canva Sans"/>
                <a:ea typeface="Canva Sans"/>
                <a:cs typeface="Canva Sans"/>
                <a:sym typeface="Canva Sans"/>
              </a:rPr>
              <a:t>DADO que un QR ya fue utilizado</a:t>
            </a:r>
          </a:p>
          <a:p>
            <a:pPr algn="ctr">
              <a:lnSpc>
                <a:spcPts val="2659"/>
              </a:lnSpc>
              <a:spcBef>
                <a:spcPct val="0"/>
              </a:spcBef>
            </a:pPr>
            <a:r>
              <a:rPr lang="en-US" sz="1899">
                <a:solidFill>
                  <a:srgbClr val="FFFFFF"/>
                </a:solidFill>
                <a:latin typeface="Canva Sans"/>
                <a:ea typeface="Canva Sans"/>
                <a:cs typeface="Canva Sans"/>
                <a:sym typeface="Canva Sans"/>
              </a:rPr>
              <a:t>CUANDO se intenta escanear nuevamente</a:t>
            </a:r>
          </a:p>
          <a:p>
            <a:pPr algn="ctr">
              <a:lnSpc>
                <a:spcPts val="2659"/>
              </a:lnSpc>
              <a:spcBef>
                <a:spcPct val="0"/>
              </a:spcBef>
            </a:pPr>
            <a:r>
              <a:rPr lang="en-US" sz="1899">
                <a:solidFill>
                  <a:srgbClr val="FFFFFF"/>
                </a:solidFill>
                <a:latin typeface="Canva Sans"/>
                <a:ea typeface="Canva Sans"/>
                <a:cs typeface="Canva Sans"/>
                <a:sym typeface="Canva Sans"/>
              </a:rPr>
              <a:t>ENTONCES el sistema debe rechazar el ingreso</a:t>
            </a:r>
          </a:p>
          <a:p>
            <a:pPr algn="ctr">
              <a:lnSpc>
                <a:spcPts val="2659"/>
              </a:lnSpc>
              <a:spcBef>
                <a:spcPct val="0"/>
              </a:spcBef>
            </a:pPr>
            <a:r>
              <a:rPr lang="en-US" sz="1899">
                <a:solidFill>
                  <a:srgbClr val="FFFFFF"/>
                </a:solidFill>
                <a:latin typeface="Canva Sans"/>
                <a:ea typeface="Canva Sans"/>
                <a:cs typeface="Canva Sans"/>
                <a:sym typeface="Canva Sans"/>
              </a:rPr>
              <a:t>Y mostrar que la entrada ya fue utilizada.</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3318394" y="1996010"/>
            <a:ext cx="11869947" cy="1233391"/>
          </a:xfrm>
          <a:prstGeom prst="rect">
            <a:avLst/>
          </a:prstGeom>
        </p:spPr>
        <p:txBody>
          <a:bodyPr lIns="0" tIns="0" rIns="0" bIns="0" rtlCol="0" anchor="t">
            <a:spAutoFit/>
          </a:bodyPr>
          <a:lstStyle/>
          <a:p>
            <a:pPr algn="ctr">
              <a:lnSpc>
                <a:spcPts val="4992"/>
              </a:lnSpc>
              <a:spcBef>
                <a:spcPct val="0"/>
              </a:spcBef>
            </a:pPr>
            <a:r>
              <a:rPr lang="en-US" sz="3566">
                <a:solidFill>
                  <a:srgbClr val="DD7E28"/>
                </a:solidFill>
                <a:latin typeface="HK Modular"/>
                <a:ea typeface="HK Modular"/>
                <a:cs typeface="HK Modular"/>
                <a:sym typeface="HK Modular"/>
              </a:rPr>
              <a:t>TERCERA ETAPA - CRITERIOS DE ACEPTACION</a:t>
            </a:r>
          </a:p>
        </p:txBody>
      </p:sp>
      <p:sp>
        <p:nvSpPr>
          <p:cNvPr id="7" name="Freeform 7"/>
          <p:cNvSpPr/>
          <p:nvPr/>
        </p:nvSpPr>
        <p:spPr>
          <a:xfrm>
            <a:off x="7976880" y="-364733"/>
            <a:ext cx="2427418" cy="2427418"/>
          </a:xfrm>
          <a:custGeom>
            <a:avLst/>
            <a:gdLst/>
            <a:ahLst/>
            <a:cxnLst/>
            <a:rect l="l" t="t" r="r" b="b"/>
            <a:pathLst>
              <a:path w="2427418" h="2427418">
                <a:moveTo>
                  <a:pt x="0" y="0"/>
                </a:moveTo>
                <a:lnTo>
                  <a:pt x="2427418" y="0"/>
                </a:lnTo>
                <a:lnTo>
                  <a:pt x="2427418" y="2427418"/>
                </a:lnTo>
                <a:lnTo>
                  <a:pt x="0" y="2427418"/>
                </a:lnTo>
                <a:lnTo>
                  <a:pt x="0" y="0"/>
                </a:lnTo>
                <a:close/>
              </a:path>
            </a:pathLst>
          </a:custGeom>
          <a:blipFill>
            <a:blip r:embed="rId3"/>
            <a:stretch>
              <a:fillRect/>
            </a:stretch>
          </a:blipFill>
        </p:spPr>
        <p:txBody>
          <a:bodyPr/>
          <a:lstStyle/>
          <a:p>
            <a:endParaRPr lang="es-CO"/>
          </a:p>
        </p:txBody>
      </p:sp>
      <p:sp>
        <p:nvSpPr>
          <p:cNvPr id="8" name="Freeform 8"/>
          <p:cNvSpPr/>
          <p:nvPr/>
        </p:nvSpPr>
        <p:spPr>
          <a:xfrm>
            <a:off x="2527980" y="3371773"/>
            <a:ext cx="5602949" cy="6225499"/>
          </a:xfrm>
          <a:custGeom>
            <a:avLst/>
            <a:gdLst/>
            <a:ahLst/>
            <a:cxnLst/>
            <a:rect l="l" t="t" r="r" b="b"/>
            <a:pathLst>
              <a:path w="5602949" h="6225499">
                <a:moveTo>
                  <a:pt x="0" y="0"/>
                </a:moveTo>
                <a:lnTo>
                  <a:pt x="5602949" y="0"/>
                </a:lnTo>
                <a:lnTo>
                  <a:pt x="5602949" y="6225499"/>
                </a:lnTo>
                <a:lnTo>
                  <a:pt x="0" y="622549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9" name="TextBox 9"/>
          <p:cNvSpPr txBox="1"/>
          <p:nvPr/>
        </p:nvSpPr>
        <p:spPr>
          <a:xfrm>
            <a:off x="8379201" y="5614041"/>
            <a:ext cx="8136600" cy="1645714"/>
          </a:xfrm>
          <a:prstGeom prst="rect">
            <a:avLst/>
          </a:prstGeom>
        </p:spPr>
        <p:txBody>
          <a:bodyPr lIns="0" tIns="0" rIns="0" bIns="0" rtlCol="0" anchor="t">
            <a:spAutoFit/>
          </a:bodyPr>
          <a:lstStyle/>
          <a:p>
            <a:pPr algn="ctr">
              <a:lnSpc>
                <a:spcPts val="4316"/>
              </a:lnSpc>
            </a:pPr>
            <a:r>
              <a:rPr lang="en-US" sz="3083">
                <a:solidFill>
                  <a:srgbClr val="FFFFFF"/>
                </a:solidFill>
                <a:latin typeface="Poppins"/>
                <a:ea typeface="Poppins"/>
                <a:cs typeface="Poppins"/>
                <a:sym typeface="Poppins"/>
              </a:rPr>
              <a:t>Los criterios de aceptación no son decoración: representan reglas verificables del negocio.</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3318394" y="1587055"/>
            <a:ext cx="11869947" cy="604741"/>
          </a:xfrm>
          <a:prstGeom prst="rect">
            <a:avLst/>
          </a:prstGeom>
        </p:spPr>
        <p:txBody>
          <a:bodyPr lIns="0" tIns="0" rIns="0" bIns="0" rtlCol="0" anchor="t">
            <a:spAutoFit/>
          </a:bodyPr>
          <a:lstStyle/>
          <a:p>
            <a:pPr algn="ctr">
              <a:lnSpc>
                <a:spcPts val="4992"/>
              </a:lnSpc>
              <a:spcBef>
                <a:spcPct val="0"/>
              </a:spcBef>
            </a:pPr>
            <a:r>
              <a:rPr lang="en-US" sz="3566">
                <a:solidFill>
                  <a:srgbClr val="DD7E28"/>
                </a:solidFill>
                <a:latin typeface="HK Modular"/>
                <a:ea typeface="HK Modular"/>
                <a:cs typeface="HK Modular"/>
                <a:sym typeface="HK Modular"/>
              </a:rPr>
              <a:t>CUARTA ETAPA - TAREAS</a:t>
            </a:r>
          </a:p>
        </p:txBody>
      </p:sp>
      <p:sp>
        <p:nvSpPr>
          <p:cNvPr id="7" name="Freeform 7"/>
          <p:cNvSpPr/>
          <p:nvPr/>
        </p:nvSpPr>
        <p:spPr>
          <a:xfrm>
            <a:off x="7976880" y="-364733"/>
            <a:ext cx="2427418" cy="2427418"/>
          </a:xfrm>
          <a:custGeom>
            <a:avLst/>
            <a:gdLst/>
            <a:ahLst/>
            <a:cxnLst/>
            <a:rect l="l" t="t" r="r" b="b"/>
            <a:pathLst>
              <a:path w="2427418" h="2427418">
                <a:moveTo>
                  <a:pt x="0" y="0"/>
                </a:moveTo>
                <a:lnTo>
                  <a:pt x="2427418" y="0"/>
                </a:lnTo>
                <a:lnTo>
                  <a:pt x="2427418" y="2427418"/>
                </a:lnTo>
                <a:lnTo>
                  <a:pt x="0" y="2427418"/>
                </a:lnTo>
                <a:lnTo>
                  <a:pt x="0" y="0"/>
                </a:lnTo>
                <a:close/>
              </a:path>
            </a:pathLst>
          </a:custGeom>
          <a:blipFill>
            <a:blip r:embed="rId3"/>
            <a:stretch>
              <a:fillRect/>
            </a:stretch>
          </a:blipFill>
        </p:spPr>
        <p:txBody>
          <a:bodyPr/>
          <a:lstStyle/>
          <a:p>
            <a:endParaRPr lang="es-CO"/>
          </a:p>
        </p:txBody>
      </p:sp>
      <p:sp>
        <p:nvSpPr>
          <p:cNvPr id="8" name="Freeform 8"/>
          <p:cNvSpPr/>
          <p:nvPr/>
        </p:nvSpPr>
        <p:spPr>
          <a:xfrm>
            <a:off x="1603684" y="4608334"/>
            <a:ext cx="4529145" cy="5032384"/>
          </a:xfrm>
          <a:custGeom>
            <a:avLst/>
            <a:gdLst/>
            <a:ahLst/>
            <a:cxnLst/>
            <a:rect l="l" t="t" r="r" b="b"/>
            <a:pathLst>
              <a:path w="4529145" h="5032384">
                <a:moveTo>
                  <a:pt x="0" y="0"/>
                </a:moveTo>
                <a:lnTo>
                  <a:pt x="4529145" y="0"/>
                </a:lnTo>
                <a:lnTo>
                  <a:pt x="4529145" y="5032383"/>
                </a:lnTo>
                <a:lnTo>
                  <a:pt x="0" y="503238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9" name="TextBox 9"/>
          <p:cNvSpPr txBox="1"/>
          <p:nvPr/>
        </p:nvSpPr>
        <p:spPr>
          <a:xfrm>
            <a:off x="1784555" y="2652872"/>
            <a:ext cx="14812067" cy="559864"/>
          </a:xfrm>
          <a:prstGeom prst="rect">
            <a:avLst/>
          </a:prstGeom>
        </p:spPr>
        <p:txBody>
          <a:bodyPr lIns="0" tIns="0" rIns="0" bIns="0" rtlCol="0" anchor="t">
            <a:spAutoFit/>
          </a:bodyPr>
          <a:lstStyle/>
          <a:p>
            <a:pPr algn="ctr">
              <a:lnSpc>
                <a:spcPts val="4316"/>
              </a:lnSpc>
            </a:pPr>
            <a:r>
              <a:rPr lang="en-US" sz="3083">
                <a:solidFill>
                  <a:srgbClr val="FFFFFF"/>
                </a:solidFill>
                <a:latin typeface="Poppins"/>
                <a:ea typeface="Poppins"/>
                <a:cs typeface="Poppins"/>
                <a:sym typeface="Poppins"/>
              </a:rPr>
              <a:t>Tenemos esta HU. ¿Qué tenemos que construir para hacerla realidad?</a:t>
            </a:r>
          </a:p>
        </p:txBody>
      </p:sp>
      <p:sp>
        <p:nvSpPr>
          <p:cNvPr id="10" name="TextBox 10"/>
          <p:cNvSpPr txBox="1"/>
          <p:nvPr/>
        </p:nvSpPr>
        <p:spPr>
          <a:xfrm>
            <a:off x="7313723" y="3717561"/>
            <a:ext cx="8894701" cy="5673443"/>
          </a:xfrm>
          <a:prstGeom prst="rect">
            <a:avLst/>
          </a:prstGeom>
        </p:spPr>
        <p:txBody>
          <a:bodyPr lIns="0" tIns="0" rIns="0" bIns="0" rtlCol="0" anchor="t">
            <a:spAutoFit/>
          </a:bodyPr>
          <a:lstStyle/>
          <a:p>
            <a:pPr algn="ctr">
              <a:lnSpc>
                <a:spcPts val="3491"/>
              </a:lnSpc>
            </a:pPr>
            <a:r>
              <a:rPr lang="en-US" sz="2494">
                <a:solidFill>
                  <a:srgbClr val="FFFFFF"/>
                </a:solidFill>
                <a:latin typeface="Canva Sans"/>
                <a:ea typeface="Canva Sans"/>
                <a:cs typeface="Canva Sans"/>
                <a:sym typeface="Canva Sans"/>
              </a:rPr>
              <a:t>HU — Validar ingreso mediante QR</a:t>
            </a:r>
          </a:p>
          <a:p>
            <a:pPr algn="ctr">
              <a:lnSpc>
                <a:spcPts val="3491"/>
              </a:lnSpc>
            </a:pPr>
            <a:r>
              <a:rPr lang="en-US" sz="2494">
                <a:solidFill>
                  <a:srgbClr val="FFFFFF"/>
                </a:solidFill>
                <a:latin typeface="Canva Sans"/>
                <a:ea typeface="Canva Sans"/>
                <a:cs typeface="Canva Sans"/>
                <a:sym typeface="Canva Sans"/>
              </a:rPr>
              <a:t>│</a:t>
            </a:r>
          </a:p>
          <a:p>
            <a:pPr algn="ctr">
              <a:lnSpc>
                <a:spcPts val="3491"/>
              </a:lnSpc>
            </a:pPr>
            <a:r>
              <a:rPr lang="en-US" sz="2494">
                <a:solidFill>
                  <a:srgbClr val="FFFFFF"/>
                </a:solidFill>
                <a:latin typeface="Canva Sans"/>
                <a:ea typeface="Canva Sans"/>
                <a:cs typeface="Canva Sans"/>
                <a:sym typeface="Canva Sans"/>
              </a:rPr>
              <a:t>├── TASK — Diseñar modelo Ticket</a:t>
            </a:r>
          </a:p>
          <a:p>
            <a:pPr algn="ctr">
              <a:lnSpc>
                <a:spcPts val="3491"/>
              </a:lnSpc>
            </a:pPr>
            <a:r>
              <a:rPr lang="en-US" sz="2494">
                <a:solidFill>
                  <a:srgbClr val="FFFFFF"/>
                </a:solidFill>
                <a:latin typeface="Canva Sans"/>
                <a:ea typeface="Canva Sans"/>
                <a:cs typeface="Canva Sans"/>
                <a:sym typeface="Canva Sans"/>
              </a:rPr>
              <a:t>├── TASK — Implementar generación de QR</a:t>
            </a:r>
          </a:p>
          <a:p>
            <a:pPr algn="ctr">
              <a:lnSpc>
                <a:spcPts val="3491"/>
              </a:lnSpc>
            </a:pPr>
            <a:r>
              <a:rPr lang="en-US" sz="2494">
                <a:solidFill>
                  <a:srgbClr val="FFFFFF"/>
                </a:solidFill>
                <a:latin typeface="Canva Sans"/>
                <a:ea typeface="Canva Sans"/>
                <a:cs typeface="Canva Sans"/>
                <a:sym typeface="Canva Sans"/>
              </a:rPr>
              <a:t>├── TASK — Implementar endpoint de validación</a:t>
            </a:r>
          </a:p>
          <a:p>
            <a:pPr algn="ctr">
              <a:lnSpc>
                <a:spcPts val="3491"/>
              </a:lnSpc>
            </a:pPr>
            <a:r>
              <a:rPr lang="en-US" sz="2494">
                <a:solidFill>
                  <a:srgbClr val="FFFFFF"/>
                </a:solidFill>
                <a:latin typeface="Canva Sans"/>
                <a:ea typeface="Canva Sans"/>
                <a:cs typeface="Canva Sans"/>
                <a:sym typeface="Canva Sans"/>
              </a:rPr>
              <a:t>├── TASK — Implementar validación de estado del ticket</a:t>
            </a:r>
          </a:p>
          <a:p>
            <a:pPr algn="ctr">
              <a:lnSpc>
                <a:spcPts val="3491"/>
              </a:lnSpc>
            </a:pPr>
            <a:r>
              <a:rPr lang="en-US" sz="2494">
                <a:solidFill>
                  <a:srgbClr val="FFFFFF"/>
                </a:solidFill>
                <a:latin typeface="Canva Sans"/>
                <a:ea typeface="Canva Sans"/>
                <a:cs typeface="Canva Sans"/>
                <a:sym typeface="Canva Sans"/>
              </a:rPr>
              <a:t>├── TASK — Implementar control de doble ingreso</a:t>
            </a:r>
          </a:p>
          <a:p>
            <a:pPr algn="ctr">
              <a:lnSpc>
                <a:spcPts val="3491"/>
              </a:lnSpc>
            </a:pPr>
            <a:r>
              <a:rPr lang="en-US" sz="2494">
                <a:solidFill>
                  <a:srgbClr val="FFFFFF"/>
                </a:solidFill>
                <a:latin typeface="Canva Sans"/>
                <a:ea typeface="Canva Sans"/>
                <a:cs typeface="Canva Sans"/>
                <a:sym typeface="Canva Sans"/>
              </a:rPr>
              <a:t>├── TASK — Crear interfaz de escaneo</a:t>
            </a:r>
          </a:p>
          <a:p>
            <a:pPr algn="ctr">
              <a:lnSpc>
                <a:spcPts val="3491"/>
              </a:lnSpc>
            </a:pPr>
            <a:r>
              <a:rPr lang="en-US" sz="2494">
                <a:solidFill>
                  <a:srgbClr val="FFFFFF"/>
                </a:solidFill>
                <a:latin typeface="Canva Sans"/>
                <a:ea typeface="Canva Sans"/>
                <a:cs typeface="Canva Sans"/>
                <a:sym typeface="Canva Sans"/>
              </a:rPr>
              <a:t>├── TASK — Integrar scanner con backend</a:t>
            </a:r>
          </a:p>
          <a:p>
            <a:pPr algn="ctr">
              <a:lnSpc>
                <a:spcPts val="3491"/>
              </a:lnSpc>
            </a:pPr>
            <a:r>
              <a:rPr lang="en-US" sz="2494">
                <a:solidFill>
                  <a:srgbClr val="FFFFFF"/>
                </a:solidFill>
                <a:latin typeface="Canva Sans"/>
                <a:ea typeface="Canva Sans"/>
                <a:cs typeface="Canva Sans"/>
                <a:sym typeface="Canva Sans"/>
              </a:rPr>
              <a:t>├── TASK — Crear manejo de errores</a:t>
            </a:r>
          </a:p>
          <a:p>
            <a:pPr algn="ctr">
              <a:lnSpc>
                <a:spcPts val="3491"/>
              </a:lnSpc>
            </a:pPr>
            <a:r>
              <a:rPr lang="en-US" sz="2494">
                <a:solidFill>
                  <a:srgbClr val="FFFFFF"/>
                </a:solidFill>
                <a:latin typeface="Canva Sans"/>
                <a:ea typeface="Canva Sans"/>
                <a:cs typeface="Canva Sans"/>
                <a:sym typeface="Canva Sans"/>
              </a:rPr>
              <a:t>├── TASK — Crear pruebas unitarias</a:t>
            </a:r>
          </a:p>
          <a:p>
            <a:pPr algn="ctr">
              <a:lnSpc>
                <a:spcPts val="3491"/>
              </a:lnSpc>
              <a:spcBef>
                <a:spcPct val="0"/>
              </a:spcBef>
            </a:pPr>
            <a:r>
              <a:rPr lang="en-US" sz="2494">
                <a:solidFill>
                  <a:srgbClr val="FFFFFF"/>
                </a:solidFill>
                <a:latin typeface="Canva Sans"/>
                <a:ea typeface="Canva Sans"/>
                <a:cs typeface="Canva Sans"/>
                <a:sym typeface="Canva Sans"/>
              </a:rPr>
              <a:t>└── TASK — Crear pruebas de integración</a:t>
            </a:r>
          </a:p>
          <a:p>
            <a:pPr algn="ctr">
              <a:lnSpc>
                <a:spcPts val="3491"/>
              </a:lnSpc>
              <a:spcBef>
                <a:spcPct val="0"/>
              </a:spcBef>
            </a:pPr>
            <a:endParaRPr lang="en-US" sz="2494">
              <a:solidFill>
                <a:srgbClr val="FFFFFF"/>
              </a:solidFill>
              <a:latin typeface="Canva Sans"/>
              <a:ea typeface="Canva Sans"/>
              <a:cs typeface="Canva Sans"/>
              <a:sym typeface="Canva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3318394" y="1912270"/>
            <a:ext cx="11869947" cy="604741"/>
          </a:xfrm>
          <a:prstGeom prst="rect">
            <a:avLst/>
          </a:prstGeom>
        </p:spPr>
        <p:txBody>
          <a:bodyPr lIns="0" tIns="0" rIns="0" bIns="0" rtlCol="0" anchor="t">
            <a:spAutoFit/>
          </a:bodyPr>
          <a:lstStyle/>
          <a:p>
            <a:pPr algn="ctr">
              <a:lnSpc>
                <a:spcPts val="4992"/>
              </a:lnSpc>
              <a:spcBef>
                <a:spcPct val="0"/>
              </a:spcBef>
            </a:pPr>
            <a:r>
              <a:rPr lang="en-US" sz="3566">
                <a:solidFill>
                  <a:srgbClr val="DD7E28"/>
                </a:solidFill>
                <a:latin typeface="HK Modular"/>
                <a:ea typeface="HK Modular"/>
                <a:cs typeface="HK Modular"/>
                <a:sym typeface="HK Modular"/>
              </a:rPr>
              <a:t>CUARTA ETAPA - TAREAS</a:t>
            </a:r>
          </a:p>
        </p:txBody>
      </p:sp>
      <p:sp>
        <p:nvSpPr>
          <p:cNvPr id="7" name="Freeform 7"/>
          <p:cNvSpPr/>
          <p:nvPr/>
        </p:nvSpPr>
        <p:spPr>
          <a:xfrm>
            <a:off x="7976880" y="-364733"/>
            <a:ext cx="2427418" cy="2427418"/>
          </a:xfrm>
          <a:custGeom>
            <a:avLst/>
            <a:gdLst/>
            <a:ahLst/>
            <a:cxnLst/>
            <a:rect l="l" t="t" r="r" b="b"/>
            <a:pathLst>
              <a:path w="2427418" h="2427418">
                <a:moveTo>
                  <a:pt x="0" y="0"/>
                </a:moveTo>
                <a:lnTo>
                  <a:pt x="2427418" y="0"/>
                </a:lnTo>
                <a:lnTo>
                  <a:pt x="2427418" y="2427418"/>
                </a:lnTo>
                <a:lnTo>
                  <a:pt x="0" y="2427418"/>
                </a:lnTo>
                <a:lnTo>
                  <a:pt x="0" y="0"/>
                </a:lnTo>
                <a:close/>
              </a:path>
            </a:pathLst>
          </a:custGeom>
          <a:blipFill>
            <a:blip r:embed="rId3"/>
            <a:stretch>
              <a:fillRect/>
            </a:stretch>
          </a:blipFill>
        </p:spPr>
        <p:txBody>
          <a:bodyPr/>
          <a:lstStyle/>
          <a:p>
            <a:endParaRPr lang="es-CO"/>
          </a:p>
        </p:txBody>
      </p:sp>
      <p:sp>
        <p:nvSpPr>
          <p:cNvPr id="8" name="Freeform 8"/>
          <p:cNvSpPr/>
          <p:nvPr/>
        </p:nvSpPr>
        <p:spPr>
          <a:xfrm>
            <a:off x="7976880" y="2855504"/>
            <a:ext cx="2677647" cy="2409883"/>
          </a:xfrm>
          <a:custGeom>
            <a:avLst/>
            <a:gdLst/>
            <a:ahLst/>
            <a:cxnLst/>
            <a:rect l="l" t="t" r="r" b="b"/>
            <a:pathLst>
              <a:path w="2677647" h="2409883">
                <a:moveTo>
                  <a:pt x="0" y="0"/>
                </a:moveTo>
                <a:lnTo>
                  <a:pt x="2677647" y="0"/>
                </a:lnTo>
                <a:lnTo>
                  <a:pt x="2677647" y="2409883"/>
                </a:lnTo>
                <a:lnTo>
                  <a:pt x="0" y="240988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9" name="TextBox 9"/>
          <p:cNvSpPr txBox="1"/>
          <p:nvPr/>
        </p:nvSpPr>
        <p:spPr>
          <a:xfrm>
            <a:off x="1847333" y="5513037"/>
            <a:ext cx="14812067" cy="1102789"/>
          </a:xfrm>
          <a:prstGeom prst="rect">
            <a:avLst/>
          </a:prstGeom>
        </p:spPr>
        <p:txBody>
          <a:bodyPr lIns="0" tIns="0" rIns="0" bIns="0" rtlCol="0" anchor="t">
            <a:spAutoFit/>
          </a:bodyPr>
          <a:lstStyle/>
          <a:p>
            <a:pPr algn="ctr">
              <a:lnSpc>
                <a:spcPts val="4316"/>
              </a:lnSpc>
            </a:pPr>
            <a:r>
              <a:rPr lang="en-US" sz="3083">
                <a:solidFill>
                  <a:srgbClr val="FFFFFF"/>
                </a:solidFill>
                <a:latin typeface="Poppins"/>
                <a:ea typeface="Poppins"/>
                <a:cs typeface="Poppins"/>
                <a:sym typeface="Poppins"/>
              </a:rPr>
              <a:t>Hasta llegar a TASKS están prohibidas las palabras: endpoint, controller, database, React, Java, Spring, API.</a:t>
            </a:r>
          </a:p>
        </p:txBody>
      </p:sp>
      <p:sp>
        <p:nvSpPr>
          <p:cNvPr id="10" name="TextBox 10"/>
          <p:cNvSpPr txBox="1"/>
          <p:nvPr/>
        </p:nvSpPr>
        <p:spPr>
          <a:xfrm>
            <a:off x="2596434" y="7349251"/>
            <a:ext cx="13313866" cy="870564"/>
          </a:xfrm>
          <a:prstGeom prst="rect">
            <a:avLst/>
          </a:prstGeom>
        </p:spPr>
        <p:txBody>
          <a:bodyPr lIns="0" tIns="0" rIns="0" bIns="0" rtlCol="0" anchor="t">
            <a:spAutoFit/>
          </a:bodyPr>
          <a:lstStyle/>
          <a:p>
            <a:pPr algn="ctr">
              <a:lnSpc>
                <a:spcPts val="3466"/>
              </a:lnSpc>
              <a:spcBef>
                <a:spcPct val="0"/>
              </a:spcBef>
            </a:pPr>
            <a:r>
              <a:rPr lang="en-US" sz="2475">
                <a:solidFill>
                  <a:srgbClr val="F800C0"/>
                </a:solidFill>
                <a:latin typeface="HK Modular"/>
                <a:ea typeface="HK Modular"/>
                <a:cs typeface="HK Modular"/>
                <a:sym typeface="HK Modular"/>
              </a:rPr>
              <a:t>Épica / Feature / HU → hablan del problema y del valor.</a:t>
            </a:r>
          </a:p>
          <a:p>
            <a:pPr algn="ctr">
              <a:lnSpc>
                <a:spcPts val="3466"/>
              </a:lnSpc>
              <a:spcBef>
                <a:spcPct val="0"/>
              </a:spcBef>
            </a:pPr>
            <a:r>
              <a:rPr lang="en-US" sz="2475">
                <a:solidFill>
                  <a:srgbClr val="F800C0"/>
                </a:solidFill>
                <a:latin typeface="HK Modular"/>
                <a:ea typeface="HK Modular"/>
                <a:cs typeface="HK Modular"/>
                <a:sym typeface="HK Modular"/>
              </a:rPr>
              <a:t>Tasks → hablan de construcción.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7976880" y="-364733"/>
            <a:ext cx="2427418" cy="2427418"/>
          </a:xfrm>
          <a:custGeom>
            <a:avLst/>
            <a:gdLst/>
            <a:ahLst/>
            <a:cxnLst/>
            <a:rect l="l" t="t" r="r" b="b"/>
            <a:pathLst>
              <a:path w="2427418" h="2427418">
                <a:moveTo>
                  <a:pt x="0" y="0"/>
                </a:moveTo>
                <a:lnTo>
                  <a:pt x="2427418" y="0"/>
                </a:lnTo>
                <a:lnTo>
                  <a:pt x="2427418" y="2427418"/>
                </a:lnTo>
                <a:lnTo>
                  <a:pt x="0" y="2427418"/>
                </a:lnTo>
                <a:lnTo>
                  <a:pt x="0" y="0"/>
                </a:lnTo>
                <a:close/>
              </a:path>
            </a:pathLst>
          </a:custGeom>
          <a:blipFill>
            <a:blip r:embed="rId3"/>
            <a:stretch>
              <a:fillRect/>
            </a:stretch>
          </a:blipFill>
        </p:spPr>
        <p:txBody>
          <a:bodyPr/>
          <a:lstStyle/>
          <a:p>
            <a:endParaRPr lang="es-CO"/>
          </a:p>
        </p:txBody>
      </p:sp>
      <p:sp>
        <p:nvSpPr>
          <p:cNvPr id="7" name="TextBox 7"/>
          <p:cNvSpPr txBox="1"/>
          <p:nvPr/>
        </p:nvSpPr>
        <p:spPr>
          <a:xfrm>
            <a:off x="6037060" y="1587055"/>
            <a:ext cx="6307057" cy="604741"/>
          </a:xfrm>
          <a:prstGeom prst="rect">
            <a:avLst/>
          </a:prstGeom>
        </p:spPr>
        <p:txBody>
          <a:bodyPr lIns="0" tIns="0" rIns="0" bIns="0" rtlCol="0" anchor="t">
            <a:spAutoFit/>
          </a:bodyPr>
          <a:lstStyle/>
          <a:p>
            <a:pPr algn="ctr">
              <a:lnSpc>
                <a:spcPts val="4992"/>
              </a:lnSpc>
              <a:spcBef>
                <a:spcPct val="0"/>
              </a:spcBef>
            </a:pPr>
            <a:r>
              <a:rPr lang="en-US" sz="3566">
                <a:solidFill>
                  <a:srgbClr val="DD7E28"/>
                </a:solidFill>
                <a:latin typeface="HK Modular"/>
                <a:ea typeface="HK Modular"/>
                <a:cs typeface="HK Modular"/>
                <a:sym typeface="HK Modular"/>
              </a:rPr>
              <a:t>REFINAMIENTO</a:t>
            </a:r>
          </a:p>
        </p:txBody>
      </p:sp>
      <p:sp>
        <p:nvSpPr>
          <p:cNvPr id="8" name="TextBox 8"/>
          <p:cNvSpPr txBox="1"/>
          <p:nvPr/>
        </p:nvSpPr>
        <p:spPr>
          <a:xfrm>
            <a:off x="437390" y="2871756"/>
            <a:ext cx="8124688" cy="721280"/>
          </a:xfrm>
          <a:prstGeom prst="rect">
            <a:avLst/>
          </a:prstGeom>
        </p:spPr>
        <p:txBody>
          <a:bodyPr lIns="0" tIns="0" rIns="0" bIns="0" rtlCol="0" anchor="t">
            <a:spAutoFit/>
          </a:bodyPr>
          <a:lstStyle/>
          <a:p>
            <a:pPr algn="ctr">
              <a:lnSpc>
                <a:spcPts val="2845"/>
              </a:lnSpc>
            </a:pPr>
            <a:r>
              <a:rPr lang="en-US" sz="2032">
                <a:solidFill>
                  <a:srgbClr val="FFFFFF"/>
                </a:solidFill>
                <a:latin typeface="Poppins"/>
                <a:ea typeface="Poppins"/>
                <a:cs typeface="Poppins"/>
                <a:sym typeface="Poppins"/>
              </a:rPr>
              <a:t>EVENTO #1: Un estudiante le tomó screenshot al QR de su amigo y está intentando entrar con él.</a:t>
            </a:r>
          </a:p>
        </p:txBody>
      </p:sp>
      <p:sp>
        <p:nvSpPr>
          <p:cNvPr id="9" name="TextBox 9"/>
          <p:cNvSpPr txBox="1"/>
          <p:nvPr/>
        </p:nvSpPr>
        <p:spPr>
          <a:xfrm>
            <a:off x="-1663172" y="4160687"/>
            <a:ext cx="12325813" cy="358013"/>
          </a:xfrm>
          <a:prstGeom prst="rect">
            <a:avLst/>
          </a:prstGeom>
        </p:spPr>
        <p:txBody>
          <a:bodyPr lIns="0" tIns="0" rIns="0" bIns="0" rtlCol="0" anchor="t">
            <a:spAutoFit/>
          </a:bodyPr>
          <a:lstStyle/>
          <a:p>
            <a:pPr algn="ctr">
              <a:lnSpc>
                <a:spcPts val="2842"/>
              </a:lnSpc>
            </a:pPr>
            <a:r>
              <a:rPr lang="en-US" sz="2030">
                <a:solidFill>
                  <a:srgbClr val="FFFFFF"/>
                </a:solidFill>
                <a:latin typeface="Poppins"/>
                <a:ea typeface="Poppins"/>
                <a:cs typeface="Poppins"/>
                <a:sym typeface="Poppins"/>
              </a:rPr>
              <a:t>EVENTO #2: Llegamos al aforo máximo de 500 personas.</a:t>
            </a:r>
          </a:p>
        </p:txBody>
      </p:sp>
      <p:sp>
        <p:nvSpPr>
          <p:cNvPr id="10" name="TextBox 10"/>
          <p:cNvSpPr txBox="1"/>
          <p:nvPr/>
        </p:nvSpPr>
        <p:spPr>
          <a:xfrm>
            <a:off x="887199" y="5090200"/>
            <a:ext cx="7225071" cy="710438"/>
          </a:xfrm>
          <a:prstGeom prst="rect">
            <a:avLst/>
          </a:prstGeom>
        </p:spPr>
        <p:txBody>
          <a:bodyPr lIns="0" tIns="0" rIns="0" bIns="0" rtlCol="0" anchor="t">
            <a:spAutoFit/>
          </a:bodyPr>
          <a:lstStyle/>
          <a:p>
            <a:pPr algn="ctr">
              <a:lnSpc>
                <a:spcPts val="2842"/>
              </a:lnSpc>
            </a:pPr>
            <a:r>
              <a:rPr lang="en-US" sz="2030">
                <a:solidFill>
                  <a:srgbClr val="FFFFFF"/>
                </a:solidFill>
                <a:latin typeface="Poppins"/>
                <a:ea typeface="Poppins"/>
                <a:cs typeface="Poppins"/>
                <a:sym typeface="Poppins"/>
              </a:rPr>
              <a:t>EVENTO #3: La banda principal canceló 30 minutos antes de su presentación.</a:t>
            </a:r>
          </a:p>
        </p:txBody>
      </p:sp>
      <p:sp>
        <p:nvSpPr>
          <p:cNvPr id="11" name="TextBox 11"/>
          <p:cNvSpPr txBox="1"/>
          <p:nvPr/>
        </p:nvSpPr>
        <p:spPr>
          <a:xfrm>
            <a:off x="1297997" y="6243132"/>
            <a:ext cx="6403475" cy="1062863"/>
          </a:xfrm>
          <a:prstGeom prst="rect">
            <a:avLst/>
          </a:prstGeom>
        </p:spPr>
        <p:txBody>
          <a:bodyPr lIns="0" tIns="0" rIns="0" bIns="0" rtlCol="0" anchor="t">
            <a:spAutoFit/>
          </a:bodyPr>
          <a:lstStyle/>
          <a:p>
            <a:pPr algn="ctr">
              <a:lnSpc>
                <a:spcPts val="2842"/>
              </a:lnSpc>
            </a:pPr>
            <a:r>
              <a:rPr lang="en-US" sz="2030">
                <a:solidFill>
                  <a:srgbClr val="FFFFFF"/>
                </a:solidFill>
                <a:latin typeface="Poppins"/>
                <a:ea typeface="Poppins"/>
                <a:cs typeface="Poppins"/>
                <a:sym typeface="Poppins"/>
              </a:rPr>
              <a:t>EVENTO #4: El torneo de videojuegos cambió de 4:00 p. m. a 6:00 p. m., pero 40 personas estaban inscritas.</a:t>
            </a:r>
          </a:p>
        </p:txBody>
      </p:sp>
      <p:sp>
        <p:nvSpPr>
          <p:cNvPr id="12" name="TextBox 12"/>
          <p:cNvSpPr txBox="1"/>
          <p:nvPr/>
        </p:nvSpPr>
        <p:spPr>
          <a:xfrm>
            <a:off x="604775" y="7611647"/>
            <a:ext cx="7789918" cy="710438"/>
          </a:xfrm>
          <a:prstGeom prst="rect">
            <a:avLst/>
          </a:prstGeom>
        </p:spPr>
        <p:txBody>
          <a:bodyPr lIns="0" tIns="0" rIns="0" bIns="0" rtlCol="0" anchor="t">
            <a:spAutoFit/>
          </a:bodyPr>
          <a:lstStyle/>
          <a:p>
            <a:pPr algn="ctr">
              <a:lnSpc>
                <a:spcPts val="2842"/>
              </a:lnSpc>
            </a:pPr>
            <a:r>
              <a:rPr lang="en-US" sz="2030">
                <a:solidFill>
                  <a:srgbClr val="FFFFFF"/>
                </a:solidFill>
                <a:latin typeface="Poppins"/>
                <a:ea typeface="Poppins"/>
                <a:cs typeface="Poppins"/>
                <a:sym typeface="Poppins"/>
              </a:rPr>
              <a:t>EVENTO #5: Una persona intenta registrarse en karaoke a las 5:00 p. m. y FIFA a las 5:00 p. m.</a:t>
            </a:r>
          </a:p>
        </p:txBody>
      </p:sp>
      <p:sp>
        <p:nvSpPr>
          <p:cNvPr id="13" name="TextBox 13"/>
          <p:cNvSpPr txBox="1"/>
          <p:nvPr/>
        </p:nvSpPr>
        <p:spPr>
          <a:xfrm>
            <a:off x="10662641" y="7457337"/>
            <a:ext cx="6688038" cy="1332865"/>
          </a:xfrm>
          <a:prstGeom prst="rect">
            <a:avLst/>
          </a:prstGeom>
        </p:spPr>
        <p:txBody>
          <a:bodyPr lIns="0" tIns="0" rIns="0" bIns="0" rtlCol="0" anchor="t">
            <a:spAutoFit/>
          </a:bodyPr>
          <a:lstStyle/>
          <a:p>
            <a:pPr algn="ctr">
              <a:lnSpc>
                <a:spcPts val="2659"/>
              </a:lnSpc>
              <a:spcBef>
                <a:spcPct val="0"/>
              </a:spcBef>
            </a:pPr>
            <a:r>
              <a:rPr lang="en-US" sz="1899">
                <a:solidFill>
                  <a:srgbClr val="F400BC"/>
                </a:solidFill>
                <a:latin typeface="HK Modular"/>
                <a:ea typeface="HK Modular"/>
                <a:cs typeface="HK Modular"/>
                <a:sym typeface="HK Modular"/>
              </a:rPr>
              <a:t>¿Necesitamos una Feature nueva?</a:t>
            </a:r>
          </a:p>
          <a:p>
            <a:pPr algn="ctr">
              <a:lnSpc>
                <a:spcPts val="2659"/>
              </a:lnSpc>
              <a:spcBef>
                <a:spcPct val="0"/>
              </a:spcBef>
            </a:pPr>
            <a:r>
              <a:rPr lang="en-US" sz="1899">
                <a:solidFill>
                  <a:srgbClr val="F400BC"/>
                </a:solidFill>
                <a:latin typeface="HK Modular"/>
                <a:ea typeface="HK Modular"/>
                <a:cs typeface="HK Modular"/>
                <a:sym typeface="HK Modular"/>
              </a:rPr>
              <a:t> ¿Una HU nueva?</a:t>
            </a:r>
          </a:p>
          <a:p>
            <a:pPr algn="ctr">
              <a:lnSpc>
                <a:spcPts val="2659"/>
              </a:lnSpc>
              <a:spcBef>
                <a:spcPct val="0"/>
              </a:spcBef>
            </a:pPr>
            <a:r>
              <a:rPr lang="en-US" sz="1899">
                <a:solidFill>
                  <a:srgbClr val="F400BC"/>
                </a:solidFill>
                <a:latin typeface="HK Modular"/>
                <a:ea typeface="HK Modular"/>
                <a:cs typeface="HK Modular"/>
                <a:sym typeface="HK Modular"/>
              </a:rPr>
              <a:t> ¿Un nuevo criterio de aceptación?</a:t>
            </a:r>
          </a:p>
          <a:p>
            <a:pPr algn="ctr">
              <a:lnSpc>
                <a:spcPts val="2659"/>
              </a:lnSpc>
              <a:spcBef>
                <a:spcPct val="0"/>
              </a:spcBef>
            </a:pPr>
            <a:r>
              <a:rPr lang="en-US" sz="1899">
                <a:solidFill>
                  <a:srgbClr val="F400BC"/>
                </a:solidFill>
                <a:latin typeface="HK Modular"/>
                <a:ea typeface="HK Modular"/>
                <a:cs typeface="HK Modular"/>
                <a:sym typeface="HK Modular"/>
              </a:rPr>
              <a:t> ¿O esto ya estaba cubierto?</a:t>
            </a:r>
          </a:p>
        </p:txBody>
      </p:sp>
      <p:sp>
        <p:nvSpPr>
          <p:cNvPr id="14" name="Freeform 14"/>
          <p:cNvSpPr/>
          <p:nvPr/>
        </p:nvSpPr>
        <p:spPr>
          <a:xfrm>
            <a:off x="12053135" y="2723777"/>
            <a:ext cx="3545684" cy="4404577"/>
          </a:xfrm>
          <a:custGeom>
            <a:avLst/>
            <a:gdLst/>
            <a:ahLst/>
            <a:cxnLst/>
            <a:rect l="l" t="t" r="r" b="b"/>
            <a:pathLst>
              <a:path w="3545684" h="4404577">
                <a:moveTo>
                  <a:pt x="0" y="0"/>
                </a:moveTo>
                <a:lnTo>
                  <a:pt x="3545685" y="0"/>
                </a:lnTo>
                <a:lnTo>
                  <a:pt x="3545685" y="4404577"/>
                </a:lnTo>
                <a:lnTo>
                  <a:pt x="0" y="4404577"/>
                </a:lnTo>
                <a:lnTo>
                  <a:pt x="0" y="0"/>
                </a:lnTo>
                <a:close/>
              </a:path>
            </a:pathLst>
          </a:custGeom>
          <a:blipFill>
            <a:blip r:embed="rId4"/>
            <a:stretch>
              <a:fillRect/>
            </a:stretch>
          </a:blipFill>
        </p:spPr>
        <p:txBody>
          <a:bodyPr/>
          <a:lstStyle/>
          <a:p>
            <a:endParaRPr lang="es-CO"/>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7976880" y="-364733"/>
            <a:ext cx="2427418" cy="2427418"/>
          </a:xfrm>
          <a:custGeom>
            <a:avLst/>
            <a:gdLst/>
            <a:ahLst/>
            <a:cxnLst/>
            <a:rect l="l" t="t" r="r" b="b"/>
            <a:pathLst>
              <a:path w="2427418" h="2427418">
                <a:moveTo>
                  <a:pt x="0" y="0"/>
                </a:moveTo>
                <a:lnTo>
                  <a:pt x="2427418" y="0"/>
                </a:lnTo>
                <a:lnTo>
                  <a:pt x="2427418" y="2427418"/>
                </a:lnTo>
                <a:lnTo>
                  <a:pt x="0" y="2427418"/>
                </a:lnTo>
                <a:lnTo>
                  <a:pt x="0" y="0"/>
                </a:lnTo>
                <a:close/>
              </a:path>
            </a:pathLst>
          </a:custGeom>
          <a:blipFill>
            <a:blip r:embed="rId3"/>
            <a:stretch>
              <a:fillRect/>
            </a:stretch>
          </a:blipFill>
        </p:spPr>
        <p:txBody>
          <a:bodyPr/>
          <a:lstStyle/>
          <a:p>
            <a:endParaRPr lang="es-CO"/>
          </a:p>
        </p:txBody>
      </p:sp>
      <p:sp>
        <p:nvSpPr>
          <p:cNvPr id="7" name="Freeform 7"/>
          <p:cNvSpPr/>
          <p:nvPr/>
        </p:nvSpPr>
        <p:spPr>
          <a:xfrm>
            <a:off x="9851499" y="2928906"/>
            <a:ext cx="7407801" cy="5926240"/>
          </a:xfrm>
          <a:custGeom>
            <a:avLst/>
            <a:gdLst/>
            <a:ahLst/>
            <a:cxnLst/>
            <a:rect l="l" t="t" r="r" b="b"/>
            <a:pathLst>
              <a:path w="7407801" h="5926240">
                <a:moveTo>
                  <a:pt x="0" y="0"/>
                </a:moveTo>
                <a:lnTo>
                  <a:pt x="7407801" y="0"/>
                </a:lnTo>
                <a:lnTo>
                  <a:pt x="7407801" y="5926241"/>
                </a:lnTo>
                <a:lnTo>
                  <a:pt x="0" y="5926241"/>
                </a:lnTo>
                <a:lnTo>
                  <a:pt x="0" y="0"/>
                </a:lnTo>
                <a:close/>
              </a:path>
            </a:pathLst>
          </a:custGeom>
          <a:blipFill>
            <a:blip r:embed="rId4"/>
            <a:stretch>
              <a:fillRect/>
            </a:stretch>
          </a:blipFill>
        </p:spPr>
        <p:txBody>
          <a:bodyPr/>
          <a:lstStyle/>
          <a:p>
            <a:endParaRPr lang="es-CO"/>
          </a:p>
        </p:txBody>
      </p:sp>
      <p:sp>
        <p:nvSpPr>
          <p:cNvPr id="8" name="Freeform 8"/>
          <p:cNvSpPr/>
          <p:nvPr/>
        </p:nvSpPr>
        <p:spPr>
          <a:xfrm>
            <a:off x="1328925" y="5714909"/>
            <a:ext cx="6465855" cy="2726762"/>
          </a:xfrm>
          <a:custGeom>
            <a:avLst/>
            <a:gdLst/>
            <a:ahLst/>
            <a:cxnLst/>
            <a:rect l="l" t="t" r="r" b="b"/>
            <a:pathLst>
              <a:path w="6465855" h="2726762">
                <a:moveTo>
                  <a:pt x="0" y="0"/>
                </a:moveTo>
                <a:lnTo>
                  <a:pt x="6465854" y="0"/>
                </a:lnTo>
                <a:lnTo>
                  <a:pt x="6465854" y="2726762"/>
                </a:lnTo>
                <a:lnTo>
                  <a:pt x="0" y="2726762"/>
                </a:lnTo>
                <a:lnTo>
                  <a:pt x="0" y="0"/>
                </a:lnTo>
                <a:close/>
              </a:path>
            </a:pathLst>
          </a:custGeom>
          <a:blipFill>
            <a:blip r:embed="rId5"/>
            <a:stretch>
              <a:fillRect/>
            </a:stretch>
          </a:blipFill>
        </p:spPr>
        <p:txBody>
          <a:bodyPr/>
          <a:lstStyle/>
          <a:p>
            <a:endParaRPr lang="es-CO"/>
          </a:p>
        </p:txBody>
      </p:sp>
      <p:sp>
        <p:nvSpPr>
          <p:cNvPr id="9" name="TextBox 9"/>
          <p:cNvSpPr txBox="1"/>
          <p:nvPr/>
        </p:nvSpPr>
        <p:spPr>
          <a:xfrm>
            <a:off x="6037060" y="1587055"/>
            <a:ext cx="6307057" cy="604741"/>
          </a:xfrm>
          <a:prstGeom prst="rect">
            <a:avLst/>
          </a:prstGeom>
        </p:spPr>
        <p:txBody>
          <a:bodyPr lIns="0" tIns="0" rIns="0" bIns="0" rtlCol="0" anchor="t">
            <a:spAutoFit/>
          </a:bodyPr>
          <a:lstStyle/>
          <a:p>
            <a:pPr algn="ctr">
              <a:lnSpc>
                <a:spcPts val="4992"/>
              </a:lnSpc>
              <a:spcBef>
                <a:spcPct val="0"/>
              </a:spcBef>
            </a:pPr>
            <a:r>
              <a:rPr lang="en-US" sz="3566">
                <a:solidFill>
                  <a:srgbClr val="DD7E28"/>
                </a:solidFill>
                <a:latin typeface="HK Modular"/>
                <a:ea typeface="HK Modular"/>
                <a:cs typeface="HK Modular"/>
                <a:sym typeface="HK Modular"/>
              </a:rPr>
              <a:t>BACKLOG COURT</a:t>
            </a:r>
          </a:p>
        </p:txBody>
      </p:sp>
      <p:sp>
        <p:nvSpPr>
          <p:cNvPr id="10" name="TextBox 10"/>
          <p:cNvSpPr txBox="1"/>
          <p:nvPr/>
        </p:nvSpPr>
        <p:spPr>
          <a:xfrm>
            <a:off x="119900" y="3121003"/>
            <a:ext cx="8124688" cy="363405"/>
          </a:xfrm>
          <a:prstGeom prst="rect">
            <a:avLst/>
          </a:prstGeom>
        </p:spPr>
        <p:txBody>
          <a:bodyPr lIns="0" tIns="0" rIns="0" bIns="0" rtlCol="0" anchor="t">
            <a:spAutoFit/>
          </a:bodyPr>
          <a:lstStyle/>
          <a:p>
            <a:pPr algn="ctr">
              <a:lnSpc>
                <a:spcPts val="2845"/>
              </a:lnSpc>
            </a:pPr>
            <a:r>
              <a:rPr lang="en-US" sz="2032">
                <a:solidFill>
                  <a:srgbClr val="FFFFFF"/>
                </a:solidFill>
                <a:latin typeface="Poppins"/>
                <a:ea typeface="Poppins"/>
                <a:cs typeface="Poppins"/>
                <a:sym typeface="Poppins"/>
              </a:rPr>
              <a:t>Cada equipo presenta 1 Feature y sus HU</a:t>
            </a:r>
          </a:p>
        </p:txBody>
      </p:sp>
      <p:sp>
        <p:nvSpPr>
          <p:cNvPr id="11" name="TextBox 11"/>
          <p:cNvSpPr txBox="1"/>
          <p:nvPr/>
        </p:nvSpPr>
        <p:spPr>
          <a:xfrm>
            <a:off x="569709" y="2477393"/>
            <a:ext cx="7225071" cy="358013"/>
          </a:xfrm>
          <a:prstGeom prst="rect">
            <a:avLst/>
          </a:prstGeom>
        </p:spPr>
        <p:txBody>
          <a:bodyPr lIns="0" tIns="0" rIns="0" bIns="0" rtlCol="0" anchor="t">
            <a:spAutoFit/>
          </a:bodyPr>
          <a:lstStyle/>
          <a:p>
            <a:pPr algn="ctr">
              <a:lnSpc>
                <a:spcPts val="2842"/>
              </a:lnSpc>
            </a:pPr>
            <a:r>
              <a:rPr lang="en-US" sz="2030">
                <a:solidFill>
                  <a:srgbClr val="FFFFFF"/>
                </a:solidFill>
                <a:latin typeface="Poppins"/>
                <a:ea typeface="Poppins"/>
                <a:cs typeface="Poppins"/>
                <a:sym typeface="Poppins"/>
              </a:rPr>
              <a:t>Hagan equipos de 4 personas</a:t>
            </a:r>
          </a:p>
        </p:txBody>
      </p:sp>
      <p:sp>
        <p:nvSpPr>
          <p:cNvPr id="12" name="TextBox 12"/>
          <p:cNvSpPr txBox="1"/>
          <p:nvPr/>
        </p:nvSpPr>
        <p:spPr>
          <a:xfrm>
            <a:off x="1162607" y="3729776"/>
            <a:ext cx="6403475" cy="358013"/>
          </a:xfrm>
          <a:prstGeom prst="rect">
            <a:avLst/>
          </a:prstGeom>
        </p:spPr>
        <p:txBody>
          <a:bodyPr lIns="0" tIns="0" rIns="0" bIns="0" rtlCol="0" anchor="t">
            <a:spAutoFit/>
          </a:bodyPr>
          <a:lstStyle/>
          <a:p>
            <a:pPr algn="ctr">
              <a:lnSpc>
                <a:spcPts val="2842"/>
              </a:lnSpc>
            </a:pPr>
            <a:r>
              <a:rPr lang="en-US" sz="2030">
                <a:solidFill>
                  <a:srgbClr val="FFFFFF"/>
                </a:solidFill>
                <a:latin typeface="Poppins"/>
                <a:ea typeface="Poppins"/>
                <a:cs typeface="Poppins"/>
                <a:sym typeface="Poppins"/>
              </a:rPr>
              <a:t>El resto del curso es el Backlog Court</a:t>
            </a:r>
          </a:p>
        </p:txBody>
      </p:sp>
      <p:sp>
        <p:nvSpPr>
          <p:cNvPr id="13" name="TextBox 13"/>
          <p:cNvSpPr txBox="1"/>
          <p:nvPr/>
        </p:nvSpPr>
        <p:spPr>
          <a:xfrm>
            <a:off x="569709" y="4437734"/>
            <a:ext cx="7789918" cy="710438"/>
          </a:xfrm>
          <a:prstGeom prst="rect">
            <a:avLst/>
          </a:prstGeom>
        </p:spPr>
        <p:txBody>
          <a:bodyPr lIns="0" tIns="0" rIns="0" bIns="0" rtlCol="0" anchor="t">
            <a:spAutoFit/>
          </a:bodyPr>
          <a:lstStyle/>
          <a:p>
            <a:pPr algn="ctr">
              <a:lnSpc>
                <a:spcPts val="2842"/>
              </a:lnSpc>
            </a:pPr>
            <a:r>
              <a:rPr lang="en-US" sz="2030">
                <a:solidFill>
                  <a:srgbClr val="FFFFFF"/>
                </a:solidFill>
                <a:latin typeface="Poppins"/>
                <a:ea typeface="Poppins"/>
                <a:cs typeface="Poppins"/>
                <a:sym typeface="Poppins"/>
              </a:rPr>
              <a:t>Despues de explicada cada equipo de la corte puede levantar una tarjeta:</a:t>
            </a:r>
          </a:p>
        </p:txBody>
      </p:sp>
      <p:sp>
        <p:nvSpPr>
          <p:cNvPr id="14" name="TextBox 14"/>
          <p:cNvSpPr txBox="1"/>
          <p:nvPr/>
        </p:nvSpPr>
        <p:spPr>
          <a:xfrm>
            <a:off x="569709" y="8797997"/>
            <a:ext cx="7789918" cy="358013"/>
          </a:xfrm>
          <a:prstGeom prst="rect">
            <a:avLst/>
          </a:prstGeom>
        </p:spPr>
        <p:txBody>
          <a:bodyPr lIns="0" tIns="0" rIns="0" bIns="0" rtlCol="0" anchor="t">
            <a:spAutoFit/>
          </a:bodyPr>
          <a:lstStyle/>
          <a:p>
            <a:pPr algn="ctr">
              <a:lnSpc>
                <a:spcPts val="2842"/>
              </a:lnSpc>
            </a:pPr>
            <a:r>
              <a:rPr lang="en-US" sz="2030">
                <a:solidFill>
                  <a:srgbClr val="FFFFFF"/>
                </a:solidFill>
                <a:latin typeface="Poppins"/>
                <a:ea typeface="Poppins"/>
                <a:cs typeface="Poppins"/>
                <a:sym typeface="Poppins"/>
              </a:rPr>
              <a:t>Pero quien levante la tarjeta tiene que justificarla.</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rot="-10800000">
            <a:off x="-874366" y="8434822"/>
            <a:ext cx="10731144" cy="4199330"/>
            <a:chOff x="0" y="0"/>
            <a:chExt cx="3083604" cy="1206681"/>
          </a:xfrm>
        </p:grpSpPr>
        <p:sp>
          <p:nvSpPr>
            <p:cNvPr id="7" name="Freeform 7"/>
            <p:cNvSpPr/>
            <p:nvPr/>
          </p:nvSpPr>
          <p:spPr>
            <a:xfrm>
              <a:off x="0" y="0"/>
              <a:ext cx="3083604" cy="1206681"/>
            </a:xfrm>
            <a:custGeom>
              <a:avLst/>
              <a:gdLst/>
              <a:ahLst/>
              <a:cxnLst/>
              <a:rect l="l" t="t" r="r" b="b"/>
              <a:pathLst>
                <a:path w="3083604" h="1206681">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1">
              <a:gsLst>
                <a:gs pos="0">
                  <a:srgbClr val="000000">
                    <a:alpha val="0"/>
                  </a:srgbClr>
                </a:gs>
                <a:gs pos="100000">
                  <a:srgbClr val="FF00BF">
                    <a:alpha val="100000"/>
                  </a:srgbClr>
                </a:gs>
              </a:gsLst>
              <a:lin ang="0"/>
            </a:gradFill>
          </p:spPr>
          <p:txBody>
            <a:bodyPr/>
            <a:lstStyle/>
            <a:p>
              <a:endParaRPr lang="es-CO"/>
            </a:p>
          </p:txBody>
        </p:sp>
        <p:sp>
          <p:nvSpPr>
            <p:cNvPr id="8" name="TextBox 8"/>
            <p:cNvSpPr txBox="1"/>
            <p:nvPr/>
          </p:nvSpPr>
          <p:spPr>
            <a:xfrm>
              <a:off x="0" y="-38100"/>
              <a:ext cx="3083604" cy="124478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339501" y="-2648321"/>
            <a:ext cx="10731144" cy="4199330"/>
            <a:chOff x="0" y="0"/>
            <a:chExt cx="3083604" cy="1206681"/>
          </a:xfrm>
        </p:grpSpPr>
        <p:sp>
          <p:nvSpPr>
            <p:cNvPr id="10" name="Freeform 10"/>
            <p:cNvSpPr/>
            <p:nvPr/>
          </p:nvSpPr>
          <p:spPr>
            <a:xfrm>
              <a:off x="0" y="0"/>
              <a:ext cx="3083604" cy="1206681"/>
            </a:xfrm>
            <a:custGeom>
              <a:avLst/>
              <a:gdLst/>
              <a:ahLst/>
              <a:cxnLst/>
              <a:rect l="l" t="t" r="r" b="b"/>
              <a:pathLst>
                <a:path w="3083604" h="1206681">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1">
              <a:gsLst>
                <a:gs pos="0">
                  <a:srgbClr val="000000">
                    <a:alpha val="0"/>
                  </a:srgbClr>
                </a:gs>
                <a:gs pos="100000">
                  <a:srgbClr val="FF00BF">
                    <a:alpha val="100000"/>
                  </a:srgbClr>
                </a:gs>
              </a:gsLst>
              <a:lin ang="0"/>
            </a:gradFill>
          </p:spPr>
          <p:txBody>
            <a:bodyPr/>
            <a:lstStyle/>
            <a:p>
              <a:endParaRPr lang="es-CO"/>
            </a:p>
          </p:txBody>
        </p:sp>
        <p:sp>
          <p:nvSpPr>
            <p:cNvPr id="11" name="TextBox 11"/>
            <p:cNvSpPr txBox="1"/>
            <p:nvPr/>
          </p:nvSpPr>
          <p:spPr>
            <a:xfrm>
              <a:off x="0" y="-38100"/>
              <a:ext cx="3083604" cy="1244781"/>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3649348" y="4733365"/>
            <a:ext cx="11380305" cy="1101873"/>
          </a:xfrm>
          <a:prstGeom prst="rect">
            <a:avLst/>
          </a:prstGeom>
        </p:spPr>
        <p:txBody>
          <a:bodyPr lIns="0" tIns="0" rIns="0" bIns="0" rtlCol="0" anchor="t">
            <a:spAutoFit/>
          </a:bodyPr>
          <a:lstStyle/>
          <a:p>
            <a:pPr algn="ctr">
              <a:lnSpc>
                <a:spcPts val="8941"/>
              </a:lnSpc>
              <a:spcBef>
                <a:spcPct val="0"/>
              </a:spcBef>
            </a:pPr>
            <a:r>
              <a:rPr lang="en-US" sz="6387">
                <a:solidFill>
                  <a:srgbClr val="E78939"/>
                </a:solidFill>
                <a:latin typeface="HK Modular"/>
                <a:ea typeface="HK Modular"/>
                <a:cs typeface="HK Modular"/>
                <a:sym typeface="HK Modular"/>
              </a:rPr>
              <a:t>JIRA</a:t>
            </a:r>
          </a:p>
        </p:txBody>
      </p:sp>
      <p:sp>
        <p:nvSpPr>
          <p:cNvPr id="13" name="Freeform 13"/>
          <p:cNvSpPr/>
          <p:nvPr/>
        </p:nvSpPr>
        <p:spPr>
          <a:xfrm>
            <a:off x="7605076" y="-193567"/>
            <a:ext cx="3762512" cy="3762512"/>
          </a:xfrm>
          <a:custGeom>
            <a:avLst/>
            <a:gdLst/>
            <a:ahLst/>
            <a:cxnLst/>
            <a:rect l="l" t="t" r="r" b="b"/>
            <a:pathLst>
              <a:path w="3762512" h="3762512">
                <a:moveTo>
                  <a:pt x="0" y="0"/>
                </a:moveTo>
                <a:lnTo>
                  <a:pt x="3762512" y="0"/>
                </a:lnTo>
                <a:lnTo>
                  <a:pt x="3762512" y="3762511"/>
                </a:lnTo>
                <a:lnTo>
                  <a:pt x="0" y="3762511"/>
                </a:lnTo>
                <a:lnTo>
                  <a:pt x="0" y="0"/>
                </a:lnTo>
                <a:close/>
              </a:path>
            </a:pathLst>
          </a:custGeom>
          <a:blipFill>
            <a:blip r:embed="rId3"/>
            <a:stretch>
              <a:fillRect/>
            </a:stretch>
          </a:blipFill>
        </p:spPr>
        <p:txBody>
          <a:bodyPr/>
          <a:lstStyle/>
          <a:p>
            <a:endParaRPr lang="es-CO"/>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7976880" y="-364733"/>
            <a:ext cx="2427418" cy="2427418"/>
          </a:xfrm>
          <a:custGeom>
            <a:avLst/>
            <a:gdLst/>
            <a:ahLst/>
            <a:cxnLst/>
            <a:rect l="l" t="t" r="r" b="b"/>
            <a:pathLst>
              <a:path w="2427418" h="2427418">
                <a:moveTo>
                  <a:pt x="0" y="0"/>
                </a:moveTo>
                <a:lnTo>
                  <a:pt x="2427418" y="0"/>
                </a:lnTo>
                <a:lnTo>
                  <a:pt x="2427418" y="2427418"/>
                </a:lnTo>
                <a:lnTo>
                  <a:pt x="0" y="2427418"/>
                </a:lnTo>
                <a:lnTo>
                  <a:pt x="0" y="0"/>
                </a:lnTo>
                <a:close/>
              </a:path>
            </a:pathLst>
          </a:custGeom>
          <a:blipFill>
            <a:blip r:embed="rId3"/>
            <a:stretch>
              <a:fillRect/>
            </a:stretch>
          </a:blipFill>
        </p:spPr>
        <p:txBody>
          <a:bodyPr/>
          <a:lstStyle/>
          <a:p>
            <a:endParaRPr lang="es-CO"/>
          </a:p>
        </p:txBody>
      </p:sp>
      <p:sp>
        <p:nvSpPr>
          <p:cNvPr id="7" name="TextBox 7"/>
          <p:cNvSpPr txBox="1"/>
          <p:nvPr/>
        </p:nvSpPr>
        <p:spPr>
          <a:xfrm>
            <a:off x="9736751" y="3844601"/>
            <a:ext cx="7701912" cy="604741"/>
          </a:xfrm>
          <a:prstGeom prst="rect">
            <a:avLst/>
          </a:prstGeom>
        </p:spPr>
        <p:txBody>
          <a:bodyPr lIns="0" tIns="0" rIns="0" bIns="0" rtlCol="0" anchor="t">
            <a:spAutoFit/>
          </a:bodyPr>
          <a:lstStyle/>
          <a:p>
            <a:pPr algn="l">
              <a:lnSpc>
                <a:spcPts val="4992"/>
              </a:lnSpc>
              <a:spcBef>
                <a:spcPct val="0"/>
              </a:spcBef>
            </a:pPr>
            <a:r>
              <a:rPr lang="en-US" sz="3566">
                <a:solidFill>
                  <a:srgbClr val="DD7E28"/>
                </a:solidFill>
                <a:latin typeface="HK Modular"/>
                <a:ea typeface="HK Modular"/>
                <a:cs typeface="HK Modular"/>
                <a:sym typeface="HK Modular"/>
              </a:rPr>
              <a:t>SU MISION... TALLER #6</a:t>
            </a:r>
          </a:p>
        </p:txBody>
      </p:sp>
      <p:sp>
        <p:nvSpPr>
          <p:cNvPr id="8" name="TextBox 8"/>
          <p:cNvSpPr txBox="1"/>
          <p:nvPr/>
        </p:nvSpPr>
        <p:spPr>
          <a:xfrm>
            <a:off x="9736751" y="4676679"/>
            <a:ext cx="7701912" cy="2188639"/>
          </a:xfrm>
          <a:prstGeom prst="rect">
            <a:avLst/>
          </a:prstGeom>
        </p:spPr>
        <p:txBody>
          <a:bodyPr lIns="0" tIns="0" rIns="0" bIns="0" rtlCol="0" anchor="t">
            <a:spAutoFit/>
          </a:bodyPr>
          <a:lstStyle/>
          <a:p>
            <a:pPr algn="ctr">
              <a:lnSpc>
                <a:spcPts val="4316"/>
              </a:lnSpc>
            </a:pPr>
            <a:r>
              <a:rPr lang="en-US" sz="3083">
                <a:solidFill>
                  <a:srgbClr val="FFFFFF"/>
                </a:solidFill>
                <a:latin typeface="Poppins"/>
                <a:ea typeface="Poppins"/>
                <a:cs typeface="Poppins"/>
                <a:sym typeface="Poppins"/>
              </a:rPr>
              <a:t>Taller enfocado en como podemos desglosar y organizar en EPICA/Features/HU y Tareas para el proyecto de TECHCUP</a:t>
            </a:r>
          </a:p>
        </p:txBody>
      </p:sp>
      <p:sp>
        <p:nvSpPr>
          <p:cNvPr id="9" name="TextBox 9"/>
          <p:cNvSpPr txBox="1"/>
          <p:nvPr/>
        </p:nvSpPr>
        <p:spPr>
          <a:xfrm>
            <a:off x="1159693" y="8608267"/>
            <a:ext cx="8275464" cy="1233391"/>
          </a:xfrm>
          <a:prstGeom prst="rect">
            <a:avLst/>
          </a:prstGeom>
        </p:spPr>
        <p:txBody>
          <a:bodyPr lIns="0" tIns="0" rIns="0" bIns="0" rtlCol="0" anchor="t">
            <a:spAutoFit/>
          </a:bodyPr>
          <a:lstStyle/>
          <a:p>
            <a:pPr algn="l">
              <a:lnSpc>
                <a:spcPts val="4992"/>
              </a:lnSpc>
              <a:spcBef>
                <a:spcPct val="0"/>
              </a:spcBef>
            </a:pPr>
            <a:r>
              <a:rPr lang="en-US" sz="3566">
                <a:solidFill>
                  <a:srgbClr val="F800C0"/>
                </a:solidFill>
                <a:latin typeface="HK Modular"/>
                <a:ea typeface="HK Modular"/>
                <a:cs typeface="HK Modular"/>
                <a:sym typeface="HK Modular"/>
              </a:rPr>
              <a:t>DEBE IR EN LA BITACORA EL LINK DE JIRA</a:t>
            </a:r>
          </a:p>
        </p:txBody>
      </p:sp>
      <p:sp>
        <p:nvSpPr>
          <p:cNvPr id="10" name="TextBox 10"/>
          <p:cNvSpPr txBox="1"/>
          <p:nvPr/>
        </p:nvSpPr>
        <p:spPr>
          <a:xfrm>
            <a:off x="10404298" y="8168462"/>
            <a:ext cx="7701912" cy="559864"/>
          </a:xfrm>
          <a:prstGeom prst="rect">
            <a:avLst/>
          </a:prstGeom>
        </p:spPr>
        <p:txBody>
          <a:bodyPr lIns="0" tIns="0" rIns="0" bIns="0" rtlCol="0" anchor="t">
            <a:spAutoFit/>
          </a:bodyPr>
          <a:lstStyle/>
          <a:p>
            <a:pPr algn="l">
              <a:lnSpc>
                <a:spcPts val="4316"/>
              </a:lnSpc>
            </a:pPr>
            <a:r>
              <a:rPr lang="en-US" sz="3083">
                <a:solidFill>
                  <a:srgbClr val="FFFFFF"/>
                </a:solidFill>
                <a:latin typeface="Poppins"/>
                <a:ea typeface="Poppins"/>
                <a:cs typeface="Poppins"/>
                <a:sym typeface="Poppins"/>
              </a:rPr>
              <a:t>Crear el JIRA para este ejercicio</a:t>
            </a:r>
          </a:p>
        </p:txBody>
      </p:sp>
      <p:sp>
        <p:nvSpPr>
          <p:cNvPr id="11" name="Freeform 11"/>
          <p:cNvSpPr/>
          <p:nvPr/>
        </p:nvSpPr>
        <p:spPr>
          <a:xfrm>
            <a:off x="1730833" y="1624934"/>
            <a:ext cx="6638778" cy="6638778"/>
          </a:xfrm>
          <a:custGeom>
            <a:avLst/>
            <a:gdLst/>
            <a:ahLst/>
            <a:cxnLst/>
            <a:rect l="l" t="t" r="r" b="b"/>
            <a:pathLst>
              <a:path w="6638778" h="6638778">
                <a:moveTo>
                  <a:pt x="0" y="0"/>
                </a:moveTo>
                <a:lnTo>
                  <a:pt x="6638778" y="0"/>
                </a:lnTo>
                <a:lnTo>
                  <a:pt x="6638778" y="6638778"/>
                </a:lnTo>
                <a:lnTo>
                  <a:pt x="0" y="6638778"/>
                </a:lnTo>
                <a:lnTo>
                  <a:pt x="0" y="0"/>
                </a:lnTo>
                <a:close/>
              </a:path>
            </a:pathLst>
          </a:custGeom>
          <a:blipFill>
            <a:blip r:embed="rId4"/>
            <a:stretch>
              <a:fillRect/>
            </a:stretch>
          </a:blipFill>
        </p:spPr>
        <p:txBody>
          <a:bodyPr/>
          <a:lstStyle/>
          <a:p>
            <a:endParaRPr lang="es-CO"/>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rot="-10800000">
            <a:off x="-874366" y="8434822"/>
            <a:ext cx="10731144" cy="4199330"/>
            <a:chOff x="0" y="0"/>
            <a:chExt cx="3083604" cy="1206681"/>
          </a:xfrm>
        </p:grpSpPr>
        <p:sp>
          <p:nvSpPr>
            <p:cNvPr id="7" name="Freeform 7"/>
            <p:cNvSpPr/>
            <p:nvPr/>
          </p:nvSpPr>
          <p:spPr>
            <a:xfrm>
              <a:off x="0" y="0"/>
              <a:ext cx="3083604" cy="1206681"/>
            </a:xfrm>
            <a:custGeom>
              <a:avLst/>
              <a:gdLst/>
              <a:ahLst/>
              <a:cxnLst/>
              <a:rect l="l" t="t" r="r" b="b"/>
              <a:pathLst>
                <a:path w="3083604" h="1206681">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1">
              <a:gsLst>
                <a:gs pos="0">
                  <a:srgbClr val="000000">
                    <a:alpha val="0"/>
                  </a:srgbClr>
                </a:gs>
                <a:gs pos="100000">
                  <a:srgbClr val="FF00BF">
                    <a:alpha val="100000"/>
                  </a:srgbClr>
                </a:gs>
              </a:gsLst>
              <a:lin ang="0"/>
            </a:gradFill>
          </p:spPr>
          <p:txBody>
            <a:bodyPr/>
            <a:lstStyle/>
            <a:p>
              <a:endParaRPr lang="es-CO"/>
            </a:p>
          </p:txBody>
        </p:sp>
        <p:sp>
          <p:nvSpPr>
            <p:cNvPr id="8" name="TextBox 8"/>
            <p:cNvSpPr txBox="1"/>
            <p:nvPr/>
          </p:nvSpPr>
          <p:spPr>
            <a:xfrm>
              <a:off x="0" y="-38100"/>
              <a:ext cx="3083604" cy="124478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339501" y="-2648321"/>
            <a:ext cx="10731144" cy="4199330"/>
            <a:chOff x="0" y="0"/>
            <a:chExt cx="3083604" cy="1206681"/>
          </a:xfrm>
        </p:grpSpPr>
        <p:sp>
          <p:nvSpPr>
            <p:cNvPr id="10" name="Freeform 10"/>
            <p:cNvSpPr/>
            <p:nvPr/>
          </p:nvSpPr>
          <p:spPr>
            <a:xfrm>
              <a:off x="0" y="0"/>
              <a:ext cx="3083604" cy="1206681"/>
            </a:xfrm>
            <a:custGeom>
              <a:avLst/>
              <a:gdLst/>
              <a:ahLst/>
              <a:cxnLst/>
              <a:rect l="l" t="t" r="r" b="b"/>
              <a:pathLst>
                <a:path w="3083604" h="1206681">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1">
              <a:gsLst>
                <a:gs pos="0">
                  <a:srgbClr val="000000">
                    <a:alpha val="0"/>
                  </a:srgbClr>
                </a:gs>
                <a:gs pos="100000">
                  <a:srgbClr val="FF00BF">
                    <a:alpha val="100000"/>
                  </a:srgbClr>
                </a:gs>
              </a:gsLst>
              <a:lin ang="0"/>
            </a:gradFill>
          </p:spPr>
          <p:txBody>
            <a:bodyPr/>
            <a:lstStyle/>
            <a:p>
              <a:endParaRPr lang="es-CO"/>
            </a:p>
          </p:txBody>
        </p:sp>
        <p:sp>
          <p:nvSpPr>
            <p:cNvPr id="11" name="TextBox 11"/>
            <p:cNvSpPr txBox="1"/>
            <p:nvPr/>
          </p:nvSpPr>
          <p:spPr>
            <a:xfrm>
              <a:off x="0" y="-38100"/>
              <a:ext cx="3083604" cy="1244781"/>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3747858" y="4133441"/>
            <a:ext cx="11183286" cy="1905817"/>
          </a:xfrm>
          <a:prstGeom prst="rect">
            <a:avLst/>
          </a:prstGeom>
        </p:spPr>
        <p:txBody>
          <a:bodyPr lIns="0" tIns="0" rIns="0" bIns="0" rtlCol="0" anchor="t">
            <a:spAutoFit/>
          </a:bodyPr>
          <a:lstStyle/>
          <a:p>
            <a:pPr algn="ctr">
              <a:lnSpc>
                <a:spcPts val="7631"/>
              </a:lnSpc>
              <a:spcBef>
                <a:spcPct val="0"/>
              </a:spcBef>
            </a:pPr>
            <a:r>
              <a:rPr lang="en-US" sz="5450">
                <a:solidFill>
                  <a:srgbClr val="FA18C2"/>
                </a:solidFill>
                <a:latin typeface="HK Modular"/>
                <a:ea typeface="HK Modular"/>
                <a:cs typeface="HK Modular"/>
                <a:sym typeface="HK Modular"/>
              </a:rPr>
              <a:t>ESTIMACION DE TAREAS</a:t>
            </a:r>
          </a:p>
        </p:txBody>
      </p:sp>
      <p:sp>
        <p:nvSpPr>
          <p:cNvPr id="13" name="Freeform 13"/>
          <p:cNvSpPr/>
          <p:nvPr/>
        </p:nvSpPr>
        <p:spPr>
          <a:xfrm>
            <a:off x="7738699" y="-4690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3"/>
            <a:stretch>
              <a:fillRect/>
            </a:stretch>
          </a:blipFill>
        </p:spPr>
        <p:txBody>
          <a:bodyPr/>
          <a:lstStyle/>
          <a:p>
            <a:endParaRPr lang="es-CO"/>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2834518" y="2096546"/>
            <a:ext cx="12584532" cy="853854"/>
          </a:xfrm>
          <a:prstGeom prst="rect">
            <a:avLst/>
          </a:prstGeom>
        </p:spPr>
        <p:txBody>
          <a:bodyPr lIns="0" tIns="0" rIns="0" bIns="0" rtlCol="0" anchor="t">
            <a:spAutoFit/>
          </a:bodyPr>
          <a:lstStyle/>
          <a:p>
            <a:pPr algn="ctr">
              <a:lnSpc>
                <a:spcPts val="7012"/>
              </a:lnSpc>
              <a:spcBef>
                <a:spcPct val="0"/>
              </a:spcBef>
            </a:pPr>
            <a:r>
              <a:rPr lang="en-US" sz="5008">
                <a:solidFill>
                  <a:srgbClr val="E78939"/>
                </a:solidFill>
                <a:latin typeface="HK Modular"/>
                <a:ea typeface="HK Modular"/>
                <a:cs typeface="HK Modular"/>
                <a:sym typeface="HK Modular"/>
              </a:rPr>
              <a:t>EN QUE CONSISTE</a:t>
            </a:r>
          </a:p>
        </p:txBody>
      </p:sp>
      <p:sp>
        <p:nvSpPr>
          <p:cNvPr id="7" name="TextBox 7"/>
          <p:cNvSpPr txBox="1"/>
          <p:nvPr/>
        </p:nvSpPr>
        <p:spPr>
          <a:xfrm>
            <a:off x="3535089" y="3687357"/>
            <a:ext cx="11217823" cy="1852502"/>
          </a:xfrm>
          <a:prstGeom prst="rect">
            <a:avLst/>
          </a:prstGeom>
        </p:spPr>
        <p:txBody>
          <a:bodyPr lIns="0" tIns="0" rIns="0" bIns="0" rtlCol="0" anchor="t">
            <a:spAutoFit/>
          </a:bodyPr>
          <a:lstStyle/>
          <a:p>
            <a:pPr algn="ctr">
              <a:lnSpc>
                <a:spcPts val="2992"/>
              </a:lnSpc>
            </a:pPr>
            <a:r>
              <a:rPr lang="en-US" sz="2137">
                <a:solidFill>
                  <a:srgbClr val="FFFFFF"/>
                </a:solidFill>
                <a:latin typeface="Open Sans"/>
                <a:ea typeface="Open Sans"/>
                <a:cs typeface="Open Sans"/>
                <a:sym typeface="Open Sans"/>
              </a:rPr>
              <a:t>En Scrum, la estimación se refiere al proceso de asignar valores relativos a las tareas o historias de usuario para determinar su complejidad o esfuerzo requerido. Estas estimaciones se utilizan para planificar los sprints y predecir la velocidad del equipo. Las estimaciones se realizan típicamente en "puntos de historia", utilizando técnicas como PLANNING POKER para llegar a un consenso</a:t>
            </a:r>
          </a:p>
        </p:txBody>
      </p:sp>
      <p:sp>
        <p:nvSpPr>
          <p:cNvPr id="8" name="TextBox 8"/>
          <p:cNvSpPr txBox="1"/>
          <p:nvPr/>
        </p:nvSpPr>
        <p:spPr>
          <a:xfrm>
            <a:off x="3910759" y="6622240"/>
            <a:ext cx="10123950" cy="1356203"/>
          </a:xfrm>
          <a:prstGeom prst="rect">
            <a:avLst/>
          </a:prstGeom>
        </p:spPr>
        <p:txBody>
          <a:bodyPr lIns="0" tIns="0" rIns="0" bIns="0" rtlCol="0" anchor="t">
            <a:spAutoFit/>
          </a:bodyPr>
          <a:lstStyle/>
          <a:p>
            <a:pPr algn="ctr">
              <a:lnSpc>
                <a:spcPts val="3600"/>
              </a:lnSpc>
              <a:spcBef>
                <a:spcPct val="0"/>
              </a:spcBef>
            </a:pPr>
            <a:r>
              <a:rPr lang="en-US" sz="2571">
                <a:solidFill>
                  <a:srgbClr val="F800C0"/>
                </a:solidFill>
                <a:latin typeface="HK Modular"/>
                <a:ea typeface="HK Modular"/>
                <a:cs typeface="HK Modular"/>
                <a:sym typeface="HK Modular"/>
              </a:rPr>
              <a:t>ES CRUCIAL QUE TODOS LOS MIEMBROS DEL EQUIPO DE DESARROLLO PARTICIPEN EN LA ESTIMACION</a:t>
            </a:r>
          </a:p>
        </p:txBody>
      </p:sp>
      <p:sp>
        <p:nvSpPr>
          <p:cNvPr id="9" name="Freeform 9"/>
          <p:cNvSpPr/>
          <p:nvPr/>
        </p:nvSpPr>
        <p:spPr>
          <a:xfrm>
            <a:off x="7738699" y="-4690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3"/>
            <a:stretch>
              <a:fillRect/>
            </a:stretch>
          </a:blipFill>
        </p:spPr>
        <p:txBody>
          <a:bodyPr/>
          <a:lstStyle/>
          <a:p>
            <a:endParaRPr lang="es-CO"/>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464873" y="6647425"/>
            <a:ext cx="4542210" cy="3000231"/>
          </a:xfrm>
          <a:custGeom>
            <a:avLst/>
            <a:gdLst/>
            <a:ahLst/>
            <a:cxnLst/>
            <a:rect l="l" t="t" r="r" b="b"/>
            <a:pathLst>
              <a:path w="4542210" h="3000231">
                <a:moveTo>
                  <a:pt x="0" y="0"/>
                </a:moveTo>
                <a:lnTo>
                  <a:pt x="4542210" y="0"/>
                </a:lnTo>
                <a:lnTo>
                  <a:pt x="4542210" y="3000231"/>
                </a:lnTo>
                <a:lnTo>
                  <a:pt x="0" y="3000231"/>
                </a:lnTo>
                <a:lnTo>
                  <a:pt x="0" y="0"/>
                </a:lnTo>
                <a:close/>
              </a:path>
            </a:pathLst>
          </a:custGeom>
          <a:blipFill>
            <a:blip r:embed="rId3"/>
            <a:stretch>
              <a:fillRect/>
            </a:stretch>
          </a:blipFill>
        </p:spPr>
        <p:txBody>
          <a:bodyPr/>
          <a:lstStyle/>
          <a:p>
            <a:endParaRPr lang="es-CO"/>
          </a:p>
        </p:txBody>
      </p:sp>
      <p:sp>
        <p:nvSpPr>
          <p:cNvPr id="7" name="Freeform 7"/>
          <p:cNvSpPr/>
          <p:nvPr/>
        </p:nvSpPr>
        <p:spPr>
          <a:xfrm>
            <a:off x="6763355" y="6647425"/>
            <a:ext cx="4628318" cy="3000231"/>
          </a:xfrm>
          <a:custGeom>
            <a:avLst/>
            <a:gdLst/>
            <a:ahLst/>
            <a:cxnLst/>
            <a:rect l="l" t="t" r="r" b="b"/>
            <a:pathLst>
              <a:path w="4628318" h="3000231">
                <a:moveTo>
                  <a:pt x="0" y="0"/>
                </a:moveTo>
                <a:lnTo>
                  <a:pt x="4628318" y="0"/>
                </a:lnTo>
                <a:lnTo>
                  <a:pt x="4628318" y="3000231"/>
                </a:lnTo>
                <a:lnTo>
                  <a:pt x="0" y="3000231"/>
                </a:lnTo>
                <a:lnTo>
                  <a:pt x="0" y="0"/>
                </a:lnTo>
                <a:close/>
              </a:path>
            </a:pathLst>
          </a:custGeom>
          <a:blipFill>
            <a:blip r:embed="rId4"/>
            <a:stretch>
              <a:fillRect/>
            </a:stretch>
          </a:blipFill>
        </p:spPr>
        <p:txBody>
          <a:bodyPr/>
          <a:lstStyle/>
          <a:p>
            <a:endParaRPr lang="es-CO"/>
          </a:p>
        </p:txBody>
      </p:sp>
      <p:sp>
        <p:nvSpPr>
          <p:cNvPr id="8" name="TextBox 8"/>
          <p:cNvSpPr txBox="1"/>
          <p:nvPr/>
        </p:nvSpPr>
        <p:spPr>
          <a:xfrm>
            <a:off x="2834518" y="2096546"/>
            <a:ext cx="12584532" cy="853854"/>
          </a:xfrm>
          <a:prstGeom prst="rect">
            <a:avLst/>
          </a:prstGeom>
        </p:spPr>
        <p:txBody>
          <a:bodyPr lIns="0" tIns="0" rIns="0" bIns="0" rtlCol="0" anchor="t">
            <a:spAutoFit/>
          </a:bodyPr>
          <a:lstStyle/>
          <a:p>
            <a:pPr algn="ctr">
              <a:lnSpc>
                <a:spcPts val="7012"/>
              </a:lnSpc>
              <a:spcBef>
                <a:spcPct val="0"/>
              </a:spcBef>
            </a:pPr>
            <a:r>
              <a:rPr lang="en-US" sz="5008">
                <a:solidFill>
                  <a:srgbClr val="E78939"/>
                </a:solidFill>
                <a:latin typeface="HK Modular"/>
                <a:ea typeface="HK Modular"/>
                <a:cs typeface="HK Modular"/>
                <a:sym typeface="HK Modular"/>
              </a:rPr>
              <a:t>PLANNING POKER</a:t>
            </a:r>
          </a:p>
        </p:txBody>
      </p:sp>
      <p:sp>
        <p:nvSpPr>
          <p:cNvPr id="9" name="TextBox 9"/>
          <p:cNvSpPr txBox="1"/>
          <p:nvPr/>
        </p:nvSpPr>
        <p:spPr>
          <a:xfrm>
            <a:off x="2735978" y="3404774"/>
            <a:ext cx="12683071" cy="2612203"/>
          </a:xfrm>
          <a:prstGeom prst="rect">
            <a:avLst/>
          </a:prstGeom>
        </p:spPr>
        <p:txBody>
          <a:bodyPr lIns="0" tIns="0" rIns="0" bIns="0" rtlCol="0" anchor="t">
            <a:spAutoFit/>
          </a:bodyPr>
          <a:lstStyle/>
          <a:p>
            <a:pPr marL="456742" lvl="1" indent="-228371" algn="ctr">
              <a:lnSpc>
                <a:spcPts val="2961"/>
              </a:lnSpc>
              <a:buFont typeface="Arial"/>
              <a:buChar char="•"/>
            </a:pPr>
            <a:r>
              <a:rPr lang="en-US" sz="2115">
                <a:solidFill>
                  <a:srgbClr val="FFFFFF"/>
                </a:solidFill>
                <a:latin typeface="Canva Sans"/>
                <a:ea typeface="Canva Sans"/>
                <a:cs typeface="Canva Sans"/>
                <a:sym typeface="Canva Sans"/>
              </a:rPr>
              <a:t>Los participantes emplean cartas con una numeración especial que asignan a cada uno de los elementos del Product Backlog. Después de estimar un elemento del Product Backlog, las personas que han otorgado la mayor y la menor puntuación explican los motivos por los que han escogido dicha puntuación y se vuelve a realizar la estimación, así hasta que se llegue a un consenso.</a:t>
            </a:r>
          </a:p>
          <a:p>
            <a:pPr marL="456742" lvl="1" indent="-228371" algn="ctr">
              <a:lnSpc>
                <a:spcPts val="2961"/>
              </a:lnSpc>
              <a:buFont typeface="Arial"/>
              <a:buChar char="•"/>
            </a:pPr>
            <a:r>
              <a:rPr lang="en-US" sz="2115">
                <a:solidFill>
                  <a:srgbClr val="FFFFFF"/>
                </a:solidFill>
                <a:latin typeface="Canva Sans"/>
                <a:ea typeface="Canva Sans"/>
                <a:cs typeface="Canva Sans"/>
                <a:sym typeface="Canva Sans"/>
              </a:rPr>
              <a:t>La numeración de las cartas está basada en una serie de Fibonnacci (0, 1, 2, 3, 5, 8, 13, 21 34, etc.), aunque en ocasiones se pueden varían algunos números de la serie. </a:t>
            </a:r>
          </a:p>
        </p:txBody>
      </p:sp>
      <p:sp>
        <p:nvSpPr>
          <p:cNvPr id="10" name="Freeform 10"/>
          <p:cNvSpPr/>
          <p:nvPr/>
        </p:nvSpPr>
        <p:spPr>
          <a:xfrm>
            <a:off x="7738699" y="-4690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5"/>
            <a:stretch>
              <a:fillRect/>
            </a:stretch>
          </a:blipFill>
        </p:spPr>
        <p:txBody>
          <a:bodyPr/>
          <a:lstStyle/>
          <a:p>
            <a:endParaRPr lang="es-CO"/>
          </a:p>
        </p:txBody>
      </p:sp>
      <p:sp>
        <p:nvSpPr>
          <p:cNvPr id="11" name="Freeform 11"/>
          <p:cNvSpPr/>
          <p:nvPr/>
        </p:nvSpPr>
        <p:spPr>
          <a:xfrm>
            <a:off x="12570481" y="6907813"/>
            <a:ext cx="5097924" cy="1969073"/>
          </a:xfrm>
          <a:custGeom>
            <a:avLst/>
            <a:gdLst/>
            <a:ahLst/>
            <a:cxnLst/>
            <a:rect l="l" t="t" r="r" b="b"/>
            <a:pathLst>
              <a:path w="5097924" h="1969073">
                <a:moveTo>
                  <a:pt x="0" y="0"/>
                </a:moveTo>
                <a:lnTo>
                  <a:pt x="5097924" y="0"/>
                </a:lnTo>
                <a:lnTo>
                  <a:pt x="5097924" y="1969073"/>
                </a:lnTo>
                <a:lnTo>
                  <a:pt x="0" y="1969073"/>
                </a:lnTo>
                <a:lnTo>
                  <a:pt x="0" y="0"/>
                </a:lnTo>
                <a:close/>
              </a:path>
            </a:pathLst>
          </a:custGeom>
          <a:blipFill>
            <a:blip r:embed="rId6"/>
            <a:stretch>
              <a:fillRect/>
            </a:stretch>
          </a:blipFill>
        </p:spPr>
        <p:txBody>
          <a:bodyPr/>
          <a:lstStyle/>
          <a:p>
            <a:endParaRPr lang="es-CO"/>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0835023" y="5143500"/>
            <a:ext cx="3505512" cy="3505512"/>
          </a:xfrm>
          <a:custGeom>
            <a:avLst/>
            <a:gdLst/>
            <a:ahLst/>
            <a:cxnLst/>
            <a:rect l="l" t="t" r="r" b="b"/>
            <a:pathLst>
              <a:path w="3505512" h="3505512">
                <a:moveTo>
                  <a:pt x="0" y="0"/>
                </a:moveTo>
                <a:lnTo>
                  <a:pt x="3505512" y="0"/>
                </a:lnTo>
                <a:lnTo>
                  <a:pt x="3505512" y="3505512"/>
                </a:lnTo>
                <a:lnTo>
                  <a:pt x="0" y="3505512"/>
                </a:lnTo>
                <a:lnTo>
                  <a:pt x="0" y="0"/>
                </a:lnTo>
                <a:close/>
              </a:path>
            </a:pathLst>
          </a:custGeom>
          <a:blipFill>
            <a:blip r:embed="rId3"/>
            <a:stretch>
              <a:fillRect/>
            </a:stretch>
          </a:blipFill>
        </p:spPr>
        <p:txBody>
          <a:bodyPr/>
          <a:lstStyle/>
          <a:p>
            <a:endParaRPr lang="es-CO"/>
          </a:p>
        </p:txBody>
      </p:sp>
      <p:sp>
        <p:nvSpPr>
          <p:cNvPr id="7" name="TextBox 7"/>
          <p:cNvSpPr txBox="1"/>
          <p:nvPr/>
        </p:nvSpPr>
        <p:spPr>
          <a:xfrm>
            <a:off x="2834518" y="2096546"/>
            <a:ext cx="12584532" cy="1739679"/>
          </a:xfrm>
          <a:prstGeom prst="rect">
            <a:avLst/>
          </a:prstGeom>
        </p:spPr>
        <p:txBody>
          <a:bodyPr lIns="0" tIns="0" rIns="0" bIns="0" rtlCol="0" anchor="t">
            <a:spAutoFit/>
          </a:bodyPr>
          <a:lstStyle/>
          <a:p>
            <a:pPr algn="ctr">
              <a:lnSpc>
                <a:spcPts val="7012"/>
              </a:lnSpc>
              <a:spcBef>
                <a:spcPct val="0"/>
              </a:spcBef>
            </a:pPr>
            <a:r>
              <a:rPr lang="en-US" sz="5008">
                <a:solidFill>
                  <a:srgbClr val="E78939"/>
                </a:solidFill>
                <a:latin typeface="HK Modular"/>
                <a:ea typeface="HK Modular"/>
                <a:cs typeface="HK Modular"/>
                <a:sym typeface="HK Modular"/>
              </a:rPr>
              <a:t>COMUNICACION PARA EQUIPOS</a:t>
            </a:r>
          </a:p>
        </p:txBody>
      </p:sp>
      <p:sp>
        <p:nvSpPr>
          <p:cNvPr id="8" name="Freeform 8"/>
          <p:cNvSpPr/>
          <p:nvPr/>
        </p:nvSpPr>
        <p:spPr>
          <a:xfrm>
            <a:off x="7738699" y="-4690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4"/>
            <a:stretch>
              <a:fillRect/>
            </a:stretch>
          </a:blipFill>
        </p:spPr>
        <p:txBody>
          <a:bodyPr/>
          <a:lstStyle/>
          <a:p>
            <a:endParaRPr lang="es-CO"/>
          </a:p>
        </p:txBody>
      </p:sp>
      <p:sp>
        <p:nvSpPr>
          <p:cNvPr id="9" name="Freeform 9"/>
          <p:cNvSpPr/>
          <p:nvPr/>
        </p:nvSpPr>
        <p:spPr>
          <a:xfrm>
            <a:off x="2112930" y="4076100"/>
            <a:ext cx="7770871" cy="5182200"/>
          </a:xfrm>
          <a:custGeom>
            <a:avLst/>
            <a:gdLst/>
            <a:ahLst/>
            <a:cxnLst/>
            <a:rect l="l" t="t" r="r" b="b"/>
            <a:pathLst>
              <a:path w="7770871" h="5182200">
                <a:moveTo>
                  <a:pt x="0" y="0"/>
                </a:moveTo>
                <a:lnTo>
                  <a:pt x="7770871" y="0"/>
                </a:lnTo>
                <a:lnTo>
                  <a:pt x="7770871" y="5182200"/>
                </a:lnTo>
                <a:lnTo>
                  <a:pt x="0" y="5182200"/>
                </a:lnTo>
                <a:lnTo>
                  <a:pt x="0" y="0"/>
                </a:lnTo>
                <a:close/>
              </a:path>
            </a:pathLst>
          </a:custGeom>
          <a:blipFill>
            <a:blip r:embed="rId5"/>
            <a:stretch>
              <a:fillRect/>
            </a:stretch>
          </a:blipFill>
        </p:spPr>
        <p:txBody>
          <a:bodyPr/>
          <a:lstStyle/>
          <a:p>
            <a:endParaRPr lang="es-CO"/>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rot="-10800000">
            <a:off x="-874366" y="8434822"/>
            <a:ext cx="10731144" cy="4199330"/>
            <a:chOff x="0" y="0"/>
            <a:chExt cx="3083604" cy="1206681"/>
          </a:xfrm>
        </p:grpSpPr>
        <p:sp>
          <p:nvSpPr>
            <p:cNvPr id="7" name="Freeform 7"/>
            <p:cNvSpPr/>
            <p:nvPr/>
          </p:nvSpPr>
          <p:spPr>
            <a:xfrm>
              <a:off x="0" y="0"/>
              <a:ext cx="3083604" cy="1206681"/>
            </a:xfrm>
            <a:custGeom>
              <a:avLst/>
              <a:gdLst/>
              <a:ahLst/>
              <a:cxnLst/>
              <a:rect l="l" t="t" r="r" b="b"/>
              <a:pathLst>
                <a:path w="3083604" h="1206681">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1">
              <a:gsLst>
                <a:gs pos="0">
                  <a:srgbClr val="000000">
                    <a:alpha val="0"/>
                  </a:srgbClr>
                </a:gs>
                <a:gs pos="100000">
                  <a:srgbClr val="FF00BF">
                    <a:alpha val="100000"/>
                  </a:srgbClr>
                </a:gs>
              </a:gsLst>
              <a:lin ang="0"/>
            </a:gradFill>
          </p:spPr>
          <p:txBody>
            <a:bodyPr/>
            <a:lstStyle/>
            <a:p>
              <a:endParaRPr lang="es-CO"/>
            </a:p>
          </p:txBody>
        </p:sp>
        <p:sp>
          <p:nvSpPr>
            <p:cNvPr id="8" name="TextBox 8"/>
            <p:cNvSpPr txBox="1"/>
            <p:nvPr/>
          </p:nvSpPr>
          <p:spPr>
            <a:xfrm>
              <a:off x="0" y="-38100"/>
              <a:ext cx="3083604" cy="124478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339501" y="-2648321"/>
            <a:ext cx="10731144" cy="4199330"/>
            <a:chOff x="0" y="0"/>
            <a:chExt cx="3083604" cy="1206681"/>
          </a:xfrm>
        </p:grpSpPr>
        <p:sp>
          <p:nvSpPr>
            <p:cNvPr id="10" name="Freeform 10"/>
            <p:cNvSpPr/>
            <p:nvPr/>
          </p:nvSpPr>
          <p:spPr>
            <a:xfrm>
              <a:off x="0" y="0"/>
              <a:ext cx="3083604" cy="1206681"/>
            </a:xfrm>
            <a:custGeom>
              <a:avLst/>
              <a:gdLst/>
              <a:ahLst/>
              <a:cxnLst/>
              <a:rect l="l" t="t" r="r" b="b"/>
              <a:pathLst>
                <a:path w="3083604" h="1206681">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1">
              <a:gsLst>
                <a:gs pos="0">
                  <a:srgbClr val="000000">
                    <a:alpha val="0"/>
                  </a:srgbClr>
                </a:gs>
                <a:gs pos="100000">
                  <a:srgbClr val="FF00BF">
                    <a:alpha val="100000"/>
                  </a:srgbClr>
                </a:gs>
              </a:gsLst>
              <a:lin ang="0"/>
            </a:gradFill>
          </p:spPr>
          <p:txBody>
            <a:bodyPr/>
            <a:lstStyle/>
            <a:p>
              <a:endParaRPr lang="es-CO"/>
            </a:p>
          </p:txBody>
        </p:sp>
        <p:sp>
          <p:nvSpPr>
            <p:cNvPr id="11" name="TextBox 11"/>
            <p:cNvSpPr txBox="1"/>
            <p:nvPr/>
          </p:nvSpPr>
          <p:spPr>
            <a:xfrm>
              <a:off x="0" y="-38100"/>
              <a:ext cx="3083604" cy="1244781"/>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1283256" y="4303060"/>
            <a:ext cx="15721487" cy="1509431"/>
          </a:xfrm>
          <a:prstGeom prst="rect">
            <a:avLst/>
          </a:prstGeom>
        </p:spPr>
        <p:txBody>
          <a:bodyPr lIns="0" tIns="0" rIns="0" bIns="0" rtlCol="0" anchor="t">
            <a:spAutoFit/>
          </a:bodyPr>
          <a:lstStyle/>
          <a:p>
            <a:pPr algn="ctr">
              <a:lnSpc>
                <a:spcPts val="12353"/>
              </a:lnSpc>
              <a:spcBef>
                <a:spcPct val="0"/>
              </a:spcBef>
            </a:pPr>
            <a:r>
              <a:rPr lang="en-US" sz="8823">
                <a:solidFill>
                  <a:srgbClr val="F400BC"/>
                </a:solidFill>
                <a:latin typeface="HK Modular"/>
                <a:ea typeface="HK Modular"/>
                <a:cs typeface="HK Modular"/>
                <a:sym typeface="HK Modular"/>
              </a:rPr>
              <a:t>PRUEBAS</a:t>
            </a:r>
          </a:p>
        </p:txBody>
      </p:sp>
      <p:sp>
        <p:nvSpPr>
          <p:cNvPr id="13" name="Freeform 13"/>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3"/>
            <a:stretch>
              <a:fillRect/>
            </a:stretch>
          </a:blipFill>
        </p:spPr>
        <p:txBody>
          <a:bodyPr/>
          <a:lstStyle/>
          <a:p>
            <a:endParaRPr lang="es-CO"/>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680284" y="8532551"/>
            <a:ext cx="1586363" cy="1358323"/>
          </a:xfrm>
          <a:custGeom>
            <a:avLst/>
            <a:gdLst/>
            <a:ahLst/>
            <a:cxnLst/>
            <a:rect l="l" t="t" r="r" b="b"/>
            <a:pathLst>
              <a:path w="1586363" h="1358323">
                <a:moveTo>
                  <a:pt x="0" y="0"/>
                </a:moveTo>
                <a:lnTo>
                  <a:pt x="1586364" y="0"/>
                </a:lnTo>
                <a:lnTo>
                  <a:pt x="1586364" y="1358324"/>
                </a:lnTo>
                <a:lnTo>
                  <a:pt x="0" y="135832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O"/>
          </a:p>
        </p:txBody>
      </p:sp>
      <p:sp>
        <p:nvSpPr>
          <p:cNvPr id="7" name="TextBox 7"/>
          <p:cNvSpPr txBox="1"/>
          <p:nvPr/>
        </p:nvSpPr>
        <p:spPr>
          <a:xfrm>
            <a:off x="2964154" y="1961246"/>
            <a:ext cx="12584532" cy="853854"/>
          </a:xfrm>
          <a:prstGeom prst="rect">
            <a:avLst/>
          </a:prstGeom>
        </p:spPr>
        <p:txBody>
          <a:bodyPr lIns="0" tIns="0" rIns="0" bIns="0" rtlCol="0" anchor="t">
            <a:spAutoFit/>
          </a:bodyPr>
          <a:lstStyle/>
          <a:p>
            <a:pPr algn="ctr">
              <a:lnSpc>
                <a:spcPts val="7012"/>
              </a:lnSpc>
              <a:spcBef>
                <a:spcPct val="0"/>
              </a:spcBef>
            </a:pPr>
            <a:r>
              <a:rPr lang="en-US" sz="5008">
                <a:solidFill>
                  <a:srgbClr val="E78939"/>
                </a:solidFill>
                <a:latin typeface="HK Modular"/>
                <a:ea typeface="HK Modular"/>
                <a:cs typeface="HK Modular"/>
                <a:sym typeface="HK Modular"/>
              </a:rPr>
              <a:t>PRUEBAS DE SOFTWARE</a:t>
            </a:r>
          </a:p>
        </p:txBody>
      </p:sp>
      <p:sp>
        <p:nvSpPr>
          <p:cNvPr id="8" name="TextBox 8"/>
          <p:cNvSpPr txBox="1"/>
          <p:nvPr/>
        </p:nvSpPr>
        <p:spPr>
          <a:xfrm>
            <a:off x="4390437" y="7657362"/>
            <a:ext cx="10005614" cy="599701"/>
          </a:xfrm>
          <a:prstGeom prst="rect">
            <a:avLst/>
          </a:prstGeom>
        </p:spPr>
        <p:txBody>
          <a:bodyPr lIns="0" tIns="0" rIns="0" bIns="0" rtlCol="0" anchor="t">
            <a:spAutoFit/>
          </a:bodyPr>
          <a:lstStyle/>
          <a:p>
            <a:pPr algn="ctr">
              <a:lnSpc>
                <a:spcPts val="4927"/>
              </a:lnSpc>
              <a:spcBef>
                <a:spcPct val="0"/>
              </a:spcBef>
            </a:pPr>
            <a:r>
              <a:rPr lang="en-US" sz="3519">
                <a:solidFill>
                  <a:srgbClr val="F400BC"/>
                </a:solidFill>
                <a:latin typeface="HK Modular"/>
                <a:ea typeface="HK Modular"/>
                <a:cs typeface="HK Modular"/>
                <a:sym typeface="HK Modular"/>
              </a:rPr>
              <a:t>SON IMPORTANTES PORQUE</a:t>
            </a:r>
          </a:p>
        </p:txBody>
      </p:sp>
      <p:sp>
        <p:nvSpPr>
          <p:cNvPr id="9" name="TextBox 9"/>
          <p:cNvSpPr txBox="1"/>
          <p:nvPr/>
        </p:nvSpPr>
        <p:spPr>
          <a:xfrm>
            <a:off x="2850208" y="3266276"/>
            <a:ext cx="12587585" cy="9150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Son el proceso de evaluar y verificar que un producto o aplicacion de software hace lo que se supone que debe hacer.</a:t>
            </a:r>
          </a:p>
        </p:txBody>
      </p:sp>
      <p:sp>
        <p:nvSpPr>
          <p:cNvPr id="10" name="TextBox 10"/>
          <p:cNvSpPr txBox="1"/>
          <p:nvPr/>
        </p:nvSpPr>
        <p:spPr>
          <a:xfrm>
            <a:off x="2850208" y="4467061"/>
            <a:ext cx="12587585" cy="9150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Unas buenas pruebas de software permiten la prevencion de errores (pero no al 100%) y la mejora del rendimiento</a:t>
            </a:r>
          </a:p>
        </p:txBody>
      </p:sp>
      <p:sp>
        <p:nvSpPr>
          <p:cNvPr id="11" name="TextBox 11"/>
          <p:cNvSpPr txBox="1"/>
          <p:nvPr/>
        </p:nvSpPr>
        <p:spPr>
          <a:xfrm>
            <a:off x="3266648" y="8492258"/>
            <a:ext cx="12587585" cy="13722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Permiten identificar defectos en la arquitectura, identificar decisiones de diseño poco acertadas, funcionalidades no validas o incorrectas, vulnerabilidades y problemas en las aplicaciones</a:t>
            </a:r>
          </a:p>
        </p:txBody>
      </p:sp>
      <p:sp>
        <p:nvSpPr>
          <p:cNvPr id="12" name="TextBox 12"/>
          <p:cNvSpPr txBox="1"/>
          <p:nvPr/>
        </p:nvSpPr>
        <p:spPr>
          <a:xfrm>
            <a:off x="2964154" y="5665948"/>
            <a:ext cx="12587585" cy="13722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Son mas efectivas cuando se realizan de forma continua, lo que indica que se inician durante el diseño, continuan durante la construccion e incluso cuando el software ya esta en produccion</a:t>
            </a:r>
          </a:p>
        </p:txBody>
      </p:sp>
      <p:sp>
        <p:nvSpPr>
          <p:cNvPr id="13" name="Freeform 13"/>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4"/>
            <a:stretch>
              <a:fillRect/>
            </a:stretch>
          </a:blipFill>
        </p:spPr>
        <p:txBody>
          <a:bodyPr/>
          <a:lstStyle/>
          <a:p>
            <a:endParaRPr lang="es-CO"/>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2964154" y="1810188"/>
            <a:ext cx="12584532" cy="1739679"/>
          </a:xfrm>
          <a:prstGeom prst="rect">
            <a:avLst/>
          </a:prstGeom>
        </p:spPr>
        <p:txBody>
          <a:bodyPr lIns="0" tIns="0" rIns="0" bIns="0" rtlCol="0" anchor="t">
            <a:spAutoFit/>
          </a:bodyPr>
          <a:lstStyle/>
          <a:p>
            <a:pPr algn="ctr">
              <a:lnSpc>
                <a:spcPts val="7012"/>
              </a:lnSpc>
              <a:spcBef>
                <a:spcPct val="0"/>
              </a:spcBef>
            </a:pPr>
            <a:r>
              <a:rPr lang="en-US" sz="5008">
                <a:solidFill>
                  <a:srgbClr val="E78939"/>
                </a:solidFill>
                <a:latin typeface="HK Modular"/>
                <a:ea typeface="HK Modular"/>
                <a:cs typeface="HK Modular"/>
                <a:sym typeface="HK Modular"/>
              </a:rPr>
              <a:t>¿QUE ES UNA VULNERABILIDAD?</a:t>
            </a:r>
          </a:p>
        </p:txBody>
      </p:sp>
      <p:sp>
        <p:nvSpPr>
          <p:cNvPr id="7" name="Freeform 7"/>
          <p:cNvSpPr/>
          <p:nvPr/>
        </p:nvSpPr>
        <p:spPr>
          <a:xfrm>
            <a:off x="879195" y="3549867"/>
            <a:ext cx="6175831" cy="6175831"/>
          </a:xfrm>
          <a:custGeom>
            <a:avLst/>
            <a:gdLst/>
            <a:ahLst/>
            <a:cxnLst/>
            <a:rect l="l" t="t" r="r" b="b"/>
            <a:pathLst>
              <a:path w="6175831" h="6175831">
                <a:moveTo>
                  <a:pt x="0" y="0"/>
                </a:moveTo>
                <a:lnTo>
                  <a:pt x="6175831" y="0"/>
                </a:lnTo>
                <a:lnTo>
                  <a:pt x="6175831" y="6175831"/>
                </a:lnTo>
                <a:lnTo>
                  <a:pt x="0" y="6175831"/>
                </a:lnTo>
                <a:lnTo>
                  <a:pt x="0" y="0"/>
                </a:lnTo>
                <a:close/>
              </a:path>
            </a:pathLst>
          </a:custGeom>
          <a:blipFill>
            <a:blip r:embed="rId3"/>
            <a:stretch>
              <a:fillRect/>
            </a:stretch>
          </a:blipFill>
        </p:spPr>
        <p:txBody>
          <a:bodyPr/>
          <a:lstStyle/>
          <a:p>
            <a:endParaRPr lang="es-CO"/>
          </a:p>
        </p:txBody>
      </p:sp>
      <p:sp>
        <p:nvSpPr>
          <p:cNvPr id="8" name="Freeform 8"/>
          <p:cNvSpPr/>
          <p:nvPr/>
        </p:nvSpPr>
        <p:spPr>
          <a:xfrm>
            <a:off x="8582277" y="6843023"/>
            <a:ext cx="561723" cy="561723"/>
          </a:xfrm>
          <a:custGeom>
            <a:avLst/>
            <a:gdLst/>
            <a:ahLst/>
            <a:cxnLst/>
            <a:rect l="l" t="t" r="r" b="b"/>
            <a:pathLst>
              <a:path w="561723" h="561723">
                <a:moveTo>
                  <a:pt x="0" y="0"/>
                </a:moveTo>
                <a:lnTo>
                  <a:pt x="561723" y="0"/>
                </a:lnTo>
                <a:lnTo>
                  <a:pt x="561723" y="561723"/>
                </a:lnTo>
                <a:lnTo>
                  <a:pt x="0" y="5617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9" name="TextBox 9"/>
          <p:cNvSpPr txBox="1"/>
          <p:nvPr/>
        </p:nvSpPr>
        <p:spPr>
          <a:xfrm>
            <a:off x="7521751" y="4380977"/>
            <a:ext cx="10423592" cy="769190"/>
          </a:xfrm>
          <a:prstGeom prst="rect">
            <a:avLst/>
          </a:prstGeom>
        </p:spPr>
        <p:txBody>
          <a:bodyPr lIns="0" tIns="0" rIns="0" bIns="0" rtlCol="0" anchor="t">
            <a:spAutoFit/>
          </a:bodyPr>
          <a:lstStyle/>
          <a:p>
            <a:pPr algn="ctr">
              <a:lnSpc>
                <a:spcPts val="3014"/>
              </a:lnSpc>
              <a:spcBef>
                <a:spcPct val="0"/>
              </a:spcBef>
            </a:pPr>
            <a:r>
              <a:rPr lang="en-US" sz="2153">
                <a:solidFill>
                  <a:srgbClr val="FFFFFF"/>
                </a:solidFill>
                <a:latin typeface="Poppins"/>
                <a:ea typeface="Poppins"/>
                <a:cs typeface="Poppins"/>
                <a:sym typeface="Poppins"/>
              </a:rPr>
              <a:t>Es una debilidad existente en un sistema que puede ser utilizada por un actor malintencionado para comprometer su seguridad</a:t>
            </a:r>
          </a:p>
        </p:txBody>
      </p:sp>
      <p:sp>
        <p:nvSpPr>
          <p:cNvPr id="10" name="TextBox 10"/>
          <p:cNvSpPr txBox="1"/>
          <p:nvPr/>
        </p:nvSpPr>
        <p:spPr>
          <a:xfrm>
            <a:off x="7648323" y="5820040"/>
            <a:ext cx="10170449" cy="742604"/>
          </a:xfrm>
          <a:prstGeom prst="rect">
            <a:avLst/>
          </a:prstGeom>
        </p:spPr>
        <p:txBody>
          <a:bodyPr lIns="0" tIns="0" rIns="0" bIns="0" rtlCol="0" anchor="t">
            <a:spAutoFit/>
          </a:bodyPr>
          <a:lstStyle/>
          <a:p>
            <a:pPr algn="ctr">
              <a:lnSpc>
                <a:spcPts val="2941"/>
              </a:lnSpc>
              <a:spcBef>
                <a:spcPct val="0"/>
              </a:spcBef>
            </a:pPr>
            <a:r>
              <a:rPr lang="en-US" sz="2100">
                <a:solidFill>
                  <a:srgbClr val="FFFFFF"/>
                </a:solidFill>
                <a:latin typeface="Poppins"/>
                <a:ea typeface="Poppins"/>
                <a:cs typeface="Poppins"/>
                <a:sym typeface="Poppins"/>
              </a:rPr>
              <a:t>Pueden ser de varios tipos, desde hardware hasta software, una vulnerabilidad puede ser:</a:t>
            </a:r>
          </a:p>
        </p:txBody>
      </p:sp>
      <p:sp>
        <p:nvSpPr>
          <p:cNvPr id="11" name="TextBox 11"/>
          <p:cNvSpPr txBox="1"/>
          <p:nvPr/>
        </p:nvSpPr>
        <p:spPr>
          <a:xfrm>
            <a:off x="7774894" y="6908710"/>
            <a:ext cx="10170449" cy="373198"/>
          </a:xfrm>
          <a:prstGeom prst="rect">
            <a:avLst/>
          </a:prstGeom>
        </p:spPr>
        <p:txBody>
          <a:bodyPr lIns="0" tIns="0" rIns="0" bIns="0" rtlCol="0" anchor="t">
            <a:spAutoFit/>
          </a:bodyPr>
          <a:lstStyle/>
          <a:p>
            <a:pPr algn="ctr">
              <a:lnSpc>
                <a:spcPts val="2941"/>
              </a:lnSpc>
              <a:spcBef>
                <a:spcPct val="0"/>
              </a:spcBef>
            </a:pPr>
            <a:r>
              <a:rPr lang="en-US" sz="2100">
                <a:solidFill>
                  <a:srgbClr val="FFFFFF"/>
                </a:solidFill>
                <a:latin typeface="Poppins"/>
                <a:ea typeface="Poppins"/>
                <a:cs typeface="Poppins"/>
                <a:sym typeface="Poppins"/>
              </a:rPr>
              <a:t>Un servicio corriendo en un determinado puerto logico</a:t>
            </a:r>
          </a:p>
        </p:txBody>
      </p:sp>
      <p:sp>
        <p:nvSpPr>
          <p:cNvPr id="12" name="TextBox 12"/>
          <p:cNvSpPr txBox="1"/>
          <p:nvPr/>
        </p:nvSpPr>
        <p:spPr>
          <a:xfrm>
            <a:off x="7830057" y="7447812"/>
            <a:ext cx="10170449" cy="742604"/>
          </a:xfrm>
          <a:prstGeom prst="rect">
            <a:avLst/>
          </a:prstGeom>
        </p:spPr>
        <p:txBody>
          <a:bodyPr lIns="0" tIns="0" rIns="0" bIns="0" rtlCol="0" anchor="t">
            <a:spAutoFit/>
          </a:bodyPr>
          <a:lstStyle/>
          <a:p>
            <a:pPr algn="ctr">
              <a:lnSpc>
                <a:spcPts val="2941"/>
              </a:lnSpc>
              <a:spcBef>
                <a:spcPct val="0"/>
              </a:spcBef>
            </a:pPr>
            <a:r>
              <a:rPr lang="en-US" sz="2100">
                <a:solidFill>
                  <a:srgbClr val="FFFFFF"/>
                </a:solidFill>
                <a:latin typeface="Poppins"/>
                <a:ea typeface="Poppins"/>
                <a:cs typeface="Poppins"/>
                <a:sym typeface="Poppins"/>
              </a:rPr>
              <a:t>Sistemas y aplicaciones no actualizados o parcheados que presentan multiples problemas</a:t>
            </a:r>
          </a:p>
        </p:txBody>
      </p:sp>
      <p:sp>
        <p:nvSpPr>
          <p:cNvPr id="13" name="TextBox 13"/>
          <p:cNvSpPr txBox="1"/>
          <p:nvPr/>
        </p:nvSpPr>
        <p:spPr>
          <a:xfrm>
            <a:off x="7830057" y="8352340"/>
            <a:ext cx="10170449" cy="373198"/>
          </a:xfrm>
          <a:prstGeom prst="rect">
            <a:avLst/>
          </a:prstGeom>
        </p:spPr>
        <p:txBody>
          <a:bodyPr lIns="0" tIns="0" rIns="0" bIns="0" rtlCol="0" anchor="t">
            <a:spAutoFit/>
          </a:bodyPr>
          <a:lstStyle/>
          <a:p>
            <a:pPr algn="ctr">
              <a:lnSpc>
                <a:spcPts val="2941"/>
              </a:lnSpc>
              <a:spcBef>
                <a:spcPct val="0"/>
              </a:spcBef>
            </a:pPr>
            <a:r>
              <a:rPr lang="en-US" sz="2100">
                <a:solidFill>
                  <a:srgbClr val="FFFFFF"/>
                </a:solidFill>
                <a:latin typeface="Poppins"/>
                <a:ea typeface="Poppins"/>
                <a:cs typeface="Poppins"/>
                <a:sym typeface="Poppins"/>
              </a:rPr>
              <a:t>Una red wifi abierta</a:t>
            </a:r>
          </a:p>
        </p:txBody>
      </p:sp>
      <p:sp>
        <p:nvSpPr>
          <p:cNvPr id="14" name="TextBox 14"/>
          <p:cNvSpPr txBox="1"/>
          <p:nvPr/>
        </p:nvSpPr>
        <p:spPr>
          <a:xfrm>
            <a:off x="7830057" y="8791749"/>
            <a:ext cx="10170449" cy="373198"/>
          </a:xfrm>
          <a:prstGeom prst="rect">
            <a:avLst/>
          </a:prstGeom>
        </p:spPr>
        <p:txBody>
          <a:bodyPr lIns="0" tIns="0" rIns="0" bIns="0" rtlCol="0" anchor="t">
            <a:spAutoFit/>
          </a:bodyPr>
          <a:lstStyle/>
          <a:p>
            <a:pPr algn="ctr">
              <a:lnSpc>
                <a:spcPts val="2941"/>
              </a:lnSpc>
              <a:spcBef>
                <a:spcPct val="0"/>
              </a:spcBef>
            </a:pPr>
            <a:r>
              <a:rPr lang="en-US" sz="2100">
                <a:solidFill>
                  <a:srgbClr val="FFFFFF"/>
                </a:solidFill>
                <a:latin typeface="Poppins"/>
                <a:ea typeface="Poppins"/>
                <a:cs typeface="Poppins"/>
                <a:sym typeface="Poppins"/>
              </a:rPr>
              <a:t>La no aplicacion de una politica de gestion de contraseñas</a:t>
            </a:r>
          </a:p>
        </p:txBody>
      </p:sp>
      <p:sp>
        <p:nvSpPr>
          <p:cNvPr id="15" name="Freeform 15"/>
          <p:cNvSpPr/>
          <p:nvPr/>
        </p:nvSpPr>
        <p:spPr>
          <a:xfrm>
            <a:off x="7549195" y="7400342"/>
            <a:ext cx="561723" cy="561723"/>
          </a:xfrm>
          <a:custGeom>
            <a:avLst/>
            <a:gdLst/>
            <a:ahLst/>
            <a:cxnLst/>
            <a:rect l="l" t="t" r="r" b="b"/>
            <a:pathLst>
              <a:path w="561723" h="561723">
                <a:moveTo>
                  <a:pt x="0" y="0"/>
                </a:moveTo>
                <a:lnTo>
                  <a:pt x="561723" y="0"/>
                </a:lnTo>
                <a:lnTo>
                  <a:pt x="561723" y="561723"/>
                </a:lnTo>
                <a:lnTo>
                  <a:pt x="0" y="5617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6" name="Freeform 16"/>
          <p:cNvSpPr/>
          <p:nvPr/>
        </p:nvSpPr>
        <p:spPr>
          <a:xfrm>
            <a:off x="10871990" y="8238040"/>
            <a:ext cx="561723" cy="561723"/>
          </a:xfrm>
          <a:custGeom>
            <a:avLst/>
            <a:gdLst/>
            <a:ahLst/>
            <a:cxnLst/>
            <a:rect l="l" t="t" r="r" b="b"/>
            <a:pathLst>
              <a:path w="561723" h="561723">
                <a:moveTo>
                  <a:pt x="0" y="0"/>
                </a:moveTo>
                <a:lnTo>
                  <a:pt x="561723" y="0"/>
                </a:lnTo>
                <a:lnTo>
                  <a:pt x="561723" y="561723"/>
                </a:lnTo>
                <a:lnTo>
                  <a:pt x="0" y="5617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7" name="Freeform 17"/>
          <p:cNvSpPr/>
          <p:nvPr/>
        </p:nvSpPr>
        <p:spPr>
          <a:xfrm>
            <a:off x="8301416" y="8725538"/>
            <a:ext cx="561723" cy="561723"/>
          </a:xfrm>
          <a:custGeom>
            <a:avLst/>
            <a:gdLst/>
            <a:ahLst/>
            <a:cxnLst/>
            <a:rect l="l" t="t" r="r" b="b"/>
            <a:pathLst>
              <a:path w="561723" h="561723">
                <a:moveTo>
                  <a:pt x="0" y="0"/>
                </a:moveTo>
                <a:lnTo>
                  <a:pt x="561723" y="0"/>
                </a:lnTo>
                <a:lnTo>
                  <a:pt x="561723" y="561723"/>
                </a:lnTo>
                <a:lnTo>
                  <a:pt x="0" y="5617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8" name="Freeform 18"/>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5"/>
            <a:stretch>
              <a:fillRect/>
            </a:stretch>
          </a:blipFill>
        </p:spPr>
        <p:txBody>
          <a:bodyPr/>
          <a:lstStyle/>
          <a:p>
            <a:endParaRPr lang="es-CO"/>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rot="-10800000">
            <a:off x="-874366" y="8434822"/>
            <a:ext cx="10731144" cy="4199330"/>
            <a:chOff x="0" y="0"/>
            <a:chExt cx="3083604" cy="1206681"/>
          </a:xfrm>
        </p:grpSpPr>
        <p:sp>
          <p:nvSpPr>
            <p:cNvPr id="7" name="Freeform 7"/>
            <p:cNvSpPr/>
            <p:nvPr/>
          </p:nvSpPr>
          <p:spPr>
            <a:xfrm>
              <a:off x="0" y="0"/>
              <a:ext cx="3083604" cy="1206681"/>
            </a:xfrm>
            <a:custGeom>
              <a:avLst/>
              <a:gdLst/>
              <a:ahLst/>
              <a:cxnLst/>
              <a:rect l="l" t="t" r="r" b="b"/>
              <a:pathLst>
                <a:path w="3083604" h="1206681">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1">
              <a:gsLst>
                <a:gs pos="0">
                  <a:srgbClr val="000000">
                    <a:alpha val="0"/>
                  </a:srgbClr>
                </a:gs>
                <a:gs pos="100000">
                  <a:srgbClr val="FF00BF">
                    <a:alpha val="100000"/>
                  </a:srgbClr>
                </a:gs>
              </a:gsLst>
              <a:lin ang="0"/>
            </a:gradFill>
          </p:spPr>
          <p:txBody>
            <a:bodyPr/>
            <a:lstStyle/>
            <a:p>
              <a:endParaRPr lang="es-CO"/>
            </a:p>
          </p:txBody>
        </p:sp>
        <p:sp>
          <p:nvSpPr>
            <p:cNvPr id="8" name="TextBox 8"/>
            <p:cNvSpPr txBox="1"/>
            <p:nvPr/>
          </p:nvSpPr>
          <p:spPr>
            <a:xfrm>
              <a:off x="0" y="-38100"/>
              <a:ext cx="3083604" cy="124478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339501" y="-2648321"/>
            <a:ext cx="10731144" cy="4199330"/>
            <a:chOff x="0" y="0"/>
            <a:chExt cx="3083604" cy="1206681"/>
          </a:xfrm>
        </p:grpSpPr>
        <p:sp>
          <p:nvSpPr>
            <p:cNvPr id="10" name="Freeform 10"/>
            <p:cNvSpPr/>
            <p:nvPr/>
          </p:nvSpPr>
          <p:spPr>
            <a:xfrm>
              <a:off x="0" y="0"/>
              <a:ext cx="3083604" cy="1206681"/>
            </a:xfrm>
            <a:custGeom>
              <a:avLst/>
              <a:gdLst/>
              <a:ahLst/>
              <a:cxnLst/>
              <a:rect l="l" t="t" r="r" b="b"/>
              <a:pathLst>
                <a:path w="3083604" h="1206681">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1">
              <a:gsLst>
                <a:gs pos="0">
                  <a:srgbClr val="000000">
                    <a:alpha val="0"/>
                  </a:srgbClr>
                </a:gs>
                <a:gs pos="100000">
                  <a:srgbClr val="FF00BF">
                    <a:alpha val="100000"/>
                  </a:srgbClr>
                </a:gs>
              </a:gsLst>
              <a:lin ang="0"/>
            </a:gradFill>
          </p:spPr>
          <p:txBody>
            <a:bodyPr/>
            <a:lstStyle/>
            <a:p>
              <a:endParaRPr lang="es-CO"/>
            </a:p>
          </p:txBody>
        </p:sp>
        <p:sp>
          <p:nvSpPr>
            <p:cNvPr id="11" name="TextBox 11"/>
            <p:cNvSpPr txBox="1"/>
            <p:nvPr/>
          </p:nvSpPr>
          <p:spPr>
            <a:xfrm>
              <a:off x="0" y="-38100"/>
              <a:ext cx="3083604" cy="1244781"/>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1630688" y="4620280"/>
            <a:ext cx="15721487" cy="1509431"/>
          </a:xfrm>
          <a:prstGeom prst="rect">
            <a:avLst/>
          </a:prstGeom>
        </p:spPr>
        <p:txBody>
          <a:bodyPr lIns="0" tIns="0" rIns="0" bIns="0" rtlCol="0" anchor="t">
            <a:spAutoFit/>
          </a:bodyPr>
          <a:lstStyle/>
          <a:p>
            <a:pPr algn="ctr">
              <a:lnSpc>
                <a:spcPts val="12353"/>
              </a:lnSpc>
              <a:spcBef>
                <a:spcPct val="0"/>
              </a:spcBef>
            </a:pPr>
            <a:r>
              <a:rPr lang="en-US" sz="8823">
                <a:solidFill>
                  <a:srgbClr val="FA18C2"/>
                </a:solidFill>
                <a:latin typeface="HK Modular"/>
                <a:ea typeface="HK Modular"/>
                <a:cs typeface="HK Modular"/>
                <a:sym typeface="HK Modular"/>
              </a:rPr>
              <a:t>TIPOS DE PRUEBAS</a:t>
            </a:r>
          </a:p>
        </p:txBody>
      </p:sp>
      <p:sp>
        <p:nvSpPr>
          <p:cNvPr id="13" name="Freeform 13"/>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3"/>
            <a:stretch>
              <a:fillRect/>
            </a:stretch>
          </a:blipFill>
        </p:spPr>
        <p:txBody>
          <a:bodyPr/>
          <a:lstStyle/>
          <a:p>
            <a:endParaRPr lang="es-CO"/>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2441751" y="2191796"/>
            <a:ext cx="1785160" cy="1791880"/>
          </a:xfrm>
          <a:custGeom>
            <a:avLst/>
            <a:gdLst/>
            <a:ahLst/>
            <a:cxnLst/>
            <a:rect l="l" t="t" r="r" b="b"/>
            <a:pathLst>
              <a:path w="1785160" h="1791880">
                <a:moveTo>
                  <a:pt x="0" y="0"/>
                </a:moveTo>
                <a:lnTo>
                  <a:pt x="1785160" y="0"/>
                </a:lnTo>
                <a:lnTo>
                  <a:pt x="1785160" y="1791880"/>
                </a:lnTo>
                <a:lnTo>
                  <a:pt x="0" y="179188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O"/>
          </a:p>
        </p:txBody>
      </p:sp>
      <p:sp>
        <p:nvSpPr>
          <p:cNvPr id="7" name="Freeform 7"/>
          <p:cNvSpPr/>
          <p:nvPr/>
        </p:nvSpPr>
        <p:spPr>
          <a:xfrm>
            <a:off x="8236240" y="2059036"/>
            <a:ext cx="2034254" cy="2057400"/>
          </a:xfrm>
          <a:custGeom>
            <a:avLst/>
            <a:gdLst/>
            <a:ahLst/>
            <a:cxnLst/>
            <a:rect l="l" t="t" r="r" b="b"/>
            <a:pathLst>
              <a:path w="2034254" h="2057400">
                <a:moveTo>
                  <a:pt x="0" y="0"/>
                </a:moveTo>
                <a:lnTo>
                  <a:pt x="2034254" y="0"/>
                </a:lnTo>
                <a:lnTo>
                  <a:pt x="2034254" y="2057400"/>
                </a:lnTo>
                <a:lnTo>
                  <a:pt x="0" y="20574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TextBox 8"/>
          <p:cNvSpPr txBox="1"/>
          <p:nvPr/>
        </p:nvSpPr>
        <p:spPr>
          <a:xfrm>
            <a:off x="943701" y="4204370"/>
            <a:ext cx="4781261" cy="939130"/>
          </a:xfrm>
          <a:prstGeom prst="rect">
            <a:avLst/>
          </a:prstGeom>
        </p:spPr>
        <p:txBody>
          <a:bodyPr lIns="0" tIns="0" rIns="0" bIns="0" rtlCol="0" anchor="t">
            <a:spAutoFit/>
          </a:bodyPr>
          <a:lstStyle/>
          <a:p>
            <a:pPr algn="ctr">
              <a:lnSpc>
                <a:spcPts val="3756"/>
              </a:lnSpc>
              <a:spcBef>
                <a:spcPct val="0"/>
              </a:spcBef>
            </a:pPr>
            <a:r>
              <a:rPr lang="en-US" sz="2683">
                <a:solidFill>
                  <a:srgbClr val="E78939"/>
                </a:solidFill>
                <a:latin typeface="HK Modular"/>
                <a:ea typeface="HK Modular"/>
                <a:cs typeface="HK Modular"/>
                <a:sym typeface="HK Modular"/>
              </a:rPr>
              <a:t>PRUEBAS UNITARIAS</a:t>
            </a:r>
          </a:p>
        </p:txBody>
      </p:sp>
      <p:sp>
        <p:nvSpPr>
          <p:cNvPr id="9" name="TextBox 9"/>
          <p:cNvSpPr txBox="1"/>
          <p:nvPr/>
        </p:nvSpPr>
        <p:spPr>
          <a:xfrm>
            <a:off x="6753370" y="4204370"/>
            <a:ext cx="4781261" cy="939130"/>
          </a:xfrm>
          <a:prstGeom prst="rect">
            <a:avLst/>
          </a:prstGeom>
        </p:spPr>
        <p:txBody>
          <a:bodyPr lIns="0" tIns="0" rIns="0" bIns="0" rtlCol="0" anchor="t">
            <a:spAutoFit/>
          </a:bodyPr>
          <a:lstStyle/>
          <a:p>
            <a:pPr algn="ctr">
              <a:lnSpc>
                <a:spcPts val="3756"/>
              </a:lnSpc>
              <a:spcBef>
                <a:spcPct val="0"/>
              </a:spcBef>
            </a:pPr>
            <a:r>
              <a:rPr lang="en-US" sz="2683">
                <a:solidFill>
                  <a:srgbClr val="E78939"/>
                </a:solidFill>
                <a:latin typeface="HK Modular"/>
                <a:ea typeface="HK Modular"/>
                <a:cs typeface="HK Modular"/>
                <a:sym typeface="HK Modular"/>
              </a:rPr>
              <a:t>PRUEBAS FUNCIONALES</a:t>
            </a:r>
          </a:p>
        </p:txBody>
      </p:sp>
      <p:sp>
        <p:nvSpPr>
          <p:cNvPr id="10" name="TextBox 10"/>
          <p:cNvSpPr txBox="1"/>
          <p:nvPr/>
        </p:nvSpPr>
        <p:spPr>
          <a:xfrm>
            <a:off x="1234315" y="5463178"/>
            <a:ext cx="4200033" cy="2662192"/>
          </a:xfrm>
          <a:prstGeom prst="rect">
            <a:avLst/>
          </a:prstGeom>
        </p:spPr>
        <p:txBody>
          <a:bodyPr lIns="0" tIns="0" rIns="0" bIns="0" rtlCol="0" anchor="t">
            <a:spAutoFit/>
          </a:bodyPr>
          <a:lstStyle/>
          <a:p>
            <a:pPr algn="ctr">
              <a:lnSpc>
                <a:spcPts val="3014"/>
              </a:lnSpc>
              <a:spcBef>
                <a:spcPct val="0"/>
              </a:spcBef>
            </a:pPr>
            <a:r>
              <a:rPr lang="en-US" sz="2153">
                <a:solidFill>
                  <a:srgbClr val="FFFFFF"/>
                </a:solidFill>
                <a:latin typeface="Poppins"/>
                <a:ea typeface="Poppins"/>
                <a:cs typeface="Poppins"/>
                <a:sym typeface="Poppins"/>
              </a:rPr>
              <a:t>Son pruebas de bajo nivel, realizadas cerca de la fuente de la aplicacion, prueba metodos y funciones individuales de las clases, componentes o modulos del software</a:t>
            </a:r>
          </a:p>
        </p:txBody>
      </p:sp>
      <p:sp>
        <p:nvSpPr>
          <p:cNvPr id="11" name="TextBox 11"/>
          <p:cNvSpPr txBox="1"/>
          <p:nvPr/>
        </p:nvSpPr>
        <p:spPr>
          <a:xfrm>
            <a:off x="7043984" y="5336122"/>
            <a:ext cx="4200033" cy="2662192"/>
          </a:xfrm>
          <a:prstGeom prst="rect">
            <a:avLst/>
          </a:prstGeom>
        </p:spPr>
        <p:txBody>
          <a:bodyPr lIns="0" tIns="0" rIns="0" bIns="0" rtlCol="0" anchor="t">
            <a:spAutoFit/>
          </a:bodyPr>
          <a:lstStyle/>
          <a:p>
            <a:pPr algn="ctr">
              <a:lnSpc>
                <a:spcPts val="3014"/>
              </a:lnSpc>
              <a:spcBef>
                <a:spcPct val="0"/>
              </a:spcBef>
            </a:pPr>
            <a:r>
              <a:rPr lang="en-US" sz="2153">
                <a:solidFill>
                  <a:srgbClr val="FFFFFF"/>
                </a:solidFill>
                <a:latin typeface="Poppins"/>
                <a:ea typeface="Poppins"/>
                <a:cs typeface="Poppins"/>
                <a:sym typeface="Poppins"/>
              </a:rPr>
              <a:t>Se centran en los requisitos empresariales de una aplicacion, solo verifican el resultado de una accion y no comprueban estados intermedios del sistema al realizar dicha accion</a:t>
            </a:r>
          </a:p>
        </p:txBody>
      </p:sp>
      <p:sp>
        <p:nvSpPr>
          <p:cNvPr id="12" name="TextBox 12"/>
          <p:cNvSpPr txBox="1"/>
          <p:nvPr/>
        </p:nvSpPr>
        <p:spPr>
          <a:xfrm>
            <a:off x="1234315" y="8334920"/>
            <a:ext cx="4200033" cy="769190"/>
          </a:xfrm>
          <a:prstGeom prst="rect">
            <a:avLst/>
          </a:prstGeom>
        </p:spPr>
        <p:txBody>
          <a:bodyPr lIns="0" tIns="0" rIns="0" bIns="0" rtlCol="0" anchor="t">
            <a:spAutoFit/>
          </a:bodyPr>
          <a:lstStyle/>
          <a:p>
            <a:pPr algn="ctr">
              <a:lnSpc>
                <a:spcPts val="3014"/>
              </a:lnSpc>
              <a:spcBef>
                <a:spcPct val="0"/>
              </a:spcBef>
            </a:pPr>
            <a:r>
              <a:rPr lang="en-US" sz="2153">
                <a:solidFill>
                  <a:srgbClr val="FA18C2"/>
                </a:solidFill>
                <a:latin typeface="Poppins"/>
                <a:ea typeface="Poppins"/>
                <a:cs typeface="Poppins"/>
                <a:sym typeface="Poppins"/>
              </a:rPr>
              <a:t>EJEMPLO: Probar el metodo suma de una calculadora</a:t>
            </a:r>
          </a:p>
        </p:txBody>
      </p:sp>
      <p:sp>
        <p:nvSpPr>
          <p:cNvPr id="13" name="TextBox 13"/>
          <p:cNvSpPr txBox="1"/>
          <p:nvPr/>
        </p:nvSpPr>
        <p:spPr>
          <a:xfrm>
            <a:off x="7153351" y="8334920"/>
            <a:ext cx="4200033" cy="769190"/>
          </a:xfrm>
          <a:prstGeom prst="rect">
            <a:avLst/>
          </a:prstGeom>
        </p:spPr>
        <p:txBody>
          <a:bodyPr lIns="0" tIns="0" rIns="0" bIns="0" rtlCol="0" anchor="t">
            <a:spAutoFit/>
          </a:bodyPr>
          <a:lstStyle/>
          <a:p>
            <a:pPr algn="ctr">
              <a:lnSpc>
                <a:spcPts val="3014"/>
              </a:lnSpc>
              <a:spcBef>
                <a:spcPct val="0"/>
              </a:spcBef>
            </a:pPr>
            <a:r>
              <a:rPr lang="en-US" sz="2153">
                <a:solidFill>
                  <a:srgbClr val="FA18C2"/>
                </a:solidFill>
                <a:latin typeface="Poppins"/>
                <a:ea typeface="Poppins"/>
                <a:cs typeface="Poppins"/>
                <a:sym typeface="Poppins"/>
              </a:rPr>
              <a:t>EJEMPLO: Probar el Login de una aplicacion</a:t>
            </a:r>
          </a:p>
        </p:txBody>
      </p:sp>
      <p:sp>
        <p:nvSpPr>
          <p:cNvPr id="14" name="Freeform 14"/>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5"/>
            <a:stretch>
              <a:fillRect/>
            </a:stretch>
          </a:blipFill>
        </p:spPr>
        <p:txBody>
          <a:bodyPr/>
          <a:lstStyle/>
          <a:p>
            <a:endParaRPr lang="es-CO"/>
          </a:p>
        </p:txBody>
      </p:sp>
      <p:sp>
        <p:nvSpPr>
          <p:cNvPr id="15" name="Freeform 15"/>
          <p:cNvSpPr/>
          <p:nvPr/>
        </p:nvSpPr>
        <p:spPr>
          <a:xfrm>
            <a:off x="14508718" y="2123053"/>
            <a:ext cx="1885305" cy="1675565"/>
          </a:xfrm>
          <a:custGeom>
            <a:avLst/>
            <a:gdLst/>
            <a:ahLst/>
            <a:cxnLst/>
            <a:rect l="l" t="t" r="r" b="b"/>
            <a:pathLst>
              <a:path w="1885305" h="1675565">
                <a:moveTo>
                  <a:pt x="0" y="0"/>
                </a:moveTo>
                <a:lnTo>
                  <a:pt x="1885305" y="0"/>
                </a:lnTo>
                <a:lnTo>
                  <a:pt x="1885305" y="1675564"/>
                </a:lnTo>
                <a:lnTo>
                  <a:pt x="0" y="167556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s-CO"/>
          </a:p>
        </p:txBody>
      </p:sp>
      <p:sp>
        <p:nvSpPr>
          <p:cNvPr id="16" name="TextBox 16"/>
          <p:cNvSpPr txBox="1"/>
          <p:nvPr/>
        </p:nvSpPr>
        <p:spPr>
          <a:xfrm>
            <a:off x="13060740" y="4006106"/>
            <a:ext cx="4781261" cy="464060"/>
          </a:xfrm>
          <a:prstGeom prst="rect">
            <a:avLst/>
          </a:prstGeom>
        </p:spPr>
        <p:txBody>
          <a:bodyPr lIns="0" tIns="0" rIns="0" bIns="0" rtlCol="0" anchor="t">
            <a:spAutoFit/>
          </a:bodyPr>
          <a:lstStyle/>
          <a:p>
            <a:pPr algn="ctr">
              <a:lnSpc>
                <a:spcPts val="3756"/>
              </a:lnSpc>
              <a:spcBef>
                <a:spcPct val="0"/>
              </a:spcBef>
            </a:pPr>
            <a:r>
              <a:rPr lang="en-US" sz="2683">
                <a:solidFill>
                  <a:srgbClr val="E78939"/>
                </a:solidFill>
                <a:latin typeface="HK Modular"/>
                <a:ea typeface="HK Modular"/>
                <a:cs typeface="HK Modular"/>
                <a:sym typeface="HK Modular"/>
              </a:rPr>
              <a:t>PRUEBAS DE CARGA</a:t>
            </a:r>
          </a:p>
        </p:txBody>
      </p:sp>
      <p:sp>
        <p:nvSpPr>
          <p:cNvPr id="17" name="TextBox 17"/>
          <p:cNvSpPr txBox="1"/>
          <p:nvPr/>
        </p:nvSpPr>
        <p:spPr>
          <a:xfrm>
            <a:off x="13618721" y="4852348"/>
            <a:ext cx="3665300" cy="2652614"/>
          </a:xfrm>
          <a:prstGeom prst="rect">
            <a:avLst/>
          </a:prstGeom>
        </p:spPr>
        <p:txBody>
          <a:bodyPr lIns="0" tIns="0" rIns="0" bIns="0" rtlCol="0" anchor="t">
            <a:spAutoFit/>
          </a:bodyPr>
          <a:lstStyle/>
          <a:p>
            <a:pPr algn="ctr">
              <a:lnSpc>
                <a:spcPts val="2630"/>
              </a:lnSpc>
              <a:spcBef>
                <a:spcPct val="0"/>
              </a:spcBef>
            </a:pPr>
            <a:r>
              <a:rPr lang="en-US" sz="1878">
                <a:solidFill>
                  <a:srgbClr val="FFFFFF"/>
                </a:solidFill>
                <a:latin typeface="Poppins"/>
                <a:ea typeface="Poppins"/>
                <a:cs typeface="Poppins"/>
                <a:sym typeface="Poppins"/>
              </a:rPr>
              <a:t>Simulan una demanda de trafico esperada en una aplicacion para evaluar su rendimiento, capacidad de respuesta, tasas de rendimiento y utilizacion de recursos bajo condiciones de estres</a:t>
            </a:r>
          </a:p>
        </p:txBody>
      </p:sp>
      <p:sp>
        <p:nvSpPr>
          <p:cNvPr id="18" name="TextBox 18"/>
          <p:cNvSpPr txBox="1"/>
          <p:nvPr/>
        </p:nvSpPr>
        <p:spPr>
          <a:xfrm>
            <a:off x="13351354" y="8155209"/>
            <a:ext cx="4200033" cy="1526391"/>
          </a:xfrm>
          <a:prstGeom prst="rect">
            <a:avLst/>
          </a:prstGeom>
        </p:spPr>
        <p:txBody>
          <a:bodyPr lIns="0" tIns="0" rIns="0" bIns="0" rtlCol="0" anchor="t">
            <a:spAutoFit/>
          </a:bodyPr>
          <a:lstStyle/>
          <a:p>
            <a:pPr algn="ctr">
              <a:lnSpc>
                <a:spcPts val="3014"/>
              </a:lnSpc>
              <a:spcBef>
                <a:spcPct val="0"/>
              </a:spcBef>
            </a:pPr>
            <a:r>
              <a:rPr lang="en-US" sz="2153">
                <a:solidFill>
                  <a:srgbClr val="FA18C2"/>
                </a:solidFill>
                <a:latin typeface="Poppins"/>
                <a:ea typeface="Poppins"/>
                <a:cs typeface="Poppins"/>
                <a:sym typeface="Poppins"/>
              </a:rPr>
              <a:t>EJEMPLO: Probar el Flujo de transacciones para una pasarela de pagos en Black Friday</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8819409" y="2397470"/>
            <a:ext cx="649182" cy="1126563"/>
          </a:xfrm>
          <a:custGeom>
            <a:avLst/>
            <a:gdLst/>
            <a:ahLst/>
            <a:cxnLst/>
            <a:rect l="l" t="t" r="r" b="b"/>
            <a:pathLst>
              <a:path w="649182" h="1126563">
                <a:moveTo>
                  <a:pt x="0" y="0"/>
                </a:moveTo>
                <a:lnTo>
                  <a:pt x="649182" y="0"/>
                </a:lnTo>
                <a:lnTo>
                  <a:pt x="649182" y="1126563"/>
                </a:lnTo>
                <a:lnTo>
                  <a:pt x="0" y="112656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O"/>
          </a:p>
        </p:txBody>
      </p:sp>
      <p:sp>
        <p:nvSpPr>
          <p:cNvPr id="7" name="Freeform 7"/>
          <p:cNvSpPr/>
          <p:nvPr/>
        </p:nvSpPr>
        <p:spPr>
          <a:xfrm>
            <a:off x="7026975" y="4563246"/>
            <a:ext cx="4234051" cy="2434378"/>
          </a:xfrm>
          <a:custGeom>
            <a:avLst/>
            <a:gdLst/>
            <a:ahLst/>
            <a:cxnLst/>
            <a:rect l="l" t="t" r="r" b="b"/>
            <a:pathLst>
              <a:path w="4234051" h="2434378">
                <a:moveTo>
                  <a:pt x="0" y="0"/>
                </a:moveTo>
                <a:lnTo>
                  <a:pt x="4234050" y="0"/>
                </a:lnTo>
                <a:lnTo>
                  <a:pt x="4234050" y="2434378"/>
                </a:lnTo>
                <a:lnTo>
                  <a:pt x="0" y="2434378"/>
                </a:lnTo>
                <a:lnTo>
                  <a:pt x="0" y="0"/>
                </a:lnTo>
                <a:close/>
              </a:path>
            </a:pathLst>
          </a:custGeom>
          <a:blipFill>
            <a:blip r:embed="rId4"/>
            <a:stretch>
              <a:fillRect/>
            </a:stretch>
          </a:blipFill>
        </p:spPr>
        <p:txBody>
          <a:bodyPr/>
          <a:lstStyle/>
          <a:p>
            <a:endParaRPr lang="es-CO"/>
          </a:p>
        </p:txBody>
      </p:sp>
      <p:sp>
        <p:nvSpPr>
          <p:cNvPr id="8" name="TextBox 8"/>
          <p:cNvSpPr txBox="1"/>
          <p:nvPr/>
        </p:nvSpPr>
        <p:spPr>
          <a:xfrm>
            <a:off x="1856375" y="2462611"/>
            <a:ext cx="4781261" cy="939130"/>
          </a:xfrm>
          <a:prstGeom prst="rect">
            <a:avLst/>
          </a:prstGeom>
        </p:spPr>
        <p:txBody>
          <a:bodyPr lIns="0" tIns="0" rIns="0" bIns="0" rtlCol="0" anchor="t">
            <a:spAutoFit/>
          </a:bodyPr>
          <a:lstStyle/>
          <a:p>
            <a:pPr algn="ctr">
              <a:lnSpc>
                <a:spcPts val="3756"/>
              </a:lnSpc>
              <a:spcBef>
                <a:spcPct val="0"/>
              </a:spcBef>
            </a:pPr>
            <a:r>
              <a:rPr lang="en-US" sz="2683">
                <a:solidFill>
                  <a:srgbClr val="E78939"/>
                </a:solidFill>
                <a:latin typeface="HK Modular"/>
                <a:ea typeface="HK Modular"/>
                <a:cs typeface="HK Modular"/>
                <a:sym typeface="HK Modular"/>
              </a:rPr>
              <a:t>PRUEBAS DE CAJA NEGRA</a:t>
            </a:r>
          </a:p>
        </p:txBody>
      </p:sp>
      <p:sp>
        <p:nvSpPr>
          <p:cNvPr id="9" name="TextBox 9"/>
          <p:cNvSpPr txBox="1"/>
          <p:nvPr/>
        </p:nvSpPr>
        <p:spPr>
          <a:xfrm>
            <a:off x="11974108" y="2462611"/>
            <a:ext cx="4781261" cy="939130"/>
          </a:xfrm>
          <a:prstGeom prst="rect">
            <a:avLst/>
          </a:prstGeom>
        </p:spPr>
        <p:txBody>
          <a:bodyPr lIns="0" tIns="0" rIns="0" bIns="0" rtlCol="0" anchor="t">
            <a:spAutoFit/>
          </a:bodyPr>
          <a:lstStyle/>
          <a:p>
            <a:pPr algn="ctr">
              <a:lnSpc>
                <a:spcPts val="3756"/>
              </a:lnSpc>
              <a:spcBef>
                <a:spcPct val="0"/>
              </a:spcBef>
            </a:pPr>
            <a:r>
              <a:rPr lang="en-US" sz="2683">
                <a:solidFill>
                  <a:srgbClr val="E78939"/>
                </a:solidFill>
                <a:latin typeface="HK Modular"/>
                <a:ea typeface="HK Modular"/>
                <a:cs typeface="HK Modular"/>
                <a:sym typeface="HK Modular"/>
              </a:rPr>
              <a:t>PRUEBAS DE CAJA BLANCA</a:t>
            </a:r>
          </a:p>
        </p:txBody>
      </p:sp>
      <p:sp>
        <p:nvSpPr>
          <p:cNvPr id="10" name="TextBox 10"/>
          <p:cNvSpPr txBox="1"/>
          <p:nvPr/>
        </p:nvSpPr>
        <p:spPr>
          <a:xfrm>
            <a:off x="2414355" y="4449415"/>
            <a:ext cx="3665300" cy="1331020"/>
          </a:xfrm>
          <a:prstGeom prst="rect">
            <a:avLst/>
          </a:prstGeom>
        </p:spPr>
        <p:txBody>
          <a:bodyPr lIns="0" tIns="0" rIns="0" bIns="0" rtlCol="0" anchor="t">
            <a:spAutoFit/>
          </a:bodyPr>
          <a:lstStyle/>
          <a:p>
            <a:pPr algn="ctr">
              <a:lnSpc>
                <a:spcPts val="2630"/>
              </a:lnSpc>
              <a:spcBef>
                <a:spcPct val="0"/>
              </a:spcBef>
            </a:pPr>
            <a:r>
              <a:rPr lang="en-US" sz="1878">
                <a:solidFill>
                  <a:srgbClr val="FFFFFF"/>
                </a:solidFill>
                <a:latin typeface="Poppins"/>
                <a:ea typeface="Poppins"/>
                <a:cs typeface="Poppins"/>
                <a:sym typeface="Poppins"/>
              </a:rPr>
              <a:t>Verifican el comportamiento de un sistema sin conocer su codigo fuente ni estructura interna</a:t>
            </a:r>
          </a:p>
        </p:txBody>
      </p:sp>
      <p:sp>
        <p:nvSpPr>
          <p:cNvPr id="11" name="TextBox 11"/>
          <p:cNvSpPr txBox="1"/>
          <p:nvPr/>
        </p:nvSpPr>
        <p:spPr>
          <a:xfrm>
            <a:off x="12532088" y="4038474"/>
            <a:ext cx="3665300" cy="2322216"/>
          </a:xfrm>
          <a:prstGeom prst="rect">
            <a:avLst/>
          </a:prstGeom>
        </p:spPr>
        <p:txBody>
          <a:bodyPr lIns="0" tIns="0" rIns="0" bIns="0" rtlCol="0" anchor="t">
            <a:spAutoFit/>
          </a:bodyPr>
          <a:lstStyle/>
          <a:p>
            <a:pPr algn="ctr">
              <a:lnSpc>
                <a:spcPts val="2630"/>
              </a:lnSpc>
              <a:spcBef>
                <a:spcPct val="0"/>
              </a:spcBef>
            </a:pPr>
            <a:r>
              <a:rPr lang="en-US" sz="1878">
                <a:solidFill>
                  <a:srgbClr val="FFFFFF"/>
                </a:solidFill>
                <a:latin typeface="Poppins"/>
                <a:ea typeface="Poppins"/>
                <a:cs typeface="Poppins"/>
                <a:sym typeface="Poppins"/>
              </a:rPr>
              <a:t>Verifica el funcionamiento interno de un sistema, teniendo acceso total al codigo fuente, la infraestructura y los documentos de diseño del software en cuestion.</a:t>
            </a:r>
          </a:p>
        </p:txBody>
      </p:sp>
      <p:sp>
        <p:nvSpPr>
          <p:cNvPr id="12" name="TextBox 12"/>
          <p:cNvSpPr txBox="1"/>
          <p:nvPr/>
        </p:nvSpPr>
        <p:spPr>
          <a:xfrm>
            <a:off x="2146989" y="6132057"/>
            <a:ext cx="4200033" cy="390589"/>
          </a:xfrm>
          <a:prstGeom prst="rect">
            <a:avLst/>
          </a:prstGeom>
        </p:spPr>
        <p:txBody>
          <a:bodyPr lIns="0" tIns="0" rIns="0" bIns="0" rtlCol="0" anchor="t">
            <a:spAutoFit/>
          </a:bodyPr>
          <a:lstStyle/>
          <a:p>
            <a:pPr algn="ctr">
              <a:lnSpc>
                <a:spcPts val="3014"/>
              </a:lnSpc>
              <a:spcBef>
                <a:spcPct val="0"/>
              </a:spcBef>
            </a:pPr>
            <a:r>
              <a:rPr lang="en-US" sz="2153">
                <a:solidFill>
                  <a:srgbClr val="FA18C2"/>
                </a:solidFill>
                <a:latin typeface="Poppins"/>
                <a:ea typeface="Poppins"/>
                <a:cs typeface="Poppins"/>
                <a:sym typeface="Poppins"/>
              </a:rPr>
              <a:t>Pruebas Funcionales</a:t>
            </a:r>
          </a:p>
        </p:txBody>
      </p:sp>
      <p:sp>
        <p:nvSpPr>
          <p:cNvPr id="13" name="TextBox 13"/>
          <p:cNvSpPr txBox="1"/>
          <p:nvPr/>
        </p:nvSpPr>
        <p:spPr>
          <a:xfrm>
            <a:off x="12365925" y="6656703"/>
            <a:ext cx="4200033" cy="390589"/>
          </a:xfrm>
          <a:prstGeom prst="rect">
            <a:avLst/>
          </a:prstGeom>
        </p:spPr>
        <p:txBody>
          <a:bodyPr lIns="0" tIns="0" rIns="0" bIns="0" rtlCol="0" anchor="t">
            <a:spAutoFit/>
          </a:bodyPr>
          <a:lstStyle/>
          <a:p>
            <a:pPr algn="ctr">
              <a:lnSpc>
                <a:spcPts val="3014"/>
              </a:lnSpc>
              <a:spcBef>
                <a:spcPct val="0"/>
              </a:spcBef>
            </a:pPr>
            <a:r>
              <a:rPr lang="en-US" sz="2153">
                <a:solidFill>
                  <a:srgbClr val="FA18C2"/>
                </a:solidFill>
                <a:latin typeface="Poppins"/>
                <a:ea typeface="Poppins"/>
                <a:cs typeface="Poppins"/>
                <a:sym typeface="Poppins"/>
              </a:rPr>
              <a:t>Pruebas unitarias</a:t>
            </a:r>
          </a:p>
        </p:txBody>
      </p:sp>
      <p:sp>
        <p:nvSpPr>
          <p:cNvPr id="14" name="TextBox 14"/>
          <p:cNvSpPr txBox="1"/>
          <p:nvPr/>
        </p:nvSpPr>
        <p:spPr>
          <a:xfrm>
            <a:off x="2146989" y="6768992"/>
            <a:ext cx="4200033" cy="390589"/>
          </a:xfrm>
          <a:prstGeom prst="rect">
            <a:avLst/>
          </a:prstGeom>
        </p:spPr>
        <p:txBody>
          <a:bodyPr lIns="0" tIns="0" rIns="0" bIns="0" rtlCol="0" anchor="t">
            <a:spAutoFit/>
          </a:bodyPr>
          <a:lstStyle/>
          <a:p>
            <a:pPr algn="ctr">
              <a:lnSpc>
                <a:spcPts val="3014"/>
              </a:lnSpc>
              <a:spcBef>
                <a:spcPct val="0"/>
              </a:spcBef>
            </a:pPr>
            <a:r>
              <a:rPr lang="en-US" sz="2153">
                <a:solidFill>
                  <a:srgbClr val="FA18C2"/>
                </a:solidFill>
                <a:latin typeface="Poppins"/>
                <a:ea typeface="Poppins"/>
                <a:cs typeface="Poppins"/>
                <a:sym typeface="Poppins"/>
              </a:rPr>
              <a:t>Pruebas de Carga</a:t>
            </a:r>
          </a:p>
        </p:txBody>
      </p:sp>
      <p:sp>
        <p:nvSpPr>
          <p:cNvPr id="15" name="Freeform 15"/>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5"/>
            <a:stretch>
              <a:fillRect/>
            </a:stretch>
          </a:blipFill>
        </p:spPr>
        <p:txBody>
          <a:bodyPr/>
          <a:lstStyle/>
          <a:p>
            <a:endParaRPr lang="es-CO"/>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rot="-10800000">
            <a:off x="-874366" y="8434822"/>
            <a:ext cx="10731144" cy="4199330"/>
            <a:chOff x="0" y="0"/>
            <a:chExt cx="3083604" cy="1206681"/>
          </a:xfrm>
        </p:grpSpPr>
        <p:sp>
          <p:nvSpPr>
            <p:cNvPr id="7" name="Freeform 7"/>
            <p:cNvSpPr/>
            <p:nvPr/>
          </p:nvSpPr>
          <p:spPr>
            <a:xfrm>
              <a:off x="0" y="0"/>
              <a:ext cx="3083604" cy="1206681"/>
            </a:xfrm>
            <a:custGeom>
              <a:avLst/>
              <a:gdLst/>
              <a:ahLst/>
              <a:cxnLst/>
              <a:rect l="l" t="t" r="r" b="b"/>
              <a:pathLst>
                <a:path w="3083604" h="1206681">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1">
              <a:gsLst>
                <a:gs pos="0">
                  <a:srgbClr val="000000">
                    <a:alpha val="0"/>
                  </a:srgbClr>
                </a:gs>
                <a:gs pos="100000">
                  <a:srgbClr val="FF00BF">
                    <a:alpha val="100000"/>
                  </a:srgbClr>
                </a:gs>
              </a:gsLst>
              <a:lin ang="0"/>
            </a:gradFill>
          </p:spPr>
          <p:txBody>
            <a:bodyPr/>
            <a:lstStyle/>
            <a:p>
              <a:endParaRPr lang="es-CO"/>
            </a:p>
          </p:txBody>
        </p:sp>
        <p:sp>
          <p:nvSpPr>
            <p:cNvPr id="8" name="TextBox 8"/>
            <p:cNvSpPr txBox="1"/>
            <p:nvPr/>
          </p:nvSpPr>
          <p:spPr>
            <a:xfrm>
              <a:off x="0" y="-38100"/>
              <a:ext cx="3083604" cy="124478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339501" y="-2648321"/>
            <a:ext cx="10731144" cy="4199330"/>
            <a:chOff x="0" y="0"/>
            <a:chExt cx="3083604" cy="1206681"/>
          </a:xfrm>
        </p:grpSpPr>
        <p:sp>
          <p:nvSpPr>
            <p:cNvPr id="10" name="Freeform 10"/>
            <p:cNvSpPr/>
            <p:nvPr/>
          </p:nvSpPr>
          <p:spPr>
            <a:xfrm>
              <a:off x="0" y="0"/>
              <a:ext cx="3083604" cy="1206681"/>
            </a:xfrm>
            <a:custGeom>
              <a:avLst/>
              <a:gdLst/>
              <a:ahLst/>
              <a:cxnLst/>
              <a:rect l="l" t="t" r="r" b="b"/>
              <a:pathLst>
                <a:path w="3083604" h="1206681">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1">
              <a:gsLst>
                <a:gs pos="0">
                  <a:srgbClr val="000000">
                    <a:alpha val="0"/>
                  </a:srgbClr>
                </a:gs>
                <a:gs pos="100000">
                  <a:srgbClr val="FF00BF">
                    <a:alpha val="100000"/>
                  </a:srgbClr>
                </a:gs>
              </a:gsLst>
              <a:lin ang="0"/>
            </a:gradFill>
          </p:spPr>
          <p:txBody>
            <a:bodyPr/>
            <a:lstStyle/>
            <a:p>
              <a:endParaRPr lang="es-CO"/>
            </a:p>
          </p:txBody>
        </p:sp>
        <p:sp>
          <p:nvSpPr>
            <p:cNvPr id="11" name="TextBox 11"/>
            <p:cNvSpPr txBox="1"/>
            <p:nvPr/>
          </p:nvSpPr>
          <p:spPr>
            <a:xfrm>
              <a:off x="0" y="-38100"/>
              <a:ext cx="3083604" cy="1244781"/>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1283256" y="4303060"/>
            <a:ext cx="15721487" cy="3071531"/>
          </a:xfrm>
          <a:prstGeom prst="rect">
            <a:avLst/>
          </a:prstGeom>
        </p:spPr>
        <p:txBody>
          <a:bodyPr lIns="0" tIns="0" rIns="0" bIns="0" rtlCol="0" anchor="t">
            <a:spAutoFit/>
          </a:bodyPr>
          <a:lstStyle/>
          <a:p>
            <a:pPr algn="ctr">
              <a:lnSpc>
                <a:spcPts val="12353"/>
              </a:lnSpc>
              <a:spcBef>
                <a:spcPct val="0"/>
              </a:spcBef>
            </a:pPr>
            <a:r>
              <a:rPr lang="en-US" sz="8823">
                <a:solidFill>
                  <a:srgbClr val="FA18C2"/>
                </a:solidFill>
                <a:latin typeface="HK Modular"/>
                <a:ea typeface="HK Modular"/>
                <a:cs typeface="HK Modular"/>
                <a:sym typeface="HK Modular"/>
              </a:rPr>
              <a:t>T.D.D - TEST DRIVEN DEVELOPMENT</a:t>
            </a:r>
          </a:p>
        </p:txBody>
      </p:sp>
      <p:sp>
        <p:nvSpPr>
          <p:cNvPr id="13" name="Freeform 13"/>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3"/>
            <a:stretch>
              <a:fillRect/>
            </a:stretch>
          </a:blipFill>
        </p:spPr>
        <p:txBody>
          <a:bodyPr/>
          <a:lstStyle/>
          <a:p>
            <a:endParaRPr lang="es-CO"/>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1682870" y="1923467"/>
            <a:ext cx="15906948" cy="1747534"/>
          </a:xfrm>
          <a:prstGeom prst="rect">
            <a:avLst/>
          </a:prstGeom>
        </p:spPr>
        <p:txBody>
          <a:bodyPr lIns="0" tIns="0" rIns="0" bIns="0" rtlCol="0" anchor="t">
            <a:spAutoFit/>
          </a:bodyPr>
          <a:lstStyle/>
          <a:p>
            <a:pPr algn="ctr">
              <a:lnSpc>
                <a:spcPts val="7012"/>
              </a:lnSpc>
            </a:pPr>
            <a:r>
              <a:rPr lang="en-US" sz="5008">
                <a:solidFill>
                  <a:srgbClr val="F800C0"/>
                </a:solidFill>
                <a:latin typeface="HK Modular"/>
                <a:ea typeface="HK Modular"/>
                <a:cs typeface="HK Modular"/>
                <a:sym typeface="HK Modular"/>
              </a:rPr>
              <a:t>T.D.D - TEST DRIVEN DEVELOPMENT</a:t>
            </a:r>
          </a:p>
          <a:p>
            <a:pPr algn="ctr">
              <a:lnSpc>
                <a:spcPts val="7012"/>
              </a:lnSpc>
              <a:spcBef>
                <a:spcPct val="0"/>
              </a:spcBef>
            </a:pPr>
            <a:endParaRPr lang="en-US" sz="5008">
              <a:solidFill>
                <a:srgbClr val="F800C0"/>
              </a:solidFill>
              <a:latin typeface="HK Modular"/>
              <a:ea typeface="HK Modular"/>
              <a:cs typeface="HK Modular"/>
              <a:sym typeface="HK Modular"/>
            </a:endParaRPr>
          </a:p>
        </p:txBody>
      </p:sp>
      <p:sp>
        <p:nvSpPr>
          <p:cNvPr id="7" name="TextBox 7"/>
          <p:cNvSpPr txBox="1"/>
          <p:nvPr/>
        </p:nvSpPr>
        <p:spPr>
          <a:xfrm>
            <a:off x="2181545" y="3258669"/>
            <a:ext cx="14143645" cy="1135979"/>
          </a:xfrm>
          <a:prstGeom prst="rect">
            <a:avLst/>
          </a:prstGeom>
        </p:spPr>
        <p:txBody>
          <a:bodyPr lIns="0" tIns="0" rIns="0" bIns="0" rtlCol="0" anchor="t">
            <a:spAutoFit/>
          </a:bodyPr>
          <a:lstStyle/>
          <a:p>
            <a:pPr algn="ctr">
              <a:lnSpc>
                <a:spcPts val="3011"/>
              </a:lnSpc>
            </a:pPr>
            <a:r>
              <a:rPr lang="en-US" sz="2151">
                <a:solidFill>
                  <a:srgbClr val="FFFFFF"/>
                </a:solidFill>
                <a:latin typeface="Open Sans"/>
                <a:ea typeface="Open Sans"/>
                <a:cs typeface="Open Sans"/>
                <a:sym typeface="Open Sans"/>
              </a:rPr>
              <a:t>Es una practica de programacion que consiste en escribir primero las pruebas (generalmente unitarias), despues escribir el codigo fuente que pase la prueba satisfactoriamente y por ultimo, refactorizar el codigo escrito</a:t>
            </a:r>
          </a:p>
        </p:txBody>
      </p:sp>
      <p:sp>
        <p:nvSpPr>
          <p:cNvPr id="8" name="TextBox 8"/>
          <p:cNvSpPr txBox="1"/>
          <p:nvPr/>
        </p:nvSpPr>
        <p:spPr>
          <a:xfrm>
            <a:off x="5474724" y="8875839"/>
            <a:ext cx="6948934" cy="726822"/>
          </a:xfrm>
          <a:prstGeom prst="rect">
            <a:avLst/>
          </a:prstGeom>
        </p:spPr>
        <p:txBody>
          <a:bodyPr lIns="0" tIns="0" rIns="0" bIns="0" rtlCol="0" anchor="t">
            <a:spAutoFit/>
          </a:bodyPr>
          <a:lstStyle/>
          <a:p>
            <a:pPr marL="460941" lvl="1" indent="-230470" algn="ctr">
              <a:lnSpc>
                <a:spcPts val="2988"/>
              </a:lnSpc>
              <a:buFont typeface="Arial"/>
              <a:buChar char="•"/>
            </a:pPr>
            <a:r>
              <a:rPr lang="en-US" sz="2134">
                <a:solidFill>
                  <a:srgbClr val="FFFFFF"/>
                </a:solidFill>
                <a:latin typeface="Open Sans"/>
                <a:ea typeface="Open Sans"/>
                <a:cs typeface="Open Sans"/>
                <a:sym typeface="Open Sans"/>
              </a:rPr>
              <a:t>Este ciclo tambien se conoce como ROJO, VERDE y Refactor</a:t>
            </a:r>
          </a:p>
        </p:txBody>
      </p:sp>
      <p:sp>
        <p:nvSpPr>
          <p:cNvPr id="9" name="Freeform 9"/>
          <p:cNvSpPr/>
          <p:nvPr/>
        </p:nvSpPr>
        <p:spPr>
          <a:xfrm>
            <a:off x="7465641" y="4841275"/>
            <a:ext cx="3575452" cy="3414557"/>
          </a:xfrm>
          <a:custGeom>
            <a:avLst/>
            <a:gdLst/>
            <a:ahLst/>
            <a:cxnLst/>
            <a:rect l="l" t="t" r="r" b="b"/>
            <a:pathLst>
              <a:path w="3575452" h="3414557">
                <a:moveTo>
                  <a:pt x="0" y="0"/>
                </a:moveTo>
                <a:lnTo>
                  <a:pt x="3575452" y="0"/>
                </a:lnTo>
                <a:lnTo>
                  <a:pt x="3575452" y="3414557"/>
                </a:lnTo>
                <a:lnTo>
                  <a:pt x="0" y="3414557"/>
                </a:lnTo>
                <a:lnTo>
                  <a:pt x="0" y="0"/>
                </a:lnTo>
                <a:close/>
              </a:path>
            </a:pathLst>
          </a:custGeom>
          <a:blipFill>
            <a:blip r:embed="rId3"/>
            <a:stretch>
              <a:fillRect/>
            </a:stretch>
          </a:blipFill>
        </p:spPr>
        <p:txBody>
          <a:bodyPr/>
          <a:lstStyle/>
          <a:p>
            <a:endParaRPr lang="es-CO"/>
          </a:p>
        </p:txBody>
      </p:sp>
      <p:sp>
        <p:nvSpPr>
          <p:cNvPr id="10" name="Freeform 10"/>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4"/>
            <a:stretch>
              <a:fillRect/>
            </a:stretch>
          </a:blipFill>
        </p:spPr>
        <p:txBody>
          <a:bodyPr/>
          <a:lstStyle/>
          <a:p>
            <a:endParaRPr lang="es-CO"/>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1682870" y="1923467"/>
            <a:ext cx="15906948" cy="1747534"/>
          </a:xfrm>
          <a:prstGeom prst="rect">
            <a:avLst/>
          </a:prstGeom>
        </p:spPr>
        <p:txBody>
          <a:bodyPr lIns="0" tIns="0" rIns="0" bIns="0" rtlCol="0" anchor="t">
            <a:spAutoFit/>
          </a:bodyPr>
          <a:lstStyle/>
          <a:p>
            <a:pPr algn="ctr">
              <a:lnSpc>
                <a:spcPts val="7012"/>
              </a:lnSpc>
            </a:pPr>
            <a:r>
              <a:rPr lang="en-US" sz="5008">
                <a:solidFill>
                  <a:srgbClr val="E78939"/>
                </a:solidFill>
                <a:latin typeface="HK Modular"/>
                <a:ea typeface="HK Modular"/>
                <a:cs typeface="HK Modular"/>
                <a:sym typeface="HK Modular"/>
              </a:rPr>
              <a:t>T.D.D - EJEMPLO</a:t>
            </a:r>
          </a:p>
          <a:p>
            <a:pPr algn="ctr">
              <a:lnSpc>
                <a:spcPts val="7012"/>
              </a:lnSpc>
              <a:spcBef>
                <a:spcPct val="0"/>
              </a:spcBef>
            </a:pPr>
            <a:endParaRPr lang="en-US" sz="5008">
              <a:solidFill>
                <a:srgbClr val="E78939"/>
              </a:solidFill>
              <a:latin typeface="HK Modular"/>
              <a:ea typeface="HK Modular"/>
              <a:cs typeface="HK Modular"/>
              <a:sym typeface="HK Modular"/>
            </a:endParaRPr>
          </a:p>
        </p:txBody>
      </p:sp>
      <p:sp>
        <p:nvSpPr>
          <p:cNvPr id="7" name="Freeform 7"/>
          <p:cNvSpPr/>
          <p:nvPr/>
        </p:nvSpPr>
        <p:spPr>
          <a:xfrm>
            <a:off x="2763959" y="3114396"/>
            <a:ext cx="2102228" cy="2332570"/>
          </a:xfrm>
          <a:custGeom>
            <a:avLst/>
            <a:gdLst/>
            <a:ahLst/>
            <a:cxnLst/>
            <a:rect l="l" t="t" r="r" b="b"/>
            <a:pathLst>
              <a:path w="2102228" h="2332570">
                <a:moveTo>
                  <a:pt x="0" y="0"/>
                </a:moveTo>
                <a:lnTo>
                  <a:pt x="2102228" y="0"/>
                </a:lnTo>
                <a:lnTo>
                  <a:pt x="2102228" y="2332570"/>
                </a:lnTo>
                <a:lnTo>
                  <a:pt x="0" y="233257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O"/>
          </a:p>
        </p:txBody>
      </p:sp>
      <p:sp>
        <p:nvSpPr>
          <p:cNvPr id="8" name="Freeform 8"/>
          <p:cNvSpPr/>
          <p:nvPr/>
        </p:nvSpPr>
        <p:spPr>
          <a:xfrm>
            <a:off x="8021023" y="7384077"/>
            <a:ext cx="8783357" cy="805141"/>
          </a:xfrm>
          <a:custGeom>
            <a:avLst/>
            <a:gdLst/>
            <a:ahLst/>
            <a:cxnLst/>
            <a:rect l="l" t="t" r="r" b="b"/>
            <a:pathLst>
              <a:path w="8783357" h="805141">
                <a:moveTo>
                  <a:pt x="0" y="0"/>
                </a:moveTo>
                <a:lnTo>
                  <a:pt x="8783357" y="0"/>
                </a:lnTo>
                <a:lnTo>
                  <a:pt x="8783357" y="805141"/>
                </a:lnTo>
                <a:lnTo>
                  <a:pt x="0" y="805141"/>
                </a:lnTo>
                <a:lnTo>
                  <a:pt x="0" y="0"/>
                </a:lnTo>
                <a:close/>
              </a:path>
            </a:pathLst>
          </a:custGeom>
          <a:blipFill>
            <a:blip r:embed="rId4"/>
            <a:stretch>
              <a:fillRect/>
            </a:stretch>
          </a:blipFill>
        </p:spPr>
        <p:txBody>
          <a:bodyPr/>
          <a:lstStyle/>
          <a:p>
            <a:endParaRPr lang="es-CO"/>
          </a:p>
        </p:txBody>
      </p:sp>
      <p:sp>
        <p:nvSpPr>
          <p:cNvPr id="9" name="TextBox 9"/>
          <p:cNvSpPr txBox="1"/>
          <p:nvPr/>
        </p:nvSpPr>
        <p:spPr>
          <a:xfrm>
            <a:off x="6843838" y="3297022"/>
            <a:ext cx="10865702" cy="373979"/>
          </a:xfrm>
          <a:prstGeom prst="rect">
            <a:avLst/>
          </a:prstGeom>
        </p:spPr>
        <p:txBody>
          <a:bodyPr lIns="0" tIns="0" rIns="0" bIns="0" rtlCol="0" anchor="t">
            <a:spAutoFit/>
          </a:bodyPr>
          <a:lstStyle/>
          <a:p>
            <a:pPr marL="464493" lvl="1" indent="-232247" algn="ctr">
              <a:lnSpc>
                <a:spcPts val="3011"/>
              </a:lnSpc>
              <a:buFont typeface="Arial"/>
              <a:buChar char="•"/>
            </a:pPr>
            <a:r>
              <a:rPr lang="en-US" sz="2151">
                <a:solidFill>
                  <a:srgbClr val="FFFFFF"/>
                </a:solidFill>
                <a:latin typeface="Open Sans"/>
                <a:ea typeface="Open Sans"/>
                <a:cs typeface="Open Sans"/>
                <a:sym typeface="Open Sans"/>
              </a:rPr>
              <a:t>Un cliente nos pide que desarrollemos una calculadora que sume numeros</a:t>
            </a:r>
          </a:p>
        </p:txBody>
      </p:sp>
      <p:sp>
        <p:nvSpPr>
          <p:cNvPr id="10" name="TextBox 10"/>
          <p:cNvSpPr txBox="1"/>
          <p:nvPr/>
        </p:nvSpPr>
        <p:spPr>
          <a:xfrm>
            <a:off x="6843838" y="4233056"/>
            <a:ext cx="10865702" cy="1135979"/>
          </a:xfrm>
          <a:prstGeom prst="rect">
            <a:avLst/>
          </a:prstGeom>
        </p:spPr>
        <p:txBody>
          <a:bodyPr lIns="0" tIns="0" rIns="0" bIns="0" rtlCol="0" anchor="t">
            <a:spAutoFit/>
          </a:bodyPr>
          <a:lstStyle/>
          <a:p>
            <a:pPr marL="464493" lvl="1" indent="-232247" algn="ctr">
              <a:lnSpc>
                <a:spcPts val="3011"/>
              </a:lnSpc>
              <a:buFont typeface="Arial"/>
              <a:buChar char="•"/>
            </a:pPr>
            <a:r>
              <a:rPr lang="en-US" sz="2151">
                <a:solidFill>
                  <a:srgbClr val="FFFFFF"/>
                </a:solidFill>
                <a:latin typeface="Open Sans"/>
                <a:ea typeface="Open Sans"/>
                <a:cs typeface="Open Sans"/>
                <a:sym typeface="Open Sans"/>
              </a:rPr>
              <a:t> Se acuerda con el cliente los criterios necesarios es decir: Si al introducir en la calculadora dos numeros y le das a la operacion de sumar, la calculadora debe mostrar el resultado en pantalla</a:t>
            </a:r>
          </a:p>
        </p:txBody>
      </p:sp>
      <p:sp>
        <p:nvSpPr>
          <p:cNvPr id="11" name="TextBox 11"/>
          <p:cNvSpPr txBox="1"/>
          <p:nvPr/>
        </p:nvSpPr>
        <p:spPr>
          <a:xfrm>
            <a:off x="6843838" y="5684549"/>
            <a:ext cx="10865702" cy="1135979"/>
          </a:xfrm>
          <a:prstGeom prst="rect">
            <a:avLst/>
          </a:prstGeom>
        </p:spPr>
        <p:txBody>
          <a:bodyPr lIns="0" tIns="0" rIns="0" bIns="0" rtlCol="0" anchor="t">
            <a:spAutoFit/>
          </a:bodyPr>
          <a:lstStyle/>
          <a:p>
            <a:pPr marL="464493" lvl="1" indent="-232247" algn="ctr">
              <a:lnSpc>
                <a:spcPts val="3011"/>
              </a:lnSpc>
              <a:buFont typeface="Arial"/>
              <a:buChar char="•"/>
            </a:pPr>
            <a:r>
              <a:rPr lang="en-US" sz="2151">
                <a:solidFill>
                  <a:srgbClr val="FFFFFF"/>
                </a:solidFill>
                <a:latin typeface="Open Sans"/>
                <a:ea typeface="Open Sans"/>
                <a:cs typeface="Open Sans"/>
                <a:sym typeface="Open Sans"/>
              </a:rPr>
              <a:t>A partir de lo anterior se comienza a definir el funcionamiento del algoritmo de suma y lo convertimos en una prueba concreta, por ejemplo que pasa si sumamos 3 + 5 = 8</a:t>
            </a:r>
          </a:p>
        </p:txBody>
      </p:sp>
      <p:sp>
        <p:nvSpPr>
          <p:cNvPr id="12" name="Freeform 12"/>
          <p:cNvSpPr/>
          <p:nvPr/>
        </p:nvSpPr>
        <p:spPr>
          <a:xfrm>
            <a:off x="2027347" y="6079369"/>
            <a:ext cx="3575452" cy="3414557"/>
          </a:xfrm>
          <a:custGeom>
            <a:avLst/>
            <a:gdLst/>
            <a:ahLst/>
            <a:cxnLst/>
            <a:rect l="l" t="t" r="r" b="b"/>
            <a:pathLst>
              <a:path w="3575452" h="3414557">
                <a:moveTo>
                  <a:pt x="0" y="0"/>
                </a:moveTo>
                <a:lnTo>
                  <a:pt x="3575452" y="0"/>
                </a:lnTo>
                <a:lnTo>
                  <a:pt x="3575452" y="3414557"/>
                </a:lnTo>
                <a:lnTo>
                  <a:pt x="0" y="3414557"/>
                </a:lnTo>
                <a:lnTo>
                  <a:pt x="0" y="0"/>
                </a:lnTo>
                <a:close/>
              </a:path>
            </a:pathLst>
          </a:custGeom>
          <a:blipFill>
            <a:blip r:embed="rId5"/>
            <a:stretch>
              <a:fillRect/>
            </a:stretch>
          </a:blipFill>
        </p:spPr>
        <p:txBody>
          <a:bodyPr/>
          <a:lstStyle/>
          <a:p>
            <a:endParaRPr lang="es-CO"/>
          </a:p>
        </p:txBody>
      </p:sp>
      <p:sp>
        <p:nvSpPr>
          <p:cNvPr id="13" name="Freeform 13"/>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6"/>
            <a:stretch>
              <a:fillRect/>
            </a:stretch>
          </a:blipFill>
        </p:spPr>
        <p:txBody>
          <a:bodyPr/>
          <a:lstStyle/>
          <a:p>
            <a:endParaRPr lang="es-CO"/>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1682870" y="1923467"/>
            <a:ext cx="15906948" cy="1747534"/>
          </a:xfrm>
          <a:prstGeom prst="rect">
            <a:avLst/>
          </a:prstGeom>
        </p:spPr>
        <p:txBody>
          <a:bodyPr lIns="0" tIns="0" rIns="0" bIns="0" rtlCol="0" anchor="t">
            <a:spAutoFit/>
          </a:bodyPr>
          <a:lstStyle/>
          <a:p>
            <a:pPr algn="ctr">
              <a:lnSpc>
                <a:spcPts val="7012"/>
              </a:lnSpc>
            </a:pPr>
            <a:r>
              <a:rPr lang="en-US" sz="5008">
                <a:solidFill>
                  <a:srgbClr val="E78939"/>
                </a:solidFill>
                <a:latin typeface="HK Modular"/>
                <a:ea typeface="HK Modular"/>
                <a:cs typeface="HK Modular"/>
                <a:sym typeface="HK Modular"/>
              </a:rPr>
              <a:t>T.D.D - EJEMPLO</a:t>
            </a:r>
          </a:p>
          <a:p>
            <a:pPr algn="ctr">
              <a:lnSpc>
                <a:spcPts val="7012"/>
              </a:lnSpc>
              <a:spcBef>
                <a:spcPct val="0"/>
              </a:spcBef>
            </a:pPr>
            <a:endParaRPr lang="en-US" sz="5008">
              <a:solidFill>
                <a:srgbClr val="E78939"/>
              </a:solidFill>
              <a:latin typeface="HK Modular"/>
              <a:ea typeface="HK Modular"/>
              <a:cs typeface="HK Modular"/>
              <a:sym typeface="HK Modular"/>
            </a:endParaRPr>
          </a:p>
        </p:txBody>
      </p:sp>
      <p:sp>
        <p:nvSpPr>
          <p:cNvPr id="7" name="Freeform 7"/>
          <p:cNvSpPr/>
          <p:nvPr/>
        </p:nvSpPr>
        <p:spPr>
          <a:xfrm>
            <a:off x="2763959" y="3114396"/>
            <a:ext cx="2102228" cy="2332570"/>
          </a:xfrm>
          <a:custGeom>
            <a:avLst/>
            <a:gdLst/>
            <a:ahLst/>
            <a:cxnLst/>
            <a:rect l="l" t="t" r="r" b="b"/>
            <a:pathLst>
              <a:path w="2102228" h="2332570">
                <a:moveTo>
                  <a:pt x="0" y="0"/>
                </a:moveTo>
                <a:lnTo>
                  <a:pt x="2102228" y="0"/>
                </a:lnTo>
                <a:lnTo>
                  <a:pt x="2102228" y="2332570"/>
                </a:lnTo>
                <a:lnTo>
                  <a:pt x="0" y="233257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O"/>
          </a:p>
        </p:txBody>
      </p:sp>
      <p:sp>
        <p:nvSpPr>
          <p:cNvPr id="8" name="Freeform 8"/>
          <p:cNvSpPr/>
          <p:nvPr/>
        </p:nvSpPr>
        <p:spPr>
          <a:xfrm>
            <a:off x="7648884" y="6256610"/>
            <a:ext cx="9741679" cy="730626"/>
          </a:xfrm>
          <a:custGeom>
            <a:avLst/>
            <a:gdLst/>
            <a:ahLst/>
            <a:cxnLst/>
            <a:rect l="l" t="t" r="r" b="b"/>
            <a:pathLst>
              <a:path w="9741679" h="730626">
                <a:moveTo>
                  <a:pt x="0" y="0"/>
                </a:moveTo>
                <a:lnTo>
                  <a:pt x="9741679" y="0"/>
                </a:lnTo>
                <a:lnTo>
                  <a:pt x="9741679" y="730626"/>
                </a:lnTo>
                <a:lnTo>
                  <a:pt x="0" y="730626"/>
                </a:lnTo>
                <a:lnTo>
                  <a:pt x="0" y="0"/>
                </a:lnTo>
                <a:close/>
              </a:path>
            </a:pathLst>
          </a:custGeom>
          <a:blipFill>
            <a:blip r:embed="rId4"/>
            <a:stretch>
              <a:fillRect/>
            </a:stretch>
          </a:blipFill>
        </p:spPr>
        <p:txBody>
          <a:bodyPr/>
          <a:lstStyle/>
          <a:p>
            <a:endParaRPr lang="es-CO"/>
          </a:p>
        </p:txBody>
      </p:sp>
      <p:sp>
        <p:nvSpPr>
          <p:cNvPr id="9" name="Freeform 9"/>
          <p:cNvSpPr/>
          <p:nvPr/>
        </p:nvSpPr>
        <p:spPr>
          <a:xfrm>
            <a:off x="8628675" y="8902274"/>
            <a:ext cx="7782096" cy="635933"/>
          </a:xfrm>
          <a:custGeom>
            <a:avLst/>
            <a:gdLst/>
            <a:ahLst/>
            <a:cxnLst/>
            <a:rect l="l" t="t" r="r" b="b"/>
            <a:pathLst>
              <a:path w="7782096" h="635933">
                <a:moveTo>
                  <a:pt x="0" y="0"/>
                </a:moveTo>
                <a:lnTo>
                  <a:pt x="7782097" y="0"/>
                </a:lnTo>
                <a:lnTo>
                  <a:pt x="7782097" y="635933"/>
                </a:lnTo>
                <a:lnTo>
                  <a:pt x="0" y="635933"/>
                </a:lnTo>
                <a:lnTo>
                  <a:pt x="0" y="0"/>
                </a:lnTo>
                <a:close/>
              </a:path>
            </a:pathLst>
          </a:custGeom>
          <a:blipFill>
            <a:blip r:embed="rId5"/>
            <a:stretch>
              <a:fillRect/>
            </a:stretch>
          </a:blipFill>
        </p:spPr>
        <p:txBody>
          <a:bodyPr/>
          <a:lstStyle/>
          <a:p>
            <a:endParaRPr lang="es-CO"/>
          </a:p>
        </p:txBody>
      </p:sp>
      <p:sp>
        <p:nvSpPr>
          <p:cNvPr id="10" name="TextBox 10"/>
          <p:cNvSpPr txBox="1"/>
          <p:nvPr/>
        </p:nvSpPr>
        <p:spPr>
          <a:xfrm>
            <a:off x="7086873" y="3144702"/>
            <a:ext cx="10865702" cy="1135979"/>
          </a:xfrm>
          <a:prstGeom prst="rect">
            <a:avLst/>
          </a:prstGeom>
        </p:spPr>
        <p:txBody>
          <a:bodyPr lIns="0" tIns="0" rIns="0" bIns="0" rtlCol="0" anchor="t">
            <a:spAutoFit/>
          </a:bodyPr>
          <a:lstStyle/>
          <a:p>
            <a:pPr marL="464493" lvl="1" indent="-232247" algn="ctr">
              <a:lnSpc>
                <a:spcPts val="3011"/>
              </a:lnSpc>
              <a:buFont typeface="Arial"/>
              <a:buChar char="•"/>
            </a:pPr>
            <a:r>
              <a:rPr lang="en-US" sz="2151">
                <a:solidFill>
                  <a:srgbClr val="FFFFFF"/>
                </a:solidFill>
                <a:latin typeface="Open Sans"/>
                <a:ea typeface="Open Sans"/>
                <a:cs typeface="Open Sans"/>
                <a:sym typeface="Open Sans"/>
              </a:rPr>
              <a:t>La clase aun no existe pero ya sabemos como va a funcionar, hay casos donde no se sabe exactamente que clases existen o que metodos se colocan, solo es necesario lo que se necesite en el momento</a:t>
            </a:r>
          </a:p>
        </p:txBody>
      </p:sp>
      <p:sp>
        <p:nvSpPr>
          <p:cNvPr id="11" name="TextBox 11"/>
          <p:cNvSpPr txBox="1"/>
          <p:nvPr/>
        </p:nvSpPr>
        <p:spPr>
          <a:xfrm>
            <a:off x="7086873" y="4611920"/>
            <a:ext cx="10865702" cy="373979"/>
          </a:xfrm>
          <a:prstGeom prst="rect">
            <a:avLst/>
          </a:prstGeom>
        </p:spPr>
        <p:txBody>
          <a:bodyPr lIns="0" tIns="0" rIns="0" bIns="0" rtlCol="0" anchor="t">
            <a:spAutoFit/>
          </a:bodyPr>
          <a:lstStyle/>
          <a:p>
            <a:pPr marL="464493" lvl="1" indent="-232247" algn="ctr">
              <a:lnSpc>
                <a:spcPts val="3011"/>
              </a:lnSpc>
              <a:buFont typeface="Arial"/>
              <a:buChar char="•"/>
            </a:pPr>
            <a:r>
              <a:rPr lang="en-US" sz="2151">
                <a:solidFill>
                  <a:srgbClr val="FFFFFF"/>
                </a:solidFill>
                <a:latin typeface="Open Sans"/>
                <a:ea typeface="Open Sans"/>
                <a:cs typeface="Open Sans"/>
                <a:sym typeface="Open Sans"/>
              </a:rPr>
              <a:t>Al ejecutar el test nos dara error, porque la clase aun no existe</a:t>
            </a:r>
          </a:p>
        </p:txBody>
      </p:sp>
      <p:sp>
        <p:nvSpPr>
          <p:cNvPr id="12" name="TextBox 12"/>
          <p:cNvSpPr txBox="1"/>
          <p:nvPr/>
        </p:nvSpPr>
        <p:spPr>
          <a:xfrm>
            <a:off x="7086873" y="5319274"/>
            <a:ext cx="10865702" cy="754979"/>
          </a:xfrm>
          <a:prstGeom prst="rect">
            <a:avLst/>
          </a:prstGeom>
        </p:spPr>
        <p:txBody>
          <a:bodyPr lIns="0" tIns="0" rIns="0" bIns="0" rtlCol="0" anchor="t">
            <a:spAutoFit/>
          </a:bodyPr>
          <a:lstStyle/>
          <a:p>
            <a:pPr marL="464493" lvl="1" indent="-232247" algn="ctr">
              <a:lnSpc>
                <a:spcPts val="3011"/>
              </a:lnSpc>
              <a:buFont typeface="Arial"/>
              <a:buChar char="•"/>
            </a:pPr>
            <a:r>
              <a:rPr lang="en-US" sz="2151">
                <a:solidFill>
                  <a:srgbClr val="FFFFFF"/>
                </a:solidFill>
                <a:latin typeface="Open Sans"/>
                <a:ea typeface="Open Sans"/>
                <a:cs typeface="Open Sans"/>
                <a:sym typeface="Open Sans"/>
              </a:rPr>
              <a:t>Ahora pasamos a escribir el codigo de la clase, es facil porque ya sabemos su comportamiento</a:t>
            </a:r>
          </a:p>
        </p:txBody>
      </p:sp>
      <p:sp>
        <p:nvSpPr>
          <p:cNvPr id="13" name="TextBox 13"/>
          <p:cNvSpPr txBox="1"/>
          <p:nvPr/>
        </p:nvSpPr>
        <p:spPr>
          <a:xfrm>
            <a:off x="7086873" y="7320611"/>
            <a:ext cx="10865702" cy="754979"/>
          </a:xfrm>
          <a:prstGeom prst="rect">
            <a:avLst/>
          </a:prstGeom>
        </p:spPr>
        <p:txBody>
          <a:bodyPr lIns="0" tIns="0" rIns="0" bIns="0" rtlCol="0" anchor="t">
            <a:spAutoFit/>
          </a:bodyPr>
          <a:lstStyle/>
          <a:p>
            <a:pPr marL="464493" lvl="1" indent="-232247" algn="ctr">
              <a:lnSpc>
                <a:spcPts val="3011"/>
              </a:lnSpc>
              <a:buFont typeface="Arial"/>
              <a:buChar char="•"/>
            </a:pPr>
            <a:r>
              <a:rPr lang="en-US" sz="2151">
                <a:solidFill>
                  <a:srgbClr val="FFFFFF"/>
                </a:solidFill>
                <a:latin typeface="Open Sans"/>
                <a:ea typeface="Open Sans"/>
                <a:cs typeface="Open Sans"/>
                <a:sym typeface="Open Sans"/>
              </a:rPr>
              <a:t>Ahora re ejecutamos la prueba, y ya debe estar funcionando gracias a la implementacion</a:t>
            </a:r>
          </a:p>
        </p:txBody>
      </p:sp>
      <p:sp>
        <p:nvSpPr>
          <p:cNvPr id="14" name="TextBox 14"/>
          <p:cNvSpPr txBox="1"/>
          <p:nvPr/>
        </p:nvSpPr>
        <p:spPr>
          <a:xfrm>
            <a:off x="7193955" y="8208939"/>
            <a:ext cx="10865702" cy="378741"/>
          </a:xfrm>
          <a:prstGeom prst="rect">
            <a:avLst/>
          </a:prstGeom>
        </p:spPr>
        <p:txBody>
          <a:bodyPr lIns="0" tIns="0" rIns="0" bIns="0" rtlCol="0" anchor="t">
            <a:spAutoFit/>
          </a:bodyPr>
          <a:lstStyle/>
          <a:p>
            <a:pPr marL="464493" lvl="1" indent="-232247" algn="ctr">
              <a:lnSpc>
                <a:spcPts val="3011"/>
              </a:lnSpc>
              <a:buFont typeface="Arial"/>
              <a:buChar char="•"/>
            </a:pPr>
            <a:r>
              <a:rPr lang="en-US" sz="2151">
                <a:solidFill>
                  <a:srgbClr val="FFFFFF"/>
                </a:solidFill>
                <a:latin typeface="Open Sans"/>
                <a:ea typeface="Open Sans"/>
                <a:cs typeface="Open Sans"/>
                <a:sym typeface="Open Sans"/>
              </a:rPr>
              <a:t>Una vez funcionando, pasamos a refactorizar y a eliminar codigo duplicado</a:t>
            </a:r>
          </a:p>
        </p:txBody>
      </p:sp>
      <p:sp>
        <p:nvSpPr>
          <p:cNvPr id="15" name="Freeform 15"/>
          <p:cNvSpPr/>
          <p:nvPr/>
        </p:nvSpPr>
        <p:spPr>
          <a:xfrm>
            <a:off x="2027347" y="6079369"/>
            <a:ext cx="3575452" cy="3414557"/>
          </a:xfrm>
          <a:custGeom>
            <a:avLst/>
            <a:gdLst/>
            <a:ahLst/>
            <a:cxnLst/>
            <a:rect l="l" t="t" r="r" b="b"/>
            <a:pathLst>
              <a:path w="3575452" h="3414557">
                <a:moveTo>
                  <a:pt x="0" y="0"/>
                </a:moveTo>
                <a:lnTo>
                  <a:pt x="3575452" y="0"/>
                </a:lnTo>
                <a:lnTo>
                  <a:pt x="3575452" y="3414557"/>
                </a:lnTo>
                <a:lnTo>
                  <a:pt x="0" y="3414557"/>
                </a:lnTo>
                <a:lnTo>
                  <a:pt x="0" y="0"/>
                </a:lnTo>
                <a:close/>
              </a:path>
            </a:pathLst>
          </a:custGeom>
          <a:blipFill>
            <a:blip r:embed="rId6"/>
            <a:stretch>
              <a:fillRect/>
            </a:stretch>
          </a:blipFill>
        </p:spPr>
        <p:txBody>
          <a:bodyPr/>
          <a:lstStyle/>
          <a:p>
            <a:endParaRPr lang="es-CO"/>
          </a:p>
        </p:txBody>
      </p:sp>
      <p:sp>
        <p:nvSpPr>
          <p:cNvPr id="16" name="Freeform 16"/>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7"/>
            <a:stretch>
              <a:fillRect/>
            </a:stretch>
          </a:blipFill>
        </p:spPr>
        <p:txBody>
          <a:bodyPr/>
          <a:lstStyle/>
          <a:p>
            <a:endParaRPr lang="es-CO"/>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1682870" y="1923467"/>
            <a:ext cx="15906948" cy="1747534"/>
          </a:xfrm>
          <a:prstGeom prst="rect">
            <a:avLst/>
          </a:prstGeom>
        </p:spPr>
        <p:txBody>
          <a:bodyPr lIns="0" tIns="0" rIns="0" bIns="0" rtlCol="0" anchor="t">
            <a:spAutoFit/>
          </a:bodyPr>
          <a:lstStyle/>
          <a:p>
            <a:pPr algn="ctr">
              <a:lnSpc>
                <a:spcPts val="7012"/>
              </a:lnSpc>
            </a:pPr>
            <a:r>
              <a:rPr lang="en-US" sz="5008">
                <a:solidFill>
                  <a:srgbClr val="E78939"/>
                </a:solidFill>
                <a:latin typeface="HK Modular"/>
                <a:ea typeface="HK Modular"/>
                <a:cs typeface="HK Modular"/>
                <a:sym typeface="HK Modular"/>
              </a:rPr>
              <a:t>T.D.D - EJEMPLO</a:t>
            </a:r>
          </a:p>
          <a:p>
            <a:pPr algn="ctr">
              <a:lnSpc>
                <a:spcPts val="7012"/>
              </a:lnSpc>
              <a:spcBef>
                <a:spcPct val="0"/>
              </a:spcBef>
            </a:pPr>
            <a:endParaRPr lang="en-US" sz="5008">
              <a:solidFill>
                <a:srgbClr val="E78939"/>
              </a:solidFill>
              <a:latin typeface="HK Modular"/>
              <a:ea typeface="HK Modular"/>
              <a:cs typeface="HK Modular"/>
              <a:sym typeface="HK Modular"/>
            </a:endParaRPr>
          </a:p>
        </p:txBody>
      </p:sp>
      <p:sp>
        <p:nvSpPr>
          <p:cNvPr id="7" name="Freeform 7"/>
          <p:cNvSpPr/>
          <p:nvPr/>
        </p:nvSpPr>
        <p:spPr>
          <a:xfrm>
            <a:off x="7604006" y="6259177"/>
            <a:ext cx="3502948" cy="3886766"/>
          </a:xfrm>
          <a:custGeom>
            <a:avLst/>
            <a:gdLst/>
            <a:ahLst/>
            <a:cxnLst/>
            <a:rect l="l" t="t" r="r" b="b"/>
            <a:pathLst>
              <a:path w="3502948" h="3886766">
                <a:moveTo>
                  <a:pt x="0" y="0"/>
                </a:moveTo>
                <a:lnTo>
                  <a:pt x="3502948" y="0"/>
                </a:lnTo>
                <a:lnTo>
                  <a:pt x="3502948" y="3886766"/>
                </a:lnTo>
                <a:lnTo>
                  <a:pt x="0" y="388676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O"/>
          </a:p>
        </p:txBody>
      </p:sp>
      <p:sp>
        <p:nvSpPr>
          <p:cNvPr id="8" name="TextBox 8"/>
          <p:cNvSpPr txBox="1"/>
          <p:nvPr/>
        </p:nvSpPr>
        <p:spPr>
          <a:xfrm>
            <a:off x="3820516" y="3269699"/>
            <a:ext cx="10865702" cy="754979"/>
          </a:xfrm>
          <a:prstGeom prst="rect">
            <a:avLst/>
          </a:prstGeom>
        </p:spPr>
        <p:txBody>
          <a:bodyPr lIns="0" tIns="0" rIns="0" bIns="0" rtlCol="0" anchor="t">
            <a:spAutoFit/>
          </a:bodyPr>
          <a:lstStyle/>
          <a:p>
            <a:pPr marL="464493" lvl="1" indent="-232247" algn="ctr">
              <a:lnSpc>
                <a:spcPts val="3011"/>
              </a:lnSpc>
              <a:buFont typeface="Arial"/>
              <a:buChar char="•"/>
            </a:pPr>
            <a:r>
              <a:rPr lang="en-US" sz="2151">
                <a:solidFill>
                  <a:srgbClr val="FFFFFF"/>
                </a:solidFill>
                <a:latin typeface="Open Sans"/>
                <a:ea typeface="Open Sans"/>
                <a:cs typeface="Open Sans"/>
                <a:sym typeface="Open Sans"/>
              </a:rPr>
              <a:t>Es importante pasar todos los test despues de refactorizar por si se ha cambiado algo</a:t>
            </a:r>
          </a:p>
        </p:txBody>
      </p:sp>
      <p:sp>
        <p:nvSpPr>
          <p:cNvPr id="9" name="TextBox 9"/>
          <p:cNvSpPr txBox="1"/>
          <p:nvPr/>
        </p:nvSpPr>
        <p:spPr>
          <a:xfrm>
            <a:off x="3820516" y="4361198"/>
            <a:ext cx="10865702" cy="1516979"/>
          </a:xfrm>
          <a:prstGeom prst="rect">
            <a:avLst/>
          </a:prstGeom>
        </p:spPr>
        <p:txBody>
          <a:bodyPr lIns="0" tIns="0" rIns="0" bIns="0" rtlCol="0" anchor="t">
            <a:spAutoFit/>
          </a:bodyPr>
          <a:lstStyle/>
          <a:p>
            <a:pPr marL="464493" lvl="1" indent="-232247" algn="ctr">
              <a:lnSpc>
                <a:spcPts val="3011"/>
              </a:lnSpc>
              <a:buFont typeface="Arial"/>
              <a:buChar char="•"/>
            </a:pPr>
            <a:r>
              <a:rPr lang="en-US" sz="2151">
                <a:solidFill>
                  <a:srgbClr val="FFFFFF"/>
                </a:solidFill>
                <a:latin typeface="Open Sans"/>
                <a:ea typeface="Open Sans"/>
                <a:cs typeface="Open Sans"/>
                <a:sym typeface="Open Sans"/>
              </a:rPr>
              <a:t>Se puede volver a los criterios de la calculadora con funcionalidades mas complicadas como lo es admitir numeros decimales, sumar numeros negativos, que la suma sin importar si a &gt; b o b &gt; a de igual, etc, y replicar el mismo procedimiento.</a:t>
            </a:r>
          </a:p>
        </p:txBody>
      </p:sp>
      <p:sp>
        <p:nvSpPr>
          <p:cNvPr id="10" name="Freeform 10"/>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4"/>
            <a:stretch>
              <a:fillRect/>
            </a:stretch>
          </a:blipFill>
        </p:spPr>
        <p:txBody>
          <a:bodyPr/>
          <a:lstStyle/>
          <a:p>
            <a:endParaRPr lang="es-CO"/>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2706985" y="4475137"/>
            <a:ext cx="1743099" cy="2697252"/>
          </a:xfrm>
          <a:custGeom>
            <a:avLst/>
            <a:gdLst/>
            <a:ahLst/>
            <a:cxnLst/>
            <a:rect l="l" t="t" r="r" b="b"/>
            <a:pathLst>
              <a:path w="1743099" h="2697252">
                <a:moveTo>
                  <a:pt x="0" y="0"/>
                </a:moveTo>
                <a:lnTo>
                  <a:pt x="1743099" y="0"/>
                </a:lnTo>
                <a:lnTo>
                  <a:pt x="1743099" y="2697252"/>
                </a:lnTo>
                <a:lnTo>
                  <a:pt x="0" y="26972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O"/>
          </a:p>
        </p:txBody>
      </p:sp>
      <p:sp>
        <p:nvSpPr>
          <p:cNvPr id="7" name="Freeform 7"/>
          <p:cNvSpPr/>
          <p:nvPr/>
        </p:nvSpPr>
        <p:spPr>
          <a:xfrm>
            <a:off x="8534381" y="4831536"/>
            <a:ext cx="1962234" cy="1962234"/>
          </a:xfrm>
          <a:custGeom>
            <a:avLst/>
            <a:gdLst/>
            <a:ahLst/>
            <a:cxnLst/>
            <a:rect l="l" t="t" r="r" b="b"/>
            <a:pathLst>
              <a:path w="1962234" h="1962234">
                <a:moveTo>
                  <a:pt x="0" y="0"/>
                </a:moveTo>
                <a:lnTo>
                  <a:pt x="1962233" y="0"/>
                </a:lnTo>
                <a:lnTo>
                  <a:pt x="1962233" y="1962233"/>
                </a:lnTo>
                <a:lnTo>
                  <a:pt x="0" y="196223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p:cNvSpPr/>
          <p:nvPr/>
        </p:nvSpPr>
        <p:spPr>
          <a:xfrm>
            <a:off x="13914223" y="4642333"/>
            <a:ext cx="3094870" cy="2530056"/>
          </a:xfrm>
          <a:custGeom>
            <a:avLst/>
            <a:gdLst/>
            <a:ahLst/>
            <a:cxnLst/>
            <a:rect l="l" t="t" r="r" b="b"/>
            <a:pathLst>
              <a:path w="3094870" h="2530056">
                <a:moveTo>
                  <a:pt x="0" y="0"/>
                </a:moveTo>
                <a:lnTo>
                  <a:pt x="3094869" y="0"/>
                </a:lnTo>
                <a:lnTo>
                  <a:pt x="3094869" y="2530056"/>
                </a:lnTo>
                <a:lnTo>
                  <a:pt x="0" y="2530056"/>
                </a:lnTo>
                <a:lnTo>
                  <a:pt x="0" y="0"/>
                </a:lnTo>
                <a:close/>
              </a:path>
            </a:pathLst>
          </a:custGeom>
          <a:blipFill>
            <a:blip r:embed="rId5"/>
            <a:stretch>
              <a:fillRect/>
            </a:stretch>
          </a:blipFill>
        </p:spPr>
        <p:txBody>
          <a:bodyPr/>
          <a:lstStyle/>
          <a:p>
            <a:endParaRPr lang="es-CO"/>
          </a:p>
        </p:txBody>
      </p:sp>
      <p:sp>
        <p:nvSpPr>
          <p:cNvPr id="9" name="TextBox 9"/>
          <p:cNvSpPr txBox="1"/>
          <p:nvPr/>
        </p:nvSpPr>
        <p:spPr>
          <a:xfrm>
            <a:off x="1562024" y="2194248"/>
            <a:ext cx="15906948" cy="2637287"/>
          </a:xfrm>
          <a:prstGeom prst="rect">
            <a:avLst/>
          </a:prstGeom>
        </p:spPr>
        <p:txBody>
          <a:bodyPr lIns="0" tIns="0" rIns="0" bIns="0" rtlCol="0" anchor="t">
            <a:spAutoFit/>
          </a:bodyPr>
          <a:lstStyle/>
          <a:p>
            <a:pPr algn="ctr">
              <a:lnSpc>
                <a:spcPts val="7012"/>
              </a:lnSpc>
            </a:pPr>
            <a:r>
              <a:rPr lang="en-US" sz="5008">
                <a:solidFill>
                  <a:srgbClr val="FA18C2"/>
                </a:solidFill>
                <a:latin typeface="HK Modular"/>
                <a:ea typeface="HK Modular"/>
                <a:cs typeface="HK Modular"/>
                <a:sym typeface="HK Modular"/>
              </a:rPr>
              <a:t>¿COMO DISEÑAR ESCENARIOS DE PRUEBAS?</a:t>
            </a:r>
          </a:p>
          <a:p>
            <a:pPr algn="ctr">
              <a:lnSpc>
                <a:spcPts val="7012"/>
              </a:lnSpc>
              <a:spcBef>
                <a:spcPct val="0"/>
              </a:spcBef>
            </a:pPr>
            <a:endParaRPr lang="en-US" sz="5008">
              <a:solidFill>
                <a:srgbClr val="FA18C2"/>
              </a:solidFill>
              <a:latin typeface="HK Modular"/>
              <a:ea typeface="HK Modular"/>
              <a:cs typeface="HK Modular"/>
              <a:sym typeface="HK Modular"/>
            </a:endParaRPr>
          </a:p>
        </p:txBody>
      </p:sp>
      <p:sp>
        <p:nvSpPr>
          <p:cNvPr id="10" name="TextBox 10"/>
          <p:cNvSpPr txBox="1"/>
          <p:nvPr/>
        </p:nvSpPr>
        <p:spPr>
          <a:xfrm>
            <a:off x="1366992" y="7447812"/>
            <a:ext cx="4186081" cy="1418371"/>
          </a:xfrm>
          <a:prstGeom prst="rect">
            <a:avLst/>
          </a:prstGeom>
        </p:spPr>
        <p:txBody>
          <a:bodyPr lIns="0" tIns="0" rIns="0" bIns="0" rtlCol="0" anchor="t">
            <a:spAutoFit/>
          </a:bodyPr>
          <a:lstStyle/>
          <a:p>
            <a:pPr algn="ctr">
              <a:lnSpc>
                <a:spcPts val="3754"/>
              </a:lnSpc>
            </a:pPr>
            <a:r>
              <a:rPr lang="en-US" sz="2682">
                <a:solidFill>
                  <a:srgbClr val="E78939"/>
                </a:solidFill>
                <a:latin typeface="HK Modular"/>
                <a:ea typeface="HK Modular"/>
                <a:cs typeface="HK Modular"/>
                <a:sym typeface="HK Modular"/>
              </a:rPr>
              <a:t>CRITERIOS DE ACEPTACION</a:t>
            </a:r>
          </a:p>
          <a:p>
            <a:pPr algn="ctr">
              <a:lnSpc>
                <a:spcPts val="3754"/>
              </a:lnSpc>
              <a:spcBef>
                <a:spcPct val="0"/>
              </a:spcBef>
            </a:pPr>
            <a:endParaRPr lang="en-US" sz="2682">
              <a:solidFill>
                <a:srgbClr val="E78939"/>
              </a:solidFill>
              <a:latin typeface="HK Modular"/>
              <a:ea typeface="HK Modular"/>
              <a:cs typeface="HK Modular"/>
              <a:sym typeface="HK Modular"/>
            </a:endParaRPr>
          </a:p>
        </p:txBody>
      </p:sp>
      <p:sp>
        <p:nvSpPr>
          <p:cNvPr id="11" name="TextBox 11"/>
          <p:cNvSpPr txBox="1"/>
          <p:nvPr/>
        </p:nvSpPr>
        <p:spPr>
          <a:xfrm>
            <a:off x="7422457" y="7447812"/>
            <a:ext cx="4186081" cy="1418371"/>
          </a:xfrm>
          <a:prstGeom prst="rect">
            <a:avLst/>
          </a:prstGeom>
        </p:spPr>
        <p:txBody>
          <a:bodyPr lIns="0" tIns="0" rIns="0" bIns="0" rtlCol="0" anchor="t">
            <a:spAutoFit/>
          </a:bodyPr>
          <a:lstStyle/>
          <a:p>
            <a:pPr algn="ctr">
              <a:lnSpc>
                <a:spcPts val="3754"/>
              </a:lnSpc>
            </a:pPr>
            <a:r>
              <a:rPr lang="en-US" sz="2682">
                <a:solidFill>
                  <a:srgbClr val="E78939"/>
                </a:solidFill>
                <a:latin typeface="HK Modular"/>
                <a:ea typeface="HK Modular"/>
                <a:cs typeface="HK Modular"/>
                <a:sym typeface="HK Modular"/>
              </a:rPr>
              <a:t>PRINCIPIOS DE LAS PRUEBAS</a:t>
            </a:r>
          </a:p>
          <a:p>
            <a:pPr algn="ctr">
              <a:lnSpc>
                <a:spcPts val="3754"/>
              </a:lnSpc>
              <a:spcBef>
                <a:spcPct val="0"/>
              </a:spcBef>
            </a:pPr>
            <a:endParaRPr lang="en-US" sz="2682">
              <a:solidFill>
                <a:srgbClr val="E78939"/>
              </a:solidFill>
              <a:latin typeface="HK Modular"/>
              <a:ea typeface="HK Modular"/>
              <a:cs typeface="HK Modular"/>
              <a:sym typeface="HK Modular"/>
            </a:endParaRPr>
          </a:p>
        </p:txBody>
      </p:sp>
      <p:sp>
        <p:nvSpPr>
          <p:cNvPr id="12" name="TextBox 12"/>
          <p:cNvSpPr txBox="1"/>
          <p:nvPr/>
        </p:nvSpPr>
        <p:spPr>
          <a:xfrm>
            <a:off x="13586937" y="7447812"/>
            <a:ext cx="4186081" cy="1418371"/>
          </a:xfrm>
          <a:prstGeom prst="rect">
            <a:avLst/>
          </a:prstGeom>
        </p:spPr>
        <p:txBody>
          <a:bodyPr lIns="0" tIns="0" rIns="0" bIns="0" rtlCol="0" anchor="t">
            <a:spAutoFit/>
          </a:bodyPr>
          <a:lstStyle/>
          <a:p>
            <a:pPr algn="ctr">
              <a:lnSpc>
                <a:spcPts val="3754"/>
              </a:lnSpc>
            </a:pPr>
            <a:r>
              <a:rPr lang="en-US" sz="2682">
                <a:solidFill>
                  <a:srgbClr val="E78939"/>
                </a:solidFill>
                <a:latin typeface="HK Modular"/>
                <a:ea typeface="HK Modular"/>
                <a:cs typeface="HK Modular"/>
                <a:sym typeface="HK Modular"/>
              </a:rPr>
              <a:t>PARTES DE UNA PRUEBA</a:t>
            </a:r>
          </a:p>
          <a:p>
            <a:pPr algn="ctr">
              <a:lnSpc>
                <a:spcPts val="3754"/>
              </a:lnSpc>
              <a:spcBef>
                <a:spcPct val="0"/>
              </a:spcBef>
            </a:pPr>
            <a:endParaRPr lang="en-US" sz="2682">
              <a:solidFill>
                <a:srgbClr val="E78939"/>
              </a:solidFill>
              <a:latin typeface="HK Modular"/>
              <a:ea typeface="HK Modular"/>
              <a:cs typeface="HK Modular"/>
              <a:sym typeface="HK Modular"/>
            </a:endParaRPr>
          </a:p>
        </p:txBody>
      </p:sp>
      <p:sp>
        <p:nvSpPr>
          <p:cNvPr id="13" name="Freeform 13"/>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6"/>
            <a:stretch>
              <a:fillRect/>
            </a:stretch>
          </a:blipFill>
        </p:spPr>
        <p:txBody>
          <a:bodyPr/>
          <a:lstStyle/>
          <a:p>
            <a:endParaRPr lang="es-CO"/>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2102756" y="3747120"/>
            <a:ext cx="3309147" cy="5120538"/>
          </a:xfrm>
          <a:custGeom>
            <a:avLst/>
            <a:gdLst/>
            <a:ahLst/>
            <a:cxnLst/>
            <a:rect l="l" t="t" r="r" b="b"/>
            <a:pathLst>
              <a:path w="3309147" h="5120538">
                <a:moveTo>
                  <a:pt x="0" y="0"/>
                </a:moveTo>
                <a:lnTo>
                  <a:pt x="3309148" y="0"/>
                </a:lnTo>
                <a:lnTo>
                  <a:pt x="3309148" y="5120537"/>
                </a:lnTo>
                <a:lnTo>
                  <a:pt x="0" y="512053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O"/>
          </a:p>
        </p:txBody>
      </p:sp>
      <p:sp>
        <p:nvSpPr>
          <p:cNvPr id="7" name="TextBox 7"/>
          <p:cNvSpPr txBox="1"/>
          <p:nvPr/>
        </p:nvSpPr>
        <p:spPr>
          <a:xfrm>
            <a:off x="2464499" y="2194248"/>
            <a:ext cx="13577736" cy="1552871"/>
          </a:xfrm>
          <a:prstGeom prst="rect">
            <a:avLst/>
          </a:prstGeom>
        </p:spPr>
        <p:txBody>
          <a:bodyPr lIns="0" tIns="0" rIns="0" bIns="0" rtlCol="0" anchor="t">
            <a:spAutoFit/>
          </a:bodyPr>
          <a:lstStyle/>
          <a:p>
            <a:pPr algn="ctr">
              <a:lnSpc>
                <a:spcPts val="6200"/>
              </a:lnSpc>
            </a:pPr>
            <a:r>
              <a:rPr lang="en-US" sz="4428">
                <a:solidFill>
                  <a:srgbClr val="E78939"/>
                </a:solidFill>
                <a:latin typeface="HK Modular"/>
                <a:ea typeface="HK Modular"/>
                <a:cs typeface="HK Modular"/>
                <a:sym typeface="HK Modular"/>
              </a:rPr>
              <a:t>CRITERIOS DE ACEPTACION</a:t>
            </a:r>
          </a:p>
          <a:p>
            <a:pPr algn="ctr">
              <a:lnSpc>
                <a:spcPts val="6200"/>
              </a:lnSpc>
              <a:spcBef>
                <a:spcPct val="0"/>
              </a:spcBef>
            </a:pPr>
            <a:endParaRPr lang="en-US" sz="4428">
              <a:solidFill>
                <a:srgbClr val="E78939"/>
              </a:solidFill>
              <a:latin typeface="HK Modular"/>
              <a:ea typeface="HK Modular"/>
              <a:cs typeface="HK Modular"/>
              <a:sym typeface="HK Modular"/>
            </a:endParaRPr>
          </a:p>
        </p:txBody>
      </p:sp>
      <p:sp>
        <p:nvSpPr>
          <p:cNvPr id="8" name="TextBox 8"/>
          <p:cNvSpPr txBox="1"/>
          <p:nvPr/>
        </p:nvSpPr>
        <p:spPr>
          <a:xfrm>
            <a:off x="6735921" y="3632668"/>
            <a:ext cx="10865702" cy="1135979"/>
          </a:xfrm>
          <a:prstGeom prst="rect">
            <a:avLst/>
          </a:prstGeom>
        </p:spPr>
        <p:txBody>
          <a:bodyPr lIns="0" tIns="0" rIns="0" bIns="0" rtlCol="0" anchor="t">
            <a:spAutoFit/>
          </a:bodyPr>
          <a:lstStyle/>
          <a:p>
            <a:pPr algn="ctr">
              <a:lnSpc>
                <a:spcPts val="3011"/>
              </a:lnSpc>
            </a:pPr>
            <a:r>
              <a:rPr lang="en-US" sz="2151">
                <a:solidFill>
                  <a:srgbClr val="FFFFFF"/>
                </a:solidFill>
                <a:latin typeface="Open Sans"/>
                <a:ea typeface="Open Sans"/>
                <a:cs typeface="Open Sans"/>
                <a:sym typeface="Open Sans"/>
              </a:rPr>
              <a:t>Son un conjunto de condiciones o reglas que una funcionalidad debe cumplir para considerarse terminada y aceptada por el usuario, el cliente o el Product owner (Dueño del Producto)</a:t>
            </a:r>
          </a:p>
        </p:txBody>
      </p:sp>
      <p:sp>
        <p:nvSpPr>
          <p:cNvPr id="9" name="TextBox 9"/>
          <p:cNvSpPr txBox="1"/>
          <p:nvPr/>
        </p:nvSpPr>
        <p:spPr>
          <a:xfrm>
            <a:off x="6923600" y="6507554"/>
            <a:ext cx="10865702" cy="373979"/>
          </a:xfrm>
          <a:prstGeom prst="rect">
            <a:avLst/>
          </a:prstGeom>
        </p:spPr>
        <p:txBody>
          <a:bodyPr lIns="0" tIns="0" rIns="0" bIns="0" rtlCol="0" anchor="t">
            <a:spAutoFit/>
          </a:bodyPr>
          <a:lstStyle/>
          <a:p>
            <a:pPr algn="ctr">
              <a:lnSpc>
                <a:spcPts val="3011"/>
              </a:lnSpc>
            </a:pPr>
            <a:r>
              <a:rPr lang="en-US" sz="2151">
                <a:solidFill>
                  <a:srgbClr val="FFFFFF"/>
                </a:solidFill>
                <a:latin typeface="Open Sans"/>
                <a:ea typeface="Open Sans"/>
                <a:cs typeface="Open Sans"/>
                <a:sym typeface="Open Sans"/>
              </a:rPr>
              <a:t>Se escriben desde la perspectiva del usuario final</a:t>
            </a:r>
          </a:p>
        </p:txBody>
      </p:sp>
      <p:sp>
        <p:nvSpPr>
          <p:cNvPr id="10" name="TextBox 10"/>
          <p:cNvSpPr txBox="1"/>
          <p:nvPr/>
        </p:nvSpPr>
        <p:spPr>
          <a:xfrm>
            <a:off x="7850867" y="5521121"/>
            <a:ext cx="9011167" cy="1034058"/>
          </a:xfrm>
          <a:prstGeom prst="rect">
            <a:avLst/>
          </a:prstGeom>
        </p:spPr>
        <p:txBody>
          <a:bodyPr lIns="0" tIns="0" rIns="0" bIns="0" rtlCol="0" anchor="t">
            <a:spAutoFit/>
          </a:bodyPr>
          <a:lstStyle/>
          <a:p>
            <a:pPr algn="ctr">
              <a:lnSpc>
                <a:spcPts val="4114"/>
              </a:lnSpc>
            </a:pPr>
            <a:r>
              <a:rPr lang="en-US" sz="2939">
                <a:solidFill>
                  <a:srgbClr val="F400BC"/>
                </a:solidFill>
                <a:latin typeface="HK Modular"/>
                <a:ea typeface="HK Modular"/>
                <a:cs typeface="HK Modular"/>
                <a:sym typeface="HK Modular"/>
              </a:rPr>
              <a:t>CARACTETISTICAS</a:t>
            </a:r>
          </a:p>
          <a:p>
            <a:pPr algn="ctr">
              <a:lnSpc>
                <a:spcPts val="4114"/>
              </a:lnSpc>
              <a:spcBef>
                <a:spcPct val="0"/>
              </a:spcBef>
            </a:pPr>
            <a:endParaRPr lang="en-US" sz="2939">
              <a:solidFill>
                <a:srgbClr val="F400BC"/>
              </a:solidFill>
              <a:latin typeface="HK Modular"/>
              <a:ea typeface="HK Modular"/>
              <a:cs typeface="HK Modular"/>
              <a:sym typeface="HK Modular"/>
            </a:endParaRPr>
          </a:p>
        </p:txBody>
      </p:sp>
      <p:sp>
        <p:nvSpPr>
          <p:cNvPr id="11" name="TextBox 11"/>
          <p:cNvSpPr txBox="1"/>
          <p:nvPr/>
        </p:nvSpPr>
        <p:spPr>
          <a:xfrm>
            <a:off x="6923600" y="7130983"/>
            <a:ext cx="10865702" cy="373979"/>
          </a:xfrm>
          <a:prstGeom prst="rect">
            <a:avLst/>
          </a:prstGeom>
        </p:spPr>
        <p:txBody>
          <a:bodyPr lIns="0" tIns="0" rIns="0" bIns="0" rtlCol="0" anchor="t">
            <a:spAutoFit/>
          </a:bodyPr>
          <a:lstStyle/>
          <a:p>
            <a:pPr algn="ctr">
              <a:lnSpc>
                <a:spcPts val="3011"/>
              </a:lnSpc>
            </a:pPr>
            <a:r>
              <a:rPr lang="en-US" sz="2151">
                <a:solidFill>
                  <a:srgbClr val="FFFFFF"/>
                </a:solidFill>
                <a:latin typeface="Open Sans"/>
                <a:ea typeface="Open Sans"/>
                <a:cs typeface="Open Sans"/>
                <a:sym typeface="Open Sans"/>
              </a:rPr>
              <a:t>Definen que significa listo (Definition of Done) para un requisito</a:t>
            </a:r>
          </a:p>
        </p:txBody>
      </p:sp>
      <p:sp>
        <p:nvSpPr>
          <p:cNvPr id="12" name="TextBox 12"/>
          <p:cNvSpPr txBox="1"/>
          <p:nvPr/>
        </p:nvSpPr>
        <p:spPr>
          <a:xfrm>
            <a:off x="6923600" y="7652599"/>
            <a:ext cx="10865702" cy="373979"/>
          </a:xfrm>
          <a:prstGeom prst="rect">
            <a:avLst/>
          </a:prstGeom>
        </p:spPr>
        <p:txBody>
          <a:bodyPr lIns="0" tIns="0" rIns="0" bIns="0" rtlCol="0" anchor="t">
            <a:spAutoFit/>
          </a:bodyPr>
          <a:lstStyle/>
          <a:p>
            <a:pPr algn="ctr">
              <a:lnSpc>
                <a:spcPts val="3011"/>
              </a:lnSpc>
            </a:pPr>
            <a:r>
              <a:rPr lang="en-US" sz="2151">
                <a:solidFill>
                  <a:srgbClr val="FFFFFF"/>
                </a:solidFill>
                <a:latin typeface="Open Sans"/>
                <a:ea typeface="Open Sans"/>
                <a:cs typeface="Open Sans"/>
                <a:sym typeface="Open Sans"/>
              </a:rPr>
              <a:t>Son medibles y verificables, de forma que se pueda comprobar con pruebas</a:t>
            </a:r>
          </a:p>
        </p:txBody>
      </p:sp>
      <p:sp>
        <p:nvSpPr>
          <p:cNvPr id="13" name="TextBox 13"/>
          <p:cNvSpPr txBox="1"/>
          <p:nvPr/>
        </p:nvSpPr>
        <p:spPr>
          <a:xfrm>
            <a:off x="6923600" y="8183740"/>
            <a:ext cx="10865702" cy="373979"/>
          </a:xfrm>
          <a:prstGeom prst="rect">
            <a:avLst/>
          </a:prstGeom>
        </p:spPr>
        <p:txBody>
          <a:bodyPr lIns="0" tIns="0" rIns="0" bIns="0" rtlCol="0" anchor="t">
            <a:spAutoFit/>
          </a:bodyPr>
          <a:lstStyle/>
          <a:p>
            <a:pPr algn="ctr">
              <a:lnSpc>
                <a:spcPts val="3011"/>
              </a:lnSpc>
            </a:pPr>
            <a:r>
              <a:rPr lang="en-US" sz="2151">
                <a:solidFill>
                  <a:srgbClr val="FFFFFF"/>
                </a:solidFill>
                <a:latin typeface="Open Sans"/>
                <a:ea typeface="Open Sans"/>
                <a:cs typeface="Open Sans"/>
                <a:sym typeface="Open Sans"/>
              </a:rPr>
              <a:t>Sirven como base para las pruebas</a:t>
            </a:r>
          </a:p>
        </p:txBody>
      </p:sp>
      <p:sp>
        <p:nvSpPr>
          <p:cNvPr id="14" name="Freeform 14"/>
          <p:cNvSpPr/>
          <p:nvPr/>
        </p:nvSpPr>
        <p:spPr>
          <a:xfrm>
            <a:off x="6425542" y="6449248"/>
            <a:ext cx="620758" cy="531524"/>
          </a:xfrm>
          <a:custGeom>
            <a:avLst/>
            <a:gdLst/>
            <a:ahLst/>
            <a:cxnLst/>
            <a:rect l="l" t="t" r="r" b="b"/>
            <a:pathLst>
              <a:path w="620758" h="531524">
                <a:moveTo>
                  <a:pt x="0" y="0"/>
                </a:moveTo>
                <a:lnTo>
                  <a:pt x="620758" y="0"/>
                </a:lnTo>
                <a:lnTo>
                  <a:pt x="620758" y="531525"/>
                </a:lnTo>
                <a:lnTo>
                  <a:pt x="0" y="53152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5" name="Freeform 15"/>
          <p:cNvSpPr/>
          <p:nvPr/>
        </p:nvSpPr>
        <p:spPr>
          <a:xfrm>
            <a:off x="6425542" y="7076023"/>
            <a:ext cx="620758" cy="531524"/>
          </a:xfrm>
          <a:custGeom>
            <a:avLst/>
            <a:gdLst/>
            <a:ahLst/>
            <a:cxnLst/>
            <a:rect l="l" t="t" r="r" b="b"/>
            <a:pathLst>
              <a:path w="620758" h="531524">
                <a:moveTo>
                  <a:pt x="0" y="0"/>
                </a:moveTo>
                <a:lnTo>
                  <a:pt x="620758" y="0"/>
                </a:lnTo>
                <a:lnTo>
                  <a:pt x="620758" y="531524"/>
                </a:lnTo>
                <a:lnTo>
                  <a:pt x="0" y="53152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CO"/>
          </a:p>
        </p:txBody>
      </p:sp>
      <p:sp>
        <p:nvSpPr>
          <p:cNvPr id="16" name="Freeform 16"/>
          <p:cNvSpPr/>
          <p:nvPr/>
        </p:nvSpPr>
        <p:spPr>
          <a:xfrm>
            <a:off x="6425542" y="7653694"/>
            <a:ext cx="620758" cy="531524"/>
          </a:xfrm>
          <a:custGeom>
            <a:avLst/>
            <a:gdLst/>
            <a:ahLst/>
            <a:cxnLst/>
            <a:rect l="l" t="t" r="r" b="b"/>
            <a:pathLst>
              <a:path w="620758" h="531524">
                <a:moveTo>
                  <a:pt x="0" y="0"/>
                </a:moveTo>
                <a:lnTo>
                  <a:pt x="620758" y="0"/>
                </a:lnTo>
                <a:lnTo>
                  <a:pt x="620758" y="531524"/>
                </a:lnTo>
                <a:lnTo>
                  <a:pt x="0" y="53152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CO"/>
          </a:p>
        </p:txBody>
      </p:sp>
      <p:sp>
        <p:nvSpPr>
          <p:cNvPr id="17" name="Freeform 17"/>
          <p:cNvSpPr/>
          <p:nvPr/>
        </p:nvSpPr>
        <p:spPr>
          <a:xfrm>
            <a:off x="6425542" y="8231365"/>
            <a:ext cx="620758" cy="531524"/>
          </a:xfrm>
          <a:custGeom>
            <a:avLst/>
            <a:gdLst/>
            <a:ahLst/>
            <a:cxnLst/>
            <a:rect l="l" t="t" r="r" b="b"/>
            <a:pathLst>
              <a:path w="620758" h="531524">
                <a:moveTo>
                  <a:pt x="0" y="0"/>
                </a:moveTo>
                <a:lnTo>
                  <a:pt x="620758" y="0"/>
                </a:lnTo>
                <a:lnTo>
                  <a:pt x="620758" y="531525"/>
                </a:lnTo>
                <a:lnTo>
                  <a:pt x="0" y="53152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CO"/>
          </a:p>
        </p:txBody>
      </p:sp>
      <p:sp>
        <p:nvSpPr>
          <p:cNvPr id="18" name="Freeform 18"/>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6"/>
            <a:stretch>
              <a:fillRect/>
            </a:stretch>
          </a:blipFill>
        </p:spPr>
        <p:txBody>
          <a:bodyPr/>
          <a:lstStyle/>
          <a:p>
            <a:endParaRPr lang="es-CO"/>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2963783" y="3553688"/>
            <a:ext cx="3309147" cy="5120538"/>
          </a:xfrm>
          <a:custGeom>
            <a:avLst/>
            <a:gdLst/>
            <a:ahLst/>
            <a:cxnLst/>
            <a:rect l="l" t="t" r="r" b="b"/>
            <a:pathLst>
              <a:path w="3309147" h="5120538">
                <a:moveTo>
                  <a:pt x="0" y="0"/>
                </a:moveTo>
                <a:lnTo>
                  <a:pt x="3309147" y="0"/>
                </a:lnTo>
                <a:lnTo>
                  <a:pt x="3309147" y="5120537"/>
                </a:lnTo>
                <a:lnTo>
                  <a:pt x="0" y="512053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O"/>
          </a:p>
        </p:txBody>
      </p:sp>
      <p:sp>
        <p:nvSpPr>
          <p:cNvPr id="7" name="TextBox 7"/>
          <p:cNvSpPr txBox="1"/>
          <p:nvPr/>
        </p:nvSpPr>
        <p:spPr>
          <a:xfrm>
            <a:off x="2464499" y="2194248"/>
            <a:ext cx="13577736" cy="1552871"/>
          </a:xfrm>
          <a:prstGeom prst="rect">
            <a:avLst/>
          </a:prstGeom>
        </p:spPr>
        <p:txBody>
          <a:bodyPr lIns="0" tIns="0" rIns="0" bIns="0" rtlCol="0" anchor="t">
            <a:spAutoFit/>
          </a:bodyPr>
          <a:lstStyle/>
          <a:p>
            <a:pPr algn="ctr">
              <a:lnSpc>
                <a:spcPts val="6200"/>
              </a:lnSpc>
            </a:pPr>
            <a:r>
              <a:rPr lang="en-US" sz="4428">
                <a:solidFill>
                  <a:srgbClr val="FA18C2"/>
                </a:solidFill>
                <a:latin typeface="HK Modular"/>
                <a:ea typeface="HK Modular"/>
                <a:cs typeface="HK Modular"/>
                <a:sym typeface="HK Modular"/>
              </a:rPr>
              <a:t>CRITERIOS DE ACEPTACION</a:t>
            </a:r>
          </a:p>
          <a:p>
            <a:pPr algn="ctr">
              <a:lnSpc>
                <a:spcPts val="6200"/>
              </a:lnSpc>
              <a:spcBef>
                <a:spcPct val="0"/>
              </a:spcBef>
            </a:pPr>
            <a:endParaRPr lang="en-US" sz="4428">
              <a:solidFill>
                <a:srgbClr val="FA18C2"/>
              </a:solidFill>
              <a:latin typeface="HK Modular"/>
              <a:ea typeface="HK Modular"/>
              <a:cs typeface="HK Modular"/>
              <a:sym typeface="HK Modular"/>
            </a:endParaRPr>
          </a:p>
        </p:txBody>
      </p:sp>
      <p:sp>
        <p:nvSpPr>
          <p:cNvPr id="8" name="TextBox 8"/>
          <p:cNvSpPr txBox="1"/>
          <p:nvPr/>
        </p:nvSpPr>
        <p:spPr>
          <a:xfrm>
            <a:off x="7956608" y="3874597"/>
            <a:ext cx="9011167" cy="513039"/>
          </a:xfrm>
          <a:prstGeom prst="rect">
            <a:avLst/>
          </a:prstGeom>
        </p:spPr>
        <p:txBody>
          <a:bodyPr lIns="0" tIns="0" rIns="0" bIns="0" rtlCol="0" anchor="t">
            <a:spAutoFit/>
          </a:bodyPr>
          <a:lstStyle/>
          <a:p>
            <a:pPr algn="ctr">
              <a:lnSpc>
                <a:spcPts val="4114"/>
              </a:lnSpc>
              <a:spcBef>
                <a:spcPct val="0"/>
              </a:spcBef>
            </a:pPr>
            <a:r>
              <a:rPr lang="en-US" sz="2939">
                <a:solidFill>
                  <a:srgbClr val="E78939"/>
                </a:solidFill>
                <a:latin typeface="HK Modular"/>
                <a:ea typeface="HK Modular"/>
                <a:cs typeface="HK Modular"/>
                <a:sym typeface="HK Modular"/>
              </a:rPr>
              <a:t>EJEMPLOS</a:t>
            </a:r>
          </a:p>
        </p:txBody>
      </p:sp>
      <p:sp>
        <p:nvSpPr>
          <p:cNvPr id="9" name="TextBox 9"/>
          <p:cNvSpPr txBox="1"/>
          <p:nvPr/>
        </p:nvSpPr>
        <p:spPr>
          <a:xfrm>
            <a:off x="7029340" y="4664106"/>
            <a:ext cx="10865702" cy="2659979"/>
          </a:xfrm>
          <a:prstGeom prst="rect">
            <a:avLst/>
          </a:prstGeom>
        </p:spPr>
        <p:txBody>
          <a:bodyPr lIns="0" tIns="0" rIns="0" bIns="0" rtlCol="0" anchor="t">
            <a:spAutoFit/>
          </a:bodyPr>
          <a:lstStyle/>
          <a:p>
            <a:pPr marL="464493" lvl="1" indent="-232247" algn="ctr">
              <a:lnSpc>
                <a:spcPts val="3011"/>
              </a:lnSpc>
              <a:buAutoNum type="arabicPeriod"/>
            </a:pPr>
            <a:r>
              <a:rPr lang="en-US" sz="2151">
                <a:solidFill>
                  <a:srgbClr val="FFFFFF"/>
                </a:solidFill>
                <a:latin typeface="Open Sans"/>
                <a:ea typeface="Open Sans"/>
                <a:cs typeface="Open Sans"/>
                <a:sym typeface="Open Sans"/>
              </a:rPr>
              <a:t>El sistema debe permitir ingresar un correo y una contraseña validas</a:t>
            </a:r>
          </a:p>
          <a:p>
            <a:pPr marL="464493" lvl="1" indent="-232247" algn="ctr">
              <a:lnSpc>
                <a:spcPts val="3011"/>
              </a:lnSpc>
              <a:buAutoNum type="arabicPeriod"/>
            </a:pPr>
            <a:r>
              <a:rPr lang="en-US" sz="2151">
                <a:solidFill>
                  <a:srgbClr val="FFFFFF"/>
                </a:solidFill>
                <a:latin typeface="Open Sans"/>
                <a:ea typeface="Open Sans"/>
                <a:cs typeface="Open Sans"/>
                <a:sym typeface="Open Sans"/>
              </a:rPr>
              <a:t> Si las credenciales son correctas, el usuario debe ser redirigido a la pagina principal.</a:t>
            </a:r>
          </a:p>
          <a:p>
            <a:pPr marL="464493" lvl="1" indent="-232247" algn="ctr">
              <a:lnSpc>
                <a:spcPts val="3011"/>
              </a:lnSpc>
              <a:buAutoNum type="arabicPeriod"/>
            </a:pPr>
            <a:r>
              <a:rPr lang="en-US" sz="2151">
                <a:solidFill>
                  <a:srgbClr val="FFFFFF"/>
                </a:solidFill>
                <a:latin typeface="Open Sans"/>
                <a:ea typeface="Open Sans"/>
                <a:cs typeface="Open Sans"/>
                <a:sym typeface="Open Sans"/>
              </a:rPr>
              <a:t>Si las credenciales son incorrectas, debe mostrar un mensaje: “Usuario o contraseña incorrectos”</a:t>
            </a:r>
          </a:p>
          <a:p>
            <a:pPr marL="464493" lvl="1" indent="-232247" algn="ctr">
              <a:lnSpc>
                <a:spcPts val="3011"/>
              </a:lnSpc>
              <a:buAutoNum type="arabicPeriod"/>
            </a:pPr>
            <a:r>
              <a:rPr lang="en-US" sz="2151">
                <a:solidFill>
                  <a:srgbClr val="FFFFFF"/>
                </a:solidFill>
                <a:latin typeface="Open Sans"/>
                <a:ea typeface="Open Sans"/>
                <a:cs typeface="Open Sans"/>
                <a:sym typeface="Open Sans"/>
              </a:rPr>
              <a:t>El campo de contraseña debe ocultar los caracteres escritos</a:t>
            </a:r>
          </a:p>
          <a:p>
            <a:pPr marL="464493" lvl="1" indent="-232247" algn="ctr">
              <a:lnSpc>
                <a:spcPts val="3011"/>
              </a:lnSpc>
              <a:buAutoNum type="arabicPeriod"/>
            </a:pPr>
            <a:r>
              <a:rPr lang="en-US" sz="2151">
                <a:solidFill>
                  <a:srgbClr val="FFFFFF"/>
                </a:solidFill>
                <a:latin typeface="Open Sans"/>
                <a:ea typeface="Open Sans"/>
                <a:cs typeface="Open Sans"/>
                <a:sym typeface="Open Sans"/>
              </a:rPr>
              <a:t>Debe existir un enlace para recuperar la contraseña</a:t>
            </a:r>
          </a:p>
        </p:txBody>
      </p:sp>
      <p:sp>
        <p:nvSpPr>
          <p:cNvPr id="10" name="Freeform 10"/>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4"/>
            <a:stretch>
              <a:fillRect/>
            </a:stretch>
          </a:blipFill>
        </p:spPr>
        <p:txBody>
          <a:bodyPr/>
          <a:lstStyle/>
          <a:p>
            <a:endParaRPr lang="es-CO"/>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562024" y="4002049"/>
            <a:ext cx="3729604" cy="3729604"/>
          </a:xfrm>
          <a:custGeom>
            <a:avLst/>
            <a:gdLst/>
            <a:ahLst/>
            <a:cxnLst/>
            <a:rect l="l" t="t" r="r" b="b"/>
            <a:pathLst>
              <a:path w="3729604" h="3729604">
                <a:moveTo>
                  <a:pt x="0" y="0"/>
                </a:moveTo>
                <a:lnTo>
                  <a:pt x="3729604" y="0"/>
                </a:lnTo>
                <a:lnTo>
                  <a:pt x="3729604" y="3729604"/>
                </a:lnTo>
                <a:lnTo>
                  <a:pt x="0" y="372960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O"/>
          </a:p>
        </p:txBody>
      </p:sp>
      <p:sp>
        <p:nvSpPr>
          <p:cNvPr id="7" name="TextBox 7"/>
          <p:cNvSpPr txBox="1"/>
          <p:nvPr/>
        </p:nvSpPr>
        <p:spPr>
          <a:xfrm>
            <a:off x="1562024" y="2194248"/>
            <a:ext cx="15906948" cy="857781"/>
          </a:xfrm>
          <a:prstGeom prst="rect">
            <a:avLst/>
          </a:prstGeom>
        </p:spPr>
        <p:txBody>
          <a:bodyPr lIns="0" tIns="0" rIns="0" bIns="0" rtlCol="0" anchor="t">
            <a:spAutoFit/>
          </a:bodyPr>
          <a:lstStyle/>
          <a:p>
            <a:pPr algn="ctr">
              <a:lnSpc>
                <a:spcPts val="7012"/>
              </a:lnSpc>
              <a:spcBef>
                <a:spcPct val="0"/>
              </a:spcBef>
            </a:pPr>
            <a:r>
              <a:rPr lang="en-US" sz="5008">
                <a:solidFill>
                  <a:srgbClr val="E78939"/>
                </a:solidFill>
                <a:latin typeface="HK Modular"/>
                <a:ea typeface="HK Modular"/>
                <a:cs typeface="HK Modular"/>
                <a:sym typeface="HK Modular"/>
              </a:rPr>
              <a:t>PRINCIPIOS DE LAS PRUEBAS</a:t>
            </a:r>
          </a:p>
        </p:txBody>
      </p:sp>
      <p:sp>
        <p:nvSpPr>
          <p:cNvPr id="8" name="TextBox 8"/>
          <p:cNvSpPr txBox="1"/>
          <p:nvPr/>
        </p:nvSpPr>
        <p:spPr>
          <a:xfrm>
            <a:off x="6151906" y="3772868"/>
            <a:ext cx="10865702" cy="4945979"/>
          </a:xfrm>
          <a:prstGeom prst="rect">
            <a:avLst/>
          </a:prstGeom>
        </p:spPr>
        <p:txBody>
          <a:bodyPr lIns="0" tIns="0" rIns="0" bIns="0" rtlCol="0" anchor="t">
            <a:spAutoFit/>
          </a:bodyPr>
          <a:lstStyle/>
          <a:p>
            <a:pPr marL="464493" lvl="1" indent="-232247" algn="ctr">
              <a:lnSpc>
                <a:spcPts val="3011"/>
              </a:lnSpc>
              <a:buAutoNum type="arabicPeriod"/>
            </a:pPr>
            <a:r>
              <a:rPr lang="en-US" sz="2151">
                <a:solidFill>
                  <a:srgbClr val="FFFFFF"/>
                </a:solidFill>
                <a:latin typeface="Open Sans"/>
                <a:ea typeface="Open Sans"/>
                <a:cs typeface="Open Sans"/>
                <a:sym typeface="Open Sans"/>
              </a:rPr>
              <a:t>La ejecucion de pruebas demuestra la presencia de defectos, no confirmar que no existen </a:t>
            </a:r>
          </a:p>
          <a:p>
            <a:pPr marL="464493" lvl="1" indent="-232247" algn="ctr">
              <a:lnSpc>
                <a:spcPts val="3011"/>
              </a:lnSpc>
              <a:buAutoNum type="arabicPeriod"/>
            </a:pPr>
            <a:r>
              <a:rPr lang="en-US" sz="2151">
                <a:solidFill>
                  <a:srgbClr val="FFFFFF"/>
                </a:solidFill>
                <a:latin typeface="Open Sans"/>
                <a:ea typeface="Open Sans"/>
                <a:cs typeface="Open Sans"/>
                <a:sym typeface="Open Sans"/>
              </a:rPr>
              <a:t>El testing exhaustivo no es posible, no se pueden probar todas las combinaciones y acciones en todas las funcionalidades, debido a limitaciones</a:t>
            </a:r>
          </a:p>
          <a:p>
            <a:pPr marL="464493" lvl="1" indent="-232247" algn="ctr">
              <a:lnSpc>
                <a:spcPts val="3011"/>
              </a:lnSpc>
              <a:buAutoNum type="arabicPeriod"/>
            </a:pPr>
            <a:r>
              <a:rPr lang="en-US" sz="2151">
                <a:solidFill>
                  <a:srgbClr val="FFFFFF"/>
                </a:solidFill>
                <a:latin typeface="Open Sans"/>
                <a:ea typeface="Open Sans"/>
                <a:cs typeface="Open Sans"/>
                <a:sym typeface="Open Sans"/>
              </a:rPr>
              <a:t>Las Pruebas Tempranas ahorran tiempo, recursos y dinero, detectando problemas antes del lanzamiento</a:t>
            </a:r>
          </a:p>
          <a:p>
            <a:pPr marL="464493" lvl="1" indent="-232247" algn="ctr">
              <a:lnSpc>
                <a:spcPts val="3011"/>
              </a:lnSpc>
              <a:buAutoNum type="arabicPeriod"/>
            </a:pPr>
            <a:r>
              <a:rPr lang="en-US" sz="2151">
                <a:solidFill>
                  <a:srgbClr val="FFFFFF"/>
                </a:solidFill>
                <a:latin typeface="Open Sans"/>
                <a:ea typeface="Open Sans"/>
                <a:cs typeface="Open Sans"/>
                <a:sym typeface="Open Sans"/>
              </a:rPr>
              <a:t>Agrupacion de defectos - 80% de las consecuencias provienen del 20% de las causas - no todos los componentes tienen la misma importancia</a:t>
            </a:r>
          </a:p>
          <a:p>
            <a:pPr marL="464493" lvl="1" indent="-232247" algn="ctr">
              <a:lnSpc>
                <a:spcPts val="3011"/>
              </a:lnSpc>
              <a:buAutoNum type="arabicPeriod"/>
            </a:pPr>
            <a:r>
              <a:rPr lang="en-US" sz="2151">
                <a:solidFill>
                  <a:srgbClr val="FFFFFF"/>
                </a:solidFill>
                <a:latin typeface="Open Sans"/>
                <a:ea typeface="Open Sans"/>
                <a:cs typeface="Open Sans"/>
                <a:sym typeface="Open Sans"/>
              </a:rPr>
              <a:t>Paradoja del pesticida - repetir las mismas pruebas una y otra vez no disminuira su efectividad en la deteccion de errores</a:t>
            </a:r>
          </a:p>
          <a:p>
            <a:pPr marL="464493" lvl="1" indent="-232247" algn="ctr">
              <a:lnSpc>
                <a:spcPts val="3011"/>
              </a:lnSpc>
              <a:buAutoNum type="arabicPeriod"/>
            </a:pPr>
            <a:r>
              <a:rPr lang="en-US" sz="2151">
                <a:solidFill>
                  <a:srgbClr val="FFFFFF"/>
                </a:solidFill>
                <a:latin typeface="Open Sans"/>
                <a:ea typeface="Open Sans"/>
                <a:cs typeface="Open Sans"/>
                <a:sym typeface="Open Sans"/>
              </a:rPr>
              <a:t>El testing depende del contexto - Se elige segun el sistema y los entornos que decidan verificar (sistema medico vs un e-commerce)</a:t>
            </a:r>
          </a:p>
          <a:p>
            <a:pPr marL="464493" lvl="1" indent="-232247" algn="ctr">
              <a:lnSpc>
                <a:spcPts val="3011"/>
              </a:lnSpc>
              <a:buAutoNum type="arabicPeriod"/>
            </a:pPr>
            <a:r>
              <a:rPr lang="en-US" sz="2151">
                <a:solidFill>
                  <a:srgbClr val="FFFFFF"/>
                </a:solidFill>
                <a:latin typeface="Open Sans"/>
                <a:ea typeface="Open Sans"/>
                <a:cs typeface="Open Sans"/>
                <a:sym typeface="Open Sans"/>
              </a:rPr>
              <a:t>Falacia de ausencia de incidentes</a:t>
            </a:r>
          </a:p>
        </p:txBody>
      </p:sp>
      <p:sp>
        <p:nvSpPr>
          <p:cNvPr id="9" name="TextBox 9"/>
          <p:cNvSpPr txBox="1"/>
          <p:nvPr/>
        </p:nvSpPr>
        <p:spPr>
          <a:xfrm>
            <a:off x="7850867" y="9079537"/>
            <a:ext cx="8205761" cy="938070"/>
          </a:xfrm>
          <a:prstGeom prst="rect">
            <a:avLst/>
          </a:prstGeom>
        </p:spPr>
        <p:txBody>
          <a:bodyPr lIns="0" tIns="0" rIns="0" bIns="0" rtlCol="0" anchor="t">
            <a:spAutoFit/>
          </a:bodyPr>
          <a:lstStyle/>
          <a:p>
            <a:pPr algn="ctr">
              <a:lnSpc>
                <a:spcPts val="3747"/>
              </a:lnSpc>
              <a:spcBef>
                <a:spcPct val="0"/>
              </a:spcBef>
            </a:pPr>
            <a:r>
              <a:rPr lang="en-US" sz="2676">
                <a:solidFill>
                  <a:srgbClr val="FA18C2"/>
                </a:solidFill>
                <a:latin typeface="HK Modular"/>
                <a:ea typeface="HK Modular"/>
                <a:cs typeface="HK Modular"/>
                <a:sym typeface="HK Modular"/>
              </a:rPr>
              <a:t>REVISEN CONSTANTEMENTE SU ESTRATEGIA DE PRUEBAS</a:t>
            </a:r>
          </a:p>
        </p:txBody>
      </p:sp>
      <p:sp>
        <p:nvSpPr>
          <p:cNvPr id="10" name="Freeform 10"/>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4"/>
            <a:stretch>
              <a:fillRect/>
            </a:stretch>
          </a:blipFill>
        </p:spPr>
        <p:txBody>
          <a:bodyPr/>
          <a:lstStyle/>
          <a:p>
            <a:endParaRPr lang="es-CO"/>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695623" y="4361739"/>
            <a:ext cx="6374808" cy="4478171"/>
          </a:xfrm>
          <a:custGeom>
            <a:avLst/>
            <a:gdLst/>
            <a:ahLst/>
            <a:cxnLst/>
            <a:rect l="l" t="t" r="r" b="b"/>
            <a:pathLst>
              <a:path w="6374808" h="4478171">
                <a:moveTo>
                  <a:pt x="0" y="0"/>
                </a:moveTo>
                <a:lnTo>
                  <a:pt x="6374808" y="0"/>
                </a:lnTo>
                <a:lnTo>
                  <a:pt x="6374808" y="4478172"/>
                </a:lnTo>
                <a:lnTo>
                  <a:pt x="0" y="4478172"/>
                </a:lnTo>
                <a:lnTo>
                  <a:pt x="0" y="0"/>
                </a:lnTo>
                <a:close/>
              </a:path>
            </a:pathLst>
          </a:custGeom>
          <a:blipFill>
            <a:blip r:embed="rId3"/>
            <a:stretch>
              <a:fillRect/>
            </a:stretch>
          </a:blipFill>
        </p:spPr>
        <p:txBody>
          <a:bodyPr/>
          <a:lstStyle/>
          <a:p>
            <a:endParaRPr lang="es-CO"/>
          </a:p>
        </p:txBody>
      </p:sp>
      <p:sp>
        <p:nvSpPr>
          <p:cNvPr id="7" name="TextBox 7"/>
          <p:cNvSpPr txBox="1"/>
          <p:nvPr/>
        </p:nvSpPr>
        <p:spPr>
          <a:xfrm>
            <a:off x="1562024" y="2194248"/>
            <a:ext cx="15906948" cy="1747534"/>
          </a:xfrm>
          <a:prstGeom prst="rect">
            <a:avLst/>
          </a:prstGeom>
        </p:spPr>
        <p:txBody>
          <a:bodyPr lIns="0" tIns="0" rIns="0" bIns="0" rtlCol="0" anchor="t">
            <a:spAutoFit/>
          </a:bodyPr>
          <a:lstStyle/>
          <a:p>
            <a:pPr algn="ctr">
              <a:lnSpc>
                <a:spcPts val="7012"/>
              </a:lnSpc>
            </a:pPr>
            <a:r>
              <a:rPr lang="en-US" sz="5008">
                <a:solidFill>
                  <a:srgbClr val="F400BC"/>
                </a:solidFill>
                <a:latin typeface="HK Modular"/>
                <a:ea typeface="HK Modular"/>
                <a:cs typeface="HK Modular"/>
                <a:sym typeface="HK Modular"/>
              </a:rPr>
              <a:t>PARTES DE UNA PRUEBA</a:t>
            </a:r>
          </a:p>
          <a:p>
            <a:pPr algn="ctr">
              <a:lnSpc>
                <a:spcPts val="7012"/>
              </a:lnSpc>
              <a:spcBef>
                <a:spcPct val="0"/>
              </a:spcBef>
            </a:pPr>
            <a:endParaRPr lang="en-US" sz="5008">
              <a:solidFill>
                <a:srgbClr val="F400BC"/>
              </a:solidFill>
              <a:latin typeface="HK Modular"/>
              <a:ea typeface="HK Modular"/>
              <a:cs typeface="HK Modular"/>
              <a:sym typeface="HK Modular"/>
            </a:endParaRPr>
          </a:p>
        </p:txBody>
      </p:sp>
      <p:sp>
        <p:nvSpPr>
          <p:cNvPr id="8" name="TextBox 8"/>
          <p:cNvSpPr txBox="1"/>
          <p:nvPr/>
        </p:nvSpPr>
        <p:spPr>
          <a:xfrm>
            <a:off x="10339205" y="3693945"/>
            <a:ext cx="4186081" cy="941922"/>
          </a:xfrm>
          <a:prstGeom prst="rect">
            <a:avLst/>
          </a:prstGeom>
        </p:spPr>
        <p:txBody>
          <a:bodyPr lIns="0" tIns="0" rIns="0" bIns="0" rtlCol="0" anchor="t">
            <a:spAutoFit/>
          </a:bodyPr>
          <a:lstStyle/>
          <a:p>
            <a:pPr algn="ctr">
              <a:lnSpc>
                <a:spcPts val="3754"/>
              </a:lnSpc>
            </a:pPr>
            <a:r>
              <a:rPr lang="en-US" sz="2682">
                <a:solidFill>
                  <a:srgbClr val="E78939"/>
                </a:solidFill>
                <a:latin typeface="HK Modular"/>
                <a:ea typeface="HK Modular"/>
                <a:cs typeface="HK Modular"/>
                <a:sym typeface="HK Modular"/>
              </a:rPr>
              <a:t>ARRANGE</a:t>
            </a:r>
          </a:p>
          <a:p>
            <a:pPr algn="ctr">
              <a:lnSpc>
                <a:spcPts val="3754"/>
              </a:lnSpc>
              <a:spcBef>
                <a:spcPct val="0"/>
              </a:spcBef>
            </a:pPr>
            <a:endParaRPr lang="en-US" sz="2682">
              <a:solidFill>
                <a:srgbClr val="E78939"/>
              </a:solidFill>
              <a:latin typeface="HK Modular"/>
              <a:ea typeface="HK Modular"/>
              <a:cs typeface="HK Modular"/>
              <a:sym typeface="HK Modular"/>
            </a:endParaRPr>
          </a:p>
        </p:txBody>
      </p:sp>
      <p:sp>
        <p:nvSpPr>
          <p:cNvPr id="9" name="TextBox 9"/>
          <p:cNvSpPr txBox="1"/>
          <p:nvPr/>
        </p:nvSpPr>
        <p:spPr>
          <a:xfrm>
            <a:off x="10339205" y="5933847"/>
            <a:ext cx="4186081" cy="941922"/>
          </a:xfrm>
          <a:prstGeom prst="rect">
            <a:avLst/>
          </a:prstGeom>
        </p:spPr>
        <p:txBody>
          <a:bodyPr lIns="0" tIns="0" rIns="0" bIns="0" rtlCol="0" anchor="t">
            <a:spAutoFit/>
          </a:bodyPr>
          <a:lstStyle/>
          <a:p>
            <a:pPr algn="ctr">
              <a:lnSpc>
                <a:spcPts val="3754"/>
              </a:lnSpc>
            </a:pPr>
            <a:r>
              <a:rPr lang="en-US" sz="2682">
                <a:solidFill>
                  <a:srgbClr val="E78939"/>
                </a:solidFill>
                <a:latin typeface="HK Modular"/>
                <a:ea typeface="HK Modular"/>
                <a:cs typeface="HK Modular"/>
                <a:sym typeface="HK Modular"/>
              </a:rPr>
              <a:t>ACT</a:t>
            </a:r>
          </a:p>
          <a:p>
            <a:pPr algn="ctr">
              <a:lnSpc>
                <a:spcPts val="3754"/>
              </a:lnSpc>
              <a:spcBef>
                <a:spcPct val="0"/>
              </a:spcBef>
            </a:pPr>
            <a:endParaRPr lang="en-US" sz="2682">
              <a:solidFill>
                <a:srgbClr val="E78939"/>
              </a:solidFill>
              <a:latin typeface="HK Modular"/>
              <a:ea typeface="HK Modular"/>
              <a:cs typeface="HK Modular"/>
              <a:sym typeface="HK Modular"/>
            </a:endParaRPr>
          </a:p>
        </p:txBody>
      </p:sp>
      <p:sp>
        <p:nvSpPr>
          <p:cNvPr id="10" name="TextBox 10"/>
          <p:cNvSpPr txBox="1"/>
          <p:nvPr/>
        </p:nvSpPr>
        <p:spPr>
          <a:xfrm>
            <a:off x="10459785" y="7991949"/>
            <a:ext cx="4186081" cy="941922"/>
          </a:xfrm>
          <a:prstGeom prst="rect">
            <a:avLst/>
          </a:prstGeom>
        </p:spPr>
        <p:txBody>
          <a:bodyPr lIns="0" tIns="0" rIns="0" bIns="0" rtlCol="0" anchor="t">
            <a:spAutoFit/>
          </a:bodyPr>
          <a:lstStyle/>
          <a:p>
            <a:pPr algn="ctr">
              <a:lnSpc>
                <a:spcPts val="3754"/>
              </a:lnSpc>
            </a:pPr>
            <a:r>
              <a:rPr lang="en-US" sz="2682">
                <a:solidFill>
                  <a:srgbClr val="E78939"/>
                </a:solidFill>
                <a:latin typeface="HK Modular"/>
                <a:ea typeface="HK Modular"/>
                <a:cs typeface="HK Modular"/>
                <a:sym typeface="HK Modular"/>
              </a:rPr>
              <a:t>ASSERT</a:t>
            </a:r>
          </a:p>
          <a:p>
            <a:pPr algn="ctr">
              <a:lnSpc>
                <a:spcPts val="3754"/>
              </a:lnSpc>
              <a:spcBef>
                <a:spcPct val="0"/>
              </a:spcBef>
            </a:pPr>
            <a:endParaRPr lang="en-US" sz="2682">
              <a:solidFill>
                <a:srgbClr val="E78939"/>
              </a:solidFill>
              <a:latin typeface="HK Modular"/>
              <a:ea typeface="HK Modular"/>
              <a:cs typeface="HK Modular"/>
              <a:sym typeface="HK Modular"/>
            </a:endParaRPr>
          </a:p>
        </p:txBody>
      </p:sp>
      <p:sp>
        <p:nvSpPr>
          <p:cNvPr id="11" name="TextBox 11"/>
          <p:cNvSpPr txBox="1"/>
          <p:nvPr/>
        </p:nvSpPr>
        <p:spPr>
          <a:xfrm>
            <a:off x="7784626" y="4388521"/>
            <a:ext cx="9536398" cy="754979"/>
          </a:xfrm>
          <a:prstGeom prst="rect">
            <a:avLst/>
          </a:prstGeom>
        </p:spPr>
        <p:txBody>
          <a:bodyPr lIns="0" tIns="0" rIns="0" bIns="0" rtlCol="0" anchor="t">
            <a:spAutoFit/>
          </a:bodyPr>
          <a:lstStyle/>
          <a:p>
            <a:pPr algn="ctr">
              <a:lnSpc>
                <a:spcPts val="3011"/>
              </a:lnSpc>
            </a:pPr>
            <a:r>
              <a:rPr lang="en-US" sz="2151">
                <a:solidFill>
                  <a:srgbClr val="FFFFFF"/>
                </a:solidFill>
                <a:latin typeface="Open Sans"/>
                <a:ea typeface="Open Sans"/>
                <a:cs typeface="Open Sans"/>
                <a:sym typeface="Open Sans"/>
              </a:rPr>
              <a:t>Se prepara el escenario de prueba - Aqui se crean los objetos, se inicializan datos de entrada, se configuran mocks, etc</a:t>
            </a:r>
          </a:p>
        </p:txBody>
      </p:sp>
      <p:sp>
        <p:nvSpPr>
          <p:cNvPr id="12" name="TextBox 12"/>
          <p:cNvSpPr txBox="1"/>
          <p:nvPr/>
        </p:nvSpPr>
        <p:spPr>
          <a:xfrm>
            <a:off x="7850867" y="6553200"/>
            <a:ext cx="9838512" cy="754979"/>
          </a:xfrm>
          <a:prstGeom prst="rect">
            <a:avLst/>
          </a:prstGeom>
        </p:spPr>
        <p:txBody>
          <a:bodyPr lIns="0" tIns="0" rIns="0" bIns="0" rtlCol="0" anchor="t">
            <a:spAutoFit/>
          </a:bodyPr>
          <a:lstStyle/>
          <a:p>
            <a:pPr algn="ctr">
              <a:lnSpc>
                <a:spcPts val="3011"/>
              </a:lnSpc>
            </a:pPr>
            <a:r>
              <a:rPr lang="en-US" sz="2151">
                <a:solidFill>
                  <a:srgbClr val="FFFFFF"/>
                </a:solidFill>
                <a:latin typeface="Open Sans"/>
                <a:ea typeface="Open Sans"/>
                <a:cs typeface="Open Sans"/>
                <a:sym typeface="Open Sans"/>
              </a:rPr>
              <a:t>Se ejecuta la accion que se quiere probar - Normalmente es la llamada a un metodo o a una funcionalidad concreta</a:t>
            </a:r>
          </a:p>
        </p:txBody>
      </p:sp>
      <p:sp>
        <p:nvSpPr>
          <p:cNvPr id="13" name="TextBox 13"/>
          <p:cNvSpPr txBox="1"/>
          <p:nvPr/>
        </p:nvSpPr>
        <p:spPr>
          <a:xfrm>
            <a:off x="7784626" y="8624027"/>
            <a:ext cx="9838512" cy="754979"/>
          </a:xfrm>
          <a:prstGeom prst="rect">
            <a:avLst/>
          </a:prstGeom>
        </p:spPr>
        <p:txBody>
          <a:bodyPr lIns="0" tIns="0" rIns="0" bIns="0" rtlCol="0" anchor="t">
            <a:spAutoFit/>
          </a:bodyPr>
          <a:lstStyle/>
          <a:p>
            <a:pPr algn="ctr">
              <a:lnSpc>
                <a:spcPts val="3011"/>
              </a:lnSpc>
            </a:pPr>
            <a:r>
              <a:rPr lang="en-US" sz="2151">
                <a:solidFill>
                  <a:srgbClr val="FFFFFF"/>
                </a:solidFill>
                <a:latin typeface="Open Sans"/>
                <a:ea typeface="Open Sans"/>
                <a:cs typeface="Open Sans"/>
                <a:sym typeface="Open Sans"/>
              </a:rPr>
              <a:t>Se validan los resultados obtenidos contra los resultados esperados - aca se realizan las verificacciones assert, assertTrue, assertEquals</a:t>
            </a:r>
          </a:p>
        </p:txBody>
      </p:sp>
      <p:sp>
        <p:nvSpPr>
          <p:cNvPr id="14" name="Freeform 14"/>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4"/>
            <a:stretch>
              <a:fillRect/>
            </a:stretch>
          </a:blipFill>
        </p:spPr>
        <p:txBody>
          <a:bodyPr/>
          <a:lstStyle/>
          <a:p>
            <a:endParaRPr lang="es-CO"/>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2958048" y="2096546"/>
            <a:ext cx="12584532" cy="853854"/>
          </a:xfrm>
          <a:prstGeom prst="rect">
            <a:avLst/>
          </a:prstGeom>
        </p:spPr>
        <p:txBody>
          <a:bodyPr lIns="0" tIns="0" rIns="0" bIns="0" rtlCol="0" anchor="t">
            <a:spAutoFit/>
          </a:bodyPr>
          <a:lstStyle/>
          <a:p>
            <a:pPr algn="ctr">
              <a:lnSpc>
                <a:spcPts val="7012"/>
              </a:lnSpc>
              <a:spcBef>
                <a:spcPct val="0"/>
              </a:spcBef>
            </a:pPr>
            <a:r>
              <a:rPr lang="en-US" sz="5008">
                <a:solidFill>
                  <a:srgbClr val="E78939"/>
                </a:solidFill>
                <a:latin typeface="HK Modular"/>
                <a:ea typeface="HK Modular"/>
                <a:cs typeface="HK Modular"/>
                <a:sym typeface="HK Modular"/>
              </a:rPr>
              <a:t>RECUERDEN</a:t>
            </a:r>
          </a:p>
        </p:txBody>
      </p:sp>
      <p:sp>
        <p:nvSpPr>
          <p:cNvPr id="7" name="Freeform 7"/>
          <p:cNvSpPr/>
          <p:nvPr/>
        </p:nvSpPr>
        <p:spPr>
          <a:xfrm>
            <a:off x="6884668" y="3131314"/>
            <a:ext cx="4731292" cy="4731292"/>
          </a:xfrm>
          <a:custGeom>
            <a:avLst/>
            <a:gdLst/>
            <a:ahLst/>
            <a:cxnLst/>
            <a:rect l="l" t="t" r="r" b="b"/>
            <a:pathLst>
              <a:path w="4731292" h="4731292">
                <a:moveTo>
                  <a:pt x="0" y="0"/>
                </a:moveTo>
                <a:lnTo>
                  <a:pt x="4731292" y="0"/>
                </a:lnTo>
                <a:lnTo>
                  <a:pt x="4731292" y="4731292"/>
                </a:lnTo>
                <a:lnTo>
                  <a:pt x="0" y="4731292"/>
                </a:lnTo>
                <a:lnTo>
                  <a:pt x="0" y="0"/>
                </a:lnTo>
                <a:close/>
              </a:path>
            </a:pathLst>
          </a:custGeom>
          <a:blipFill>
            <a:blip r:embed="rId3"/>
            <a:stretch>
              <a:fillRect/>
            </a:stretch>
          </a:blipFill>
        </p:spPr>
        <p:txBody>
          <a:bodyPr/>
          <a:lstStyle/>
          <a:p>
            <a:endParaRPr lang="es-CO"/>
          </a:p>
        </p:txBody>
      </p:sp>
      <p:sp>
        <p:nvSpPr>
          <p:cNvPr id="8" name="TextBox 8"/>
          <p:cNvSpPr txBox="1"/>
          <p:nvPr/>
        </p:nvSpPr>
        <p:spPr>
          <a:xfrm>
            <a:off x="2850208" y="7976845"/>
            <a:ext cx="12587585" cy="1829436"/>
          </a:xfrm>
          <a:prstGeom prst="rect">
            <a:avLst/>
          </a:prstGeom>
        </p:spPr>
        <p:txBody>
          <a:bodyPr lIns="0" tIns="0" rIns="0" bIns="0" rtlCol="0" anchor="t">
            <a:spAutoFit/>
          </a:bodyPr>
          <a:lstStyle/>
          <a:p>
            <a:pPr algn="ctr">
              <a:lnSpc>
                <a:spcPts val="3639"/>
              </a:lnSpc>
            </a:pPr>
            <a:r>
              <a:rPr lang="en-US" sz="2599">
                <a:solidFill>
                  <a:srgbClr val="FFFFFF"/>
                </a:solidFill>
                <a:latin typeface="Poppins"/>
                <a:ea typeface="Poppins"/>
                <a:cs typeface="Poppins"/>
                <a:sym typeface="Poppins"/>
              </a:rPr>
              <a:t>Una buena prueba  se ejecuta rapidamente</a:t>
            </a:r>
          </a:p>
          <a:p>
            <a:pPr algn="ctr">
              <a:lnSpc>
                <a:spcPts val="3639"/>
              </a:lnSpc>
            </a:pPr>
            <a:r>
              <a:rPr lang="en-US" sz="2599">
                <a:solidFill>
                  <a:srgbClr val="FFFFFF"/>
                </a:solidFill>
                <a:latin typeface="Poppins"/>
                <a:ea typeface="Poppins"/>
                <a:cs typeface="Poppins"/>
                <a:sym typeface="Poppins"/>
              </a:rPr>
              <a:t>Se programan rapido</a:t>
            </a:r>
          </a:p>
          <a:p>
            <a:pPr algn="ctr">
              <a:lnSpc>
                <a:spcPts val="3639"/>
              </a:lnSpc>
            </a:pPr>
            <a:r>
              <a:rPr lang="en-US" sz="2599">
                <a:solidFill>
                  <a:srgbClr val="FFFFFF"/>
                </a:solidFill>
                <a:latin typeface="Poppins"/>
                <a:ea typeface="Poppins"/>
                <a:cs typeface="Poppins"/>
                <a:sym typeface="Poppins"/>
              </a:rPr>
              <a:t>No dependen de elementos externos</a:t>
            </a:r>
          </a:p>
          <a:p>
            <a:pPr algn="ctr">
              <a:lnSpc>
                <a:spcPts val="3639"/>
              </a:lnSpc>
            </a:pPr>
            <a:r>
              <a:rPr lang="en-US" sz="2599">
                <a:solidFill>
                  <a:srgbClr val="FFFFFF"/>
                </a:solidFill>
                <a:latin typeface="Poppins"/>
                <a:ea typeface="Poppins"/>
                <a:cs typeface="Poppins"/>
                <a:sym typeface="Poppins"/>
              </a:rPr>
              <a:t>No dependen de otras pruebas unitarias</a:t>
            </a:r>
          </a:p>
        </p:txBody>
      </p:sp>
      <p:sp>
        <p:nvSpPr>
          <p:cNvPr id="9" name="Freeform 9"/>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4"/>
            <a:stretch>
              <a:fillRect/>
            </a:stretch>
          </a:blipFill>
        </p:spPr>
        <p:txBody>
          <a:bodyPr/>
          <a:lstStyle/>
          <a:p>
            <a:endParaRPr lang="es-CO"/>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rot="-10800000">
            <a:off x="-874366" y="8434822"/>
            <a:ext cx="10731144" cy="4199330"/>
            <a:chOff x="0" y="0"/>
            <a:chExt cx="3083604" cy="1206681"/>
          </a:xfrm>
        </p:grpSpPr>
        <p:sp>
          <p:nvSpPr>
            <p:cNvPr id="7" name="Freeform 7"/>
            <p:cNvSpPr/>
            <p:nvPr/>
          </p:nvSpPr>
          <p:spPr>
            <a:xfrm>
              <a:off x="0" y="0"/>
              <a:ext cx="3083604" cy="1206681"/>
            </a:xfrm>
            <a:custGeom>
              <a:avLst/>
              <a:gdLst/>
              <a:ahLst/>
              <a:cxnLst/>
              <a:rect l="l" t="t" r="r" b="b"/>
              <a:pathLst>
                <a:path w="3083604" h="1206681">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1">
              <a:gsLst>
                <a:gs pos="0">
                  <a:srgbClr val="000000">
                    <a:alpha val="0"/>
                  </a:srgbClr>
                </a:gs>
                <a:gs pos="100000">
                  <a:srgbClr val="FF00BF">
                    <a:alpha val="100000"/>
                  </a:srgbClr>
                </a:gs>
              </a:gsLst>
              <a:lin ang="0"/>
            </a:gradFill>
          </p:spPr>
          <p:txBody>
            <a:bodyPr/>
            <a:lstStyle/>
            <a:p>
              <a:endParaRPr lang="es-CO"/>
            </a:p>
          </p:txBody>
        </p:sp>
        <p:sp>
          <p:nvSpPr>
            <p:cNvPr id="8" name="TextBox 8"/>
            <p:cNvSpPr txBox="1"/>
            <p:nvPr/>
          </p:nvSpPr>
          <p:spPr>
            <a:xfrm>
              <a:off x="0" y="-38100"/>
              <a:ext cx="3083604" cy="124478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339501" y="-2648321"/>
            <a:ext cx="10731144" cy="4199330"/>
            <a:chOff x="0" y="0"/>
            <a:chExt cx="3083604" cy="1206681"/>
          </a:xfrm>
        </p:grpSpPr>
        <p:sp>
          <p:nvSpPr>
            <p:cNvPr id="10" name="Freeform 10"/>
            <p:cNvSpPr/>
            <p:nvPr/>
          </p:nvSpPr>
          <p:spPr>
            <a:xfrm>
              <a:off x="0" y="0"/>
              <a:ext cx="3083604" cy="1206681"/>
            </a:xfrm>
            <a:custGeom>
              <a:avLst/>
              <a:gdLst/>
              <a:ahLst/>
              <a:cxnLst/>
              <a:rect l="l" t="t" r="r" b="b"/>
              <a:pathLst>
                <a:path w="3083604" h="1206681">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1">
              <a:gsLst>
                <a:gs pos="0">
                  <a:srgbClr val="000000">
                    <a:alpha val="0"/>
                  </a:srgbClr>
                </a:gs>
                <a:gs pos="100000">
                  <a:srgbClr val="FF00BF">
                    <a:alpha val="100000"/>
                  </a:srgbClr>
                </a:gs>
              </a:gsLst>
              <a:lin ang="0"/>
            </a:gradFill>
          </p:spPr>
          <p:txBody>
            <a:bodyPr/>
            <a:lstStyle/>
            <a:p>
              <a:endParaRPr lang="es-CO"/>
            </a:p>
          </p:txBody>
        </p:sp>
        <p:sp>
          <p:nvSpPr>
            <p:cNvPr id="11" name="TextBox 11"/>
            <p:cNvSpPr txBox="1"/>
            <p:nvPr/>
          </p:nvSpPr>
          <p:spPr>
            <a:xfrm>
              <a:off x="0" y="-38100"/>
              <a:ext cx="3083604" cy="1244781"/>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1283256" y="4303060"/>
            <a:ext cx="15721487" cy="3071531"/>
          </a:xfrm>
          <a:prstGeom prst="rect">
            <a:avLst/>
          </a:prstGeom>
        </p:spPr>
        <p:txBody>
          <a:bodyPr lIns="0" tIns="0" rIns="0" bIns="0" rtlCol="0" anchor="t">
            <a:spAutoFit/>
          </a:bodyPr>
          <a:lstStyle/>
          <a:p>
            <a:pPr algn="ctr">
              <a:lnSpc>
                <a:spcPts val="12353"/>
              </a:lnSpc>
              <a:spcBef>
                <a:spcPct val="0"/>
              </a:spcBef>
            </a:pPr>
            <a:r>
              <a:rPr lang="en-US" sz="8823">
                <a:solidFill>
                  <a:srgbClr val="F800C0"/>
                </a:solidFill>
                <a:latin typeface="HK Modular"/>
                <a:ea typeface="HK Modular"/>
                <a:cs typeface="HK Modular"/>
                <a:sym typeface="HK Modular"/>
              </a:rPr>
              <a:t>COBERTURA DE PRUEBAS</a:t>
            </a:r>
          </a:p>
        </p:txBody>
      </p:sp>
      <p:sp>
        <p:nvSpPr>
          <p:cNvPr id="13" name="Freeform 13"/>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3"/>
            <a:stretch>
              <a:fillRect/>
            </a:stretch>
          </a:blipFill>
        </p:spPr>
        <p:txBody>
          <a:bodyPr/>
          <a:lstStyle/>
          <a:p>
            <a:endParaRPr lang="es-CO"/>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2958048" y="2096546"/>
            <a:ext cx="12584532" cy="1739679"/>
          </a:xfrm>
          <a:prstGeom prst="rect">
            <a:avLst/>
          </a:prstGeom>
        </p:spPr>
        <p:txBody>
          <a:bodyPr lIns="0" tIns="0" rIns="0" bIns="0" rtlCol="0" anchor="t">
            <a:spAutoFit/>
          </a:bodyPr>
          <a:lstStyle/>
          <a:p>
            <a:pPr algn="ctr">
              <a:lnSpc>
                <a:spcPts val="7012"/>
              </a:lnSpc>
              <a:spcBef>
                <a:spcPct val="0"/>
              </a:spcBef>
            </a:pPr>
            <a:r>
              <a:rPr lang="en-US" sz="5008">
                <a:solidFill>
                  <a:srgbClr val="DD7E28"/>
                </a:solidFill>
                <a:latin typeface="HK Modular"/>
                <a:ea typeface="HK Modular"/>
                <a:cs typeface="HK Modular"/>
                <a:sym typeface="HK Modular"/>
              </a:rPr>
              <a:t>¿QUE ES LA COBERTURA DE PRUEBAS?</a:t>
            </a:r>
          </a:p>
        </p:txBody>
      </p:sp>
      <p:sp>
        <p:nvSpPr>
          <p:cNvPr id="7" name="TextBox 7"/>
          <p:cNvSpPr txBox="1"/>
          <p:nvPr/>
        </p:nvSpPr>
        <p:spPr>
          <a:xfrm>
            <a:off x="2393025" y="4491025"/>
            <a:ext cx="13720684" cy="404459"/>
          </a:xfrm>
          <a:prstGeom prst="rect">
            <a:avLst/>
          </a:prstGeom>
        </p:spPr>
        <p:txBody>
          <a:bodyPr lIns="0" tIns="0" rIns="0" bIns="0" rtlCol="0" anchor="t">
            <a:spAutoFit/>
          </a:bodyPr>
          <a:lstStyle/>
          <a:p>
            <a:pPr algn="ctr">
              <a:lnSpc>
                <a:spcPts val="3431"/>
              </a:lnSpc>
            </a:pPr>
            <a:r>
              <a:rPr lang="en-US" sz="2451">
                <a:solidFill>
                  <a:srgbClr val="FFFFFF"/>
                </a:solidFill>
                <a:latin typeface="Open Sans"/>
                <a:ea typeface="Open Sans"/>
                <a:cs typeface="Open Sans"/>
                <a:sym typeface="Open Sans"/>
              </a:rPr>
              <a:t>Es una de las medidas de la calidad de los tests que nos dice cuanto codigo se ha probado</a:t>
            </a:r>
          </a:p>
        </p:txBody>
      </p:sp>
      <p:sp>
        <p:nvSpPr>
          <p:cNvPr id="8" name="TextBox 8"/>
          <p:cNvSpPr txBox="1"/>
          <p:nvPr/>
        </p:nvSpPr>
        <p:spPr>
          <a:xfrm>
            <a:off x="2283658" y="5550285"/>
            <a:ext cx="13720684" cy="1261709"/>
          </a:xfrm>
          <a:prstGeom prst="rect">
            <a:avLst/>
          </a:prstGeom>
        </p:spPr>
        <p:txBody>
          <a:bodyPr lIns="0" tIns="0" rIns="0" bIns="0" rtlCol="0" anchor="t">
            <a:spAutoFit/>
          </a:bodyPr>
          <a:lstStyle/>
          <a:p>
            <a:pPr algn="ctr">
              <a:lnSpc>
                <a:spcPts val="3431"/>
              </a:lnSpc>
            </a:pPr>
            <a:r>
              <a:rPr lang="en-US" sz="2451">
                <a:solidFill>
                  <a:srgbClr val="FFFFFF"/>
                </a:solidFill>
                <a:latin typeface="Open Sans"/>
                <a:ea typeface="Open Sans"/>
                <a:cs typeface="Open Sans"/>
                <a:sym typeface="Open Sans"/>
              </a:rPr>
              <a:t>Define ciertas entidades del sistema con la intencion de cubrirlas con pruebas, siendo una forma de indicar cuanto hemos probado lo suficiente y nos da ideas de que mas probar asi ampliando la cobertura</a:t>
            </a:r>
          </a:p>
        </p:txBody>
      </p:sp>
      <p:sp>
        <p:nvSpPr>
          <p:cNvPr id="9" name="TextBox 9"/>
          <p:cNvSpPr txBox="1"/>
          <p:nvPr/>
        </p:nvSpPr>
        <p:spPr>
          <a:xfrm>
            <a:off x="2283658" y="7466862"/>
            <a:ext cx="13720684" cy="1261709"/>
          </a:xfrm>
          <a:prstGeom prst="rect">
            <a:avLst/>
          </a:prstGeom>
        </p:spPr>
        <p:txBody>
          <a:bodyPr lIns="0" tIns="0" rIns="0" bIns="0" rtlCol="0" anchor="t">
            <a:spAutoFit/>
          </a:bodyPr>
          <a:lstStyle/>
          <a:p>
            <a:pPr algn="ctr">
              <a:lnSpc>
                <a:spcPts val="3431"/>
              </a:lnSpc>
            </a:pPr>
            <a:r>
              <a:rPr lang="en-US" sz="2451">
                <a:solidFill>
                  <a:srgbClr val="FFFFFF"/>
                </a:solidFill>
                <a:latin typeface="Open Sans"/>
                <a:ea typeface="Open Sans"/>
                <a:cs typeface="Open Sans"/>
                <a:sym typeface="Open Sans"/>
              </a:rPr>
              <a:t>TENER UN CIERTO NIVEL DE COBERTURA ES UN INDICADOR DE LA CALIDAD DE LAS PRUEBAS, PERO NUNCA ES UN INDICADOR DE LA CALIDAD DEL SISTEMA, NI TAMPOCO GARANTIZA QUE TODO HALLA SIDO PROBADO</a:t>
            </a:r>
          </a:p>
        </p:txBody>
      </p:sp>
      <p:sp>
        <p:nvSpPr>
          <p:cNvPr id="10" name="Freeform 10"/>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3"/>
            <a:stretch>
              <a:fillRect/>
            </a:stretch>
          </a:blipFill>
        </p:spPr>
        <p:txBody>
          <a:bodyPr/>
          <a:lstStyle/>
          <a:p>
            <a:endParaRPr lang="es-CO"/>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6058445" y="1717563"/>
            <a:ext cx="1676857" cy="1676857"/>
          </a:xfrm>
          <a:custGeom>
            <a:avLst/>
            <a:gdLst/>
            <a:ahLst/>
            <a:cxnLst/>
            <a:rect l="l" t="t" r="r" b="b"/>
            <a:pathLst>
              <a:path w="1676857" h="1676857">
                <a:moveTo>
                  <a:pt x="0" y="0"/>
                </a:moveTo>
                <a:lnTo>
                  <a:pt x="1676857" y="0"/>
                </a:lnTo>
                <a:lnTo>
                  <a:pt x="1676857" y="1676858"/>
                </a:lnTo>
                <a:lnTo>
                  <a:pt x="0" y="1676858"/>
                </a:lnTo>
                <a:lnTo>
                  <a:pt x="0" y="0"/>
                </a:lnTo>
                <a:close/>
              </a:path>
            </a:pathLst>
          </a:custGeom>
          <a:blipFill>
            <a:blip r:embed="rId3"/>
            <a:stretch>
              <a:fillRect/>
            </a:stretch>
          </a:blipFill>
        </p:spPr>
        <p:txBody>
          <a:bodyPr/>
          <a:lstStyle/>
          <a:p>
            <a:endParaRPr lang="es-CO"/>
          </a:p>
        </p:txBody>
      </p:sp>
      <p:sp>
        <p:nvSpPr>
          <p:cNvPr id="7" name="TextBox 7"/>
          <p:cNvSpPr txBox="1"/>
          <p:nvPr/>
        </p:nvSpPr>
        <p:spPr>
          <a:xfrm>
            <a:off x="3516960" y="2217392"/>
            <a:ext cx="12584532" cy="853854"/>
          </a:xfrm>
          <a:prstGeom prst="rect">
            <a:avLst/>
          </a:prstGeom>
        </p:spPr>
        <p:txBody>
          <a:bodyPr lIns="0" tIns="0" rIns="0" bIns="0" rtlCol="0" anchor="t">
            <a:spAutoFit/>
          </a:bodyPr>
          <a:lstStyle/>
          <a:p>
            <a:pPr algn="ctr">
              <a:lnSpc>
                <a:spcPts val="7012"/>
              </a:lnSpc>
              <a:spcBef>
                <a:spcPct val="0"/>
              </a:spcBef>
            </a:pPr>
            <a:r>
              <a:rPr lang="en-US" sz="5008">
                <a:solidFill>
                  <a:srgbClr val="DD7E28"/>
                </a:solidFill>
                <a:latin typeface="HK Modular"/>
                <a:ea typeface="HK Modular"/>
                <a:cs typeface="HK Modular"/>
                <a:sym typeface="HK Modular"/>
              </a:rPr>
              <a:t>JUNIT</a:t>
            </a:r>
          </a:p>
        </p:txBody>
      </p:sp>
      <p:sp>
        <p:nvSpPr>
          <p:cNvPr id="8" name="TextBox 8"/>
          <p:cNvSpPr txBox="1"/>
          <p:nvPr/>
        </p:nvSpPr>
        <p:spPr>
          <a:xfrm>
            <a:off x="2495138" y="3894223"/>
            <a:ext cx="13720684" cy="833084"/>
          </a:xfrm>
          <a:prstGeom prst="rect">
            <a:avLst/>
          </a:prstGeom>
        </p:spPr>
        <p:txBody>
          <a:bodyPr lIns="0" tIns="0" rIns="0" bIns="0" rtlCol="0" anchor="t">
            <a:spAutoFit/>
          </a:bodyPr>
          <a:lstStyle/>
          <a:p>
            <a:pPr algn="ctr">
              <a:lnSpc>
                <a:spcPts val="3431"/>
              </a:lnSpc>
            </a:pPr>
            <a:r>
              <a:rPr lang="en-US" sz="2451">
                <a:solidFill>
                  <a:srgbClr val="FFFFFF"/>
                </a:solidFill>
                <a:latin typeface="Open Sans"/>
                <a:ea typeface="Open Sans"/>
                <a:cs typeface="Open Sans"/>
                <a:sym typeface="Open Sans"/>
              </a:rPr>
              <a:t>Es el framework de pruebas unitarias mas usado en JAVA, permite automatizar pruebas de metodos y clases de manera mas rapida</a:t>
            </a:r>
          </a:p>
        </p:txBody>
      </p:sp>
      <p:sp>
        <p:nvSpPr>
          <p:cNvPr id="9" name="TextBox 9"/>
          <p:cNvSpPr txBox="1"/>
          <p:nvPr/>
        </p:nvSpPr>
        <p:spPr>
          <a:xfrm>
            <a:off x="4500274" y="6020785"/>
            <a:ext cx="9506186" cy="1690334"/>
          </a:xfrm>
          <a:prstGeom prst="rect">
            <a:avLst/>
          </a:prstGeom>
        </p:spPr>
        <p:txBody>
          <a:bodyPr lIns="0" tIns="0" rIns="0" bIns="0" rtlCol="0" anchor="t">
            <a:spAutoFit/>
          </a:bodyPr>
          <a:lstStyle/>
          <a:p>
            <a:pPr marL="529262" lvl="1" indent="-264631" algn="ctr">
              <a:lnSpc>
                <a:spcPts val="3431"/>
              </a:lnSpc>
              <a:buFont typeface="Arial"/>
              <a:buChar char="•"/>
            </a:pPr>
            <a:r>
              <a:rPr lang="en-US" sz="2451">
                <a:solidFill>
                  <a:srgbClr val="FFFFFF"/>
                </a:solidFill>
                <a:latin typeface="Open Sans"/>
                <a:ea typeface="Open Sans"/>
                <a:cs typeface="Open Sans"/>
                <a:sym typeface="Open Sans"/>
              </a:rPr>
              <a:t>Usa anotaciones como @Test, @BeforeEach, @AfterEach, etc</a:t>
            </a:r>
          </a:p>
          <a:p>
            <a:pPr marL="529262" lvl="1" indent="-264631" algn="ctr">
              <a:lnSpc>
                <a:spcPts val="3431"/>
              </a:lnSpc>
              <a:buFont typeface="Arial"/>
              <a:buChar char="•"/>
            </a:pPr>
            <a:r>
              <a:rPr lang="en-US" sz="2451">
                <a:solidFill>
                  <a:srgbClr val="FFFFFF"/>
                </a:solidFill>
                <a:latin typeface="Open Sans"/>
                <a:ea typeface="Open Sans"/>
                <a:cs typeface="Open Sans"/>
                <a:sym typeface="Open Sans"/>
              </a:rPr>
              <a:t>Ejecuta las Pruebas de forma aislada</a:t>
            </a:r>
          </a:p>
          <a:p>
            <a:pPr marL="529262" lvl="1" indent="-264631" algn="ctr">
              <a:lnSpc>
                <a:spcPts val="3431"/>
              </a:lnSpc>
              <a:buFont typeface="Arial"/>
              <a:buChar char="•"/>
            </a:pPr>
            <a:r>
              <a:rPr lang="en-US" sz="2451">
                <a:solidFill>
                  <a:srgbClr val="FFFFFF"/>
                </a:solidFill>
                <a:latin typeface="Open Sans"/>
                <a:ea typeface="Open Sans"/>
                <a:cs typeface="Open Sans"/>
                <a:sym typeface="Open Sans"/>
              </a:rPr>
              <a:t>Verifica resultados con asserts (assertEquals, assertTrue, etc)</a:t>
            </a:r>
          </a:p>
          <a:p>
            <a:pPr marL="529262" lvl="1" indent="-264631" algn="ctr">
              <a:lnSpc>
                <a:spcPts val="3431"/>
              </a:lnSpc>
              <a:buFont typeface="Arial"/>
              <a:buChar char="•"/>
            </a:pPr>
            <a:r>
              <a:rPr lang="en-US" sz="2451">
                <a:solidFill>
                  <a:srgbClr val="FFFFFF"/>
                </a:solidFill>
                <a:latin typeface="Open Sans"/>
                <a:ea typeface="Open Sans"/>
                <a:cs typeface="Open Sans"/>
                <a:sym typeface="Open Sans"/>
              </a:rPr>
              <a:t>Se integra con MAVEN, Gradle, IDEs y herramientas de CI/CD</a:t>
            </a:r>
          </a:p>
        </p:txBody>
      </p:sp>
      <p:sp>
        <p:nvSpPr>
          <p:cNvPr id="10" name="TextBox 10"/>
          <p:cNvSpPr txBox="1"/>
          <p:nvPr/>
        </p:nvSpPr>
        <p:spPr>
          <a:xfrm>
            <a:off x="4849897" y="5138417"/>
            <a:ext cx="9011167" cy="1034058"/>
          </a:xfrm>
          <a:prstGeom prst="rect">
            <a:avLst/>
          </a:prstGeom>
        </p:spPr>
        <p:txBody>
          <a:bodyPr lIns="0" tIns="0" rIns="0" bIns="0" rtlCol="0" anchor="t">
            <a:spAutoFit/>
          </a:bodyPr>
          <a:lstStyle/>
          <a:p>
            <a:pPr algn="ctr">
              <a:lnSpc>
                <a:spcPts val="4114"/>
              </a:lnSpc>
            </a:pPr>
            <a:r>
              <a:rPr lang="en-US" sz="2939">
                <a:solidFill>
                  <a:srgbClr val="FA18C2"/>
                </a:solidFill>
                <a:latin typeface="HK Modular"/>
                <a:ea typeface="HK Modular"/>
                <a:cs typeface="HK Modular"/>
                <a:sym typeface="HK Modular"/>
              </a:rPr>
              <a:t>¿COMO FUNCIONA?</a:t>
            </a:r>
          </a:p>
          <a:p>
            <a:pPr algn="ctr">
              <a:lnSpc>
                <a:spcPts val="4114"/>
              </a:lnSpc>
              <a:spcBef>
                <a:spcPct val="0"/>
              </a:spcBef>
            </a:pPr>
            <a:endParaRPr lang="en-US" sz="2939">
              <a:solidFill>
                <a:srgbClr val="FA18C2"/>
              </a:solidFill>
              <a:latin typeface="HK Modular"/>
              <a:ea typeface="HK Modular"/>
              <a:cs typeface="HK Modular"/>
              <a:sym typeface="HK Modular"/>
            </a:endParaRPr>
          </a:p>
        </p:txBody>
      </p:sp>
      <p:sp>
        <p:nvSpPr>
          <p:cNvPr id="11" name="TextBox 11"/>
          <p:cNvSpPr txBox="1"/>
          <p:nvPr/>
        </p:nvSpPr>
        <p:spPr>
          <a:xfrm>
            <a:off x="4849897" y="8501694"/>
            <a:ext cx="9011167" cy="1555077"/>
          </a:xfrm>
          <a:prstGeom prst="rect">
            <a:avLst/>
          </a:prstGeom>
        </p:spPr>
        <p:txBody>
          <a:bodyPr lIns="0" tIns="0" rIns="0" bIns="0" rtlCol="0" anchor="t">
            <a:spAutoFit/>
          </a:bodyPr>
          <a:lstStyle/>
          <a:p>
            <a:pPr algn="ctr">
              <a:lnSpc>
                <a:spcPts val="4114"/>
              </a:lnSpc>
            </a:pPr>
            <a:r>
              <a:rPr lang="en-US" sz="2939">
                <a:solidFill>
                  <a:srgbClr val="DD7E28"/>
                </a:solidFill>
                <a:latin typeface="HK Modular"/>
                <a:ea typeface="HK Modular"/>
                <a:cs typeface="HK Modular"/>
                <a:sym typeface="HK Modular"/>
              </a:rPr>
              <a:t>EN MAVEN SE EJECUTA CON MVN TEST</a:t>
            </a:r>
          </a:p>
          <a:p>
            <a:pPr algn="ctr">
              <a:lnSpc>
                <a:spcPts val="4114"/>
              </a:lnSpc>
              <a:spcBef>
                <a:spcPct val="0"/>
              </a:spcBef>
            </a:pPr>
            <a:endParaRPr lang="en-US" sz="2939">
              <a:solidFill>
                <a:srgbClr val="DD7E28"/>
              </a:solidFill>
              <a:latin typeface="HK Modular"/>
              <a:ea typeface="HK Modular"/>
              <a:cs typeface="HK Modular"/>
              <a:sym typeface="HK Modular"/>
            </a:endParaRPr>
          </a:p>
        </p:txBody>
      </p:sp>
      <p:sp>
        <p:nvSpPr>
          <p:cNvPr id="12" name="Freeform 12"/>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4"/>
            <a:stretch>
              <a:fillRect/>
            </a:stretch>
          </a:blipFill>
        </p:spPr>
        <p:txBody>
          <a:bodyPr/>
          <a:lstStyle/>
          <a:p>
            <a:endParaRPr lang="es-CO"/>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950275" y="5505287"/>
            <a:ext cx="5466918" cy="2490069"/>
          </a:xfrm>
          <a:custGeom>
            <a:avLst/>
            <a:gdLst/>
            <a:ahLst/>
            <a:cxnLst/>
            <a:rect l="l" t="t" r="r" b="b"/>
            <a:pathLst>
              <a:path w="5466918" h="2490069">
                <a:moveTo>
                  <a:pt x="0" y="0"/>
                </a:moveTo>
                <a:lnTo>
                  <a:pt x="5466918" y="0"/>
                </a:lnTo>
                <a:lnTo>
                  <a:pt x="5466918" y="2490069"/>
                </a:lnTo>
                <a:lnTo>
                  <a:pt x="0" y="2490069"/>
                </a:lnTo>
                <a:lnTo>
                  <a:pt x="0" y="0"/>
                </a:lnTo>
                <a:close/>
              </a:path>
            </a:pathLst>
          </a:custGeom>
          <a:blipFill>
            <a:blip r:embed="rId3"/>
            <a:stretch>
              <a:fillRect/>
            </a:stretch>
          </a:blipFill>
        </p:spPr>
        <p:txBody>
          <a:bodyPr/>
          <a:lstStyle/>
          <a:p>
            <a:endParaRPr lang="es-CO"/>
          </a:p>
        </p:txBody>
      </p:sp>
      <p:sp>
        <p:nvSpPr>
          <p:cNvPr id="7" name="Freeform 7"/>
          <p:cNvSpPr/>
          <p:nvPr/>
        </p:nvSpPr>
        <p:spPr>
          <a:xfrm>
            <a:off x="11580926" y="5331438"/>
            <a:ext cx="5547996" cy="2837768"/>
          </a:xfrm>
          <a:custGeom>
            <a:avLst/>
            <a:gdLst/>
            <a:ahLst/>
            <a:cxnLst/>
            <a:rect l="l" t="t" r="r" b="b"/>
            <a:pathLst>
              <a:path w="5547996" h="2837768">
                <a:moveTo>
                  <a:pt x="0" y="0"/>
                </a:moveTo>
                <a:lnTo>
                  <a:pt x="5547996" y="0"/>
                </a:lnTo>
                <a:lnTo>
                  <a:pt x="5547996" y="2837768"/>
                </a:lnTo>
                <a:lnTo>
                  <a:pt x="0" y="2837768"/>
                </a:lnTo>
                <a:lnTo>
                  <a:pt x="0" y="0"/>
                </a:lnTo>
                <a:close/>
              </a:path>
            </a:pathLst>
          </a:custGeom>
          <a:blipFill>
            <a:blip r:embed="rId4"/>
            <a:stretch>
              <a:fillRect/>
            </a:stretch>
          </a:blipFill>
        </p:spPr>
        <p:txBody>
          <a:bodyPr/>
          <a:lstStyle/>
          <a:p>
            <a:endParaRPr lang="es-CO"/>
          </a:p>
        </p:txBody>
      </p:sp>
      <p:sp>
        <p:nvSpPr>
          <p:cNvPr id="8" name="TextBox 8"/>
          <p:cNvSpPr txBox="1"/>
          <p:nvPr/>
        </p:nvSpPr>
        <p:spPr>
          <a:xfrm>
            <a:off x="3516960" y="2217392"/>
            <a:ext cx="12584532" cy="853854"/>
          </a:xfrm>
          <a:prstGeom prst="rect">
            <a:avLst/>
          </a:prstGeom>
        </p:spPr>
        <p:txBody>
          <a:bodyPr lIns="0" tIns="0" rIns="0" bIns="0" rtlCol="0" anchor="t">
            <a:spAutoFit/>
          </a:bodyPr>
          <a:lstStyle/>
          <a:p>
            <a:pPr algn="ctr">
              <a:lnSpc>
                <a:spcPts val="7012"/>
              </a:lnSpc>
              <a:spcBef>
                <a:spcPct val="0"/>
              </a:spcBef>
            </a:pPr>
            <a:r>
              <a:rPr lang="en-US" sz="5008">
                <a:solidFill>
                  <a:srgbClr val="E78939"/>
                </a:solidFill>
                <a:latin typeface="HK Modular"/>
                <a:ea typeface="HK Modular"/>
                <a:cs typeface="HK Modular"/>
                <a:sym typeface="HK Modular"/>
              </a:rPr>
              <a:t>JUNIT</a:t>
            </a:r>
          </a:p>
        </p:txBody>
      </p:sp>
      <p:sp>
        <p:nvSpPr>
          <p:cNvPr id="9" name="TextBox 9"/>
          <p:cNvSpPr txBox="1"/>
          <p:nvPr/>
        </p:nvSpPr>
        <p:spPr>
          <a:xfrm>
            <a:off x="1779358" y="4363952"/>
            <a:ext cx="5808752" cy="1034058"/>
          </a:xfrm>
          <a:prstGeom prst="rect">
            <a:avLst/>
          </a:prstGeom>
        </p:spPr>
        <p:txBody>
          <a:bodyPr lIns="0" tIns="0" rIns="0" bIns="0" rtlCol="0" anchor="t">
            <a:spAutoFit/>
          </a:bodyPr>
          <a:lstStyle/>
          <a:p>
            <a:pPr algn="ctr">
              <a:lnSpc>
                <a:spcPts val="4114"/>
              </a:lnSpc>
            </a:pPr>
            <a:r>
              <a:rPr lang="en-US" sz="2939">
                <a:solidFill>
                  <a:srgbClr val="FA18C2"/>
                </a:solidFill>
                <a:latin typeface="HK Modular"/>
                <a:ea typeface="HK Modular"/>
                <a:cs typeface="HK Modular"/>
                <a:sym typeface="HK Modular"/>
              </a:rPr>
              <a:t>DEPENDENCIA</a:t>
            </a:r>
          </a:p>
          <a:p>
            <a:pPr algn="ctr">
              <a:lnSpc>
                <a:spcPts val="4114"/>
              </a:lnSpc>
              <a:spcBef>
                <a:spcPct val="0"/>
              </a:spcBef>
            </a:pPr>
            <a:endParaRPr lang="en-US" sz="2939">
              <a:solidFill>
                <a:srgbClr val="FA18C2"/>
              </a:solidFill>
              <a:latin typeface="HK Modular"/>
              <a:ea typeface="HK Modular"/>
              <a:cs typeface="HK Modular"/>
              <a:sym typeface="HK Modular"/>
            </a:endParaRPr>
          </a:p>
        </p:txBody>
      </p:sp>
      <p:sp>
        <p:nvSpPr>
          <p:cNvPr id="10" name="TextBox 10"/>
          <p:cNvSpPr txBox="1"/>
          <p:nvPr/>
        </p:nvSpPr>
        <p:spPr>
          <a:xfrm>
            <a:off x="11320169" y="4363952"/>
            <a:ext cx="5808752" cy="1034058"/>
          </a:xfrm>
          <a:prstGeom prst="rect">
            <a:avLst/>
          </a:prstGeom>
        </p:spPr>
        <p:txBody>
          <a:bodyPr lIns="0" tIns="0" rIns="0" bIns="0" rtlCol="0" anchor="t">
            <a:spAutoFit/>
          </a:bodyPr>
          <a:lstStyle/>
          <a:p>
            <a:pPr algn="ctr">
              <a:lnSpc>
                <a:spcPts val="4114"/>
              </a:lnSpc>
            </a:pPr>
            <a:r>
              <a:rPr lang="en-US" sz="2939">
                <a:solidFill>
                  <a:srgbClr val="FA18C2"/>
                </a:solidFill>
                <a:latin typeface="HK Modular"/>
                <a:ea typeface="HK Modular"/>
                <a:cs typeface="HK Modular"/>
                <a:sym typeface="HK Modular"/>
              </a:rPr>
              <a:t>EJEMPLO</a:t>
            </a:r>
          </a:p>
          <a:p>
            <a:pPr algn="ctr">
              <a:lnSpc>
                <a:spcPts val="4114"/>
              </a:lnSpc>
              <a:spcBef>
                <a:spcPct val="0"/>
              </a:spcBef>
            </a:pPr>
            <a:endParaRPr lang="en-US" sz="2939">
              <a:solidFill>
                <a:srgbClr val="FA18C2"/>
              </a:solidFill>
              <a:latin typeface="HK Modular"/>
              <a:ea typeface="HK Modular"/>
              <a:cs typeface="HK Modular"/>
              <a:sym typeface="HK Modular"/>
            </a:endParaRPr>
          </a:p>
        </p:txBody>
      </p:sp>
      <p:sp>
        <p:nvSpPr>
          <p:cNvPr id="11" name="Freeform 11"/>
          <p:cNvSpPr/>
          <p:nvPr/>
        </p:nvSpPr>
        <p:spPr>
          <a:xfrm>
            <a:off x="6058445" y="1717563"/>
            <a:ext cx="1676857" cy="1676857"/>
          </a:xfrm>
          <a:custGeom>
            <a:avLst/>
            <a:gdLst/>
            <a:ahLst/>
            <a:cxnLst/>
            <a:rect l="l" t="t" r="r" b="b"/>
            <a:pathLst>
              <a:path w="1676857" h="1676857">
                <a:moveTo>
                  <a:pt x="0" y="0"/>
                </a:moveTo>
                <a:lnTo>
                  <a:pt x="1676857" y="0"/>
                </a:lnTo>
                <a:lnTo>
                  <a:pt x="1676857" y="1676858"/>
                </a:lnTo>
                <a:lnTo>
                  <a:pt x="0" y="1676858"/>
                </a:lnTo>
                <a:lnTo>
                  <a:pt x="0" y="0"/>
                </a:lnTo>
                <a:close/>
              </a:path>
            </a:pathLst>
          </a:custGeom>
          <a:blipFill>
            <a:blip r:embed="rId5"/>
            <a:stretch>
              <a:fillRect/>
            </a:stretch>
          </a:blipFill>
        </p:spPr>
        <p:txBody>
          <a:bodyPr/>
          <a:lstStyle/>
          <a:p>
            <a:endParaRPr lang="es-CO"/>
          </a:p>
        </p:txBody>
      </p:sp>
      <p:sp>
        <p:nvSpPr>
          <p:cNvPr id="12" name="Freeform 12"/>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6"/>
            <a:stretch>
              <a:fillRect/>
            </a:stretch>
          </a:blipFill>
        </p:spPr>
        <p:txBody>
          <a:bodyPr/>
          <a:lstStyle/>
          <a:p>
            <a:endParaRPr lang="es-CO"/>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5057265" y="2031449"/>
            <a:ext cx="2772791" cy="1039797"/>
          </a:xfrm>
          <a:custGeom>
            <a:avLst/>
            <a:gdLst/>
            <a:ahLst/>
            <a:cxnLst/>
            <a:rect l="l" t="t" r="r" b="b"/>
            <a:pathLst>
              <a:path w="2772791" h="1039797">
                <a:moveTo>
                  <a:pt x="0" y="0"/>
                </a:moveTo>
                <a:lnTo>
                  <a:pt x="2772792" y="0"/>
                </a:lnTo>
                <a:lnTo>
                  <a:pt x="2772792" y="1039796"/>
                </a:lnTo>
                <a:lnTo>
                  <a:pt x="0" y="1039796"/>
                </a:lnTo>
                <a:lnTo>
                  <a:pt x="0" y="0"/>
                </a:lnTo>
                <a:close/>
              </a:path>
            </a:pathLst>
          </a:custGeom>
          <a:blipFill>
            <a:blip r:embed="rId3"/>
            <a:stretch>
              <a:fillRect/>
            </a:stretch>
          </a:blipFill>
        </p:spPr>
        <p:txBody>
          <a:bodyPr/>
          <a:lstStyle/>
          <a:p>
            <a:endParaRPr lang="es-CO"/>
          </a:p>
        </p:txBody>
      </p:sp>
      <p:sp>
        <p:nvSpPr>
          <p:cNvPr id="7" name="TextBox 7"/>
          <p:cNvSpPr txBox="1"/>
          <p:nvPr/>
        </p:nvSpPr>
        <p:spPr>
          <a:xfrm>
            <a:off x="3516960" y="2217392"/>
            <a:ext cx="12584532" cy="853854"/>
          </a:xfrm>
          <a:prstGeom prst="rect">
            <a:avLst/>
          </a:prstGeom>
        </p:spPr>
        <p:txBody>
          <a:bodyPr lIns="0" tIns="0" rIns="0" bIns="0" rtlCol="0" anchor="t">
            <a:spAutoFit/>
          </a:bodyPr>
          <a:lstStyle/>
          <a:p>
            <a:pPr algn="ctr">
              <a:lnSpc>
                <a:spcPts val="7012"/>
              </a:lnSpc>
              <a:spcBef>
                <a:spcPct val="0"/>
              </a:spcBef>
            </a:pPr>
            <a:r>
              <a:rPr lang="en-US" sz="5008">
                <a:solidFill>
                  <a:srgbClr val="DD7E28"/>
                </a:solidFill>
                <a:latin typeface="HK Modular"/>
                <a:ea typeface="HK Modular"/>
                <a:cs typeface="HK Modular"/>
                <a:sym typeface="HK Modular"/>
              </a:rPr>
              <a:t>JACOCO</a:t>
            </a:r>
          </a:p>
        </p:txBody>
      </p:sp>
      <p:sp>
        <p:nvSpPr>
          <p:cNvPr id="8" name="TextBox 8"/>
          <p:cNvSpPr txBox="1"/>
          <p:nvPr/>
        </p:nvSpPr>
        <p:spPr>
          <a:xfrm>
            <a:off x="2495138" y="3894223"/>
            <a:ext cx="13720684" cy="833084"/>
          </a:xfrm>
          <a:prstGeom prst="rect">
            <a:avLst/>
          </a:prstGeom>
        </p:spPr>
        <p:txBody>
          <a:bodyPr lIns="0" tIns="0" rIns="0" bIns="0" rtlCol="0" anchor="t">
            <a:spAutoFit/>
          </a:bodyPr>
          <a:lstStyle/>
          <a:p>
            <a:pPr algn="ctr">
              <a:lnSpc>
                <a:spcPts val="3431"/>
              </a:lnSpc>
            </a:pPr>
            <a:r>
              <a:rPr lang="en-US" sz="2451">
                <a:solidFill>
                  <a:srgbClr val="FFFFFF"/>
                </a:solidFill>
                <a:latin typeface="Open Sans"/>
                <a:ea typeface="Open Sans"/>
                <a:cs typeface="Open Sans"/>
                <a:sym typeface="Open Sans"/>
              </a:rPr>
              <a:t>Es una herramiento que mide la cobertura del codigo de las pruebas, es el encargado de informar que porcentaje de codigo fue ejecutado durante las pruebas</a:t>
            </a:r>
          </a:p>
        </p:txBody>
      </p:sp>
      <p:sp>
        <p:nvSpPr>
          <p:cNvPr id="9" name="TextBox 9"/>
          <p:cNvSpPr txBox="1"/>
          <p:nvPr/>
        </p:nvSpPr>
        <p:spPr>
          <a:xfrm>
            <a:off x="4500274" y="6020785"/>
            <a:ext cx="9506186" cy="1690334"/>
          </a:xfrm>
          <a:prstGeom prst="rect">
            <a:avLst/>
          </a:prstGeom>
        </p:spPr>
        <p:txBody>
          <a:bodyPr lIns="0" tIns="0" rIns="0" bIns="0" rtlCol="0" anchor="t">
            <a:spAutoFit/>
          </a:bodyPr>
          <a:lstStyle/>
          <a:p>
            <a:pPr marL="529262" lvl="1" indent="-264631" algn="ctr">
              <a:lnSpc>
                <a:spcPts val="3431"/>
              </a:lnSpc>
              <a:buFont typeface="Arial"/>
              <a:buChar char="•"/>
            </a:pPr>
            <a:r>
              <a:rPr lang="en-US" sz="2451">
                <a:solidFill>
                  <a:srgbClr val="FFFFFF"/>
                </a:solidFill>
                <a:latin typeface="Open Sans"/>
                <a:ea typeface="Open Sans"/>
                <a:cs typeface="Open Sans"/>
                <a:sym typeface="Open Sans"/>
              </a:rPr>
              <a:t>Se ejecuta junto con JUnit u otro framework de pruebas</a:t>
            </a:r>
          </a:p>
          <a:p>
            <a:pPr marL="529262" lvl="1" indent="-264631" algn="ctr">
              <a:lnSpc>
                <a:spcPts val="3431"/>
              </a:lnSpc>
              <a:buFont typeface="Arial"/>
              <a:buChar char="•"/>
            </a:pPr>
            <a:r>
              <a:rPr lang="en-US" sz="2451">
                <a:solidFill>
                  <a:srgbClr val="FFFFFF"/>
                </a:solidFill>
                <a:latin typeface="Open Sans"/>
                <a:ea typeface="Open Sans"/>
                <a:cs typeface="Open Sans"/>
                <a:sym typeface="Open Sans"/>
              </a:rPr>
              <a:t>Instrumenta el bytecode para registrar que lineas, ramas y metodos se ejecutan</a:t>
            </a:r>
          </a:p>
          <a:p>
            <a:pPr marL="529262" lvl="1" indent="-264631" algn="ctr">
              <a:lnSpc>
                <a:spcPts val="3431"/>
              </a:lnSpc>
              <a:buFont typeface="Arial"/>
              <a:buChar char="•"/>
            </a:pPr>
            <a:r>
              <a:rPr lang="en-US" sz="2451">
                <a:solidFill>
                  <a:srgbClr val="FFFFFF"/>
                </a:solidFill>
                <a:latin typeface="Open Sans"/>
                <a:ea typeface="Open Sans"/>
                <a:cs typeface="Open Sans"/>
                <a:sym typeface="Open Sans"/>
              </a:rPr>
              <a:t>Genera reportes en HTML, XML o CSV</a:t>
            </a:r>
          </a:p>
        </p:txBody>
      </p:sp>
      <p:sp>
        <p:nvSpPr>
          <p:cNvPr id="10" name="TextBox 10"/>
          <p:cNvSpPr txBox="1"/>
          <p:nvPr/>
        </p:nvSpPr>
        <p:spPr>
          <a:xfrm>
            <a:off x="4849897" y="5138417"/>
            <a:ext cx="9011167" cy="1034058"/>
          </a:xfrm>
          <a:prstGeom prst="rect">
            <a:avLst/>
          </a:prstGeom>
        </p:spPr>
        <p:txBody>
          <a:bodyPr lIns="0" tIns="0" rIns="0" bIns="0" rtlCol="0" anchor="t">
            <a:spAutoFit/>
          </a:bodyPr>
          <a:lstStyle/>
          <a:p>
            <a:pPr algn="ctr">
              <a:lnSpc>
                <a:spcPts val="4114"/>
              </a:lnSpc>
            </a:pPr>
            <a:r>
              <a:rPr lang="en-US" sz="2939">
                <a:solidFill>
                  <a:srgbClr val="FA18C2"/>
                </a:solidFill>
                <a:latin typeface="HK Modular"/>
                <a:ea typeface="HK Modular"/>
                <a:cs typeface="HK Modular"/>
                <a:sym typeface="HK Modular"/>
              </a:rPr>
              <a:t>¿COMO FUNCIONA?</a:t>
            </a:r>
          </a:p>
          <a:p>
            <a:pPr algn="ctr">
              <a:lnSpc>
                <a:spcPts val="4114"/>
              </a:lnSpc>
              <a:spcBef>
                <a:spcPct val="0"/>
              </a:spcBef>
            </a:pPr>
            <a:endParaRPr lang="en-US" sz="2939">
              <a:solidFill>
                <a:srgbClr val="FA18C2"/>
              </a:solidFill>
              <a:latin typeface="HK Modular"/>
              <a:ea typeface="HK Modular"/>
              <a:cs typeface="HK Modular"/>
              <a:sym typeface="HK Modular"/>
            </a:endParaRPr>
          </a:p>
        </p:txBody>
      </p:sp>
      <p:sp>
        <p:nvSpPr>
          <p:cNvPr id="11" name="TextBox 11"/>
          <p:cNvSpPr txBox="1"/>
          <p:nvPr/>
        </p:nvSpPr>
        <p:spPr>
          <a:xfrm>
            <a:off x="4995293" y="8186914"/>
            <a:ext cx="9011167" cy="2076096"/>
          </a:xfrm>
          <a:prstGeom prst="rect">
            <a:avLst/>
          </a:prstGeom>
        </p:spPr>
        <p:txBody>
          <a:bodyPr lIns="0" tIns="0" rIns="0" bIns="0" rtlCol="0" anchor="t">
            <a:spAutoFit/>
          </a:bodyPr>
          <a:lstStyle/>
          <a:p>
            <a:pPr algn="ctr">
              <a:lnSpc>
                <a:spcPts val="4114"/>
              </a:lnSpc>
            </a:pPr>
            <a:r>
              <a:rPr lang="en-US" sz="2939">
                <a:solidFill>
                  <a:srgbClr val="DD7E28"/>
                </a:solidFill>
                <a:latin typeface="HK Modular"/>
                <a:ea typeface="HK Modular"/>
                <a:cs typeface="HK Modular"/>
                <a:sym typeface="HK Modular"/>
              </a:rPr>
              <a:t>EN MAVEN SE EJECUTA CON MVN TEST Y SE VE EL REPORTE EN TARGET/SITE/JACOCO/INDEX.HTML</a:t>
            </a:r>
          </a:p>
          <a:p>
            <a:pPr algn="ctr">
              <a:lnSpc>
                <a:spcPts val="4114"/>
              </a:lnSpc>
              <a:spcBef>
                <a:spcPct val="0"/>
              </a:spcBef>
            </a:pPr>
            <a:endParaRPr lang="en-US" sz="2939">
              <a:solidFill>
                <a:srgbClr val="DD7E28"/>
              </a:solidFill>
              <a:latin typeface="HK Modular"/>
              <a:ea typeface="HK Modular"/>
              <a:cs typeface="HK Modular"/>
              <a:sym typeface="HK Modular"/>
            </a:endParaRPr>
          </a:p>
        </p:txBody>
      </p:sp>
      <p:sp>
        <p:nvSpPr>
          <p:cNvPr id="12" name="Freeform 12"/>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4"/>
            <a:stretch>
              <a:fillRect/>
            </a:stretch>
          </a:blipFill>
        </p:spPr>
        <p:txBody>
          <a:bodyPr/>
          <a:lstStyle/>
          <a:p>
            <a:endParaRPr lang="es-CO"/>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5057265" y="2031449"/>
            <a:ext cx="2772791" cy="1039797"/>
          </a:xfrm>
          <a:custGeom>
            <a:avLst/>
            <a:gdLst/>
            <a:ahLst/>
            <a:cxnLst/>
            <a:rect l="l" t="t" r="r" b="b"/>
            <a:pathLst>
              <a:path w="2772791" h="1039797">
                <a:moveTo>
                  <a:pt x="0" y="0"/>
                </a:moveTo>
                <a:lnTo>
                  <a:pt x="2772792" y="0"/>
                </a:lnTo>
                <a:lnTo>
                  <a:pt x="2772792" y="1039796"/>
                </a:lnTo>
                <a:lnTo>
                  <a:pt x="0" y="1039796"/>
                </a:lnTo>
                <a:lnTo>
                  <a:pt x="0" y="0"/>
                </a:lnTo>
                <a:close/>
              </a:path>
            </a:pathLst>
          </a:custGeom>
          <a:blipFill>
            <a:blip r:embed="rId3"/>
            <a:stretch>
              <a:fillRect/>
            </a:stretch>
          </a:blipFill>
        </p:spPr>
        <p:txBody>
          <a:bodyPr/>
          <a:lstStyle/>
          <a:p>
            <a:endParaRPr lang="es-CO"/>
          </a:p>
        </p:txBody>
      </p:sp>
      <p:sp>
        <p:nvSpPr>
          <p:cNvPr id="7" name="Freeform 7"/>
          <p:cNvSpPr/>
          <p:nvPr/>
        </p:nvSpPr>
        <p:spPr>
          <a:xfrm>
            <a:off x="10457943" y="3820027"/>
            <a:ext cx="5028941" cy="5438273"/>
          </a:xfrm>
          <a:custGeom>
            <a:avLst/>
            <a:gdLst/>
            <a:ahLst/>
            <a:cxnLst/>
            <a:rect l="l" t="t" r="r" b="b"/>
            <a:pathLst>
              <a:path w="5028941" h="5438273">
                <a:moveTo>
                  <a:pt x="0" y="0"/>
                </a:moveTo>
                <a:lnTo>
                  <a:pt x="5028941" y="0"/>
                </a:lnTo>
                <a:lnTo>
                  <a:pt x="5028941" y="5438273"/>
                </a:lnTo>
                <a:lnTo>
                  <a:pt x="0" y="5438273"/>
                </a:lnTo>
                <a:lnTo>
                  <a:pt x="0" y="0"/>
                </a:lnTo>
                <a:close/>
              </a:path>
            </a:pathLst>
          </a:custGeom>
          <a:blipFill>
            <a:blip r:embed="rId4"/>
            <a:stretch>
              <a:fillRect/>
            </a:stretch>
          </a:blipFill>
        </p:spPr>
        <p:txBody>
          <a:bodyPr/>
          <a:lstStyle/>
          <a:p>
            <a:endParaRPr lang="es-CO"/>
          </a:p>
        </p:txBody>
      </p:sp>
      <p:sp>
        <p:nvSpPr>
          <p:cNvPr id="8" name="TextBox 8"/>
          <p:cNvSpPr txBox="1"/>
          <p:nvPr/>
        </p:nvSpPr>
        <p:spPr>
          <a:xfrm>
            <a:off x="3516960" y="2217392"/>
            <a:ext cx="12584532" cy="853854"/>
          </a:xfrm>
          <a:prstGeom prst="rect">
            <a:avLst/>
          </a:prstGeom>
        </p:spPr>
        <p:txBody>
          <a:bodyPr lIns="0" tIns="0" rIns="0" bIns="0" rtlCol="0" anchor="t">
            <a:spAutoFit/>
          </a:bodyPr>
          <a:lstStyle/>
          <a:p>
            <a:pPr algn="ctr">
              <a:lnSpc>
                <a:spcPts val="7012"/>
              </a:lnSpc>
              <a:spcBef>
                <a:spcPct val="0"/>
              </a:spcBef>
            </a:pPr>
            <a:r>
              <a:rPr lang="en-US" sz="5008">
                <a:solidFill>
                  <a:srgbClr val="E78939"/>
                </a:solidFill>
                <a:latin typeface="HK Modular"/>
                <a:ea typeface="HK Modular"/>
                <a:cs typeface="HK Modular"/>
                <a:sym typeface="HK Modular"/>
              </a:rPr>
              <a:t>JACOCO</a:t>
            </a:r>
          </a:p>
        </p:txBody>
      </p:sp>
      <p:sp>
        <p:nvSpPr>
          <p:cNvPr id="9" name="TextBox 9"/>
          <p:cNvSpPr txBox="1"/>
          <p:nvPr/>
        </p:nvSpPr>
        <p:spPr>
          <a:xfrm>
            <a:off x="2870597" y="5772857"/>
            <a:ext cx="5295158" cy="1034058"/>
          </a:xfrm>
          <a:prstGeom prst="rect">
            <a:avLst/>
          </a:prstGeom>
        </p:spPr>
        <p:txBody>
          <a:bodyPr lIns="0" tIns="0" rIns="0" bIns="0" rtlCol="0" anchor="t">
            <a:spAutoFit/>
          </a:bodyPr>
          <a:lstStyle/>
          <a:p>
            <a:pPr algn="ctr">
              <a:lnSpc>
                <a:spcPts val="4114"/>
              </a:lnSpc>
            </a:pPr>
            <a:r>
              <a:rPr lang="en-US" sz="2939">
                <a:solidFill>
                  <a:srgbClr val="FA18C2"/>
                </a:solidFill>
                <a:latin typeface="HK Modular"/>
                <a:ea typeface="HK Modular"/>
                <a:cs typeface="HK Modular"/>
                <a:sym typeface="HK Modular"/>
              </a:rPr>
              <a:t>PLUGIN</a:t>
            </a:r>
          </a:p>
          <a:p>
            <a:pPr algn="ctr">
              <a:lnSpc>
                <a:spcPts val="4114"/>
              </a:lnSpc>
              <a:spcBef>
                <a:spcPct val="0"/>
              </a:spcBef>
            </a:pPr>
            <a:endParaRPr lang="en-US" sz="2939">
              <a:solidFill>
                <a:srgbClr val="FA18C2"/>
              </a:solidFill>
              <a:latin typeface="HK Modular"/>
              <a:ea typeface="HK Modular"/>
              <a:cs typeface="HK Modular"/>
              <a:sym typeface="HK Modular"/>
            </a:endParaRPr>
          </a:p>
        </p:txBody>
      </p:sp>
      <p:sp>
        <p:nvSpPr>
          <p:cNvPr id="10" name="Freeform 10"/>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5"/>
            <a:stretch>
              <a:fillRect/>
            </a:stretch>
          </a:blipFill>
        </p:spPr>
        <p:txBody>
          <a:bodyPr/>
          <a:lstStyle/>
          <a:p>
            <a:endParaRPr lang="es-CO"/>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4112787" y="2115917"/>
            <a:ext cx="2612154" cy="955328"/>
          </a:xfrm>
          <a:custGeom>
            <a:avLst/>
            <a:gdLst/>
            <a:ahLst/>
            <a:cxnLst/>
            <a:rect l="l" t="t" r="r" b="b"/>
            <a:pathLst>
              <a:path w="2612154" h="955328">
                <a:moveTo>
                  <a:pt x="0" y="0"/>
                </a:moveTo>
                <a:lnTo>
                  <a:pt x="2612154" y="0"/>
                </a:lnTo>
                <a:lnTo>
                  <a:pt x="2612154" y="955328"/>
                </a:lnTo>
                <a:lnTo>
                  <a:pt x="0" y="955328"/>
                </a:lnTo>
                <a:lnTo>
                  <a:pt x="0" y="0"/>
                </a:lnTo>
                <a:close/>
              </a:path>
            </a:pathLst>
          </a:custGeom>
          <a:blipFill>
            <a:blip r:embed="rId3"/>
            <a:stretch>
              <a:fillRect/>
            </a:stretch>
          </a:blipFill>
        </p:spPr>
        <p:txBody>
          <a:bodyPr/>
          <a:lstStyle/>
          <a:p>
            <a:endParaRPr lang="es-CO"/>
          </a:p>
        </p:txBody>
      </p:sp>
      <p:sp>
        <p:nvSpPr>
          <p:cNvPr id="7" name="Freeform 7"/>
          <p:cNvSpPr/>
          <p:nvPr/>
        </p:nvSpPr>
        <p:spPr>
          <a:xfrm>
            <a:off x="5232061" y="9116665"/>
            <a:ext cx="8876993" cy="940457"/>
          </a:xfrm>
          <a:custGeom>
            <a:avLst/>
            <a:gdLst/>
            <a:ahLst/>
            <a:cxnLst/>
            <a:rect l="l" t="t" r="r" b="b"/>
            <a:pathLst>
              <a:path w="8876993" h="940457">
                <a:moveTo>
                  <a:pt x="0" y="0"/>
                </a:moveTo>
                <a:lnTo>
                  <a:pt x="8876993" y="0"/>
                </a:lnTo>
                <a:lnTo>
                  <a:pt x="8876993" y="940457"/>
                </a:lnTo>
                <a:lnTo>
                  <a:pt x="0" y="940457"/>
                </a:lnTo>
                <a:lnTo>
                  <a:pt x="0" y="0"/>
                </a:lnTo>
                <a:close/>
              </a:path>
            </a:pathLst>
          </a:custGeom>
          <a:blipFill>
            <a:blip r:embed="rId4"/>
            <a:stretch>
              <a:fillRect/>
            </a:stretch>
          </a:blipFill>
        </p:spPr>
        <p:txBody>
          <a:bodyPr/>
          <a:lstStyle/>
          <a:p>
            <a:endParaRPr lang="es-CO"/>
          </a:p>
        </p:txBody>
      </p:sp>
      <p:sp>
        <p:nvSpPr>
          <p:cNvPr id="8" name="TextBox 8"/>
          <p:cNvSpPr txBox="1"/>
          <p:nvPr/>
        </p:nvSpPr>
        <p:spPr>
          <a:xfrm>
            <a:off x="3516960" y="2217392"/>
            <a:ext cx="12584532" cy="853854"/>
          </a:xfrm>
          <a:prstGeom prst="rect">
            <a:avLst/>
          </a:prstGeom>
        </p:spPr>
        <p:txBody>
          <a:bodyPr lIns="0" tIns="0" rIns="0" bIns="0" rtlCol="0" anchor="t">
            <a:spAutoFit/>
          </a:bodyPr>
          <a:lstStyle/>
          <a:p>
            <a:pPr algn="ctr">
              <a:lnSpc>
                <a:spcPts val="7012"/>
              </a:lnSpc>
              <a:spcBef>
                <a:spcPct val="0"/>
              </a:spcBef>
            </a:pPr>
            <a:r>
              <a:rPr lang="en-US" sz="5008">
                <a:solidFill>
                  <a:srgbClr val="DD7E28"/>
                </a:solidFill>
                <a:latin typeface="HK Modular"/>
                <a:ea typeface="HK Modular"/>
                <a:cs typeface="HK Modular"/>
                <a:sym typeface="HK Modular"/>
              </a:rPr>
              <a:t>SONAR QUBE</a:t>
            </a:r>
          </a:p>
        </p:txBody>
      </p:sp>
      <p:sp>
        <p:nvSpPr>
          <p:cNvPr id="9" name="TextBox 9"/>
          <p:cNvSpPr txBox="1"/>
          <p:nvPr/>
        </p:nvSpPr>
        <p:spPr>
          <a:xfrm>
            <a:off x="2495138" y="3661889"/>
            <a:ext cx="13720684" cy="1261709"/>
          </a:xfrm>
          <a:prstGeom prst="rect">
            <a:avLst/>
          </a:prstGeom>
        </p:spPr>
        <p:txBody>
          <a:bodyPr lIns="0" tIns="0" rIns="0" bIns="0" rtlCol="0" anchor="t">
            <a:spAutoFit/>
          </a:bodyPr>
          <a:lstStyle/>
          <a:p>
            <a:pPr algn="ctr">
              <a:lnSpc>
                <a:spcPts val="3431"/>
              </a:lnSpc>
            </a:pPr>
            <a:r>
              <a:rPr lang="en-US" sz="2451">
                <a:solidFill>
                  <a:srgbClr val="FFFFFF"/>
                </a:solidFill>
                <a:latin typeface="Open Sans"/>
                <a:ea typeface="Open Sans"/>
                <a:cs typeface="Open Sans"/>
                <a:sym typeface="Open Sans"/>
              </a:rPr>
              <a:t>Es una herramienta de analisis estatico de codigo que ayuda a mantener la calidad del software, analiza: Bugs, Code Smells (malas practicas), Vulnerabilidades de seguridad, Cobertura de pruebas, Duplicacion de Codigo</a:t>
            </a:r>
          </a:p>
        </p:txBody>
      </p:sp>
      <p:sp>
        <p:nvSpPr>
          <p:cNvPr id="10" name="TextBox 10"/>
          <p:cNvSpPr txBox="1"/>
          <p:nvPr/>
        </p:nvSpPr>
        <p:spPr>
          <a:xfrm>
            <a:off x="4500274" y="6273806"/>
            <a:ext cx="9506186" cy="1690334"/>
          </a:xfrm>
          <a:prstGeom prst="rect">
            <a:avLst/>
          </a:prstGeom>
        </p:spPr>
        <p:txBody>
          <a:bodyPr lIns="0" tIns="0" rIns="0" bIns="0" rtlCol="0" anchor="t">
            <a:spAutoFit/>
          </a:bodyPr>
          <a:lstStyle/>
          <a:p>
            <a:pPr marL="529262" lvl="1" indent="-264631" algn="ctr">
              <a:lnSpc>
                <a:spcPts val="3431"/>
              </a:lnSpc>
              <a:buFont typeface="Arial"/>
              <a:buChar char="•"/>
            </a:pPr>
            <a:r>
              <a:rPr lang="en-US" sz="2451">
                <a:solidFill>
                  <a:srgbClr val="FFFFFF"/>
                </a:solidFill>
                <a:latin typeface="Open Sans"/>
                <a:ea typeface="Open Sans"/>
                <a:cs typeface="Open Sans"/>
                <a:sym typeface="Open Sans"/>
              </a:rPr>
              <a:t>Escanea el proyecto (JAVA, JS, Python, etc)</a:t>
            </a:r>
          </a:p>
          <a:p>
            <a:pPr marL="529262" lvl="1" indent="-264631" algn="ctr">
              <a:lnSpc>
                <a:spcPts val="3431"/>
              </a:lnSpc>
              <a:buFont typeface="Arial"/>
              <a:buChar char="•"/>
            </a:pPr>
            <a:r>
              <a:rPr lang="en-US" sz="2451">
                <a:solidFill>
                  <a:srgbClr val="FFFFFF"/>
                </a:solidFill>
                <a:latin typeface="Open Sans"/>
                <a:ea typeface="Open Sans"/>
                <a:cs typeface="Open Sans"/>
                <a:sym typeface="Open Sans"/>
              </a:rPr>
              <a:t>Genera metricas y las guarda en un servidor</a:t>
            </a:r>
          </a:p>
          <a:p>
            <a:pPr marL="529262" lvl="1" indent="-264631" algn="ctr">
              <a:lnSpc>
                <a:spcPts val="3431"/>
              </a:lnSpc>
              <a:buFont typeface="Arial"/>
              <a:buChar char="•"/>
            </a:pPr>
            <a:r>
              <a:rPr lang="en-US" sz="2451">
                <a:solidFill>
                  <a:srgbClr val="FFFFFF"/>
                </a:solidFill>
                <a:latin typeface="Open Sans"/>
                <a:ea typeface="Open Sans"/>
                <a:cs typeface="Open Sans"/>
                <a:sym typeface="Open Sans"/>
              </a:rPr>
              <a:t>Muestra un dashboard web con los resultados</a:t>
            </a:r>
          </a:p>
          <a:p>
            <a:pPr marL="529262" lvl="1" indent="-264631" algn="ctr">
              <a:lnSpc>
                <a:spcPts val="3431"/>
              </a:lnSpc>
              <a:buFont typeface="Arial"/>
              <a:buChar char="•"/>
            </a:pPr>
            <a:r>
              <a:rPr lang="en-US" sz="2451">
                <a:solidFill>
                  <a:srgbClr val="FFFFFF"/>
                </a:solidFill>
                <a:latin typeface="Open Sans"/>
                <a:ea typeface="Open Sans"/>
                <a:cs typeface="Open Sans"/>
                <a:sym typeface="Open Sans"/>
              </a:rPr>
              <a:t>Se integra con CI/CD (Jenkins, Gitlab, github actions, etc)</a:t>
            </a:r>
          </a:p>
        </p:txBody>
      </p:sp>
      <p:sp>
        <p:nvSpPr>
          <p:cNvPr id="11" name="TextBox 11"/>
          <p:cNvSpPr txBox="1"/>
          <p:nvPr/>
        </p:nvSpPr>
        <p:spPr>
          <a:xfrm>
            <a:off x="4849897" y="5485667"/>
            <a:ext cx="9011167" cy="1034058"/>
          </a:xfrm>
          <a:prstGeom prst="rect">
            <a:avLst/>
          </a:prstGeom>
        </p:spPr>
        <p:txBody>
          <a:bodyPr lIns="0" tIns="0" rIns="0" bIns="0" rtlCol="0" anchor="t">
            <a:spAutoFit/>
          </a:bodyPr>
          <a:lstStyle/>
          <a:p>
            <a:pPr algn="ctr">
              <a:lnSpc>
                <a:spcPts val="4114"/>
              </a:lnSpc>
            </a:pPr>
            <a:r>
              <a:rPr lang="en-US" sz="2939">
                <a:solidFill>
                  <a:srgbClr val="FA18C2"/>
                </a:solidFill>
                <a:latin typeface="HK Modular"/>
                <a:ea typeface="HK Modular"/>
                <a:cs typeface="HK Modular"/>
                <a:sym typeface="HK Modular"/>
              </a:rPr>
              <a:t>¿COMO FUNCIONA?</a:t>
            </a:r>
          </a:p>
          <a:p>
            <a:pPr algn="ctr">
              <a:lnSpc>
                <a:spcPts val="4114"/>
              </a:lnSpc>
              <a:spcBef>
                <a:spcPct val="0"/>
              </a:spcBef>
            </a:pPr>
            <a:endParaRPr lang="en-US" sz="2939">
              <a:solidFill>
                <a:srgbClr val="FA18C2"/>
              </a:solidFill>
              <a:latin typeface="HK Modular"/>
              <a:ea typeface="HK Modular"/>
              <a:cs typeface="HK Modular"/>
              <a:sym typeface="HK Modular"/>
            </a:endParaRPr>
          </a:p>
        </p:txBody>
      </p:sp>
      <p:sp>
        <p:nvSpPr>
          <p:cNvPr id="12" name="TextBox 12"/>
          <p:cNvSpPr txBox="1"/>
          <p:nvPr/>
        </p:nvSpPr>
        <p:spPr>
          <a:xfrm>
            <a:off x="2219358" y="8418361"/>
            <a:ext cx="14902400" cy="1034058"/>
          </a:xfrm>
          <a:prstGeom prst="rect">
            <a:avLst/>
          </a:prstGeom>
        </p:spPr>
        <p:txBody>
          <a:bodyPr lIns="0" tIns="0" rIns="0" bIns="0" rtlCol="0" anchor="t">
            <a:spAutoFit/>
          </a:bodyPr>
          <a:lstStyle/>
          <a:p>
            <a:pPr algn="ctr">
              <a:lnSpc>
                <a:spcPts val="4114"/>
              </a:lnSpc>
            </a:pPr>
            <a:r>
              <a:rPr lang="en-US" sz="2939">
                <a:solidFill>
                  <a:srgbClr val="FA18C2"/>
                </a:solidFill>
                <a:latin typeface="HK Modular"/>
                <a:ea typeface="HK Modular"/>
                <a:cs typeface="HK Modular"/>
                <a:sym typeface="HK Modular"/>
              </a:rPr>
              <a:t>SE INSTALA SONAR QUBE SERVER LOCAL O EN DOCKER</a:t>
            </a:r>
          </a:p>
          <a:p>
            <a:pPr algn="ctr">
              <a:lnSpc>
                <a:spcPts val="4114"/>
              </a:lnSpc>
              <a:spcBef>
                <a:spcPct val="0"/>
              </a:spcBef>
            </a:pPr>
            <a:endParaRPr lang="en-US" sz="2939">
              <a:solidFill>
                <a:srgbClr val="FA18C2"/>
              </a:solidFill>
              <a:latin typeface="HK Modular"/>
              <a:ea typeface="HK Modular"/>
              <a:cs typeface="HK Modular"/>
              <a:sym typeface="HK Modular"/>
            </a:endParaRPr>
          </a:p>
        </p:txBody>
      </p:sp>
      <p:sp>
        <p:nvSpPr>
          <p:cNvPr id="13" name="Freeform 13"/>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5"/>
            <a:stretch>
              <a:fillRect/>
            </a:stretch>
          </a:blipFill>
        </p:spPr>
        <p:txBody>
          <a:bodyPr/>
          <a:lstStyle/>
          <a:p>
            <a:endParaRPr lang="es-CO"/>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1968119" y="6041104"/>
            <a:ext cx="5957771" cy="3217196"/>
          </a:xfrm>
          <a:custGeom>
            <a:avLst/>
            <a:gdLst/>
            <a:ahLst/>
            <a:cxnLst/>
            <a:rect l="l" t="t" r="r" b="b"/>
            <a:pathLst>
              <a:path w="5957771" h="3217196">
                <a:moveTo>
                  <a:pt x="0" y="0"/>
                </a:moveTo>
                <a:lnTo>
                  <a:pt x="5957771" y="0"/>
                </a:lnTo>
                <a:lnTo>
                  <a:pt x="5957771" y="3217196"/>
                </a:lnTo>
                <a:lnTo>
                  <a:pt x="0" y="3217196"/>
                </a:lnTo>
                <a:lnTo>
                  <a:pt x="0" y="0"/>
                </a:lnTo>
                <a:close/>
              </a:path>
            </a:pathLst>
          </a:custGeom>
          <a:blipFill>
            <a:blip r:embed="rId3"/>
            <a:stretch>
              <a:fillRect/>
            </a:stretch>
          </a:blipFill>
        </p:spPr>
        <p:txBody>
          <a:bodyPr/>
          <a:lstStyle/>
          <a:p>
            <a:endParaRPr lang="es-CO"/>
          </a:p>
        </p:txBody>
      </p:sp>
      <p:sp>
        <p:nvSpPr>
          <p:cNvPr id="7" name="TextBox 7"/>
          <p:cNvSpPr txBox="1"/>
          <p:nvPr/>
        </p:nvSpPr>
        <p:spPr>
          <a:xfrm>
            <a:off x="3516960" y="2217392"/>
            <a:ext cx="12584532" cy="853854"/>
          </a:xfrm>
          <a:prstGeom prst="rect">
            <a:avLst/>
          </a:prstGeom>
        </p:spPr>
        <p:txBody>
          <a:bodyPr lIns="0" tIns="0" rIns="0" bIns="0" rtlCol="0" anchor="t">
            <a:spAutoFit/>
          </a:bodyPr>
          <a:lstStyle/>
          <a:p>
            <a:pPr algn="ctr">
              <a:lnSpc>
                <a:spcPts val="7012"/>
              </a:lnSpc>
              <a:spcBef>
                <a:spcPct val="0"/>
              </a:spcBef>
            </a:pPr>
            <a:r>
              <a:rPr lang="en-US" sz="5008">
                <a:solidFill>
                  <a:srgbClr val="E78939"/>
                </a:solidFill>
                <a:latin typeface="HK Modular"/>
                <a:ea typeface="HK Modular"/>
                <a:cs typeface="HK Modular"/>
                <a:sym typeface="HK Modular"/>
              </a:rPr>
              <a:t>SONAR QUBE</a:t>
            </a:r>
          </a:p>
        </p:txBody>
      </p:sp>
      <p:sp>
        <p:nvSpPr>
          <p:cNvPr id="8" name="Freeform 8"/>
          <p:cNvSpPr/>
          <p:nvPr/>
        </p:nvSpPr>
        <p:spPr>
          <a:xfrm>
            <a:off x="4112787" y="2115917"/>
            <a:ext cx="2612154" cy="955328"/>
          </a:xfrm>
          <a:custGeom>
            <a:avLst/>
            <a:gdLst/>
            <a:ahLst/>
            <a:cxnLst/>
            <a:rect l="l" t="t" r="r" b="b"/>
            <a:pathLst>
              <a:path w="2612154" h="955328">
                <a:moveTo>
                  <a:pt x="0" y="0"/>
                </a:moveTo>
                <a:lnTo>
                  <a:pt x="2612154" y="0"/>
                </a:lnTo>
                <a:lnTo>
                  <a:pt x="2612154" y="955328"/>
                </a:lnTo>
                <a:lnTo>
                  <a:pt x="0" y="955328"/>
                </a:lnTo>
                <a:lnTo>
                  <a:pt x="0" y="0"/>
                </a:lnTo>
                <a:close/>
              </a:path>
            </a:pathLst>
          </a:custGeom>
          <a:blipFill>
            <a:blip r:embed="rId4"/>
            <a:stretch>
              <a:fillRect/>
            </a:stretch>
          </a:blipFill>
        </p:spPr>
        <p:txBody>
          <a:bodyPr/>
          <a:lstStyle/>
          <a:p>
            <a:endParaRPr lang="es-CO"/>
          </a:p>
        </p:txBody>
      </p:sp>
      <p:sp>
        <p:nvSpPr>
          <p:cNvPr id="9" name="Freeform 9"/>
          <p:cNvSpPr/>
          <p:nvPr/>
        </p:nvSpPr>
        <p:spPr>
          <a:xfrm>
            <a:off x="449790" y="6638967"/>
            <a:ext cx="4769455" cy="1420119"/>
          </a:xfrm>
          <a:custGeom>
            <a:avLst/>
            <a:gdLst/>
            <a:ahLst/>
            <a:cxnLst/>
            <a:rect l="l" t="t" r="r" b="b"/>
            <a:pathLst>
              <a:path w="4769455" h="1420119">
                <a:moveTo>
                  <a:pt x="0" y="0"/>
                </a:moveTo>
                <a:lnTo>
                  <a:pt x="4769455" y="0"/>
                </a:lnTo>
                <a:lnTo>
                  <a:pt x="4769455" y="1420119"/>
                </a:lnTo>
                <a:lnTo>
                  <a:pt x="0" y="1420119"/>
                </a:lnTo>
                <a:lnTo>
                  <a:pt x="0" y="0"/>
                </a:lnTo>
                <a:close/>
              </a:path>
            </a:pathLst>
          </a:custGeom>
          <a:blipFill>
            <a:blip r:embed="rId5"/>
            <a:stretch>
              <a:fillRect/>
            </a:stretch>
          </a:blipFill>
        </p:spPr>
        <p:txBody>
          <a:bodyPr/>
          <a:lstStyle/>
          <a:p>
            <a:endParaRPr lang="es-CO"/>
          </a:p>
        </p:txBody>
      </p:sp>
      <p:sp>
        <p:nvSpPr>
          <p:cNvPr id="10" name="Freeform 10"/>
          <p:cNvSpPr/>
          <p:nvPr/>
        </p:nvSpPr>
        <p:spPr>
          <a:xfrm>
            <a:off x="5911823" y="6752529"/>
            <a:ext cx="5529924" cy="1504865"/>
          </a:xfrm>
          <a:custGeom>
            <a:avLst/>
            <a:gdLst/>
            <a:ahLst/>
            <a:cxnLst/>
            <a:rect l="l" t="t" r="r" b="b"/>
            <a:pathLst>
              <a:path w="5529924" h="1504865">
                <a:moveTo>
                  <a:pt x="0" y="0"/>
                </a:moveTo>
                <a:lnTo>
                  <a:pt x="5529924" y="0"/>
                </a:lnTo>
                <a:lnTo>
                  <a:pt x="5529924" y="1504865"/>
                </a:lnTo>
                <a:lnTo>
                  <a:pt x="0" y="1504865"/>
                </a:lnTo>
                <a:lnTo>
                  <a:pt x="0" y="0"/>
                </a:lnTo>
                <a:close/>
              </a:path>
            </a:pathLst>
          </a:custGeom>
          <a:blipFill>
            <a:blip r:embed="rId6"/>
            <a:stretch>
              <a:fillRect/>
            </a:stretch>
          </a:blipFill>
        </p:spPr>
        <p:txBody>
          <a:bodyPr/>
          <a:lstStyle/>
          <a:p>
            <a:endParaRPr lang="es-CO"/>
          </a:p>
        </p:txBody>
      </p:sp>
      <p:sp>
        <p:nvSpPr>
          <p:cNvPr id="11" name="TextBox 11"/>
          <p:cNvSpPr txBox="1"/>
          <p:nvPr/>
        </p:nvSpPr>
        <p:spPr>
          <a:xfrm>
            <a:off x="1713019" y="4701806"/>
            <a:ext cx="2500598" cy="1034058"/>
          </a:xfrm>
          <a:prstGeom prst="rect">
            <a:avLst/>
          </a:prstGeom>
        </p:spPr>
        <p:txBody>
          <a:bodyPr lIns="0" tIns="0" rIns="0" bIns="0" rtlCol="0" anchor="t">
            <a:spAutoFit/>
          </a:bodyPr>
          <a:lstStyle/>
          <a:p>
            <a:pPr algn="ctr">
              <a:lnSpc>
                <a:spcPts val="4114"/>
              </a:lnSpc>
            </a:pPr>
            <a:r>
              <a:rPr lang="en-US" sz="2939">
                <a:solidFill>
                  <a:srgbClr val="FA18C2"/>
                </a:solidFill>
                <a:latin typeface="HK Modular"/>
                <a:ea typeface="HK Modular"/>
                <a:cs typeface="HK Modular"/>
                <a:sym typeface="HK Modular"/>
              </a:rPr>
              <a:t>PLUGIN</a:t>
            </a:r>
          </a:p>
          <a:p>
            <a:pPr algn="ctr">
              <a:lnSpc>
                <a:spcPts val="4114"/>
              </a:lnSpc>
              <a:spcBef>
                <a:spcPct val="0"/>
              </a:spcBef>
            </a:pPr>
            <a:endParaRPr lang="en-US" sz="2939">
              <a:solidFill>
                <a:srgbClr val="FA18C2"/>
              </a:solidFill>
              <a:latin typeface="HK Modular"/>
              <a:ea typeface="HK Modular"/>
              <a:cs typeface="HK Modular"/>
              <a:sym typeface="HK Modular"/>
            </a:endParaRPr>
          </a:p>
        </p:txBody>
      </p:sp>
      <p:sp>
        <p:nvSpPr>
          <p:cNvPr id="12" name="TextBox 12"/>
          <p:cNvSpPr txBox="1"/>
          <p:nvPr/>
        </p:nvSpPr>
        <p:spPr>
          <a:xfrm>
            <a:off x="6895626" y="4806930"/>
            <a:ext cx="3562317" cy="1034058"/>
          </a:xfrm>
          <a:prstGeom prst="rect">
            <a:avLst/>
          </a:prstGeom>
        </p:spPr>
        <p:txBody>
          <a:bodyPr lIns="0" tIns="0" rIns="0" bIns="0" rtlCol="0" anchor="t">
            <a:spAutoFit/>
          </a:bodyPr>
          <a:lstStyle/>
          <a:p>
            <a:pPr algn="ctr">
              <a:lnSpc>
                <a:spcPts val="4114"/>
              </a:lnSpc>
            </a:pPr>
            <a:r>
              <a:rPr lang="en-US" sz="2939">
                <a:solidFill>
                  <a:srgbClr val="FA18C2"/>
                </a:solidFill>
                <a:latin typeface="HK Modular"/>
                <a:ea typeface="HK Modular"/>
                <a:cs typeface="HK Modular"/>
                <a:sym typeface="HK Modular"/>
              </a:rPr>
              <a:t>EJECUCION</a:t>
            </a:r>
          </a:p>
          <a:p>
            <a:pPr algn="ctr">
              <a:lnSpc>
                <a:spcPts val="4114"/>
              </a:lnSpc>
              <a:spcBef>
                <a:spcPct val="0"/>
              </a:spcBef>
            </a:pPr>
            <a:endParaRPr lang="en-US" sz="2939">
              <a:solidFill>
                <a:srgbClr val="FA18C2"/>
              </a:solidFill>
              <a:latin typeface="HK Modular"/>
              <a:ea typeface="HK Modular"/>
              <a:cs typeface="HK Modular"/>
              <a:sym typeface="HK Modular"/>
            </a:endParaRPr>
          </a:p>
        </p:txBody>
      </p:sp>
      <p:sp>
        <p:nvSpPr>
          <p:cNvPr id="13" name="TextBox 13"/>
          <p:cNvSpPr txBox="1"/>
          <p:nvPr/>
        </p:nvSpPr>
        <p:spPr>
          <a:xfrm>
            <a:off x="13143993" y="4701806"/>
            <a:ext cx="3562317" cy="1034058"/>
          </a:xfrm>
          <a:prstGeom prst="rect">
            <a:avLst/>
          </a:prstGeom>
        </p:spPr>
        <p:txBody>
          <a:bodyPr lIns="0" tIns="0" rIns="0" bIns="0" rtlCol="0" anchor="t">
            <a:spAutoFit/>
          </a:bodyPr>
          <a:lstStyle/>
          <a:p>
            <a:pPr algn="ctr">
              <a:lnSpc>
                <a:spcPts val="4114"/>
              </a:lnSpc>
            </a:pPr>
            <a:r>
              <a:rPr lang="en-US" sz="2939">
                <a:solidFill>
                  <a:srgbClr val="FA18C2"/>
                </a:solidFill>
                <a:latin typeface="HK Modular"/>
                <a:ea typeface="HK Modular"/>
                <a:cs typeface="HK Modular"/>
                <a:sym typeface="HK Modular"/>
              </a:rPr>
              <a:t>DASHBOARD</a:t>
            </a:r>
          </a:p>
          <a:p>
            <a:pPr algn="ctr">
              <a:lnSpc>
                <a:spcPts val="4114"/>
              </a:lnSpc>
              <a:spcBef>
                <a:spcPct val="0"/>
              </a:spcBef>
            </a:pPr>
            <a:endParaRPr lang="en-US" sz="2939">
              <a:solidFill>
                <a:srgbClr val="FA18C2"/>
              </a:solidFill>
              <a:latin typeface="HK Modular"/>
              <a:ea typeface="HK Modular"/>
              <a:cs typeface="HK Modular"/>
              <a:sym typeface="HK Modular"/>
            </a:endParaRPr>
          </a:p>
        </p:txBody>
      </p:sp>
      <p:sp>
        <p:nvSpPr>
          <p:cNvPr id="14" name="Freeform 14"/>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7"/>
            <a:stretch>
              <a:fillRect/>
            </a:stretch>
          </a:blipFill>
        </p:spPr>
        <p:txBody>
          <a:bodyPr/>
          <a:lstStyle/>
          <a:p>
            <a:endParaRPr lang="es-CO"/>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rot="-10800000">
            <a:off x="-874366" y="8434822"/>
            <a:ext cx="10731144" cy="4199330"/>
            <a:chOff x="0" y="0"/>
            <a:chExt cx="3083604" cy="1206681"/>
          </a:xfrm>
        </p:grpSpPr>
        <p:sp>
          <p:nvSpPr>
            <p:cNvPr id="7" name="Freeform 7"/>
            <p:cNvSpPr/>
            <p:nvPr/>
          </p:nvSpPr>
          <p:spPr>
            <a:xfrm>
              <a:off x="0" y="0"/>
              <a:ext cx="3083604" cy="1206681"/>
            </a:xfrm>
            <a:custGeom>
              <a:avLst/>
              <a:gdLst/>
              <a:ahLst/>
              <a:cxnLst/>
              <a:rect l="l" t="t" r="r" b="b"/>
              <a:pathLst>
                <a:path w="3083604" h="1206681">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1">
              <a:gsLst>
                <a:gs pos="0">
                  <a:srgbClr val="000000">
                    <a:alpha val="0"/>
                  </a:srgbClr>
                </a:gs>
                <a:gs pos="100000">
                  <a:srgbClr val="FF00BF">
                    <a:alpha val="100000"/>
                  </a:srgbClr>
                </a:gs>
              </a:gsLst>
              <a:lin ang="0"/>
            </a:gradFill>
          </p:spPr>
          <p:txBody>
            <a:bodyPr/>
            <a:lstStyle/>
            <a:p>
              <a:endParaRPr lang="es-CO"/>
            </a:p>
          </p:txBody>
        </p:sp>
        <p:sp>
          <p:nvSpPr>
            <p:cNvPr id="8" name="TextBox 8"/>
            <p:cNvSpPr txBox="1"/>
            <p:nvPr/>
          </p:nvSpPr>
          <p:spPr>
            <a:xfrm>
              <a:off x="0" y="-38100"/>
              <a:ext cx="3083604" cy="124478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339501" y="-2648321"/>
            <a:ext cx="10731144" cy="4199330"/>
            <a:chOff x="0" y="0"/>
            <a:chExt cx="3083604" cy="1206681"/>
          </a:xfrm>
        </p:grpSpPr>
        <p:sp>
          <p:nvSpPr>
            <p:cNvPr id="10" name="Freeform 10"/>
            <p:cNvSpPr/>
            <p:nvPr/>
          </p:nvSpPr>
          <p:spPr>
            <a:xfrm>
              <a:off x="0" y="0"/>
              <a:ext cx="3083604" cy="1206681"/>
            </a:xfrm>
            <a:custGeom>
              <a:avLst/>
              <a:gdLst/>
              <a:ahLst/>
              <a:cxnLst/>
              <a:rect l="l" t="t" r="r" b="b"/>
              <a:pathLst>
                <a:path w="3083604" h="1206681">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1">
              <a:gsLst>
                <a:gs pos="0">
                  <a:srgbClr val="000000">
                    <a:alpha val="0"/>
                  </a:srgbClr>
                </a:gs>
                <a:gs pos="100000">
                  <a:srgbClr val="FF00BF">
                    <a:alpha val="100000"/>
                  </a:srgbClr>
                </a:gs>
              </a:gsLst>
              <a:lin ang="0"/>
            </a:gradFill>
          </p:spPr>
          <p:txBody>
            <a:bodyPr/>
            <a:lstStyle/>
            <a:p>
              <a:endParaRPr lang="es-CO"/>
            </a:p>
          </p:txBody>
        </p:sp>
        <p:sp>
          <p:nvSpPr>
            <p:cNvPr id="11" name="TextBox 11"/>
            <p:cNvSpPr txBox="1"/>
            <p:nvPr/>
          </p:nvSpPr>
          <p:spPr>
            <a:xfrm>
              <a:off x="0" y="-38100"/>
              <a:ext cx="3083604" cy="1244781"/>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1283256" y="4303060"/>
            <a:ext cx="15721487" cy="1509431"/>
          </a:xfrm>
          <a:prstGeom prst="rect">
            <a:avLst/>
          </a:prstGeom>
        </p:spPr>
        <p:txBody>
          <a:bodyPr lIns="0" tIns="0" rIns="0" bIns="0" rtlCol="0" anchor="t">
            <a:spAutoFit/>
          </a:bodyPr>
          <a:lstStyle/>
          <a:p>
            <a:pPr algn="ctr">
              <a:lnSpc>
                <a:spcPts val="12353"/>
              </a:lnSpc>
              <a:spcBef>
                <a:spcPct val="0"/>
              </a:spcBef>
            </a:pPr>
            <a:r>
              <a:rPr lang="en-US" sz="8823">
                <a:solidFill>
                  <a:srgbClr val="FA18C2"/>
                </a:solidFill>
                <a:latin typeface="HK Modular"/>
                <a:ea typeface="HK Modular"/>
                <a:cs typeface="HK Modular"/>
                <a:sym typeface="HK Modular"/>
              </a:rPr>
              <a:t>MOCKS Y STUBS</a:t>
            </a:r>
          </a:p>
        </p:txBody>
      </p:sp>
      <p:sp>
        <p:nvSpPr>
          <p:cNvPr id="13" name="Freeform 13"/>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3"/>
            <a:stretch>
              <a:fillRect/>
            </a:stretch>
          </a:blipFill>
        </p:spPr>
        <p:txBody>
          <a:bodyPr/>
          <a:lstStyle/>
          <a:p>
            <a:endParaRPr lang="es-CO"/>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2834518" y="2096546"/>
            <a:ext cx="12584532" cy="853854"/>
          </a:xfrm>
          <a:prstGeom prst="rect">
            <a:avLst/>
          </a:prstGeom>
        </p:spPr>
        <p:txBody>
          <a:bodyPr lIns="0" tIns="0" rIns="0" bIns="0" rtlCol="0" anchor="t">
            <a:spAutoFit/>
          </a:bodyPr>
          <a:lstStyle/>
          <a:p>
            <a:pPr algn="ctr">
              <a:lnSpc>
                <a:spcPts val="7012"/>
              </a:lnSpc>
              <a:spcBef>
                <a:spcPct val="0"/>
              </a:spcBef>
            </a:pPr>
            <a:r>
              <a:rPr lang="en-US" sz="5008">
                <a:solidFill>
                  <a:srgbClr val="E78939"/>
                </a:solidFill>
                <a:latin typeface="HK Modular"/>
                <a:ea typeface="HK Modular"/>
                <a:cs typeface="HK Modular"/>
                <a:sym typeface="HK Modular"/>
              </a:rPr>
              <a:t>MOCKS</a:t>
            </a:r>
          </a:p>
        </p:txBody>
      </p:sp>
      <p:sp>
        <p:nvSpPr>
          <p:cNvPr id="7" name="TextBox 7"/>
          <p:cNvSpPr txBox="1"/>
          <p:nvPr/>
        </p:nvSpPr>
        <p:spPr>
          <a:xfrm>
            <a:off x="5723419" y="3677961"/>
            <a:ext cx="6841163" cy="513039"/>
          </a:xfrm>
          <a:prstGeom prst="rect">
            <a:avLst/>
          </a:prstGeom>
        </p:spPr>
        <p:txBody>
          <a:bodyPr lIns="0" tIns="0" rIns="0" bIns="0" rtlCol="0" anchor="t">
            <a:spAutoFit/>
          </a:bodyPr>
          <a:lstStyle/>
          <a:p>
            <a:pPr algn="ctr">
              <a:lnSpc>
                <a:spcPts val="4114"/>
              </a:lnSpc>
              <a:spcBef>
                <a:spcPct val="0"/>
              </a:spcBef>
            </a:pPr>
            <a:r>
              <a:rPr lang="en-US" sz="2939">
                <a:solidFill>
                  <a:srgbClr val="FA18C2"/>
                </a:solidFill>
                <a:latin typeface="HK Modular"/>
                <a:ea typeface="HK Modular"/>
                <a:cs typeface="HK Modular"/>
                <a:sym typeface="HK Modular"/>
              </a:rPr>
              <a:t>¿QUE SON?</a:t>
            </a:r>
          </a:p>
        </p:txBody>
      </p:sp>
      <p:sp>
        <p:nvSpPr>
          <p:cNvPr id="8" name="TextBox 8"/>
          <p:cNvSpPr txBox="1"/>
          <p:nvPr/>
        </p:nvSpPr>
        <p:spPr>
          <a:xfrm>
            <a:off x="2504364" y="5105400"/>
            <a:ext cx="13720684" cy="1261709"/>
          </a:xfrm>
          <a:prstGeom prst="rect">
            <a:avLst/>
          </a:prstGeom>
        </p:spPr>
        <p:txBody>
          <a:bodyPr lIns="0" tIns="0" rIns="0" bIns="0" rtlCol="0" anchor="t">
            <a:spAutoFit/>
          </a:bodyPr>
          <a:lstStyle/>
          <a:p>
            <a:pPr algn="ctr">
              <a:lnSpc>
                <a:spcPts val="3431"/>
              </a:lnSpc>
            </a:pPr>
            <a:r>
              <a:rPr lang="en-US" sz="2451">
                <a:solidFill>
                  <a:srgbClr val="FFFFFF"/>
                </a:solidFill>
                <a:latin typeface="Open Sans"/>
                <a:ea typeface="Open Sans"/>
                <a:cs typeface="Open Sans"/>
                <a:sym typeface="Open Sans"/>
              </a:rPr>
              <a:t>Es un objeto que registra las llamadas a sus metodos y valida si ocurrieron las interacciones esperadas, se usan cuando se quiere comprobar como colabora tu objeto con otros componentes, son mas que observadores ya que pueden lanzar excepciones </a:t>
            </a:r>
          </a:p>
        </p:txBody>
      </p:sp>
      <p:sp>
        <p:nvSpPr>
          <p:cNvPr id="9" name="TextBox 9"/>
          <p:cNvSpPr txBox="1"/>
          <p:nvPr/>
        </p:nvSpPr>
        <p:spPr>
          <a:xfrm>
            <a:off x="2266441" y="7283682"/>
            <a:ext cx="13720684" cy="404459"/>
          </a:xfrm>
          <a:prstGeom prst="rect">
            <a:avLst/>
          </a:prstGeom>
        </p:spPr>
        <p:txBody>
          <a:bodyPr lIns="0" tIns="0" rIns="0" bIns="0" rtlCol="0" anchor="t">
            <a:spAutoFit/>
          </a:bodyPr>
          <a:lstStyle/>
          <a:p>
            <a:pPr algn="ctr">
              <a:lnSpc>
                <a:spcPts val="3431"/>
              </a:lnSpc>
            </a:pPr>
            <a:r>
              <a:rPr lang="en-US" sz="2451">
                <a:solidFill>
                  <a:srgbClr val="FFFFFF"/>
                </a:solidFill>
                <a:latin typeface="Open Sans"/>
                <a:ea typeface="Open Sans"/>
                <a:cs typeface="Open Sans"/>
                <a:sym typeface="Open Sans"/>
              </a:rPr>
              <a:t>Pueden Verificar que los metodos fueron invocados, en que orden y cuantas veces</a:t>
            </a:r>
          </a:p>
        </p:txBody>
      </p:sp>
      <p:sp>
        <p:nvSpPr>
          <p:cNvPr id="10" name="TextBox 10"/>
          <p:cNvSpPr txBox="1"/>
          <p:nvPr/>
        </p:nvSpPr>
        <p:spPr>
          <a:xfrm>
            <a:off x="2266441" y="8357251"/>
            <a:ext cx="13720684" cy="404459"/>
          </a:xfrm>
          <a:prstGeom prst="rect">
            <a:avLst/>
          </a:prstGeom>
        </p:spPr>
        <p:txBody>
          <a:bodyPr lIns="0" tIns="0" rIns="0" bIns="0" rtlCol="0" anchor="t">
            <a:spAutoFit/>
          </a:bodyPr>
          <a:lstStyle/>
          <a:p>
            <a:pPr algn="ctr">
              <a:lnSpc>
                <a:spcPts val="3431"/>
              </a:lnSpc>
            </a:pPr>
            <a:r>
              <a:rPr lang="en-US" sz="2451">
                <a:solidFill>
                  <a:srgbClr val="FFFFFF"/>
                </a:solidFill>
                <a:latin typeface="Open Sans"/>
                <a:ea typeface="Open Sans"/>
                <a:cs typeface="Open Sans"/>
                <a:sym typeface="Open Sans"/>
              </a:rPr>
              <a:t>Ideales para pruebas de comportamientos</a:t>
            </a:r>
          </a:p>
        </p:txBody>
      </p:sp>
      <p:sp>
        <p:nvSpPr>
          <p:cNvPr id="11" name="Freeform 11"/>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3"/>
            <a:stretch>
              <a:fillRect/>
            </a:stretch>
          </a:blipFill>
        </p:spPr>
        <p:txBody>
          <a:bodyPr/>
          <a:lstStyle/>
          <a:p>
            <a:endParaRPr lang="es-CO"/>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4162710" y="7976858"/>
            <a:ext cx="1496574" cy="1281442"/>
          </a:xfrm>
          <a:custGeom>
            <a:avLst/>
            <a:gdLst/>
            <a:ahLst/>
            <a:cxnLst/>
            <a:rect l="l" t="t" r="r" b="b"/>
            <a:pathLst>
              <a:path w="1496574" h="1281442">
                <a:moveTo>
                  <a:pt x="0" y="0"/>
                </a:moveTo>
                <a:lnTo>
                  <a:pt x="1496574" y="0"/>
                </a:lnTo>
                <a:lnTo>
                  <a:pt x="1496574" y="1281442"/>
                </a:lnTo>
                <a:lnTo>
                  <a:pt x="0" y="128144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O"/>
          </a:p>
        </p:txBody>
      </p:sp>
      <p:sp>
        <p:nvSpPr>
          <p:cNvPr id="7" name="Freeform 7"/>
          <p:cNvSpPr/>
          <p:nvPr/>
        </p:nvSpPr>
        <p:spPr>
          <a:xfrm>
            <a:off x="13122488" y="7746227"/>
            <a:ext cx="1512073" cy="1512073"/>
          </a:xfrm>
          <a:custGeom>
            <a:avLst/>
            <a:gdLst/>
            <a:ahLst/>
            <a:cxnLst/>
            <a:rect l="l" t="t" r="r" b="b"/>
            <a:pathLst>
              <a:path w="1512073" h="1512073">
                <a:moveTo>
                  <a:pt x="0" y="0"/>
                </a:moveTo>
                <a:lnTo>
                  <a:pt x="1512073" y="0"/>
                </a:lnTo>
                <a:lnTo>
                  <a:pt x="1512073" y="1512073"/>
                </a:lnTo>
                <a:lnTo>
                  <a:pt x="0" y="151207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TextBox 8"/>
          <p:cNvSpPr txBox="1"/>
          <p:nvPr/>
        </p:nvSpPr>
        <p:spPr>
          <a:xfrm>
            <a:off x="2834518" y="2096546"/>
            <a:ext cx="12584532" cy="853854"/>
          </a:xfrm>
          <a:prstGeom prst="rect">
            <a:avLst/>
          </a:prstGeom>
        </p:spPr>
        <p:txBody>
          <a:bodyPr lIns="0" tIns="0" rIns="0" bIns="0" rtlCol="0" anchor="t">
            <a:spAutoFit/>
          </a:bodyPr>
          <a:lstStyle/>
          <a:p>
            <a:pPr algn="ctr">
              <a:lnSpc>
                <a:spcPts val="7012"/>
              </a:lnSpc>
              <a:spcBef>
                <a:spcPct val="0"/>
              </a:spcBef>
            </a:pPr>
            <a:r>
              <a:rPr lang="en-US" sz="5008">
                <a:solidFill>
                  <a:srgbClr val="FA18C2"/>
                </a:solidFill>
                <a:latin typeface="HK Modular"/>
                <a:ea typeface="HK Modular"/>
                <a:cs typeface="HK Modular"/>
                <a:sym typeface="HK Modular"/>
              </a:rPr>
              <a:t>MOCKS</a:t>
            </a:r>
          </a:p>
        </p:txBody>
      </p:sp>
      <p:sp>
        <p:nvSpPr>
          <p:cNvPr id="9" name="TextBox 9"/>
          <p:cNvSpPr txBox="1"/>
          <p:nvPr/>
        </p:nvSpPr>
        <p:spPr>
          <a:xfrm>
            <a:off x="1621953" y="3568566"/>
            <a:ext cx="6841163" cy="513039"/>
          </a:xfrm>
          <a:prstGeom prst="rect">
            <a:avLst/>
          </a:prstGeom>
        </p:spPr>
        <p:txBody>
          <a:bodyPr lIns="0" tIns="0" rIns="0" bIns="0" rtlCol="0" anchor="t">
            <a:spAutoFit/>
          </a:bodyPr>
          <a:lstStyle/>
          <a:p>
            <a:pPr algn="ctr">
              <a:lnSpc>
                <a:spcPts val="4114"/>
              </a:lnSpc>
              <a:spcBef>
                <a:spcPct val="0"/>
              </a:spcBef>
            </a:pPr>
            <a:r>
              <a:rPr lang="en-US" sz="2939">
                <a:solidFill>
                  <a:srgbClr val="DD7E28"/>
                </a:solidFill>
                <a:latin typeface="HK Modular"/>
                <a:ea typeface="HK Modular"/>
                <a:cs typeface="HK Modular"/>
                <a:sym typeface="HK Modular"/>
              </a:rPr>
              <a:t>VENTAJAS</a:t>
            </a:r>
          </a:p>
        </p:txBody>
      </p:sp>
      <p:sp>
        <p:nvSpPr>
          <p:cNvPr id="10" name="TextBox 10"/>
          <p:cNvSpPr txBox="1"/>
          <p:nvPr/>
        </p:nvSpPr>
        <p:spPr>
          <a:xfrm>
            <a:off x="1869833" y="4728347"/>
            <a:ext cx="5793637" cy="2547584"/>
          </a:xfrm>
          <a:prstGeom prst="rect">
            <a:avLst/>
          </a:prstGeom>
        </p:spPr>
        <p:txBody>
          <a:bodyPr lIns="0" tIns="0" rIns="0" bIns="0" rtlCol="0" anchor="t">
            <a:spAutoFit/>
          </a:bodyPr>
          <a:lstStyle/>
          <a:p>
            <a:pPr marL="529262" lvl="1" indent="-264631" algn="ctr">
              <a:lnSpc>
                <a:spcPts val="3431"/>
              </a:lnSpc>
              <a:buFont typeface="Arial"/>
              <a:buChar char="•"/>
            </a:pPr>
            <a:r>
              <a:rPr lang="en-US" sz="2451">
                <a:solidFill>
                  <a:srgbClr val="FFFFFF"/>
                </a:solidFill>
                <a:latin typeface="Open Sans"/>
                <a:ea typeface="Open Sans"/>
                <a:cs typeface="Open Sans"/>
                <a:sym typeface="Open Sans"/>
              </a:rPr>
              <a:t>Validan interacciones entre los componentes</a:t>
            </a:r>
          </a:p>
          <a:p>
            <a:pPr marL="529262" lvl="1" indent="-264631" algn="ctr">
              <a:lnSpc>
                <a:spcPts val="3431"/>
              </a:lnSpc>
              <a:buFont typeface="Arial"/>
              <a:buChar char="•"/>
            </a:pPr>
            <a:r>
              <a:rPr lang="en-US" sz="2451">
                <a:solidFill>
                  <a:srgbClr val="FFFFFF"/>
                </a:solidFill>
                <a:latin typeface="Open Sans"/>
                <a:ea typeface="Open Sans"/>
                <a:cs typeface="Open Sans"/>
                <a:sym typeface="Open Sans"/>
              </a:rPr>
              <a:t>Detectan efectos colaterales ocultos (no visibles en valores de retorno)</a:t>
            </a:r>
          </a:p>
          <a:p>
            <a:pPr marL="529262" lvl="1" indent="-264631" algn="ctr">
              <a:lnSpc>
                <a:spcPts val="3431"/>
              </a:lnSpc>
              <a:buFont typeface="Arial"/>
              <a:buChar char="•"/>
            </a:pPr>
            <a:r>
              <a:rPr lang="en-US" sz="2451">
                <a:solidFill>
                  <a:srgbClr val="FFFFFF"/>
                </a:solidFill>
                <a:latin typeface="Open Sans"/>
                <a:ea typeface="Open Sans"/>
                <a:cs typeface="Open Sans"/>
                <a:sym typeface="Open Sans"/>
              </a:rPr>
              <a:t>Aseguran que la colaboracion entre objetos es la esperada</a:t>
            </a:r>
          </a:p>
        </p:txBody>
      </p:sp>
      <p:sp>
        <p:nvSpPr>
          <p:cNvPr id="11" name="TextBox 11"/>
          <p:cNvSpPr txBox="1"/>
          <p:nvPr/>
        </p:nvSpPr>
        <p:spPr>
          <a:xfrm>
            <a:off x="10457943" y="3568566"/>
            <a:ext cx="6841163" cy="513039"/>
          </a:xfrm>
          <a:prstGeom prst="rect">
            <a:avLst/>
          </a:prstGeom>
        </p:spPr>
        <p:txBody>
          <a:bodyPr lIns="0" tIns="0" rIns="0" bIns="0" rtlCol="0" anchor="t">
            <a:spAutoFit/>
          </a:bodyPr>
          <a:lstStyle/>
          <a:p>
            <a:pPr algn="ctr">
              <a:lnSpc>
                <a:spcPts val="4114"/>
              </a:lnSpc>
              <a:spcBef>
                <a:spcPct val="0"/>
              </a:spcBef>
            </a:pPr>
            <a:r>
              <a:rPr lang="en-US" sz="2939">
                <a:solidFill>
                  <a:srgbClr val="DD7E28"/>
                </a:solidFill>
                <a:latin typeface="HK Modular"/>
                <a:ea typeface="HK Modular"/>
                <a:cs typeface="HK Modular"/>
                <a:sym typeface="HK Modular"/>
              </a:rPr>
              <a:t>DESVENTAJAS</a:t>
            </a:r>
          </a:p>
        </p:txBody>
      </p:sp>
      <p:sp>
        <p:nvSpPr>
          <p:cNvPr id="12" name="TextBox 12"/>
          <p:cNvSpPr txBox="1"/>
          <p:nvPr/>
        </p:nvSpPr>
        <p:spPr>
          <a:xfrm>
            <a:off x="10981706" y="4728347"/>
            <a:ext cx="5793637" cy="1690334"/>
          </a:xfrm>
          <a:prstGeom prst="rect">
            <a:avLst/>
          </a:prstGeom>
        </p:spPr>
        <p:txBody>
          <a:bodyPr lIns="0" tIns="0" rIns="0" bIns="0" rtlCol="0" anchor="t">
            <a:spAutoFit/>
          </a:bodyPr>
          <a:lstStyle/>
          <a:p>
            <a:pPr marL="529262" lvl="1" indent="-264631" algn="ctr">
              <a:lnSpc>
                <a:spcPts val="3431"/>
              </a:lnSpc>
              <a:buFont typeface="Arial"/>
              <a:buChar char="•"/>
            </a:pPr>
            <a:r>
              <a:rPr lang="en-US" sz="2451">
                <a:solidFill>
                  <a:srgbClr val="FFFFFF"/>
                </a:solidFill>
                <a:latin typeface="Open Sans"/>
                <a:ea typeface="Open Sans"/>
                <a:cs typeface="Open Sans"/>
                <a:sym typeface="Open Sans"/>
              </a:rPr>
              <a:t>Su uso excesivo genera test fragiles, acoplados a la implementacion</a:t>
            </a:r>
          </a:p>
          <a:p>
            <a:pPr marL="529262" lvl="1" indent="-264631" algn="ctr">
              <a:lnSpc>
                <a:spcPts val="3431"/>
              </a:lnSpc>
              <a:buFont typeface="Arial"/>
              <a:buChar char="•"/>
            </a:pPr>
            <a:r>
              <a:rPr lang="en-US" sz="2451">
                <a:solidFill>
                  <a:srgbClr val="FFFFFF"/>
                </a:solidFill>
                <a:latin typeface="Open Sans"/>
                <a:ea typeface="Open Sans"/>
                <a:cs typeface="Open Sans"/>
                <a:sym typeface="Open Sans"/>
              </a:rPr>
              <a:t>Pueden agregar complejidad innecesaria a la suit de pruebas</a:t>
            </a:r>
          </a:p>
        </p:txBody>
      </p:sp>
      <p:sp>
        <p:nvSpPr>
          <p:cNvPr id="13" name="Freeform 13"/>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5"/>
            <a:stretch>
              <a:fillRect/>
            </a:stretch>
          </a:blipFill>
        </p:spPr>
        <p:txBody>
          <a:bodyPr/>
          <a:lstStyle/>
          <a:p>
            <a:endParaRPr lang="es-CO"/>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2834518" y="2096546"/>
            <a:ext cx="12584532" cy="853854"/>
          </a:xfrm>
          <a:prstGeom prst="rect">
            <a:avLst/>
          </a:prstGeom>
        </p:spPr>
        <p:txBody>
          <a:bodyPr lIns="0" tIns="0" rIns="0" bIns="0" rtlCol="0" anchor="t">
            <a:spAutoFit/>
          </a:bodyPr>
          <a:lstStyle/>
          <a:p>
            <a:pPr algn="ctr">
              <a:lnSpc>
                <a:spcPts val="7012"/>
              </a:lnSpc>
              <a:spcBef>
                <a:spcPct val="0"/>
              </a:spcBef>
            </a:pPr>
            <a:r>
              <a:rPr lang="en-US" sz="5008">
                <a:solidFill>
                  <a:srgbClr val="E78939"/>
                </a:solidFill>
                <a:latin typeface="HK Modular"/>
                <a:ea typeface="HK Modular"/>
                <a:cs typeface="HK Modular"/>
                <a:sym typeface="HK Modular"/>
              </a:rPr>
              <a:t>STUBS</a:t>
            </a:r>
          </a:p>
        </p:txBody>
      </p:sp>
      <p:sp>
        <p:nvSpPr>
          <p:cNvPr id="7" name="TextBox 7"/>
          <p:cNvSpPr txBox="1"/>
          <p:nvPr/>
        </p:nvSpPr>
        <p:spPr>
          <a:xfrm>
            <a:off x="5723419" y="3101683"/>
            <a:ext cx="6841163" cy="513039"/>
          </a:xfrm>
          <a:prstGeom prst="rect">
            <a:avLst/>
          </a:prstGeom>
        </p:spPr>
        <p:txBody>
          <a:bodyPr lIns="0" tIns="0" rIns="0" bIns="0" rtlCol="0" anchor="t">
            <a:spAutoFit/>
          </a:bodyPr>
          <a:lstStyle/>
          <a:p>
            <a:pPr algn="ctr">
              <a:lnSpc>
                <a:spcPts val="4114"/>
              </a:lnSpc>
              <a:spcBef>
                <a:spcPct val="0"/>
              </a:spcBef>
            </a:pPr>
            <a:r>
              <a:rPr lang="en-US" sz="2939">
                <a:solidFill>
                  <a:srgbClr val="FA18C2"/>
                </a:solidFill>
                <a:latin typeface="HK Modular"/>
                <a:ea typeface="HK Modular"/>
                <a:cs typeface="HK Modular"/>
                <a:sym typeface="HK Modular"/>
              </a:rPr>
              <a:t>¿QUE SON?</a:t>
            </a:r>
          </a:p>
        </p:txBody>
      </p:sp>
      <p:sp>
        <p:nvSpPr>
          <p:cNvPr id="8" name="TextBox 8"/>
          <p:cNvSpPr txBox="1"/>
          <p:nvPr/>
        </p:nvSpPr>
        <p:spPr>
          <a:xfrm>
            <a:off x="2393025" y="4079499"/>
            <a:ext cx="13720684" cy="1261709"/>
          </a:xfrm>
          <a:prstGeom prst="rect">
            <a:avLst/>
          </a:prstGeom>
        </p:spPr>
        <p:txBody>
          <a:bodyPr lIns="0" tIns="0" rIns="0" bIns="0" rtlCol="0" anchor="t">
            <a:spAutoFit/>
          </a:bodyPr>
          <a:lstStyle/>
          <a:p>
            <a:pPr algn="ctr">
              <a:lnSpc>
                <a:spcPts val="3431"/>
              </a:lnSpc>
            </a:pPr>
            <a:r>
              <a:rPr lang="en-US" sz="2451">
                <a:solidFill>
                  <a:srgbClr val="FFFFFF"/>
                </a:solidFill>
                <a:latin typeface="Open Sans"/>
                <a:ea typeface="Open Sans"/>
                <a:cs typeface="Open Sans"/>
                <a:sym typeface="Open Sans"/>
              </a:rPr>
              <a:t>Es un componente que devuelve respuestas predefinidas durante un prueba, se usan cuando importa mas el comportamiento del objeto bajo prueba que sus interacciones con otros componentes</a:t>
            </a:r>
          </a:p>
        </p:txBody>
      </p:sp>
      <p:sp>
        <p:nvSpPr>
          <p:cNvPr id="9" name="TextBox 9"/>
          <p:cNvSpPr txBox="1"/>
          <p:nvPr/>
        </p:nvSpPr>
        <p:spPr>
          <a:xfrm>
            <a:off x="2393025" y="5594338"/>
            <a:ext cx="13720684" cy="404459"/>
          </a:xfrm>
          <a:prstGeom prst="rect">
            <a:avLst/>
          </a:prstGeom>
        </p:spPr>
        <p:txBody>
          <a:bodyPr lIns="0" tIns="0" rIns="0" bIns="0" rtlCol="0" anchor="t">
            <a:spAutoFit/>
          </a:bodyPr>
          <a:lstStyle/>
          <a:p>
            <a:pPr algn="ctr">
              <a:lnSpc>
                <a:spcPts val="3431"/>
              </a:lnSpc>
            </a:pPr>
            <a:r>
              <a:rPr lang="en-US" sz="2451">
                <a:solidFill>
                  <a:srgbClr val="FFFFFF"/>
                </a:solidFill>
                <a:latin typeface="Open Sans"/>
                <a:ea typeface="Open Sans"/>
                <a:cs typeface="Open Sans"/>
                <a:sym typeface="Open Sans"/>
              </a:rPr>
              <a:t>Es como un actor con guion que simula escenarios ( Transaccion Aprobada/Rechazada)</a:t>
            </a:r>
          </a:p>
        </p:txBody>
      </p:sp>
      <p:sp>
        <p:nvSpPr>
          <p:cNvPr id="10" name="TextBox 10"/>
          <p:cNvSpPr txBox="1"/>
          <p:nvPr/>
        </p:nvSpPr>
        <p:spPr>
          <a:xfrm>
            <a:off x="2393025" y="6251926"/>
            <a:ext cx="13720684" cy="404459"/>
          </a:xfrm>
          <a:prstGeom prst="rect">
            <a:avLst/>
          </a:prstGeom>
        </p:spPr>
        <p:txBody>
          <a:bodyPr lIns="0" tIns="0" rIns="0" bIns="0" rtlCol="0" anchor="t">
            <a:spAutoFit/>
          </a:bodyPr>
          <a:lstStyle/>
          <a:p>
            <a:pPr algn="ctr">
              <a:lnSpc>
                <a:spcPts val="3431"/>
              </a:lnSpc>
            </a:pPr>
            <a:r>
              <a:rPr lang="en-US" sz="2451">
                <a:solidFill>
                  <a:srgbClr val="FFFFFF"/>
                </a:solidFill>
                <a:latin typeface="Open Sans"/>
                <a:ea typeface="Open Sans"/>
                <a:cs typeface="Open Sans"/>
                <a:sym typeface="Open Sans"/>
              </a:rPr>
              <a:t>Las respuestas estan preprogramadas (valores fijos), por lo que son predecibles y repetibles</a:t>
            </a:r>
          </a:p>
        </p:txBody>
      </p:sp>
      <p:sp>
        <p:nvSpPr>
          <p:cNvPr id="11" name="TextBox 11"/>
          <p:cNvSpPr txBox="1"/>
          <p:nvPr/>
        </p:nvSpPr>
        <p:spPr>
          <a:xfrm>
            <a:off x="1351332" y="7094535"/>
            <a:ext cx="6841163" cy="513039"/>
          </a:xfrm>
          <a:prstGeom prst="rect">
            <a:avLst/>
          </a:prstGeom>
        </p:spPr>
        <p:txBody>
          <a:bodyPr lIns="0" tIns="0" rIns="0" bIns="0" rtlCol="0" anchor="t">
            <a:spAutoFit/>
          </a:bodyPr>
          <a:lstStyle/>
          <a:p>
            <a:pPr algn="ctr">
              <a:lnSpc>
                <a:spcPts val="4114"/>
              </a:lnSpc>
              <a:spcBef>
                <a:spcPct val="0"/>
              </a:spcBef>
            </a:pPr>
            <a:r>
              <a:rPr lang="en-US" sz="2939">
                <a:solidFill>
                  <a:srgbClr val="FA18C2"/>
                </a:solidFill>
                <a:latin typeface="HK Modular"/>
                <a:ea typeface="HK Modular"/>
                <a:cs typeface="HK Modular"/>
                <a:sym typeface="HK Modular"/>
              </a:rPr>
              <a:t>VENTAJAS</a:t>
            </a:r>
          </a:p>
        </p:txBody>
      </p:sp>
      <p:sp>
        <p:nvSpPr>
          <p:cNvPr id="12" name="TextBox 12"/>
          <p:cNvSpPr txBox="1"/>
          <p:nvPr/>
        </p:nvSpPr>
        <p:spPr>
          <a:xfrm>
            <a:off x="10773412" y="6991923"/>
            <a:ext cx="6841163" cy="513039"/>
          </a:xfrm>
          <a:prstGeom prst="rect">
            <a:avLst/>
          </a:prstGeom>
        </p:spPr>
        <p:txBody>
          <a:bodyPr lIns="0" tIns="0" rIns="0" bIns="0" rtlCol="0" anchor="t">
            <a:spAutoFit/>
          </a:bodyPr>
          <a:lstStyle/>
          <a:p>
            <a:pPr algn="ctr">
              <a:lnSpc>
                <a:spcPts val="4114"/>
              </a:lnSpc>
              <a:spcBef>
                <a:spcPct val="0"/>
              </a:spcBef>
            </a:pPr>
            <a:r>
              <a:rPr lang="en-US" sz="2939">
                <a:solidFill>
                  <a:srgbClr val="FA18C2"/>
                </a:solidFill>
                <a:latin typeface="HK Modular"/>
                <a:ea typeface="HK Modular"/>
                <a:cs typeface="HK Modular"/>
                <a:sym typeface="HK Modular"/>
              </a:rPr>
              <a:t>DESVENTAJAS</a:t>
            </a:r>
          </a:p>
        </p:txBody>
      </p:sp>
      <p:sp>
        <p:nvSpPr>
          <p:cNvPr id="13" name="TextBox 13"/>
          <p:cNvSpPr txBox="1"/>
          <p:nvPr/>
        </p:nvSpPr>
        <p:spPr>
          <a:xfrm>
            <a:off x="1102622" y="7788549"/>
            <a:ext cx="7338583" cy="1690334"/>
          </a:xfrm>
          <a:prstGeom prst="rect">
            <a:avLst/>
          </a:prstGeom>
        </p:spPr>
        <p:txBody>
          <a:bodyPr lIns="0" tIns="0" rIns="0" bIns="0" rtlCol="0" anchor="t">
            <a:spAutoFit/>
          </a:bodyPr>
          <a:lstStyle/>
          <a:p>
            <a:pPr algn="ctr">
              <a:lnSpc>
                <a:spcPts val="3431"/>
              </a:lnSpc>
            </a:pPr>
            <a:r>
              <a:rPr lang="en-US" sz="2451">
                <a:solidFill>
                  <a:srgbClr val="FFFFFF"/>
                </a:solidFill>
                <a:latin typeface="Open Sans"/>
                <a:ea typeface="Open Sans"/>
                <a:cs typeface="Open Sans"/>
                <a:sym typeface="Open Sans"/>
              </a:rPr>
              <a:t>Aislan la unidad bajo pruebas de dependencias externas, Resultados predecibles y permiten probar la robustez del codigo en diferentes escenarios</a:t>
            </a:r>
          </a:p>
        </p:txBody>
      </p:sp>
      <p:sp>
        <p:nvSpPr>
          <p:cNvPr id="14" name="TextBox 14"/>
          <p:cNvSpPr txBox="1"/>
          <p:nvPr/>
        </p:nvSpPr>
        <p:spPr>
          <a:xfrm>
            <a:off x="10275991" y="7788549"/>
            <a:ext cx="7338583" cy="1261709"/>
          </a:xfrm>
          <a:prstGeom prst="rect">
            <a:avLst/>
          </a:prstGeom>
        </p:spPr>
        <p:txBody>
          <a:bodyPr lIns="0" tIns="0" rIns="0" bIns="0" rtlCol="0" anchor="t">
            <a:spAutoFit/>
          </a:bodyPr>
          <a:lstStyle/>
          <a:p>
            <a:pPr algn="ctr">
              <a:lnSpc>
                <a:spcPts val="3431"/>
              </a:lnSpc>
            </a:pPr>
            <a:r>
              <a:rPr lang="en-US" sz="2451">
                <a:solidFill>
                  <a:srgbClr val="FFFFFF"/>
                </a:solidFill>
                <a:latin typeface="Open Sans"/>
                <a:ea typeface="Open Sans"/>
                <a:cs typeface="Open Sans"/>
                <a:sym typeface="Open Sans"/>
              </a:rPr>
              <a:t>Si no se configuran bien dan una falsa sensacion de correcto, no capturan informacion de interaccion solo resultados</a:t>
            </a:r>
          </a:p>
        </p:txBody>
      </p:sp>
      <p:sp>
        <p:nvSpPr>
          <p:cNvPr id="15" name="Freeform 15"/>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3"/>
            <a:stretch>
              <a:fillRect/>
            </a:stretch>
          </a:blipFill>
        </p:spPr>
        <p:txBody>
          <a:bodyPr/>
          <a:lstStyle/>
          <a:p>
            <a:endParaRPr lang="es-CO"/>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515056" y="5830015"/>
            <a:ext cx="5713809" cy="3428285"/>
          </a:xfrm>
          <a:custGeom>
            <a:avLst/>
            <a:gdLst/>
            <a:ahLst/>
            <a:cxnLst/>
            <a:rect l="l" t="t" r="r" b="b"/>
            <a:pathLst>
              <a:path w="5713809" h="3428285">
                <a:moveTo>
                  <a:pt x="0" y="0"/>
                </a:moveTo>
                <a:lnTo>
                  <a:pt x="5713809" y="0"/>
                </a:lnTo>
                <a:lnTo>
                  <a:pt x="5713809" y="3428285"/>
                </a:lnTo>
                <a:lnTo>
                  <a:pt x="0" y="3428285"/>
                </a:lnTo>
                <a:lnTo>
                  <a:pt x="0" y="0"/>
                </a:lnTo>
                <a:close/>
              </a:path>
            </a:pathLst>
          </a:custGeom>
          <a:blipFill>
            <a:blip r:embed="rId3"/>
            <a:stretch>
              <a:fillRect/>
            </a:stretch>
          </a:blipFill>
        </p:spPr>
        <p:txBody>
          <a:bodyPr/>
          <a:lstStyle/>
          <a:p>
            <a:endParaRPr lang="es-CO"/>
          </a:p>
        </p:txBody>
      </p:sp>
      <p:sp>
        <p:nvSpPr>
          <p:cNvPr id="7" name="Freeform 7"/>
          <p:cNvSpPr/>
          <p:nvPr/>
        </p:nvSpPr>
        <p:spPr>
          <a:xfrm>
            <a:off x="7012217" y="5830015"/>
            <a:ext cx="5120730" cy="3428285"/>
          </a:xfrm>
          <a:custGeom>
            <a:avLst/>
            <a:gdLst/>
            <a:ahLst/>
            <a:cxnLst/>
            <a:rect l="l" t="t" r="r" b="b"/>
            <a:pathLst>
              <a:path w="5120730" h="3428285">
                <a:moveTo>
                  <a:pt x="0" y="0"/>
                </a:moveTo>
                <a:lnTo>
                  <a:pt x="5120730" y="0"/>
                </a:lnTo>
                <a:lnTo>
                  <a:pt x="5120730" y="3428285"/>
                </a:lnTo>
                <a:lnTo>
                  <a:pt x="0" y="3428285"/>
                </a:lnTo>
                <a:lnTo>
                  <a:pt x="0" y="0"/>
                </a:lnTo>
                <a:close/>
              </a:path>
            </a:pathLst>
          </a:custGeom>
          <a:blipFill>
            <a:blip r:embed="rId4"/>
            <a:stretch>
              <a:fillRect/>
            </a:stretch>
          </a:blipFill>
        </p:spPr>
        <p:txBody>
          <a:bodyPr/>
          <a:lstStyle/>
          <a:p>
            <a:endParaRPr lang="es-CO"/>
          </a:p>
        </p:txBody>
      </p:sp>
      <p:sp>
        <p:nvSpPr>
          <p:cNvPr id="8" name="Freeform 8"/>
          <p:cNvSpPr/>
          <p:nvPr/>
        </p:nvSpPr>
        <p:spPr>
          <a:xfrm>
            <a:off x="12913997" y="5830015"/>
            <a:ext cx="4480971" cy="3762503"/>
          </a:xfrm>
          <a:custGeom>
            <a:avLst/>
            <a:gdLst/>
            <a:ahLst/>
            <a:cxnLst/>
            <a:rect l="l" t="t" r="r" b="b"/>
            <a:pathLst>
              <a:path w="4480971" h="3762503">
                <a:moveTo>
                  <a:pt x="0" y="0"/>
                </a:moveTo>
                <a:lnTo>
                  <a:pt x="4480971" y="0"/>
                </a:lnTo>
                <a:lnTo>
                  <a:pt x="4480971" y="3762502"/>
                </a:lnTo>
                <a:lnTo>
                  <a:pt x="0" y="3762502"/>
                </a:lnTo>
                <a:lnTo>
                  <a:pt x="0" y="0"/>
                </a:lnTo>
                <a:close/>
              </a:path>
            </a:pathLst>
          </a:custGeom>
          <a:blipFill>
            <a:blip r:embed="rId5"/>
            <a:stretch>
              <a:fillRect/>
            </a:stretch>
          </a:blipFill>
        </p:spPr>
        <p:txBody>
          <a:bodyPr/>
          <a:lstStyle/>
          <a:p>
            <a:endParaRPr lang="es-CO"/>
          </a:p>
        </p:txBody>
      </p:sp>
      <p:sp>
        <p:nvSpPr>
          <p:cNvPr id="9" name="TextBox 9"/>
          <p:cNvSpPr txBox="1"/>
          <p:nvPr/>
        </p:nvSpPr>
        <p:spPr>
          <a:xfrm>
            <a:off x="2834518" y="2096546"/>
            <a:ext cx="12584532" cy="1739679"/>
          </a:xfrm>
          <a:prstGeom prst="rect">
            <a:avLst/>
          </a:prstGeom>
        </p:spPr>
        <p:txBody>
          <a:bodyPr lIns="0" tIns="0" rIns="0" bIns="0" rtlCol="0" anchor="t">
            <a:spAutoFit/>
          </a:bodyPr>
          <a:lstStyle/>
          <a:p>
            <a:pPr algn="ctr">
              <a:lnSpc>
                <a:spcPts val="7012"/>
              </a:lnSpc>
              <a:spcBef>
                <a:spcPct val="0"/>
              </a:spcBef>
            </a:pPr>
            <a:r>
              <a:rPr lang="en-US" sz="5008">
                <a:solidFill>
                  <a:srgbClr val="E78939"/>
                </a:solidFill>
                <a:latin typeface="HK Modular"/>
                <a:ea typeface="HK Modular"/>
                <a:cs typeface="HK Modular"/>
                <a:sym typeface="HK Modular"/>
              </a:rPr>
              <a:t>MOCKS Y STUBS USO CON MOCKITO</a:t>
            </a:r>
          </a:p>
        </p:txBody>
      </p:sp>
      <p:sp>
        <p:nvSpPr>
          <p:cNvPr id="10" name="TextBox 10"/>
          <p:cNvSpPr txBox="1"/>
          <p:nvPr/>
        </p:nvSpPr>
        <p:spPr>
          <a:xfrm>
            <a:off x="1284815" y="4407531"/>
            <a:ext cx="4174290" cy="513039"/>
          </a:xfrm>
          <a:prstGeom prst="rect">
            <a:avLst/>
          </a:prstGeom>
        </p:spPr>
        <p:txBody>
          <a:bodyPr lIns="0" tIns="0" rIns="0" bIns="0" rtlCol="0" anchor="t">
            <a:spAutoFit/>
          </a:bodyPr>
          <a:lstStyle/>
          <a:p>
            <a:pPr algn="ctr">
              <a:lnSpc>
                <a:spcPts val="4114"/>
              </a:lnSpc>
              <a:spcBef>
                <a:spcPct val="0"/>
              </a:spcBef>
            </a:pPr>
            <a:r>
              <a:rPr lang="en-US" sz="2939">
                <a:solidFill>
                  <a:srgbClr val="FA18C2"/>
                </a:solidFill>
                <a:latin typeface="HK Modular"/>
                <a:ea typeface="HK Modular"/>
                <a:cs typeface="HK Modular"/>
                <a:sym typeface="HK Modular"/>
              </a:rPr>
              <a:t>CODIGO BASE</a:t>
            </a:r>
          </a:p>
        </p:txBody>
      </p:sp>
      <p:sp>
        <p:nvSpPr>
          <p:cNvPr id="11" name="TextBox 11"/>
          <p:cNvSpPr txBox="1"/>
          <p:nvPr/>
        </p:nvSpPr>
        <p:spPr>
          <a:xfrm>
            <a:off x="7359511" y="4407531"/>
            <a:ext cx="4174290" cy="1034058"/>
          </a:xfrm>
          <a:prstGeom prst="rect">
            <a:avLst/>
          </a:prstGeom>
        </p:spPr>
        <p:txBody>
          <a:bodyPr lIns="0" tIns="0" rIns="0" bIns="0" rtlCol="0" anchor="t">
            <a:spAutoFit/>
          </a:bodyPr>
          <a:lstStyle/>
          <a:p>
            <a:pPr algn="ctr">
              <a:lnSpc>
                <a:spcPts val="4114"/>
              </a:lnSpc>
              <a:spcBef>
                <a:spcPct val="0"/>
              </a:spcBef>
            </a:pPr>
            <a:r>
              <a:rPr lang="en-US" sz="2939">
                <a:solidFill>
                  <a:srgbClr val="FA18C2"/>
                </a:solidFill>
                <a:latin typeface="HK Modular"/>
                <a:ea typeface="HK Modular"/>
                <a:cs typeface="HK Modular"/>
                <a:sym typeface="HK Modular"/>
              </a:rPr>
              <a:t>PRUEBA CON STUB</a:t>
            </a:r>
          </a:p>
        </p:txBody>
      </p:sp>
      <p:sp>
        <p:nvSpPr>
          <p:cNvPr id="12" name="TextBox 12"/>
          <p:cNvSpPr txBox="1"/>
          <p:nvPr/>
        </p:nvSpPr>
        <p:spPr>
          <a:xfrm>
            <a:off x="13067337" y="4407531"/>
            <a:ext cx="4174290" cy="1034058"/>
          </a:xfrm>
          <a:prstGeom prst="rect">
            <a:avLst/>
          </a:prstGeom>
        </p:spPr>
        <p:txBody>
          <a:bodyPr lIns="0" tIns="0" rIns="0" bIns="0" rtlCol="0" anchor="t">
            <a:spAutoFit/>
          </a:bodyPr>
          <a:lstStyle/>
          <a:p>
            <a:pPr algn="ctr">
              <a:lnSpc>
                <a:spcPts val="4114"/>
              </a:lnSpc>
              <a:spcBef>
                <a:spcPct val="0"/>
              </a:spcBef>
            </a:pPr>
            <a:r>
              <a:rPr lang="en-US" sz="2939">
                <a:solidFill>
                  <a:srgbClr val="FA18C2"/>
                </a:solidFill>
                <a:latin typeface="HK Modular"/>
                <a:ea typeface="HK Modular"/>
                <a:cs typeface="HK Modular"/>
                <a:sym typeface="HK Modular"/>
              </a:rPr>
              <a:t>PRUEBA CON MOCK</a:t>
            </a:r>
          </a:p>
        </p:txBody>
      </p:sp>
      <p:sp>
        <p:nvSpPr>
          <p:cNvPr id="13" name="Freeform 13"/>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6"/>
            <a:stretch>
              <a:fillRect/>
            </a:stretch>
          </a:blipFill>
        </p:spPr>
        <p:txBody>
          <a:bodyPr/>
          <a:lstStyle/>
          <a:p>
            <a:endParaRPr lang="es-CO"/>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2834518" y="2096546"/>
            <a:ext cx="12584532" cy="853854"/>
          </a:xfrm>
          <a:prstGeom prst="rect">
            <a:avLst/>
          </a:prstGeom>
        </p:spPr>
        <p:txBody>
          <a:bodyPr lIns="0" tIns="0" rIns="0" bIns="0" rtlCol="0" anchor="t">
            <a:spAutoFit/>
          </a:bodyPr>
          <a:lstStyle/>
          <a:p>
            <a:pPr algn="ctr">
              <a:lnSpc>
                <a:spcPts val="7012"/>
              </a:lnSpc>
              <a:spcBef>
                <a:spcPct val="0"/>
              </a:spcBef>
            </a:pPr>
            <a:r>
              <a:rPr lang="en-US" sz="5008">
                <a:solidFill>
                  <a:srgbClr val="E78939"/>
                </a:solidFill>
                <a:latin typeface="HK Modular"/>
                <a:ea typeface="HK Modular"/>
                <a:cs typeface="HK Modular"/>
                <a:sym typeface="HK Modular"/>
              </a:rPr>
              <a:t>BUENAS PRACTICAS</a:t>
            </a:r>
          </a:p>
        </p:txBody>
      </p:sp>
      <p:sp>
        <p:nvSpPr>
          <p:cNvPr id="7" name="TextBox 7"/>
          <p:cNvSpPr txBox="1"/>
          <p:nvPr/>
        </p:nvSpPr>
        <p:spPr>
          <a:xfrm>
            <a:off x="2393025" y="4079499"/>
            <a:ext cx="13720684" cy="404459"/>
          </a:xfrm>
          <a:prstGeom prst="rect">
            <a:avLst/>
          </a:prstGeom>
        </p:spPr>
        <p:txBody>
          <a:bodyPr lIns="0" tIns="0" rIns="0" bIns="0" rtlCol="0" anchor="t">
            <a:spAutoFit/>
          </a:bodyPr>
          <a:lstStyle/>
          <a:p>
            <a:pPr algn="ctr">
              <a:lnSpc>
                <a:spcPts val="3431"/>
              </a:lnSpc>
            </a:pPr>
            <a:r>
              <a:rPr lang="en-US" sz="2451">
                <a:solidFill>
                  <a:srgbClr val="FFFFFF"/>
                </a:solidFill>
                <a:latin typeface="Open Sans"/>
                <a:ea typeface="Open Sans"/>
                <a:cs typeface="Open Sans"/>
                <a:sym typeface="Open Sans"/>
              </a:rPr>
              <a:t>Equilibrar Stubs y Mocks, no usen solamente uno siempre</a:t>
            </a:r>
          </a:p>
        </p:txBody>
      </p:sp>
      <p:sp>
        <p:nvSpPr>
          <p:cNvPr id="8" name="TextBox 8"/>
          <p:cNvSpPr txBox="1"/>
          <p:nvPr/>
        </p:nvSpPr>
        <p:spPr>
          <a:xfrm>
            <a:off x="2393025" y="4922221"/>
            <a:ext cx="13720684" cy="404459"/>
          </a:xfrm>
          <a:prstGeom prst="rect">
            <a:avLst/>
          </a:prstGeom>
        </p:spPr>
        <p:txBody>
          <a:bodyPr lIns="0" tIns="0" rIns="0" bIns="0" rtlCol="0" anchor="t">
            <a:spAutoFit/>
          </a:bodyPr>
          <a:lstStyle/>
          <a:p>
            <a:pPr algn="ctr">
              <a:lnSpc>
                <a:spcPts val="3431"/>
              </a:lnSpc>
            </a:pPr>
            <a:r>
              <a:rPr lang="en-US" sz="2451">
                <a:solidFill>
                  <a:srgbClr val="FFFFFF"/>
                </a:solidFill>
                <a:latin typeface="Open Sans"/>
                <a:ea typeface="Open Sans"/>
                <a:cs typeface="Open Sans"/>
                <a:sym typeface="Open Sans"/>
              </a:rPr>
              <a:t>Usar Stubs cuando lo importante son los resultados (state testing)</a:t>
            </a:r>
          </a:p>
        </p:txBody>
      </p:sp>
      <p:sp>
        <p:nvSpPr>
          <p:cNvPr id="9" name="TextBox 9"/>
          <p:cNvSpPr txBox="1"/>
          <p:nvPr/>
        </p:nvSpPr>
        <p:spPr>
          <a:xfrm>
            <a:off x="2393025" y="5764829"/>
            <a:ext cx="13720684" cy="404459"/>
          </a:xfrm>
          <a:prstGeom prst="rect">
            <a:avLst/>
          </a:prstGeom>
        </p:spPr>
        <p:txBody>
          <a:bodyPr lIns="0" tIns="0" rIns="0" bIns="0" rtlCol="0" anchor="t">
            <a:spAutoFit/>
          </a:bodyPr>
          <a:lstStyle/>
          <a:p>
            <a:pPr algn="ctr">
              <a:lnSpc>
                <a:spcPts val="3431"/>
              </a:lnSpc>
            </a:pPr>
            <a:r>
              <a:rPr lang="en-US" sz="2451">
                <a:solidFill>
                  <a:srgbClr val="FFFFFF"/>
                </a:solidFill>
                <a:latin typeface="Open Sans"/>
                <a:ea typeface="Open Sans"/>
                <a:cs typeface="Open Sans"/>
                <a:sym typeface="Open Sans"/>
              </a:rPr>
              <a:t>Usar Mocks cuando lo importante son las interacciones (behavior testing)</a:t>
            </a:r>
          </a:p>
        </p:txBody>
      </p:sp>
      <p:sp>
        <p:nvSpPr>
          <p:cNvPr id="10" name="Freeform 10"/>
          <p:cNvSpPr/>
          <p:nvPr/>
        </p:nvSpPr>
        <p:spPr>
          <a:xfrm>
            <a:off x="4052946" y="4035016"/>
            <a:ext cx="620758" cy="531524"/>
          </a:xfrm>
          <a:custGeom>
            <a:avLst/>
            <a:gdLst/>
            <a:ahLst/>
            <a:cxnLst/>
            <a:rect l="l" t="t" r="r" b="b"/>
            <a:pathLst>
              <a:path w="620758" h="531524">
                <a:moveTo>
                  <a:pt x="0" y="0"/>
                </a:moveTo>
                <a:lnTo>
                  <a:pt x="620758" y="0"/>
                </a:lnTo>
                <a:lnTo>
                  <a:pt x="620758" y="531525"/>
                </a:lnTo>
                <a:lnTo>
                  <a:pt x="0" y="53152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O"/>
          </a:p>
        </p:txBody>
      </p:sp>
      <p:sp>
        <p:nvSpPr>
          <p:cNvPr id="11" name="Freeform 11"/>
          <p:cNvSpPr/>
          <p:nvPr/>
        </p:nvSpPr>
        <p:spPr>
          <a:xfrm>
            <a:off x="3432187" y="4877682"/>
            <a:ext cx="620758" cy="531524"/>
          </a:xfrm>
          <a:custGeom>
            <a:avLst/>
            <a:gdLst/>
            <a:ahLst/>
            <a:cxnLst/>
            <a:rect l="l" t="t" r="r" b="b"/>
            <a:pathLst>
              <a:path w="620758" h="531524">
                <a:moveTo>
                  <a:pt x="0" y="0"/>
                </a:moveTo>
                <a:lnTo>
                  <a:pt x="620759" y="0"/>
                </a:lnTo>
                <a:lnTo>
                  <a:pt x="620759" y="531524"/>
                </a:lnTo>
                <a:lnTo>
                  <a:pt x="0" y="53152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O"/>
          </a:p>
        </p:txBody>
      </p:sp>
      <p:sp>
        <p:nvSpPr>
          <p:cNvPr id="12" name="Freeform 12"/>
          <p:cNvSpPr/>
          <p:nvPr/>
        </p:nvSpPr>
        <p:spPr>
          <a:xfrm>
            <a:off x="2973067" y="5720347"/>
            <a:ext cx="620758" cy="531524"/>
          </a:xfrm>
          <a:custGeom>
            <a:avLst/>
            <a:gdLst/>
            <a:ahLst/>
            <a:cxnLst/>
            <a:rect l="l" t="t" r="r" b="b"/>
            <a:pathLst>
              <a:path w="620758" h="531524">
                <a:moveTo>
                  <a:pt x="0" y="0"/>
                </a:moveTo>
                <a:lnTo>
                  <a:pt x="620758" y="0"/>
                </a:lnTo>
                <a:lnTo>
                  <a:pt x="620758" y="531524"/>
                </a:lnTo>
                <a:lnTo>
                  <a:pt x="0" y="53152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O"/>
          </a:p>
        </p:txBody>
      </p:sp>
      <p:sp>
        <p:nvSpPr>
          <p:cNvPr id="13" name="TextBox 13"/>
          <p:cNvSpPr txBox="1"/>
          <p:nvPr/>
        </p:nvSpPr>
        <p:spPr>
          <a:xfrm>
            <a:off x="2393025" y="6690021"/>
            <a:ext cx="13720684" cy="404459"/>
          </a:xfrm>
          <a:prstGeom prst="rect">
            <a:avLst/>
          </a:prstGeom>
        </p:spPr>
        <p:txBody>
          <a:bodyPr lIns="0" tIns="0" rIns="0" bIns="0" rtlCol="0" anchor="t">
            <a:spAutoFit/>
          </a:bodyPr>
          <a:lstStyle/>
          <a:p>
            <a:pPr algn="ctr">
              <a:lnSpc>
                <a:spcPts val="3431"/>
              </a:lnSpc>
            </a:pPr>
            <a:r>
              <a:rPr lang="en-US" sz="2451">
                <a:solidFill>
                  <a:srgbClr val="FFFFFF"/>
                </a:solidFill>
                <a:latin typeface="Open Sans"/>
                <a:ea typeface="Open Sans"/>
                <a:cs typeface="Open Sans"/>
                <a:sym typeface="Open Sans"/>
              </a:rPr>
              <a:t>Evitar tests demasiado especificos (se vuelven fragiles ante pequeños cambios)</a:t>
            </a:r>
          </a:p>
        </p:txBody>
      </p:sp>
      <p:sp>
        <p:nvSpPr>
          <p:cNvPr id="14" name="TextBox 14"/>
          <p:cNvSpPr txBox="1"/>
          <p:nvPr/>
        </p:nvSpPr>
        <p:spPr>
          <a:xfrm>
            <a:off x="2393025" y="7781187"/>
            <a:ext cx="13720684" cy="404459"/>
          </a:xfrm>
          <a:prstGeom prst="rect">
            <a:avLst/>
          </a:prstGeom>
        </p:spPr>
        <p:txBody>
          <a:bodyPr lIns="0" tIns="0" rIns="0" bIns="0" rtlCol="0" anchor="t">
            <a:spAutoFit/>
          </a:bodyPr>
          <a:lstStyle/>
          <a:p>
            <a:pPr algn="ctr">
              <a:lnSpc>
                <a:spcPts val="3431"/>
              </a:lnSpc>
            </a:pPr>
            <a:r>
              <a:rPr lang="en-US" sz="2451">
                <a:solidFill>
                  <a:srgbClr val="FFFFFF"/>
                </a:solidFill>
                <a:latin typeface="Open Sans"/>
                <a:ea typeface="Open Sans"/>
                <a:cs typeface="Open Sans"/>
                <a:sym typeface="Open Sans"/>
              </a:rPr>
              <a:t>Mantener los test claros, simples y legibles</a:t>
            </a:r>
          </a:p>
        </p:txBody>
      </p:sp>
      <p:sp>
        <p:nvSpPr>
          <p:cNvPr id="15" name="Freeform 15"/>
          <p:cNvSpPr/>
          <p:nvPr/>
        </p:nvSpPr>
        <p:spPr>
          <a:xfrm>
            <a:off x="2662688" y="6562956"/>
            <a:ext cx="620758" cy="531524"/>
          </a:xfrm>
          <a:custGeom>
            <a:avLst/>
            <a:gdLst/>
            <a:ahLst/>
            <a:cxnLst/>
            <a:rect l="l" t="t" r="r" b="b"/>
            <a:pathLst>
              <a:path w="620758" h="531524">
                <a:moveTo>
                  <a:pt x="0" y="0"/>
                </a:moveTo>
                <a:lnTo>
                  <a:pt x="620758" y="0"/>
                </a:lnTo>
                <a:lnTo>
                  <a:pt x="620758" y="531524"/>
                </a:lnTo>
                <a:lnTo>
                  <a:pt x="0" y="53152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O"/>
          </a:p>
        </p:txBody>
      </p:sp>
      <p:sp>
        <p:nvSpPr>
          <p:cNvPr id="16" name="Freeform 16"/>
          <p:cNvSpPr/>
          <p:nvPr/>
        </p:nvSpPr>
        <p:spPr>
          <a:xfrm>
            <a:off x="5314141" y="7736704"/>
            <a:ext cx="620758" cy="531524"/>
          </a:xfrm>
          <a:custGeom>
            <a:avLst/>
            <a:gdLst/>
            <a:ahLst/>
            <a:cxnLst/>
            <a:rect l="l" t="t" r="r" b="b"/>
            <a:pathLst>
              <a:path w="620758" h="531524">
                <a:moveTo>
                  <a:pt x="0" y="0"/>
                </a:moveTo>
                <a:lnTo>
                  <a:pt x="620758" y="0"/>
                </a:lnTo>
                <a:lnTo>
                  <a:pt x="620758" y="531524"/>
                </a:lnTo>
                <a:lnTo>
                  <a:pt x="0" y="53152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O"/>
          </a:p>
        </p:txBody>
      </p:sp>
      <p:sp>
        <p:nvSpPr>
          <p:cNvPr id="17" name="TextBox 17"/>
          <p:cNvSpPr txBox="1"/>
          <p:nvPr/>
        </p:nvSpPr>
        <p:spPr>
          <a:xfrm>
            <a:off x="2545425" y="8620653"/>
            <a:ext cx="13720684" cy="404459"/>
          </a:xfrm>
          <a:prstGeom prst="rect">
            <a:avLst/>
          </a:prstGeom>
        </p:spPr>
        <p:txBody>
          <a:bodyPr lIns="0" tIns="0" rIns="0" bIns="0" rtlCol="0" anchor="t">
            <a:spAutoFit/>
          </a:bodyPr>
          <a:lstStyle/>
          <a:p>
            <a:pPr algn="ctr">
              <a:lnSpc>
                <a:spcPts val="3431"/>
              </a:lnSpc>
            </a:pPr>
            <a:r>
              <a:rPr lang="en-US" sz="2451">
                <a:solidFill>
                  <a:srgbClr val="FFFFFF"/>
                </a:solidFill>
                <a:latin typeface="Open Sans"/>
                <a:ea typeface="Open Sans"/>
                <a:cs typeface="Open Sans"/>
                <a:sym typeface="Open Sans"/>
              </a:rPr>
              <a:t>En TDD permiten probar antes de tener implementaciones reales</a:t>
            </a:r>
          </a:p>
        </p:txBody>
      </p:sp>
      <p:sp>
        <p:nvSpPr>
          <p:cNvPr id="18" name="Freeform 18"/>
          <p:cNvSpPr/>
          <p:nvPr/>
        </p:nvSpPr>
        <p:spPr>
          <a:xfrm>
            <a:off x="3742567" y="8493588"/>
            <a:ext cx="620758" cy="531524"/>
          </a:xfrm>
          <a:custGeom>
            <a:avLst/>
            <a:gdLst/>
            <a:ahLst/>
            <a:cxnLst/>
            <a:rect l="l" t="t" r="r" b="b"/>
            <a:pathLst>
              <a:path w="620758" h="531524">
                <a:moveTo>
                  <a:pt x="0" y="0"/>
                </a:moveTo>
                <a:lnTo>
                  <a:pt x="620758" y="0"/>
                </a:lnTo>
                <a:lnTo>
                  <a:pt x="620758" y="531524"/>
                </a:lnTo>
                <a:lnTo>
                  <a:pt x="0" y="53152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O"/>
          </a:p>
        </p:txBody>
      </p:sp>
      <p:sp>
        <p:nvSpPr>
          <p:cNvPr id="19" name="Freeform 19"/>
          <p:cNvSpPr/>
          <p:nvPr/>
        </p:nvSpPr>
        <p:spPr>
          <a:xfrm>
            <a:off x="7586299" y="-6214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4"/>
            <a:stretch>
              <a:fillRect/>
            </a:stretch>
          </a:blipFill>
        </p:spPr>
        <p:txBody>
          <a:bodyPr/>
          <a:lstStyle/>
          <a:p>
            <a:endParaRPr lang="es-CO"/>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s-CO"/>
          </a:p>
        </p:txBody>
      </p:sp>
      <p:sp>
        <p:nvSpPr>
          <p:cNvPr id="3" name="Freeform 3"/>
          <p:cNvSpPr/>
          <p:nvPr/>
        </p:nvSpPr>
        <p:spPr>
          <a:xfrm>
            <a:off x="8346232" y="-93621"/>
            <a:ext cx="7049995" cy="11271794"/>
          </a:xfrm>
          <a:custGeom>
            <a:avLst/>
            <a:gdLst/>
            <a:ahLst/>
            <a:cxnLst/>
            <a:rect l="l" t="t" r="r" b="b"/>
            <a:pathLst>
              <a:path w="7049995" h="11271794">
                <a:moveTo>
                  <a:pt x="0" y="0"/>
                </a:moveTo>
                <a:lnTo>
                  <a:pt x="7049994" y="0"/>
                </a:lnTo>
                <a:lnTo>
                  <a:pt x="7049994" y="11271794"/>
                </a:lnTo>
                <a:lnTo>
                  <a:pt x="0" y="1127179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O"/>
          </a:p>
        </p:txBody>
      </p:sp>
      <p:grpSp>
        <p:nvGrpSpPr>
          <p:cNvPr id="4" name="Group 4"/>
          <p:cNvGrpSpPr/>
          <p:nvPr/>
        </p:nvGrpSpPr>
        <p:grpSpPr>
          <a:xfrm rot="-5400000">
            <a:off x="3940201" y="-7697568"/>
            <a:ext cx="10626331" cy="19778728"/>
            <a:chOff x="0" y="0"/>
            <a:chExt cx="2798705" cy="5209212"/>
          </a:xfrm>
        </p:grpSpPr>
        <p:sp>
          <p:nvSpPr>
            <p:cNvPr id="5" name="Freeform 5"/>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6" name="TextBox 6"/>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532442" y="5382267"/>
            <a:ext cx="7315200" cy="2349450"/>
          </a:xfrm>
          <a:custGeom>
            <a:avLst/>
            <a:gdLst/>
            <a:ahLst/>
            <a:cxnLst/>
            <a:rect l="l" t="t" r="r" b="b"/>
            <a:pathLst>
              <a:path w="7315200" h="2349450">
                <a:moveTo>
                  <a:pt x="0" y="0"/>
                </a:moveTo>
                <a:lnTo>
                  <a:pt x="7315200" y="0"/>
                </a:lnTo>
                <a:lnTo>
                  <a:pt x="7315200" y="2349449"/>
                </a:lnTo>
                <a:lnTo>
                  <a:pt x="0" y="2349449"/>
                </a:lnTo>
                <a:lnTo>
                  <a:pt x="0" y="0"/>
                </a:lnTo>
                <a:close/>
              </a:path>
            </a:pathLst>
          </a:custGeom>
          <a:blipFill>
            <a:blip>
              <a:alphaModFix amt="17000"/>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TextBox 8"/>
          <p:cNvSpPr txBox="1"/>
          <p:nvPr/>
        </p:nvSpPr>
        <p:spPr>
          <a:xfrm>
            <a:off x="725042" y="3176984"/>
            <a:ext cx="6783956" cy="772200"/>
          </a:xfrm>
          <a:prstGeom prst="rect">
            <a:avLst/>
          </a:prstGeom>
        </p:spPr>
        <p:txBody>
          <a:bodyPr lIns="0" tIns="0" rIns="0" bIns="0" rtlCol="0" anchor="t">
            <a:spAutoFit/>
          </a:bodyPr>
          <a:lstStyle/>
          <a:p>
            <a:pPr algn="ctr">
              <a:lnSpc>
                <a:spcPts val="6262"/>
              </a:lnSpc>
              <a:spcBef>
                <a:spcPct val="0"/>
              </a:spcBef>
            </a:pPr>
            <a:r>
              <a:rPr lang="en-US" sz="4473">
                <a:solidFill>
                  <a:srgbClr val="DD7E28"/>
                </a:solidFill>
                <a:latin typeface="HK Modular"/>
                <a:ea typeface="HK Modular"/>
                <a:cs typeface="HK Modular"/>
                <a:sym typeface="HK Modular"/>
              </a:rPr>
              <a:t>LABORATORIO #3</a:t>
            </a:r>
          </a:p>
        </p:txBody>
      </p:sp>
      <p:sp>
        <p:nvSpPr>
          <p:cNvPr id="9" name="Freeform 9"/>
          <p:cNvSpPr/>
          <p:nvPr/>
        </p:nvSpPr>
        <p:spPr>
          <a:xfrm>
            <a:off x="-952235" y="7504962"/>
            <a:ext cx="4077393" cy="4114800"/>
          </a:xfrm>
          <a:custGeom>
            <a:avLst/>
            <a:gdLst/>
            <a:ahLst/>
            <a:cxnLst/>
            <a:rect l="l" t="t" r="r" b="b"/>
            <a:pathLst>
              <a:path w="4077393" h="4114800">
                <a:moveTo>
                  <a:pt x="0" y="0"/>
                </a:moveTo>
                <a:lnTo>
                  <a:pt x="4077393" y="0"/>
                </a:lnTo>
                <a:lnTo>
                  <a:pt x="4077393" y="4114800"/>
                </a:lnTo>
                <a:lnTo>
                  <a:pt x="0" y="4114800"/>
                </a:lnTo>
                <a:lnTo>
                  <a:pt x="0" y="0"/>
                </a:lnTo>
                <a:close/>
              </a:path>
            </a:pathLst>
          </a:custGeom>
          <a:blipFill>
            <a:blip>
              <a:alphaModFix amt="14000"/>
              <a:extLst>
                <a:ext uri="{96DAC541-7B7A-43D3-8B79-37D633B846F1}">
                  <asvg:svgBlip xmlns:asvg="http://schemas.microsoft.com/office/drawing/2016/SVG/main" r:embed="rId5"/>
                </a:ext>
              </a:extLst>
            </a:blip>
            <a:stretch>
              <a:fillRect/>
            </a:stretch>
          </a:blipFill>
        </p:spPr>
        <p:txBody>
          <a:bodyPr/>
          <a:lstStyle/>
          <a:p>
            <a:endParaRPr lang="es-CO"/>
          </a:p>
        </p:txBody>
      </p:sp>
      <p:sp>
        <p:nvSpPr>
          <p:cNvPr id="10" name="Freeform 10"/>
          <p:cNvSpPr/>
          <p:nvPr/>
        </p:nvSpPr>
        <p:spPr>
          <a:xfrm>
            <a:off x="16962114" y="35055"/>
            <a:ext cx="4077393" cy="4114800"/>
          </a:xfrm>
          <a:custGeom>
            <a:avLst/>
            <a:gdLst/>
            <a:ahLst/>
            <a:cxnLst/>
            <a:rect l="l" t="t" r="r" b="b"/>
            <a:pathLst>
              <a:path w="4077393" h="4114800">
                <a:moveTo>
                  <a:pt x="0" y="0"/>
                </a:moveTo>
                <a:lnTo>
                  <a:pt x="4077393" y="0"/>
                </a:lnTo>
                <a:lnTo>
                  <a:pt x="4077393" y="4114800"/>
                </a:lnTo>
                <a:lnTo>
                  <a:pt x="0" y="4114800"/>
                </a:lnTo>
                <a:lnTo>
                  <a:pt x="0" y="0"/>
                </a:lnTo>
                <a:close/>
              </a:path>
            </a:pathLst>
          </a:custGeom>
          <a:blipFill>
            <a:blip>
              <a:alphaModFix amt="14000"/>
              <a:extLst>
                <a:ext uri="{96DAC541-7B7A-43D3-8B79-37D633B846F1}">
                  <asvg:svgBlip xmlns:asvg="http://schemas.microsoft.com/office/drawing/2016/SVG/main" r:embed="rId5"/>
                </a:ext>
              </a:extLst>
            </a:blip>
            <a:stretch>
              <a:fillRect/>
            </a:stretch>
          </a:blipFill>
        </p:spPr>
        <p:txBody>
          <a:bodyPr/>
          <a:lstStyle/>
          <a:p>
            <a:endParaRPr lang="es-CO"/>
          </a:p>
        </p:txBody>
      </p:sp>
      <p:sp>
        <p:nvSpPr>
          <p:cNvPr id="11" name="TextBox 11"/>
          <p:cNvSpPr txBox="1"/>
          <p:nvPr/>
        </p:nvSpPr>
        <p:spPr>
          <a:xfrm>
            <a:off x="1479948" y="4174870"/>
            <a:ext cx="5548316" cy="9150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¿Como les ha ido con el laboratorio?</a:t>
            </a:r>
          </a:p>
        </p:txBody>
      </p:sp>
      <p:sp>
        <p:nvSpPr>
          <p:cNvPr id="12" name="TextBox 12"/>
          <p:cNvSpPr txBox="1"/>
          <p:nvPr/>
        </p:nvSpPr>
        <p:spPr>
          <a:xfrm>
            <a:off x="1479948" y="5578195"/>
            <a:ext cx="5548316" cy="4578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¿Tienen dudas?</a:t>
            </a:r>
          </a:p>
        </p:txBody>
      </p:sp>
      <p:sp>
        <p:nvSpPr>
          <p:cNvPr id="13" name="TextBox 13"/>
          <p:cNvSpPr txBox="1"/>
          <p:nvPr/>
        </p:nvSpPr>
        <p:spPr>
          <a:xfrm>
            <a:off x="1594919" y="6279641"/>
            <a:ext cx="5548316" cy="9150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¿Que tan complejo sientieron los retos propuestos?</a:t>
            </a:r>
          </a:p>
        </p:txBody>
      </p:sp>
      <p:sp>
        <p:nvSpPr>
          <p:cNvPr id="14" name="TextBox 14"/>
          <p:cNvSpPr txBox="1"/>
          <p:nvPr/>
        </p:nvSpPr>
        <p:spPr>
          <a:xfrm>
            <a:off x="1552274" y="7735633"/>
            <a:ext cx="5548316" cy="9150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CUIDADO CON el orden del README.md</a:t>
            </a:r>
          </a:p>
        </p:txBody>
      </p:sp>
      <p:sp>
        <p:nvSpPr>
          <p:cNvPr id="15" name="Freeform 15"/>
          <p:cNvSpPr/>
          <p:nvPr/>
        </p:nvSpPr>
        <p:spPr>
          <a:xfrm>
            <a:off x="9522839" y="1028700"/>
            <a:ext cx="5059671" cy="6905768"/>
          </a:xfrm>
          <a:custGeom>
            <a:avLst/>
            <a:gdLst/>
            <a:ahLst/>
            <a:cxnLst/>
            <a:rect l="l" t="t" r="r" b="b"/>
            <a:pathLst>
              <a:path w="5059671" h="6905768">
                <a:moveTo>
                  <a:pt x="0" y="0"/>
                </a:moveTo>
                <a:lnTo>
                  <a:pt x="5059671" y="0"/>
                </a:lnTo>
                <a:lnTo>
                  <a:pt x="5059671" y="6905768"/>
                </a:lnTo>
                <a:lnTo>
                  <a:pt x="0" y="6905768"/>
                </a:lnTo>
                <a:lnTo>
                  <a:pt x="0" y="0"/>
                </a:lnTo>
                <a:close/>
              </a:path>
            </a:pathLst>
          </a:custGeom>
          <a:blipFill>
            <a:blip r:embed="rId6"/>
            <a:stretch>
              <a:fillRect/>
            </a:stretch>
          </a:blipFill>
        </p:spPr>
        <p:txBody>
          <a:bodyPr/>
          <a:lstStyle/>
          <a:p>
            <a:endParaRPr lang="es-CO"/>
          </a:p>
        </p:txBody>
      </p:sp>
      <p:sp>
        <p:nvSpPr>
          <p:cNvPr id="16" name="TextBox 16"/>
          <p:cNvSpPr txBox="1"/>
          <p:nvPr/>
        </p:nvSpPr>
        <p:spPr>
          <a:xfrm>
            <a:off x="13095240" y="2022394"/>
            <a:ext cx="1255566" cy="300703"/>
          </a:xfrm>
          <a:prstGeom prst="rect">
            <a:avLst/>
          </a:prstGeom>
        </p:spPr>
        <p:txBody>
          <a:bodyPr lIns="0" tIns="0" rIns="0" bIns="0" rtlCol="0" anchor="t">
            <a:spAutoFit/>
          </a:bodyPr>
          <a:lstStyle/>
          <a:p>
            <a:pPr algn="ctr">
              <a:lnSpc>
                <a:spcPts val="2417"/>
              </a:lnSpc>
              <a:spcBef>
                <a:spcPct val="0"/>
              </a:spcBef>
            </a:pPr>
            <a:r>
              <a:rPr lang="en-US" sz="1726">
                <a:solidFill>
                  <a:srgbClr val="000000"/>
                </a:solidFill>
                <a:latin typeface="HK Modular"/>
                <a:ea typeface="HK Modular"/>
                <a:cs typeface="HK Modular"/>
                <a:sym typeface="HK Modular"/>
              </a:rPr>
              <a:t>ASTAH</a:t>
            </a:r>
          </a:p>
        </p:txBody>
      </p:sp>
      <p:sp>
        <p:nvSpPr>
          <p:cNvPr id="17" name="TextBox 17"/>
          <p:cNvSpPr txBox="1"/>
          <p:nvPr/>
        </p:nvSpPr>
        <p:spPr>
          <a:xfrm>
            <a:off x="13459121" y="5616295"/>
            <a:ext cx="1123390" cy="263534"/>
          </a:xfrm>
          <a:prstGeom prst="rect">
            <a:avLst/>
          </a:prstGeom>
        </p:spPr>
        <p:txBody>
          <a:bodyPr lIns="0" tIns="0" rIns="0" bIns="0" rtlCol="0" anchor="t">
            <a:spAutoFit/>
          </a:bodyPr>
          <a:lstStyle/>
          <a:p>
            <a:pPr algn="ctr">
              <a:lnSpc>
                <a:spcPts val="2162"/>
              </a:lnSpc>
              <a:spcBef>
                <a:spcPct val="0"/>
              </a:spcBef>
            </a:pPr>
            <a:r>
              <a:rPr lang="en-US" sz="1544">
                <a:solidFill>
                  <a:srgbClr val="000000"/>
                </a:solidFill>
                <a:latin typeface="HK Modular"/>
                <a:ea typeface="HK Modular"/>
                <a:cs typeface="HK Modular"/>
                <a:sym typeface="HK Modular"/>
              </a:rPr>
              <a:t>ASTAH</a:t>
            </a:r>
          </a:p>
        </p:txBody>
      </p:sp>
      <p:sp>
        <p:nvSpPr>
          <p:cNvPr id="18" name="TextBox 18"/>
          <p:cNvSpPr txBox="1"/>
          <p:nvPr/>
        </p:nvSpPr>
        <p:spPr>
          <a:xfrm>
            <a:off x="9522839" y="6439565"/>
            <a:ext cx="1353909" cy="206278"/>
          </a:xfrm>
          <a:prstGeom prst="rect">
            <a:avLst/>
          </a:prstGeom>
        </p:spPr>
        <p:txBody>
          <a:bodyPr lIns="0" tIns="0" rIns="0" bIns="0" rtlCol="0" anchor="t">
            <a:spAutoFit/>
          </a:bodyPr>
          <a:lstStyle/>
          <a:p>
            <a:pPr algn="ctr">
              <a:lnSpc>
                <a:spcPts val="1635"/>
              </a:lnSpc>
              <a:spcBef>
                <a:spcPct val="0"/>
              </a:spcBef>
            </a:pPr>
            <a:r>
              <a:rPr lang="en-US" sz="1168">
                <a:solidFill>
                  <a:srgbClr val="000000"/>
                </a:solidFill>
                <a:latin typeface="HK Modular"/>
                <a:ea typeface="HK Modular"/>
                <a:cs typeface="HK Modular"/>
                <a:sym typeface="HK Modular"/>
              </a:rPr>
              <a:t>LUCIDCHART</a:t>
            </a:r>
          </a:p>
        </p:txBody>
      </p:sp>
      <p:sp>
        <p:nvSpPr>
          <p:cNvPr id="19" name="TextBox 19"/>
          <p:cNvSpPr txBox="1"/>
          <p:nvPr/>
        </p:nvSpPr>
        <p:spPr>
          <a:xfrm>
            <a:off x="9522839" y="6741921"/>
            <a:ext cx="1353909" cy="206278"/>
          </a:xfrm>
          <a:prstGeom prst="rect">
            <a:avLst/>
          </a:prstGeom>
        </p:spPr>
        <p:txBody>
          <a:bodyPr lIns="0" tIns="0" rIns="0" bIns="0" rtlCol="0" anchor="t">
            <a:spAutoFit/>
          </a:bodyPr>
          <a:lstStyle/>
          <a:p>
            <a:pPr algn="ctr">
              <a:lnSpc>
                <a:spcPts val="1635"/>
              </a:lnSpc>
              <a:spcBef>
                <a:spcPct val="0"/>
              </a:spcBef>
            </a:pPr>
            <a:r>
              <a:rPr lang="en-US" sz="1168">
                <a:solidFill>
                  <a:srgbClr val="000000"/>
                </a:solidFill>
                <a:latin typeface="HK Modular"/>
                <a:ea typeface="HK Modular"/>
                <a:cs typeface="HK Modular"/>
                <a:sym typeface="HK Modular"/>
              </a:rPr>
              <a:t>DRAW.IO</a:t>
            </a:r>
          </a:p>
        </p:txBody>
      </p:sp>
      <p:sp>
        <p:nvSpPr>
          <p:cNvPr id="20" name="Freeform 20"/>
          <p:cNvSpPr/>
          <p:nvPr/>
        </p:nvSpPr>
        <p:spPr>
          <a:xfrm>
            <a:off x="2676249" y="135147"/>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7"/>
            <a:stretch>
              <a:fillRect/>
            </a:stretch>
          </a:blipFill>
        </p:spPr>
        <p:txBody>
          <a:bodyPr/>
          <a:lstStyle/>
          <a:p>
            <a:endParaRPr lang="es-CO"/>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rot="-10800000">
            <a:off x="-874366" y="8434822"/>
            <a:ext cx="10731144" cy="4199330"/>
            <a:chOff x="0" y="0"/>
            <a:chExt cx="3083604" cy="1206681"/>
          </a:xfrm>
        </p:grpSpPr>
        <p:sp>
          <p:nvSpPr>
            <p:cNvPr id="7" name="Freeform 7"/>
            <p:cNvSpPr/>
            <p:nvPr/>
          </p:nvSpPr>
          <p:spPr>
            <a:xfrm>
              <a:off x="0" y="0"/>
              <a:ext cx="3083604" cy="1206681"/>
            </a:xfrm>
            <a:custGeom>
              <a:avLst/>
              <a:gdLst/>
              <a:ahLst/>
              <a:cxnLst/>
              <a:rect l="l" t="t" r="r" b="b"/>
              <a:pathLst>
                <a:path w="3083604" h="1206681">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1">
              <a:gsLst>
                <a:gs pos="0">
                  <a:srgbClr val="000000">
                    <a:alpha val="0"/>
                  </a:srgbClr>
                </a:gs>
                <a:gs pos="100000">
                  <a:srgbClr val="FF00BF">
                    <a:alpha val="100000"/>
                  </a:srgbClr>
                </a:gs>
              </a:gsLst>
              <a:lin ang="0"/>
            </a:gradFill>
          </p:spPr>
          <p:txBody>
            <a:bodyPr/>
            <a:lstStyle/>
            <a:p>
              <a:endParaRPr lang="es-CO"/>
            </a:p>
          </p:txBody>
        </p:sp>
        <p:sp>
          <p:nvSpPr>
            <p:cNvPr id="8" name="TextBox 8"/>
            <p:cNvSpPr txBox="1"/>
            <p:nvPr/>
          </p:nvSpPr>
          <p:spPr>
            <a:xfrm>
              <a:off x="0" y="-38100"/>
              <a:ext cx="3083604" cy="124478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339501" y="-2648321"/>
            <a:ext cx="10731144" cy="4199330"/>
            <a:chOff x="0" y="0"/>
            <a:chExt cx="3083604" cy="1206681"/>
          </a:xfrm>
        </p:grpSpPr>
        <p:sp>
          <p:nvSpPr>
            <p:cNvPr id="10" name="Freeform 10"/>
            <p:cNvSpPr/>
            <p:nvPr/>
          </p:nvSpPr>
          <p:spPr>
            <a:xfrm>
              <a:off x="0" y="0"/>
              <a:ext cx="3083604" cy="1206681"/>
            </a:xfrm>
            <a:custGeom>
              <a:avLst/>
              <a:gdLst/>
              <a:ahLst/>
              <a:cxnLst/>
              <a:rect l="l" t="t" r="r" b="b"/>
              <a:pathLst>
                <a:path w="3083604" h="1206681">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1">
              <a:gsLst>
                <a:gs pos="0">
                  <a:srgbClr val="000000">
                    <a:alpha val="0"/>
                  </a:srgbClr>
                </a:gs>
                <a:gs pos="100000">
                  <a:srgbClr val="FF00BF">
                    <a:alpha val="100000"/>
                  </a:srgbClr>
                </a:gs>
              </a:gsLst>
              <a:lin ang="0"/>
            </a:gradFill>
          </p:spPr>
          <p:txBody>
            <a:bodyPr/>
            <a:lstStyle/>
            <a:p>
              <a:endParaRPr lang="es-CO"/>
            </a:p>
          </p:txBody>
        </p:sp>
        <p:sp>
          <p:nvSpPr>
            <p:cNvPr id="11" name="TextBox 11"/>
            <p:cNvSpPr txBox="1"/>
            <p:nvPr/>
          </p:nvSpPr>
          <p:spPr>
            <a:xfrm>
              <a:off x="0" y="-38100"/>
              <a:ext cx="3083604" cy="1244781"/>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2365746" y="2211950"/>
            <a:ext cx="13556508" cy="1217902"/>
          </a:xfrm>
          <a:prstGeom prst="rect">
            <a:avLst/>
          </a:prstGeom>
        </p:spPr>
        <p:txBody>
          <a:bodyPr lIns="0" tIns="0" rIns="0" bIns="0" rtlCol="0" anchor="t">
            <a:spAutoFit/>
          </a:bodyPr>
          <a:lstStyle/>
          <a:p>
            <a:pPr algn="ctr">
              <a:lnSpc>
                <a:spcPts val="9973"/>
              </a:lnSpc>
              <a:spcBef>
                <a:spcPct val="0"/>
              </a:spcBef>
            </a:pPr>
            <a:r>
              <a:rPr lang="en-US" sz="7123">
                <a:solidFill>
                  <a:srgbClr val="E78939"/>
                </a:solidFill>
                <a:latin typeface="HK Modular"/>
                <a:ea typeface="HK Modular"/>
                <a:cs typeface="HK Modular"/>
                <a:sym typeface="HK Modular"/>
              </a:rPr>
              <a:t>TAREA</a:t>
            </a:r>
          </a:p>
        </p:txBody>
      </p:sp>
      <p:sp>
        <p:nvSpPr>
          <p:cNvPr id="13" name="Freeform 13"/>
          <p:cNvSpPr/>
          <p:nvPr/>
        </p:nvSpPr>
        <p:spPr>
          <a:xfrm>
            <a:off x="7738699" y="-469082"/>
            <a:ext cx="3300364" cy="3300364"/>
          </a:xfrm>
          <a:custGeom>
            <a:avLst/>
            <a:gdLst/>
            <a:ahLst/>
            <a:cxnLst/>
            <a:rect l="l" t="t" r="r" b="b"/>
            <a:pathLst>
              <a:path w="3300364" h="3300364">
                <a:moveTo>
                  <a:pt x="0" y="0"/>
                </a:moveTo>
                <a:lnTo>
                  <a:pt x="3300364" y="0"/>
                </a:lnTo>
                <a:lnTo>
                  <a:pt x="3300364" y="3300364"/>
                </a:lnTo>
                <a:lnTo>
                  <a:pt x="0" y="3300364"/>
                </a:lnTo>
                <a:lnTo>
                  <a:pt x="0" y="0"/>
                </a:lnTo>
                <a:close/>
              </a:path>
            </a:pathLst>
          </a:custGeom>
          <a:blipFill>
            <a:blip r:embed="rId3"/>
            <a:stretch>
              <a:fillRect/>
            </a:stretch>
          </a:blipFill>
        </p:spPr>
        <p:txBody>
          <a:bodyPr/>
          <a:lstStyle/>
          <a:p>
            <a:endParaRPr lang="es-CO"/>
          </a:p>
        </p:txBody>
      </p:sp>
      <p:sp>
        <p:nvSpPr>
          <p:cNvPr id="14" name="TextBox 14"/>
          <p:cNvSpPr txBox="1"/>
          <p:nvPr/>
        </p:nvSpPr>
        <p:spPr>
          <a:xfrm>
            <a:off x="1762071" y="4022683"/>
            <a:ext cx="14763858" cy="637414"/>
          </a:xfrm>
          <a:prstGeom prst="rect">
            <a:avLst/>
          </a:prstGeom>
        </p:spPr>
        <p:txBody>
          <a:bodyPr lIns="0" tIns="0" rIns="0" bIns="0" rtlCol="0" anchor="t">
            <a:spAutoFit/>
          </a:bodyPr>
          <a:lstStyle/>
          <a:p>
            <a:pPr marL="816096" lvl="1" indent="-408048" algn="ctr">
              <a:lnSpc>
                <a:spcPts val="5291"/>
              </a:lnSpc>
              <a:buAutoNum type="arabicPeriod"/>
            </a:pPr>
            <a:r>
              <a:rPr lang="en-US" sz="3779">
                <a:solidFill>
                  <a:srgbClr val="FFFFFF"/>
                </a:solidFill>
                <a:latin typeface="Open Sans"/>
                <a:ea typeface="Open Sans"/>
                <a:cs typeface="Open Sans"/>
                <a:sym typeface="Open Sans"/>
              </a:rPr>
              <a:t>TALLER #6 - ENTREGA 27 DE AGOSTO</a:t>
            </a:r>
          </a:p>
        </p:txBody>
      </p:sp>
      <p:sp>
        <p:nvSpPr>
          <p:cNvPr id="15" name="TextBox 15"/>
          <p:cNvSpPr txBox="1"/>
          <p:nvPr/>
        </p:nvSpPr>
        <p:spPr>
          <a:xfrm>
            <a:off x="1556672" y="5076825"/>
            <a:ext cx="14763858" cy="1304164"/>
          </a:xfrm>
          <a:prstGeom prst="rect">
            <a:avLst/>
          </a:prstGeom>
        </p:spPr>
        <p:txBody>
          <a:bodyPr lIns="0" tIns="0" rIns="0" bIns="0" rtlCol="0" anchor="t">
            <a:spAutoFit/>
          </a:bodyPr>
          <a:lstStyle/>
          <a:p>
            <a:pPr marL="816096" lvl="1" indent="-408048" algn="ctr">
              <a:lnSpc>
                <a:spcPts val="5291"/>
              </a:lnSpc>
              <a:buAutoNum type="arabicPeriod"/>
            </a:pPr>
            <a:r>
              <a:rPr lang="en-US" sz="3779">
                <a:solidFill>
                  <a:srgbClr val="FFFFFF"/>
                </a:solidFill>
                <a:latin typeface="Open Sans"/>
                <a:ea typeface="Open Sans"/>
                <a:cs typeface="Open Sans"/>
                <a:sym typeface="Open Sans"/>
              </a:rPr>
              <a:t>VEAN VIDEOS RELACIONADOS CON LA ESTIMACION DE TAREAS UTILIZANDO PLANING POKER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2B5BAC97FAEABB4E9C157EE386378C88" ma:contentTypeVersion="3" ma:contentTypeDescription="Crear nuevo documento." ma:contentTypeScope="" ma:versionID="a485e506546b9dc49e4f01043526fcc8">
  <xsd:schema xmlns:xsd="http://www.w3.org/2001/XMLSchema" xmlns:xs="http://www.w3.org/2001/XMLSchema" xmlns:p="http://schemas.microsoft.com/office/2006/metadata/properties" xmlns:ns2="a4ca1935-4d02-4ee2-b565-35cc2fa3819b" targetNamespace="http://schemas.microsoft.com/office/2006/metadata/properties" ma:root="true" ma:fieldsID="869b673358c31917cf7b18db7e5787e9" ns2:_="">
    <xsd:import namespace="a4ca1935-4d02-4ee2-b565-35cc2fa3819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ca1935-4d02-4ee2-b565-35cc2fa3819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A37F949-AC91-4E4E-AE77-3786CCF1FD91}">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24A931BF-DC4D-429E-B9A4-3B60882EA4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ca1935-4d02-4ee2-b565-35cc2fa381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4E87588-CCD8-42BD-B73D-95FB7F1C827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4168</Words>
  <Application>Microsoft Office PowerPoint</Application>
  <PresentationFormat>Personalizado</PresentationFormat>
  <Paragraphs>419</Paragraphs>
  <Slides>78</Slides>
  <Notes>0</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78</vt:i4>
      </vt:variant>
    </vt:vector>
  </HeadingPairs>
  <TitlesOfParts>
    <vt:vector size="87" baseType="lpstr">
      <vt:lpstr>Poppins</vt:lpstr>
      <vt:lpstr>Arial</vt:lpstr>
      <vt:lpstr>Canva Sans</vt:lpstr>
      <vt:lpstr>Poppins Bold</vt:lpstr>
      <vt:lpstr>Calibri</vt:lpstr>
      <vt:lpstr>Poppins Italics</vt:lpstr>
      <vt:lpstr>HK Modular</vt:lpstr>
      <vt:lpstr>Open Sans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DOSW 1 - S05</dc:title>
  <cp:lastModifiedBy>Sebastián Granados</cp:lastModifiedBy>
  <cp:revision>2</cp:revision>
  <dcterms:created xsi:type="dcterms:W3CDTF">2006-08-16T00:00:00Z</dcterms:created>
  <dcterms:modified xsi:type="dcterms:W3CDTF">2026-08-31T20:00:10Z</dcterms:modified>
  <dc:identifier>DAHBh-B1U-Q</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0x0101002B5BAC97FAEABB4E9C157EE386378C88</vt:lpwstr>
  </property>
</Properties>
</file>